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sldIdLst>
    <p:sldId id="256" r:id="rId2"/>
    <p:sldId id="257" r:id="rId3"/>
    <p:sldId id="258" r:id="rId4"/>
    <p:sldId id="260" r:id="rId5"/>
    <p:sldId id="259" r:id="rId6"/>
    <p:sldId id="261" r:id="rId7"/>
    <p:sldId id="262" r:id="rId8"/>
    <p:sldId id="263" r:id="rId9"/>
    <p:sldId id="264" r:id="rId10"/>
    <p:sldId id="265" r:id="rId11"/>
    <p:sldId id="267" r:id="rId12"/>
    <p:sldId id="268" r:id="rId13"/>
    <p:sldId id="266"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ABCEE2E5-8BF1-4B17-AC82-2CCFF43F4714}" type="datetimeFigureOut">
              <a:rPr lang="LID4096" smtClean="0"/>
              <a:t>02/05/2026</a:t>
            </a:fld>
            <a:endParaRPr lang="LID4096"/>
          </a:p>
        </p:txBody>
      </p:sp>
      <p:sp>
        <p:nvSpPr>
          <p:cNvPr id="5" name="Footer Placeholder 4"/>
          <p:cNvSpPr>
            <a:spLocks noGrp="1"/>
          </p:cNvSpPr>
          <p:nvPr>
            <p:ph type="ftr" sz="quarter" idx="11"/>
          </p:nvPr>
        </p:nvSpPr>
        <p:spPr>
          <a:xfrm>
            <a:off x="1371600" y="4323845"/>
            <a:ext cx="6400800" cy="365125"/>
          </a:xfrm>
        </p:spPr>
        <p:txBody>
          <a:bodyPr/>
          <a:lstStyle/>
          <a:p>
            <a:endParaRPr lang="LID4096"/>
          </a:p>
        </p:txBody>
      </p:sp>
      <p:sp>
        <p:nvSpPr>
          <p:cNvPr id="6" name="Slide Number Placeholder 5"/>
          <p:cNvSpPr>
            <a:spLocks noGrp="1"/>
          </p:cNvSpPr>
          <p:nvPr>
            <p:ph type="sldNum" sz="quarter" idx="12"/>
          </p:nvPr>
        </p:nvSpPr>
        <p:spPr>
          <a:xfrm>
            <a:off x="8077200" y="1430866"/>
            <a:ext cx="2743200" cy="365125"/>
          </a:xfrm>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74848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3707328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ABCEE2E5-8BF1-4B17-AC82-2CCFF43F4714}" type="datetimeFigureOut">
              <a:rPr lang="LID4096" smtClean="0"/>
              <a:t>02/05/2026</a:t>
            </a:fld>
            <a:endParaRPr lang="LID4096"/>
          </a:p>
        </p:txBody>
      </p:sp>
      <p:sp>
        <p:nvSpPr>
          <p:cNvPr id="5" name="Footer Placeholder 4"/>
          <p:cNvSpPr>
            <a:spLocks noGrp="1"/>
          </p:cNvSpPr>
          <p:nvPr>
            <p:ph type="ftr" sz="quarter" idx="11"/>
          </p:nvPr>
        </p:nvSpPr>
        <p:spPr>
          <a:xfrm>
            <a:off x="685800" y="381001"/>
            <a:ext cx="6991492" cy="364065"/>
          </a:xfrm>
        </p:spPr>
        <p:txBody>
          <a:bodyPr/>
          <a:lstStyle/>
          <a:p>
            <a:endParaRPr lang="LID4096"/>
          </a:p>
        </p:txBody>
      </p:sp>
      <p:sp>
        <p:nvSpPr>
          <p:cNvPr id="6" name="Slide Number Placeholder 5"/>
          <p:cNvSpPr>
            <a:spLocks noGrp="1"/>
          </p:cNvSpPr>
          <p:nvPr>
            <p:ph type="sldNum" sz="quarter" idx="12"/>
          </p:nvPr>
        </p:nvSpPr>
        <p:spPr>
          <a:xfrm>
            <a:off x="10862452" y="381000"/>
            <a:ext cx="643748" cy="365125"/>
          </a:xfrm>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4041848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228377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8" name="Footer Placeholder 7"/>
          <p:cNvSpPr>
            <a:spLocks noGrp="1"/>
          </p:cNvSpPr>
          <p:nvPr>
            <p:ph type="ftr" sz="quarter" idx="11"/>
          </p:nvPr>
        </p:nvSpPr>
        <p:spPr/>
        <p:txBody>
          <a:bodyPr/>
          <a:lstStyle/>
          <a:p>
            <a:endParaRPr lang="LID4096"/>
          </a:p>
        </p:txBody>
      </p:sp>
      <p:sp>
        <p:nvSpPr>
          <p:cNvPr id="9" name="Slide Number Placeholder 8"/>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78917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39684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3" name="Footer Placeholder 2"/>
          <p:cNvSpPr>
            <a:spLocks noGrp="1"/>
          </p:cNvSpPr>
          <p:nvPr>
            <p:ph type="ftr" sz="quarter" idx="11"/>
          </p:nvPr>
        </p:nvSpPr>
        <p:spPr/>
        <p:txBody>
          <a:bodyPr/>
          <a:lstStyle/>
          <a:p>
            <a:endParaRPr lang="LID4096"/>
          </a:p>
        </p:txBody>
      </p:sp>
      <p:sp>
        <p:nvSpPr>
          <p:cNvPr id="4" name="Slide Number Placeholder 3"/>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4227908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315493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5591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p:txBody>
          <a:bodyPr/>
          <a:lstStyle/>
          <a:p>
            <a:endParaRPr lang="LID4096"/>
          </a:p>
        </p:txBody>
      </p:sp>
      <p:sp>
        <p:nvSpPr>
          <p:cNvPr id="7" name="Slide Number Placeholder 6"/>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365996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a:xfrm>
            <a:off x="685800" y="379941"/>
            <a:ext cx="6991492" cy="365125"/>
          </a:xfrm>
        </p:spPr>
        <p:txBody>
          <a:bodyPr/>
          <a:lstStyle/>
          <a:p>
            <a:endParaRPr lang="LID4096"/>
          </a:p>
        </p:txBody>
      </p:sp>
      <p:sp>
        <p:nvSpPr>
          <p:cNvPr id="7" name="Slide Number Placeholder 6"/>
          <p:cNvSpPr>
            <a:spLocks noGrp="1"/>
          </p:cNvSpPr>
          <p:nvPr>
            <p:ph type="sldNum" sz="quarter" idx="12"/>
          </p:nvPr>
        </p:nvSpPr>
        <p:spPr>
          <a:xfrm>
            <a:off x="10862452" y="381000"/>
            <a:ext cx="643748" cy="365125"/>
          </a:xfrm>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2417550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a:xfrm>
            <a:off x="685800" y="379941"/>
            <a:ext cx="6991492" cy="365125"/>
          </a:xfrm>
        </p:spPr>
        <p:txBody>
          <a:bodyPr/>
          <a:lstStyle/>
          <a:p>
            <a:endParaRPr lang="LID4096"/>
          </a:p>
        </p:txBody>
      </p:sp>
      <p:sp>
        <p:nvSpPr>
          <p:cNvPr id="7" name="Slide Number Placeholder 6"/>
          <p:cNvSpPr>
            <a:spLocks noGrp="1"/>
          </p:cNvSpPr>
          <p:nvPr>
            <p:ph type="sldNum" sz="quarter" idx="12"/>
          </p:nvPr>
        </p:nvSpPr>
        <p:spPr>
          <a:xfrm>
            <a:off x="10862452" y="381000"/>
            <a:ext cx="643748" cy="365125"/>
          </a:xfrm>
        </p:spPr>
        <p:txBody>
          <a:bodyPr/>
          <a:lstStyle/>
          <a:p>
            <a:fld id="{4FA4EE06-E828-4479-9D6C-3E3A5FB0B550}" type="slidenum">
              <a:rPr lang="LID4096" smtClean="0"/>
              <a:t>‹#›</a:t>
            </a:fld>
            <a:endParaRPr lang="LID4096"/>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63095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ABCEE2E5-8BF1-4B17-AC82-2CCFF43F4714}" type="datetimeFigureOut">
              <a:rPr lang="LID4096" smtClean="0"/>
              <a:t>02/05/2026</a:t>
            </a:fld>
            <a:endParaRPr lang="LID4096"/>
          </a:p>
        </p:txBody>
      </p:sp>
      <p:sp>
        <p:nvSpPr>
          <p:cNvPr id="6" name="Footer Placeholder 5"/>
          <p:cNvSpPr>
            <a:spLocks noGrp="1"/>
          </p:cNvSpPr>
          <p:nvPr>
            <p:ph type="ftr" sz="quarter" idx="11"/>
          </p:nvPr>
        </p:nvSpPr>
        <p:spPr>
          <a:xfrm>
            <a:off x="685800" y="378883"/>
            <a:ext cx="6991492" cy="365125"/>
          </a:xfrm>
        </p:spPr>
        <p:txBody>
          <a:bodyPr/>
          <a:lstStyle/>
          <a:p>
            <a:endParaRPr lang="LID4096"/>
          </a:p>
        </p:txBody>
      </p:sp>
      <p:sp>
        <p:nvSpPr>
          <p:cNvPr id="7" name="Slide Number Placeholder 6"/>
          <p:cNvSpPr>
            <a:spLocks noGrp="1"/>
          </p:cNvSpPr>
          <p:nvPr>
            <p:ph type="sldNum" sz="quarter" idx="12"/>
          </p:nvPr>
        </p:nvSpPr>
        <p:spPr>
          <a:xfrm>
            <a:off x="10862452" y="381000"/>
            <a:ext cx="643748" cy="365125"/>
          </a:xfrm>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35951860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870514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4" name="Footer Placeholder 3"/>
          <p:cNvSpPr>
            <a:spLocks noGrp="1"/>
          </p:cNvSpPr>
          <p:nvPr>
            <p:ph type="ftr" sz="quarter" idx="11"/>
          </p:nvPr>
        </p:nvSpPr>
        <p:spPr/>
        <p:txBody>
          <a:bodyPr/>
          <a:lstStyle/>
          <a:p>
            <a:endParaRPr lang="LID4096"/>
          </a:p>
        </p:txBody>
      </p:sp>
      <p:sp>
        <p:nvSpPr>
          <p:cNvPr id="5" name="Slide Number Placeholder 4"/>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889258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CEE2E5-8BF1-4B17-AC82-2CCFF43F4714}" type="datetimeFigureOut">
              <a:rPr lang="LID4096" smtClean="0"/>
              <a:t>02/05/2026</a:t>
            </a:fld>
            <a:endParaRPr lang="LID4096"/>
          </a:p>
        </p:txBody>
      </p:sp>
      <p:sp>
        <p:nvSpPr>
          <p:cNvPr id="5" name="Footer Placeholder 4"/>
          <p:cNvSpPr>
            <a:spLocks noGrp="1"/>
          </p:cNvSpPr>
          <p:nvPr>
            <p:ph type="ftr" sz="quarter" idx="11"/>
          </p:nvPr>
        </p:nvSpPr>
        <p:spPr/>
        <p:txBody>
          <a:bodyPr/>
          <a:lstStyle/>
          <a:p>
            <a:endParaRPr lang="LID4096"/>
          </a:p>
        </p:txBody>
      </p:sp>
      <p:sp>
        <p:nvSpPr>
          <p:cNvPr id="6" name="Slide Number Placeholder 5"/>
          <p:cNvSpPr>
            <a:spLocks noGrp="1"/>
          </p:cNvSpPr>
          <p:nvPr>
            <p:ph type="sldNum" sz="quarter" idx="12"/>
          </p:nvPr>
        </p:nvSpPr>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30580002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ABCEE2E5-8BF1-4B17-AC82-2CCFF43F4714}" type="datetimeFigureOut">
              <a:rPr lang="LID4096" smtClean="0"/>
              <a:t>02/05/2026</a:t>
            </a:fld>
            <a:endParaRPr lang="LID4096"/>
          </a:p>
        </p:txBody>
      </p:sp>
      <p:sp>
        <p:nvSpPr>
          <p:cNvPr id="5" name="Footer Placeholder 4"/>
          <p:cNvSpPr>
            <a:spLocks noGrp="1"/>
          </p:cNvSpPr>
          <p:nvPr>
            <p:ph type="ftr" sz="quarter" idx="11"/>
          </p:nvPr>
        </p:nvSpPr>
        <p:spPr>
          <a:xfrm>
            <a:off x="685800" y="381000"/>
            <a:ext cx="6991492" cy="365125"/>
          </a:xfrm>
        </p:spPr>
        <p:txBody>
          <a:bodyPr/>
          <a:lstStyle/>
          <a:p>
            <a:endParaRPr lang="LID4096"/>
          </a:p>
        </p:txBody>
      </p:sp>
      <p:sp>
        <p:nvSpPr>
          <p:cNvPr id="6" name="Slide Number Placeholder 5"/>
          <p:cNvSpPr>
            <a:spLocks noGrp="1"/>
          </p:cNvSpPr>
          <p:nvPr>
            <p:ph type="sldNum" sz="quarter" idx="12"/>
          </p:nvPr>
        </p:nvSpPr>
        <p:spPr>
          <a:xfrm>
            <a:off x="10862452" y="381000"/>
            <a:ext cx="643748" cy="365125"/>
          </a:xfrm>
        </p:spPr>
        <p:txBody>
          <a:bodyPr/>
          <a:lstStyle/>
          <a:p>
            <a:fld id="{4FA4EE06-E828-4479-9D6C-3E3A5FB0B550}" type="slidenum">
              <a:rPr lang="LID4096" smtClean="0"/>
              <a:t>‹#›</a:t>
            </a:fld>
            <a:endParaRPr lang="LID4096"/>
          </a:p>
        </p:txBody>
      </p:sp>
    </p:spTree>
    <p:extLst>
      <p:ext uri="{BB962C8B-B14F-4D97-AF65-F5344CB8AC3E}">
        <p14:creationId xmlns:p14="http://schemas.microsoft.com/office/powerpoint/2010/main" val="1377691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BCEE2E5-8BF1-4B17-AC82-2CCFF43F4714}" type="datetimeFigureOut">
              <a:rPr lang="LID4096" smtClean="0"/>
              <a:t>02/05/2026</a:t>
            </a:fld>
            <a:endParaRPr lang="LID4096"/>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LID4096"/>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FA4EE06-E828-4479-9D6C-3E3A5FB0B550}" type="slidenum">
              <a:rPr lang="LID4096" smtClean="0"/>
              <a:t>‹#›</a:t>
            </a:fld>
            <a:endParaRPr lang="LID4096"/>
          </a:p>
        </p:txBody>
      </p:sp>
    </p:spTree>
    <p:extLst>
      <p:ext uri="{BB962C8B-B14F-4D97-AF65-F5344CB8AC3E}">
        <p14:creationId xmlns:p14="http://schemas.microsoft.com/office/powerpoint/2010/main" val="2825887438"/>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6AF5915-6B19-E148-6E9C-36C222D3D7D0}"/>
              </a:ext>
            </a:extLst>
          </p:cNvPr>
          <p:cNvSpPr/>
          <p:nvPr/>
        </p:nvSpPr>
        <p:spPr>
          <a:xfrm>
            <a:off x="764497" y="1549021"/>
            <a:ext cx="2068643" cy="531715"/>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LID4096"/>
          </a:p>
        </p:txBody>
      </p:sp>
      <p:sp>
        <p:nvSpPr>
          <p:cNvPr id="2" name="Title 1">
            <a:extLst>
              <a:ext uri="{FF2B5EF4-FFF2-40B4-BE49-F238E27FC236}">
                <a16:creationId xmlns:a16="http://schemas.microsoft.com/office/drawing/2014/main" id="{0B63D6E9-AC65-A285-5091-03E86ED3E1FA}"/>
              </a:ext>
            </a:extLst>
          </p:cNvPr>
          <p:cNvSpPr>
            <a:spLocks noGrp="1"/>
          </p:cNvSpPr>
          <p:nvPr>
            <p:ph type="ctrTitle"/>
          </p:nvPr>
        </p:nvSpPr>
        <p:spPr>
          <a:xfrm>
            <a:off x="4014526" y="-62637"/>
            <a:ext cx="6883322" cy="1472395"/>
          </a:xfrm>
        </p:spPr>
        <p:txBody>
          <a:bodyPr>
            <a:normAutofit/>
          </a:bodyPr>
          <a:lstStyle/>
          <a:p>
            <a:r>
              <a:rPr lang="en-US" sz="5400" b="1" dirty="0">
                <a:solidFill>
                  <a:schemeClr val="accent3">
                    <a:lumMod val="75000"/>
                  </a:schemeClr>
                </a:solidFill>
              </a:rPr>
              <a:t>Group 21</a:t>
            </a:r>
            <a:endParaRPr lang="LID4096" sz="5400" b="1" dirty="0">
              <a:solidFill>
                <a:schemeClr val="accent3">
                  <a:lumMod val="75000"/>
                </a:schemeClr>
              </a:solidFill>
            </a:endParaRPr>
          </a:p>
        </p:txBody>
      </p:sp>
      <p:sp>
        <p:nvSpPr>
          <p:cNvPr id="3" name="Subtitle 2">
            <a:extLst>
              <a:ext uri="{FF2B5EF4-FFF2-40B4-BE49-F238E27FC236}">
                <a16:creationId xmlns:a16="http://schemas.microsoft.com/office/drawing/2014/main" id="{60A901AF-52F6-6334-2B52-8EB4C7A38303}"/>
              </a:ext>
            </a:extLst>
          </p:cNvPr>
          <p:cNvSpPr>
            <a:spLocks noGrp="1"/>
          </p:cNvSpPr>
          <p:nvPr>
            <p:ph type="subTitle" idx="1"/>
          </p:nvPr>
        </p:nvSpPr>
        <p:spPr>
          <a:xfrm>
            <a:off x="764497" y="1633736"/>
            <a:ext cx="2892390" cy="533466"/>
          </a:xfrm>
        </p:spPr>
        <p:txBody>
          <a:bodyPr>
            <a:normAutofit fontScale="92500" lnSpcReduction="20000"/>
          </a:bodyPr>
          <a:lstStyle/>
          <a:p>
            <a:r>
              <a:rPr lang="en-US" sz="4000" b="1" dirty="0">
                <a:solidFill>
                  <a:schemeClr val="bg1"/>
                </a:solidFill>
              </a:rPr>
              <a:t>SEN 201</a:t>
            </a:r>
          </a:p>
          <a:p>
            <a:endParaRPr lang="LID4096" dirty="0"/>
          </a:p>
        </p:txBody>
      </p:sp>
      <p:sp>
        <p:nvSpPr>
          <p:cNvPr id="4" name="TextBox 3">
            <a:extLst>
              <a:ext uri="{FF2B5EF4-FFF2-40B4-BE49-F238E27FC236}">
                <a16:creationId xmlns:a16="http://schemas.microsoft.com/office/drawing/2014/main" id="{9B6E1249-E0E6-F371-38F1-E4D5A6AB5116}"/>
              </a:ext>
            </a:extLst>
          </p:cNvPr>
          <p:cNvSpPr txBox="1"/>
          <p:nvPr/>
        </p:nvSpPr>
        <p:spPr>
          <a:xfrm>
            <a:off x="539645" y="3859710"/>
            <a:ext cx="7420131" cy="369332"/>
          </a:xfrm>
          <a:prstGeom prst="rect">
            <a:avLst/>
          </a:prstGeom>
          <a:noFill/>
        </p:spPr>
        <p:txBody>
          <a:bodyPr wrap="square" rtlCol="0">
            <a:spAutoFit/>
          </a:bodyPr>
          <a:lstStyle/>
          <a:p>
            <a:pPr marL="285750" indent="-285750">
              <a:buFont typeface="Arial" panose="020B0604020202020204" pitchFamily="34" charset="0"/>
              <a:buChar char="•"/>
            </a:pPr>
            <a:r>
              <a:rPr lang="en-US" dirty="0"/>
              <a:t>IFIDON ABRAHAM AYOMIDE                          251901513</a:t>
            </a:r>
            <a:endParaRPr lang="LID4096" dirty="0"/>
          </a:p>
        </p:txBody>
      </p:sp>
      <p:sp>
        <p:nvSpPr>
          <p:cNvPr id="5" name="TextBox 4">
            <a:extLst>
              <a:ext uri="{FF2B5EF4-FFF2-40B4-BE49-F238E27FC236}">
                <a16:creationId xmlns:a16="http://schemas.microsoft.com/office/drawing/2014/main" id="{FA131A60-5111-B57E-9BFB-6E3602F19978}"/>
              </a:ext>
            </a:extLst>
          </p:cNvPr>
          <p:cNvSpPr txBox="1"/>
          <p:nvPr/>
        </p:nvSpPr>
        <p:spPr>
          <a:xfrm>
            <a:off x="539646" y="4164510"/>
            <a:ext cx="8559384" cy="369332"/>
          </a:xfrm>
          <a:prstGeom prst="rect">
            <a:avLst/>
          </a:prstGeom>
          <a:noFill/>
        </p:spPr>
        <p:txBody>
          <a:bodyPr wrap="square" rtlCol="0">
            <a:spAutoFit/>
          </a:bodyPr>
          <a:lstStyle/>
          <a:p>
            <a:pPr marL="285750" indent="-285750">
              <a:buFont typeface="Arial" panose="020B0604020202020204" pitchFamily="34" charset="0"/>
              <a:buChar char="•"/>
            </a:pPr>
            <a:r>
              <a:rPr lang="en-US" dirty="0"/>
              <a:t>ELEBIEMAYO ISEOLUWA EMMANUEL             240805045              </a:t>
            </a:r>
            <a:endParaRPr lang="LID4096" dirty="0"/>
          </a:p>
        </p:txBody>
      </p:sp>
      <p:sp>
        <p:nvSpPr>
          <p:cNvPr id="7" name="TextBox 6">
            <a:extLst>
              <a:ext uri="{FF2B5EF4-FFF2-40B4-BE49-F238E27FC236}">
                <a16:creationId xmlns:a16="http://schemas.microsoft.com/office/drawing/2014/main" id="{F793EBA7-07E0-C5F1-7FD7-5CD3EF67B1F8}"/>
              </a:ext>
            </a:extLst>
          </p:cNvPr>
          <p:cNvSpPr txBox="1"/>
          <p:nvPr/>
        </p:nvSpPr>
        <p:spPr>
          <a:xfrm>
            <a:off x="539645" y="4774110"/>
            <a:ext cx="7959777" cy="369332"/>
          </a:xfrm>
          <a:prstGeom prst="rect">
            <a:avLst/>
          </a:prstGeom>
          <a:noFill/>
        </p:spPr>
        <p:txBody>
          <a:bodyPr wrap="square" rtlCol="0">
            <a:spAutoFit/>
          </a:bodyPr>
          <a:lstStyle/>
          <a:p>
            <a:pPr marL="285750" indent="-285750">
              <a:buFont typeface="Arial" panose="020B0604020202020204" pitchFamily="34" charset="0"/>
              <a:buChar char="•"/>
            </a:pPr>
            <a:r>
              <a:rPr lang="en-US" dirty="0"/>
              <a:t>AMINULAHI TAOFEEK                                      251901536                     </a:t>
            </a:r>
            <a:endParaRPr lang="LID4096" dirty="0"/>
          </a:p>
        </p:txBody>
      </p:sp>
      <p:sp>
        <p:nvSpPr>
          <p:cNvPr id="8" name="TextBox 7">
            <a:extLst>
              <a:ext uri="{FF2B5EF4-FFF2-40B4-BE49-F238E27FC236}">
                <a16:creationId xmlns:a16="http://schemas.microsoft.com/office/drawing/2014/main" id="{3024F661-40FD-1DDC-CEA6-39ADE7AD1391}"/>
              </a:ext>
            </a:extLst>
          </p:cNvPr>
          <p:cNvSpPr txBox="1"/>
          <p:nvPr/>
        </p:nvSpPr>
        <p:spPr>
          <a:xfrm>
            <a:off x="539646" y="5078910"/>
            <a:ext cx="7135318" cy="369332"/>
          </a:xfrm>
          <a:prstGeom prst="rect">
            <a:avLst/>
          </a:prstGeom>
          <a:noFill/>
        </p:spPr>
        <p:txBody>
          <a:bodyPr wrap="square" rtlCol="0">
            <a:spAutoFit/>
          </a:bodyPr>
          <a:lstStyle/>
          <a:p>
            <a:pPr marL="285750" indent="-285750">
              <a:buFont typeface="Arial" panose="020B0604020202020204" pitchFamily="34" charset="0"/>
              <a:buChar char="•"/>
            </a:pPr>
            <a:r>
              <a:rPr lang="en-US" dirty="0"/>
              <a:t>ADEBAYO OLOLADE ADETOLA                     240805079</a:t>
            </a:r>
            <a:endParaRPr lang="LID4096" dirty="0"/>
          </a:p>
        </p:txBody>
      </p:sp>
      <p:sp>
        <p:nvSpPr>
          <p:cNvPr id="9" name="TextBox 8">
            <a:extLst>
              <a:ext uri="{FF2B5EF4-FFF2-40B4-BE49-F238E27FC236}">
                <a16:creationId xmlns:a16="http://schemas.microsoft.com/office/drawing/2014/main" id="{E9AEAF1B-0B58-E9A8-10B8-26FF2AC8A12D}"/>
              </a:ext>
            </a:extLst>
          </p:cNvPr>
          <p:cNvSpPr txBox="1"/>
          <p:nvPr/>
        </p:nvSpPr>
        <p:spPr>
          <a:xfrm>
            <a:off x="539646" y="4461314"/>
            <a:ext cx="7420130" cy="369332"/>
          </a:xfrm>
          <a:prstGeom prst="rect">
            <a:avLst/>
          </a:prstGeom>
          <a:noFill/>
        </p:spPr>
        <p:txBody>
          <a:bodyPr wrap="square" rtlCol="0">
            <a:spAutoFit/>
          </a:bodyPr>
          <a:lstStyle/>
          <a:p>
            <a:pPr marL="285750" indent="-285750">
              <a:buFont typeface="Arial" panose="020B0604020202020204" pitchFamily="34" charset="0"/>
              <a:buChar char="•"/>
            </a:pPr>
            <a:r>
              <a:rPr lang="en-US" dirty="0"/>
              <a:t>LEMCHUKWU PASCAL IFEANYICHUKWU       240805076</a:t>
            </a:r>
            <a:endParaRPr lang="LID4096" dirty="0"/>
          </a:p>
        </p:txBody>
      </p:sp>
      <p:sp>
        <p:nvSpPr>
          <p:cNvPr id="10" name="TextBox 9">
            <a:extLst>
              <a:ext uri="{FF2B5EF4-FFF2-40B4-BE49-F238E27FC236}">
                <a16:creationId xmlns:a16="http://schemas.microsoft.com/office/drawing/2014/main" id="{8B03F06E-72D2-D573-5C3C-E3C54A403A71}"/>
              </a:ext>
            </a:extLst>
          </p:cNvPr>
          <p:cNvSpPr txBox="1"/>
          <p:nvPr/>
        </p:nvSpPr>
        <p:spPr>
          <a:xfrm>
            <a:off x="764497" y="3458112"/>
            <a:ext cx="4901784" cy="369332"/>
          </a:xfrm>
          <a:prstGeom prst="rect">
            <a:avLst/>
          </a:prstGeom>
          <a:noFill/>
        </p:spPr>
        <p:txBody>
          <a:bodyPr wrap="square" rtlCol="0">
            <a:spAutoFit/>
          </a:bodyPr>
          <a:lstStyle/>
          <a:p>
            <a:r>
              <a:rPr lang="en-US" dirty="0">
                <a:solidFill>
                  <a:srgbClr val="C00000"/>
                </a:solidFill>
              </a:rPr>
              <a:t>MEMBERS</a:t>
            </a:r>
            <a:endParaRPr lang="LID4096" dirty="0">
              <a:solidFill>
                <a:srgbClr val="C00000"/>
              </a:solidFill>
            </a:endParaRPr>
          </a:p>
        </p:txBody>
      </p:sp>
      <p:cxnSp>
        <p:nvCxnSpPr>
          <p:cNvPr id="12" name="Straight Arrow Connector 11">
            <a:extLst>
              <a:ext uri="{FF2B5EF4-FFF2-40B4-BE49-F238E27FC236}">
                <a16:creationId xmlns:a16="http://schemas.microsoft.com/office/drawing/2014/main" id="{70AEDC37-006A-69C8-4784-C8EA633094E5}"/>
              </a:ext>
            </a:extLst>
          </p:cNvPr>
          <p:cNvCxnSpPr>
            <a:cxnSpLocks/>
          </p:cNvCxnSpPr>
          <p:nvPr/>
        </p:nvCxnSpPr>
        <p:spPr>
          <a:xfrm>
            <a:off x="4517033" y="4044376"/>
            <a:ext cx="914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8FC29CC-76F0-F24B-69FC-A3B3B5F7F967}"/>
              </a:ext>
            </a:extLst>
          </p:cNvPr>
          <p:cNvCxnSpPr>
            <a:cxnSpLocks/>
          </p:cNvCxnSpPr>
          <p:nvPr/>
        </p:nvCxnSpPr>
        <p:spPr>
          <a:xfrm>
            <a:off x="4974234" y="4342951"/>
            <a:ext cx="4896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B10E05E-EF7B-A972-0427-190FC53D7661}"/>
              </a:ext>
            </a:extLst>
          </p:cNvPr>
          <p:cNvCxnSpPr>
            <a:cxnSpLocks/>
          </p:cNvCxnSpPr>
          <p:nvPr/>
        </p:nvCxnSpPr>
        <p:spPr>
          <a:xfrm>
            <a:off x="5219074" y="4647037"/>
            <a:ext cx="3222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4261F12-3B7D-7776-84B2-394386971657}"/>
              </a:ext>
            </a:extLst>
          </p:cNvPr>
          <p:cNvCxnSpPr>
            <a:cxnSpLocks/>
          </p:cNvCxnSpPr>
          <p:nvPr/>
        </p:nvCxnSpPr>
        <p:spPr>
          <a:xfrm>
            <a:off x="4442084" y="4958776"/>
            <a:ext cx="914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46C9B6B-D8DA-F774-AFD2-4FFB16D4A3D8}"/>
              </a:ext>
            </a:extLst>
          </p:cNvPr>
          <p:cNvCxnSpPr>
            <a:cxnSpLocks/>
          </p:cNvCxnSpPr>
          <p:nvPr/>
        </p:nvCxnSpPr>
        <p:spPr>
          <a:xfrm>
            <a:off x="4424596" y="5285591"/>
            <a:ext cx="9144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ADBFC4D-B44C-C597-87B7-26136235CCCF}"/>
              </a:ext>
            </a:extLst>
          </p:cNvPr>
          <p:cNvSpPr txBox="1"/>
          <p:nvPr/>
        </p:nvSpPr>
        <p:spPr>
          <a:xfrm>
            <a:off x="2453389" y="2479998"/>
            <a:ext cx="6883322" cy="523220"/>
          </a:xfrm>
          <a:prstGeom prst="rect">
            <a:avLst/>
          </a:prstGeom>
          <a:noFill/>
        </p:spPr>
        <p:txBody>
          <a:bodyPr wrap="square" rtlCol="0">
            <a:spAutoFit/>
          </a:bodyPr>
          <a:lstStyle/>
          <a:p>
            <a:r>
              <a:rPr lang="en-US" sz="2800" b="1" dirty="0">
                <a:solidFill>
                  <a:srgbClr val="C00000"/>
                </a:solidFill>
              </a:rPr>
              <a:t>SOFTWARE PROTOTYPING TECHNIQUES </a:t>
            </a:r>
            <a:endParaRPr lang="LID4096" sz="2800" b="1" dirty="0">
              <a:solidFill>
                <a:srgbClr val="C00000"/>
              </a:solidFill>
            </a:endParaRPr>
          </a:p>
        </p:txBody>
      </p:sp>
    </p:spTree>
    <p:extLst>
      <p:ext uri="{BB962C8B-B14F-4D97-AF65-F5344CB8AC3E}">
        <p14:creationId xmlns:p14="http://schemas.microsoft.com/office/powerpoint/2010/main" val="124755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A2C505-16AC-5B5F-6F18-E95990AA4E89}"/>
              </a:ext>
            </a:extLst>
          </p:cNvPr>
          <p:cNvSpPr txBox="1"/>
          <p:nvPr/>
        </p:nvSpPr>
        <p:spPr>
          <a:xfrm>
            <a:off x="2083633" y="2779162"/>
            <a:ext cx="9054059" cy="1938992"/>
          </a:xfrm>
          <a:prstGeom prst="rect">
            <a:avLst/>
          </a:prstGeom>
          <a:noFill/>
        </p:spPr>
        <p:txBody>
          <a:bodyPr wrap="square" rtlCol="0">
            <a:spAutoFit/>
          </a:bodyPr>
          <a:lstStyle/>
          <a:p>
            <a:r>
              <a:rPr lang="en-US" sz="4000" dirty="0">
                <a:latin typeface="Georgia Pro Cond Black" panose="02040A06050405020203" pitchFamily="18" charset="0"/>
              </a:rPr>
              <a:t>Development of a Mobile Application for Local Event Discovery </a:t>
            </a:r>
            <a:endParaRPr lang="en-US" sz="4000" dirty="0">
              <a:effectLst/>
              <a:latin typeface="Georgia Pro Cond Black" panose="02040A06050405020203" pitchFamily="18" charset="0"/>
            </a:endParaRPr>
          </a:p>
        </p:txBody>
      </p:sp>
      <p:sp>
        <p:nvSpPr>
          <p:cNvPr id="2" name="TextBox 1">
            <a:extLst>
              <a:ext uri="{FF2B5EF4-FFF2-40B4-BE49-F238E27FC236}">
                <a16:creationId xmlns:a16="http://schemas.microsoft.com/office/drawing/2014/main" id="{223DB0C6-7BB7-8EC7-4A36-3F6A2C6EE546}"/>
              </a:ext>
            </a:extLst>
          </p:cNvPr>
          <p:cNvSpPr txBox="1"/>
          <p:nvPr/>
        </p:nvSpPr>
        <p:spPr>
          <a:xfrm>
            <a:off x="437213" y="1484025"/>
            <a:ext cx="11047750" cy="923330"/>
          </a:xfrm>
          <a:prstGeom prst="rect">
            <a:avLst/>
          </a:prstGeom>
          <a:noFill/>
        </p:spPr>
        <p:txBody>
          <a:bodyPr wrap="square" rtlCol="0">
            <a:spAutoFit/>
          </a:bodyPr>
          <a:lstStyle/>
          <a:p>
            <a:r>
              <a:rPr lang="en-US" sz="5400" b="1" dirty="0">
                <a:solidFill>
                  <a:srgbClr val="FF0000"/>
                </a:solidFill>
              </a:rPr>
              <a:t>Case study:</a:t>
            </a:r>
            <a:endParaRPr lang="LID4096" sz="5400" b="1" dirty="0">
              <a:solidFill>
                <a:srgbClr val="FF0000"/>
              </a:solidFill>
            </a:endParaRPr>
          </a:p>
        </p:txBody>
      </p:sp>
    </p:spTree>
    <p:extLst>
      <p:ext uri="{BB962C8B-B14F-4D97-AF65-F5344CB8AC3E}">
        <p14:creationId xmlns:p14="http://schemas.microsoft.com/office/powerpoint/2010/main" val="4154666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DDA7C-CA33-4420-C367-F9376CF7B4E8}"/>
              </a:ext>
              <a:ext uri="{C183D7F6-B498-43B3-948B-1728B52AA6E4}">
                <adec:decorative xmlns:adec="http://schemas.microsoft.com/office/drawing/2017/decorative" val="0"/>
              </a:ext>
            </a:extLst>
          </p:cNvPr>
          <p:cNvSpPr>
            <a:spLocks noGrp="1"/>
          </p:cNvSpPr>
          <p:nvPr>
            <p:ph type="title"/>
          </p:nvPr>
        </p:nvSpPr>
        <p:spPr/>
        <p:txBody>
          <a:bodyPr/>
          <a:lstStyle/>
          <a:p>
            <a:r>
              <a:rPr lang="en-US" dirty="0">
                <a:solidFill>
                  <a:srgbClr val="FF0000"/>
                </a:solidFill>
              </a:rPr>
              <a:t>“</a:t>
            </a:r>
            <a:r>
              <a:rPr lang="en-US" b="1" dirty="0">
                <a:solidFill>
                  <a:srgbClr val="FF0000"/>
                </a:solidFill>
              </a:rPr>
              <a:t>Lagos events app</a:t>
            </a:r>
            <a:r>
              <a:rPr lang="en-US" dirty="0">
                <a:solidFill>
                  <a:srgbClr val="FF0000"/>
                </a:solidFill>
              </a:rPr>
              <a:t>”</a:t>
            </a:r>
            <a:endParaRPr lang="LID4096" dirty="0">
              <a:solidFill>
                <a:srgbClr val="FF0000"/>
              </a:solidFill>
            </a:endParaRPr>
          </a:p>
        </p:txBody>
      </p:sp>
      <p:sp>
        <p:nvSpPr>
          <p:cNvPr id="6" name="TextBox 5">
            <a:extLst>
              <a:ext uri="{FF2B5EF4-FFF2-40B4-BE49-F238E27FC236}">
                <a16:creationId xmlns:a16="http://schemas.microsoft.com/office/drawing/2014/main" id="{FFB82C73-E83C-2EAD-55FA-C0001582B585}"/>
              </a:ext>
              <a:ext uri="{C183D7F6-B498-43B3-948B-1728B52AA6E4}">
                <adec:decorative xmlns:adec="http://schemas.microsoft.com/office/drawing/2017/decorative" val="0"/>
              </a:ext>
            </a:extLst>
          </p:cNvPr>
          <p:cNvSpPr txBox="1"/>
          <p:nvPr/>
        </p:nvSpPr>
        <p:spPr>
          <a:xfrm>
            <a:off x="685799" y="2640248"/>
            <a:ext cx="9882265" cy="1846659"/>
          </a:xfrm>
          <a:prstGeom prst="rect">
            <a:avLst/>
          </a:prstGeom>
          <a:noFill/>
        </p:spPr>
        <p:txBody>
          <a:bodyPr wrap="square" rtlCol="0">
            <a:spAutoFit/>
          </a:bodyPr>
          <a:lstStyle/>
          <a:p>
            <a:pPr marL="285750" indent="-285750">
              <a:buFont typeface="Arial" panose="020B0604020202020204" pitchFamily="34" charset="0"/>
              <a:buChar char="•"/>
            </a:pPr>
            <a:r>
              <a:rPr lang="en-US" sz="2400" dirty="0"/>
              <a:t>Lagos events app is an application that addresses a common real-life challenge in a vibrant city like Lagos, Nigeria: discovering and participating in local events such as cultural festivals, business networking meetups, concerts, workshops, and community gatherings</a:t>
            </a:r>
          </a:p>
          <a:p>
            <a:pPr marL="285750" indent="-285750">
              <a:buFont typeface="Arial" panose="020B0604020202020204" pitchFamily="34" charset="0"/>
              <a:buChar char="•"/>
            </a:pPr>
            <a:endParaRPr lang="LID4096" dirty="0"/>
          </a:p>
        </p:txBody>
      </p:sp>
      <p:sp>
        <p:nvSpPr>
          <p:cNvPr id="7" name="TextBox 6">
            <a:extLst>
              <a:ext uri="{FF2B5EF4-FFF2-40B4-BE49-F238E27FC236}">
                <a16:creationId xmlns:a16="http://schemas.microsoft.com/office/drawing/2014/main" id="{ACE27469-B345-8198-0AD4-9C71C8C5D179}"/>
              </a:ext>
              <a:ext uri="{C183D7F6-B498-43B3-948B-1728B52AA6E4}">
                <adec:decorative xmlns:adec="http://schemas.microsoft.com/office/drawing/2017/decorative" val="0"/>
              </a:ext>
            </a:extLst>
          </p:cNvPr>
          <p:cNvSpPr txBox="1"/>
          <p:nvPr/>
        </p:nvSpPr>
        <p:spPr>
          <a:xfrm>
            <a:off x="580869" y="4695680"/>
            <a:ext cx="10092127" cy="1477328"/>
          </a:xfrm>
          <a:prstGeom prst="rect">
            <a:avLst/>
          </a:prstGeom>
          <a:noFill/>
        </p:spPr>
        <p:txBody>
          <a:bodyPr wrap="square" rtlCol="0">
            <a:spAutoFit/>
          </a:bodyPr>
          <a:lstStyle/>
          <a:p>
            <a:pPr marL="285750" indent="-285750">
              <a:buFont typeface="Arial" panose="020B0604020202020204" pitchFamily="34" charset="0"/>
              <a:buChar char="•"/>
            </a:pPr>
            <a:r>
              <a:rPr lang="en-US" sz="2400" dirty="0"/>
              <a:t>Currently, event information is scattered across social media, websites, and word-of-mouth, leading to missed opportunities, especially for busy professionals, students, and tourists</a:t>
            </a:r>
          </a:p>
          <a:p>
            <a:pPr marL="285750" indent="-285750">
              <a:buFont typeface="Arial" panose="020B0604020202020204" pitchFamily="34" charset="0"/>
              <a:buChar char="•"/>
            </a:pPr>
            <a:endParaRPr lang="LID4096" dirty="0"/>
          </a:p>
        </p:txBody>
      </p:sp>
      <p:sp>
        <p:nvSpPr>
          <p:cNvPr id="11" name="TextBox 10">
            <a:extLst>
              <a:ext uri="{FF2B5EF4-FFF2-40B4-BE49-F238E27FC236}">
                <a16:creationId xmlns:a16="http://schemas.microsoft.com/office/drawing/2014/main" id="{8801419D-7252-245C-3476-FD8E06E5A267}"/>
              </a:ext>
            </a:extLst>
          </p:cNvPr>
          <p:cNvSpPr txBox="1"/>
          <p:nvPr/>
        </p:nvSpPr>
        <p:spPr>
          <a:xfrm>
            <a:off x="1139252" y="2070281"/>
            <a:ext cx="5081666" cy="584775"/>
          </a:xfrm>
          <a:prstGeom prst="rect">
            <a:avLst/>
          </a:prstGeom>
          <a:noFill/>
        </p:spPr>
        <p:txBody>
          <a:bodyPr wrap="square" rtlCol="0">
            <a:spAutoFit/>
          </a:bodyPr>
          <a:lstStyle/>
          <a:p>
            <a:r>
              <a:rPr lang="en-US" sz="3200" dirty="0">
                <a:solidFill>
                  <a:srgbClr val="FF0000"/>
                </a:solidFill>
              </a:rPr>
              <a:t>OVERVIEW</a:t>
            </a:r>
            <a:endParaRPr lang="LID4096" sz="3200" dirty="0">
              <a:solidFill>
                <a:srgbClr val="FF0000"/>
              </a:solidFill>
            </a:endParaRPr>
          </a:p>
        </p:txBody>
      </p:sp>
    </p:spTree>
    <p:extLst>
      <p:ext uri="{BB962C8B-B14F-4D97-AF65-F5344CB8AC3E}">
        <p14:creationId xmlns:p14="http://schemas.microsoft.com/office/powerpoint/2010/main" val="369738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1000"/>
                                        <p:tgtEl>
                                          <p:spTgt spid="7"/>
                                        </p:tgtEl>
                                      </p:cBhvr>
                                    </p:animEffect>
                                    <p:anim calcmode="lin" valueType="num">
                                      <p:cBhvr>
                                        <p:cTn id="27" dur="1000" fill="hold"/>
                                        <p:tgtEl>
                                          <p:spTgt spid="7"/>
                                        </p:tgtEl>
                                        <p:attrNameLst>
                                          <p:attrName>ppt_x</p:attrName>
                                        </p:attrNameLst>
                                      </p:cBhvr>
                                      <p:tavLst>
                                        <p:tav tm="0">
                                          <p:val>
                                            <p:strVal val="#ppt_x"/>
                                          </p:val>
                                        </p:tav>
                                        <p:tav tm="100000">
                                          <p:val>
                                            <p:strVal val="#ppt_x"/>
                                          </p:val>
                                        </p:tav>
                                      </p:tavLst>
                                    </p:anim>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E97ECF-109C-60F9-5F9E-BD2B23FE96AF}"/>
              </a:ext>
            </a:extLst>
          </p:cNvPr>
          <p:cNvSpPr txBox="1"/>
          <p:nvPr/>
        </p:nvSpPr>
        <p:spPr>
          <a:xfrm>
            <a:off x="794479" y="1439056"/>
            <a:ext cx="10463134"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app would aggregate events from various sources (e.g., APIs from event platforms, user submissions, and partnerships with local organizers), allow users to search by location, category, date, or price, view details, register/RSVP, and receive notifications</a:t>
            </a:r>
          </a:p>
        </p:txBody>
      </p:sp>
      <p:sp>
        <p:nvSpPr>
          <p:cNvPr id="6" name="TextBox 5">
            <a:extLst>
              <a:ext uri="{FF2B5EF4-FFF2-40B4-BE49-F238E27FC236}">
                <a16:creationId xmlns:a16="http://schemas.microsoft.com/office/drawing/2014/main" id="{EA1C9D71-6B52-8781-0D40-0BA16D219891}"/>
              </a:ext>
            </a:extLst>
          </p:cNvPr>
          <p:cNvSpPr txBox="1"/>
          <p:nvPr/>
        </p:nvSpPr>
        <p:spPr>
          <a:xfrm>
            <a:off x="794479" y="4407108"/>
            <a:ext cx="8739266"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It's feasible and implementable using cross-platform frameworks like Flutter or React Native, with backend support from Firebase or AWS for data storage and real-time updates.</a:t>
            </a:r>
          </a:p>
        </p:txBody>
      </p:sp>
      <p:sp>
        <p:nvSpPr>
          <p:cNvPr id="7" name="TextBox 6">
            <a:extLst>
              <a:ext uri="{FF2B5EF4-FFF2-40B4-BE49-F238E27FC236}">
                <a16:creationId xmlns:a16="http://schemas.microsoft.com/office/drawing/2014/main" id="{D0ACA491-F113-2CC8-9792-3E8CC85F3E56}"/>
              </a:ext>
            </a:extLst>
          </p:cNvPr>
          <p:cNvSpPr txBox="1"/>
          <p:nvPr/>
        </p:nvSpPr>
        <p:spPr>
          <a:xfrm>
            <a:off x="1499016" y="809469"/>
            <a:ext cx="5171607" cy="584775"/>
          </a:xfrm>
          <a:prstGeom prst="rect">
            <a:avLst/>
          </a:prstGeom>
          <a:noFill/>
        </p:spPr>
        <p:txBody>
          <a:bodyPr wrap="square" rtlCol="0">
            <a:spAutoFit/>
          </a:bodyPr>
          <a:lstStyle/>
          <a:p>
            <a:r>
              <a:rPr lang="en-US" sz="3200" dirty="0">
                <a:solidFill>
                  <a:srgbClr val="FF0000"/>
                </a:solidFill>
              </a:rPr>
              <a:t>TARGET FUNCTION </a:t>
            </a:r>
            <a:endParaRPr lang="LID4096" sz="3200" dirty="0">
              <a:solidFill>
                <a:srgbClr val="FF0000"/>
              </a:solidFill>
            </a:endParaRPr>
          </a:p>
        </p:txBody>
      </p:sp>
    </p:spTree>
    <p:extLst>
      <p:ext uri="{BB962C8B-B14F-4D97-AF65-F5344CB8AC3E}">
        <p14:creationId xmlns:p14="http://schemas.microsoft.com/office/powerpoint/2010/main" val="1250215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494601-50E9-AFB5-99AA-A4D47861C7A1}"/>
              </a:ext>
            </a:extLst>
          </p:cNvPr>
          <p:cNvSpPr txBox="1"/>
          <p:nvPr/>
        </p:nvSpPr>
        <p:spPr>
          <a:xfrm>
            <a:off x="1546485" y="2293495"/>
            <a:ext cx="9099030" cy="3816429"/>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The development will adopt a prototyping-based methodology, combining throw-away and low-fidelity prototype). This approach emphasizes early feedback, risk reduction, and iterative refinement to ensure the app meets user needs while minimizing development costs and time. It allows exploration of the problem space (e.g., user pain points in event discovery) and solution space (e.g., UI/UX designs for intuitive navigation on mobile devices).</a:t>
            </a:r>
          </a:p>
          <a:p>
            <a:pPr marL="285750" indent="-285750">
              <a:buFont typeface="Wingdings" panose="05000000000000000000" pitchFamily="2" charset="2"/>
              <a:buChar char="q"/>
            </a:pPr>
            <a:endParaRPr lang="LID4096" dirty="0"/>
          </a:p>
        </p:txBody>
      </p:sp>
      <p:sp>
        <p:nvSpPr>
          <p:cNvPr id="4" name="TextBox 3">
            <a:extLst>
              <a:ext uri="{FF2B5EF4-FFF2-40B4-BE49-F238E27FC236}">
                <a16:creationId xmlns:a16="http://schemas.microsoft.com/office/drawing/2014/main" id="{67D74D9B-A1BC-E013-94DD-68531740335C}"/>
              </a:ext>
            </a:extLst>
          </p:cNvPr>
          <p:cNvSpPr txBox="1"/>
          <p:nvPr/>
        </p:nvSpPr>
        <p:spPr>
          <a:xfrm>
            <a:off x="1379095" y="749508"/>
            <a:ext cx="9398833" cy="707886"/>
          </a:xfrm>
          <a:prstGeom prst="rect">
            <a:avLst/>
          </a:prstGeom>
          <a:noFill/>
        </p:spPr>
        <p:txBody>
          <a:bodyPr wrap="square" rtlCol="0">
            <a:spAutoFit/>
          </a:bodyPr>
          <a:lstStyle/>
          <a:p>
            <a:r>
              <a:rPr lang="en-US" sz="4000" dirty="0">
                <a:solidFill>
                  <a:srgbClr val="FF0000"/>
                </a:solidFill>
              </a:rPr>
              <a:t>PROTOTYPE IMPLEMENTATION SUMMARY</a:t>
            </a:r>
            <a:endParaRPr lang="LID4096" sz="4000" dirty="0">
              <a:solidFill>
                <a:srgbClr val="FF0000"/>
              </a:solidFill>
            </a:endParaRPr>
          </a:p>
        </p:txBody>
      </p:sp>
    </p:spTree>
    <p:extLst>
      <p:ext uri="{BB962C8B-B14F-4D97-AF65-F5344CB8AC3E}">
        <p14:creationId xmlns:p14="http://schemas.microsoft.com/office/powerpoint/2010/main" val="49303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865B5080-8D0B-B7FE-3D97-FA2D6EAF41A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LID4096" altLang="LID4096" sz="1800" b="1" i="0" u="none" strike="noStrike" cap="none" normalizeH="0" baseline="0">
                <a:ln>
                  <a:noFill/>
                </a:ln>
                <a:solidFill>
                  <a:schemeClr val="tx1"/>
                </a:solidFill>
                <a:effectLst/>
                <a:latin typeface="Arial" panose="020B0604020202020204" pitchFamily="34" charset="0"/>
              </a:rPr>
              <a:t>Prototyping Technique Applied</a:t>
            </a:r>
            <a:r>
              <a:rPr kumimoji="0" lang="LID4096" altLang="LID4096"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LID4096" altLang="LID4096" sz="1800" b="0" i="0" u="none" strike="noStrike" cap="none" normalizeH="0" baseline="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E8357291-28F9-7610-60DB-2B1C43B7C2E3}"/>
              </a:ext>
            </a:extLst>
          </p:cNvPr>
          <p:cNvSpPr>
            <a:spLocks noChangeArrowheads="1"/>
          </p:cNvSpPr>
          <p:nvPr/>
        </p:nvSpPr>
        <p:spPr bwMode="auto">
          <a:xfrm>
            <a:off x="1201711" y="964898"/>
            <a:ext cx="727147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LID4096" altLang="LID4096" sz="3600" b="1" i="0" u="none" strike="noStrike" cap="none" normalizeH="0" baseline="0" dirty="0">
                <a:ln>
                  <a:noFill/>
                </a:ln>
                <a:solidFill>
                  <a:srgbClr val="FF0000"/>
                </a:solidFill>
                <a:effectLst/>
                <a:latin typeface="Arial" panose="020B0604020202020204" pitchFamily="34" charset="0"/>
              </a:rPr>
              <a:t>Prototyping Technique Applied</a:t>
            </a:r>
            <a:r>
              <a:rPr kumimoji="0" lang="LID4096" altLang="LID4096" sz="3600" b="0" i="0" u="none" strike="noStrike" cap="none" normalizeH="0" baseline="0" dirty="0">
                <a:ln>
                  <a:noFill/>
                </a:ln>
                <a:solidFill>
                  <a:srgbClr val="FF0000"/>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LID4096" altLang="LID4096"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4EEB22A7-F2D4-C5CB-78E8-2D22BA28069D}"/>
              </a:ext>
            </a:extLst>
          </p:cNvPr>
          <p:cNvSpPr txBox="1"/>
          <p:nvPr/>
        </p:nvSpPr>
        <p:spPr>
          <a:xfrm>
            <a:off x="1019331" y="2556327"/>
            <a:ext cx="8469443" cy="861774"/>
          </a:xfrm>
          <a:prstGeom prst="rect">
            <a:avLst/>
          </a:prstGeom>
          <a:noFill/>
        </p:spPr>
        <p:txBody>
          <a:bodyPr wrap="square" rtlCol="0">
            <a:spAutoFit/>
          </a:bodyPr>
          <a:lstStyle/>
          <a:p>
            <a:pPr marL="285750" indent="-285750">
              <a:buFont typeface="Wingdings" panose="05000000000000000000" pitchFamily="2" charset="2"/>
              <a:buChar char="q"/>
            </a:pPr>
            <a:r>
              <a:rPr lang="en-US" sz="3200" dirty="0"/>
              <a:t>Throwaway and low-fidelity prototyping</a:t>
            </a:r>
          </a:p>
          <a:p>
            <a:endParaRPr lang="LID4096" dirty="0"/>
          </a:p>
        </p:txBody>
      </p:sp>
      <p:sp>
        <p:nvSpPr>
          <p:cNvPr id="6" name="TextBox 5">
            <a:extLst>
              <a:ext uri="{FF2B5EF4-FFF2-40B4-BE49-F238E27FC236}">
                <a16:creationId xmlns:a16="http://schemas.microsoft.com/office/drawing/2014/main" id="{B675FFC9-C74B-0843-0880-064967E5061B}"/>
              </a:ext>
            </a:extLst>
          </p:cNvPr>
          <p:cNvSpPr txBox="1"/>
          <p:nvPr/>
        </p:nvSpPr>
        <p:spPr>
          <a:xfrm>
            <a:off x="1019331" y="4444554"/>
            <a:ext cx="8139659" cy="123110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t>Why? Quick to create, low cost, focuses on layout &amp; flow, gathers early feedback</a:t>
            </a:r>
          </a:p>
          <a:p>
            <a:endParaRPr lang="LID4096" dirty="0"/>
          </a:p>
        </p:txBody>
      </p:sp>
    </p:spTree>
    <p:extLst>
      <p:ext uri="{BB962C8B-B14F-4D97-AF65-F5344CB8AC3E}">
        <p14:creationId xmlns:p14="http://schemas.microsoft.com/office/powerpoint/2010/main" val="183458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FFAA45-E590-B89F-4C91-54DA5C47DB61}"/>
              </a:ext>
            </a:extLst>
          </p:cNvPr>
          <p:cNvSpPr txBox="1"/>
          <p:nvPr/>
        </p:nvSpPr>
        <p:spPr>
          <a:xfrm rot="20977952">
            <a:off x="1349114" y="260664"/>
            <a:ext cx="9084040" cy="584775"/>
          </a:xfrm>
          <a:prstGeom prst="rect">
            <a:avLst/>
          </a:prstGeom>
          <a:noFill/>
        </p:spPr>
        <p:txBody>
          <a:bodyPr wrap="square" rtlCol="0">
            <a:spAutoFit/>
          </a:bodyPr>
          <a:lstStyle/>
          <a:p>
            <a:pPr marL="285750" indent="-285750">
              <a:buFont typeface="Wingdings" panose="05000000000000000000" pitchFamily="2" charset="2"/>
              <a:buChar char="v"/>
            </a:pPr>
            <a:r>
              <a:rPr lang="en-US" sz="3200" dirty="0">
                <a:solidFill>
                  <a:srgbClr val="FF0000"/>
                </a:solidFill>
              </a:rPr>
              <a:t>Step-by-step process followed:</a:t>
            </a:r>
          </a:p>
        </p:txBody>
      </p:sp>
      <p:sp>
        <p:nvSpPr>
          <p:cNvPr id="3" name="TextBox 2">
            <a:extLst>
              <a:ext uri="{FF2B5EF4-FFF2-40B4-BE49-F238E27FC236}">
                <a16:creationId xmlns:a16="http://schemas.microsoft.com/office/drawing/2014/main" id="{CA7CF6FF-699F-8E11-07B6-9360D0E49F7E}"/>
              </a:ext>
            </a:extLst>
          </p:cNvPr>
          <p:cNvSpPr txBox="1"/>
          <p:nvPr/>
        </p:nvSpPr>
        <p:spPr>
          <a:xfrm>
            <a:off x="3222885" y="1552087"/>
            <a:ext cx="6355830" cy="800219"/>
          </a:xfrm>
          <a:prstGeom prst="rect">
            <a:avLst/>
          </a:prstGeom>
          <a:noFill/>
        </p:spPr>
        <p:txBody>
          <a:bodyPr wrap="square" rtlCol="0">
            <a:spAutoFit/>
          </a:bodyPr>
          <a:lstStyle/>
          <a:p>
            <a:pPr marL="285750" indent="-285750">
              <a:buFont typeface="Wingdings" panose="05000000000000000000" pitchFamily="2" charset="2"/>
              <a:buChar char="v"/>
            </a:pPr>
            <a:r>
              <a:rPr lang="en-US" sz="2800" dirty="0"/>
              <a:t>Define basic requirements</a:t>
            </a:r>
          </a:p>
          <a:p>
            <a:pPr marL="285750" indent="-285750">
              <a:buFont typeface="Wingdings" panose="05000000000000000000" pitchFamily="2" charset="2"/>
              <a:buChar char="v"/>
            </a:pPr>
            <a:endParaRPr lang="LID4096" dirty="0"/>
          </a:p>
        </p:txBody>
      </p:sp>
      <p:sp>
        <p:nvSpPr>
          <p:cNvPr id="4" name="TextBox 3">
            <a:extLst>
              <a:ext uri="{FF2B5EF4-FFF2-40B4-BE49-F238E27FC236}">
                <a16:creationId xmlns:a16="http://schemas.microsoft.com/office/drawing/2014/main" id="{ECED7A4E-F09D-497A-CC2F-1AB2A17EBF76}"/>
              </a:ext>
            </a:extLst>
          </p:cNvPr>
          <p:cNvSpPr txBox="1"/>
          <p:nvPr/>
        </p:nvSpPr>
        <p:spPr>
          <a:xfrm>
            <a:off x="3222885" y="2599860"/>
            <a:ext cx="6100996" cy="461665"/>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Create simple wireframes (screens &amp; user flow</a:t>
            </a:r>
            <a:endParaRPr lang="LID4096" sz="2400" dirty="0"/>
          </a:p>
        </p:txBody>
      </p:sp>
      <p:sp>
        <p:nvSpPr>
          <p:cNvPr id="5" name="TextBox 4">
            <a:extLst>
              <a:ext uri="{FF2B5EF4-FFF2-40B4-BE49-F238E27FC236}">
                <a16:creationId xmlns:a16="http://schemas.microsoft.com/office/drawing/2014/main" id="{63612C37-83F8-1FF3-CC25-6E11B828E9AC}"/>
              </a:ext>
            </a:extLst>
          </p:cNvPr>
          <p:cNvSpPr txBox="1"/>
          <p:nvPr/>
        </p:nvSpPr>
        <p:spPr>
          <a:xfrm>
            <a:off x="3222885" y="3480109"/>
            <a:ext cx="4377128" cy="830997"/>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Show to potential users for feedback</a:t>
            </a:r>
            <a:endParaRPr lang="LID4096" sz="2400" dirty="0"/>
          </a:p>
        </p:txBody>
      </p:sp>
      <p:sp>
        <p:nvSpPr>
          <p:cNvPr id="6" name="TextBox 5">
            <a:extLst>
              <a:ext uri="{FF2B5EF4-FFF2-40B4-BE49-F238E27FC236}">
                <a16:creationId xmlns:a16="http://schemas.microsoft.com/office/drawing/2014/main" id="{05C8EC12-1EE6-5166-4BA7-A3D9C92C4C54}"/>
              </a:ext>
            </a:extLst>
          </p:cNvPr>
          <p:cNvSpPr txBox="1"/>
          <p:nvPr/>
        </p:nvSpPr>
        <p:spPr>
          <a:xfrm>
            <a:off x="3222885" y="4796852"/>
            <a:ext cx="3602636" cy="461665"/>
          </a:xfrm>
          <a:prstGeom prst="rect">
            <a:avLst/>
          </a:prstGeom>
          <a:noFill/>
        </p:spPr>
        <p:txBody>
          <a:bodyPr wrap="square" rtlCol="0">
            <a:spAutoFit/>
          </a:bodyPr>
          <a:lstStyle/>
          <a:p>
            <a:pPr marL="285750" indent="-285750">
              <a:buFont typeface="Wingdings" panose="05000000000000000000" pitchFamily="2" charset="2"/>
              <a:buChar char="v"/>
            </a:pPr>
            <a:r>
              <a:rPr lang="en-US" sz="2400" dirty="0"/>
              <a:t>Refine layout &amp; features</a:t>
            </a:r>
          </a:p>
        </p:txBody>
      </p:sp>
    </p:spTree>
    <p:extLst>
      <p:ext uri="{BB962C8B-B14F-4D97-AF65-F5344CB8AC3E}">
        <p14:creationId xmlns:p14="http://schemas.microsoft.com/office/powerpoint/2010/main" val="940101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anim calcmode="lin" valueType="num">
                                      <p:cBhvr>
                                        <p:cTn id="29" dur="1000" fill="hold"/>
                                        <p:tgtEl>
                                          <p:spTgt spid="5"/>
                                        </p:tgtEl>
                                        <p:attrNameLst>
                                          <p:attrName>ppt_x</p:attrName>
                                        </p:attrNameLst>
                                      </p:cBhvr>
                                      <p:tavLst>
                                        <p:tav tm="0">
                                          <p:val>
                                            <p:strVal val="#ppt_x"/>
                                          </p:val>
                                        </p:tav>
                                        <p:tav tm="100000">
                                          <p:val>
                                            <p:strVal val="#ppt_x"/>
                                          </p:val>
                                        </p:tav>
                                      </p:tavLst>
                                    </p:anim>
                                    <p:anim calcmode="lin" valueType="num">
                                      <p:cBhvr>
                                        <p:cTn id="3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1000"/>
                                        <p:tgtEl>
                                          <p:spTgt spid="6"/>
                                        </p:tgtEl>
                                      </p:cBhvr>
                                    </p:animEffect>
                                    <p:anim calcmode="lin" valueType="num">
                                      <p:cBhvr>
                                        <p:cTn id="36" dur="1000" fill="hold"/>
                                        <p:tgtEl>
                                          <p:spTgt spid="6"/>
                                        </p:tgtEl>
                                        <p:attrNameLst>
                                          <p:attrName>ppt_x</p:attrName>
                                        </p:attrNameLst>
                                      </p:cBhvr>
                                      <p:tavLst>
                                        <p:tav tm="0">
                                          <p:val>
                                            <p:strVal val="#ppt_x"/>
                                          </p:val>
                                        </p:tav>
                                        <p:tav tm="100000">
                                          <p:val>
                                            <p:strVal val="#ppt_x"/>
                                          </p:val>
                                        </p:tav>
                                      </p:tavLst>
                                    </p:anim>
                                    <p:anim calcmode="lin" valueType="num">
                                      <p:cBhvr>
                                        <p:cTn id="3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68D387-41CF-2ADD-0C34-B6F7D56AA8BB}"/>
              </a:ext>
            </a:extLst>
          </p:cNvPr>
          <p:cNvSpPr txBox="1"/>
          <p:nvPr/>
        </p:nvSpPr>
        <p:spPr>
          <a:xfrm>
            <a:off x="2488367" y="644577"/>
            <a:ext cx="7869836" cy="646331"/>
          </a:xfrm>
          <a:prstGeom prst="rect">
            <a:avLst/>
          </a:prstGeom>
          <a:noFill/>
        </p:spPr>
        <p:txBody>
          <a:bodyPr wrap="square" rtlCol="0">
            <a:spAutoFit/>
          </a:bodyPr>
          <a:lstStyle/>
          <a:p>
            <a:r>
              <a:rPr lang="en-US" dirty="0"/>
              <a:t>Throw away prototype – Main User Flow</a:t>
            </a:r>
          </a:p>
          <a:p>
            <a:endParaRPr lang="LID4096" dirty="0"/>
          </a:p>
        </p:txBody>
      </p:sp>
      <p:sp>
        <p:nvSpPr>
          <p:cNvPr id="3" name="TextBox 2">
            <a:extLst>
              <a:ext uri="{FF2B5EF4-FFF2-40B4-BE49-F238E27FC236}">
                <a16:creationId xmlns:a16="http://schemas.microsoft.com/office/drawing/2014/main" id="{C9BE5AD0-2970-192E-DE7A-7A7BA037EB83}"/>
              </a:ext>
            </a:extLst>
          </p:cNvPr>
          <p:cNvSpPr txBox="1"/>
          <p:nvPr/>
        </p:nvSpPr>
        <p:spPr>
          <a:xfrm>
            <a:off x="1738859" y="1633928"/>
            <a:ext cx="4482059" cy="2983042"/>
          </a:xfrm>
          <a:prstGeom prst="rect">
            <a:avLst/>
          </a:prstGeom>
          <a:noFill/>
        </p:spPr>
        <p:txBody>
          <a:bodyPr wrap="square" rtlCol="0">
            <a:spAutoFit/>
          </a:bodyPr>
          <a:lstStyle/>
          <a:p>
            <a:endParaRPr lang="LID4096" dirty="0"/>
          </a:p>
        </p:txBody>
      </p:sp>
      <p:pic>
        <p:nvPicPr>
          <p:cNvPr id="5" name="Picture 4">
            <a:extLst>
              <a:ext uri="{FF2B5EF4-FFF2-40B4-BE49-F238E27FC236}">
                <a16:creationId xmlns:a16="http://schemas.microsoft.com/office/drawing/2014/main" id="{482BC844-59FE-74BC-1CB0-D118BDB567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134" y="1004342"/>
            <a:ext cx="9039069" cy="4527028"/>
          </a:xfrm>
          <a:prstGeom prst="rect">
            <a:avLst/>
          </a:prstGeom>
        </p:spPr>
      </p:pic>
      <p:sp>
        <p:nvSpPr>
          <p:cNvPr id="8" name="TextBox 7">
            <a:extLst>
              <a:ext uri="{FF2B5EF4-FFF2-40B4-BE49-F238E27FC236}">
                <a16:creationId xmlns:a16="http://schemas.microsoft.com/office/drawing/2014/main" id="{D16366DF-B5C0-9D9E-A920-44666DBD54AA}"/>
              </a:ext>
            </a:extLst>
          </p:cNvPr>
          <p:cNvSpPr txBox="1"/>
          <p:nvPr/>
        </p:nvSpPr>
        <p:spPr>
          <a:xfrm>
            <a:off x="1484026" y="5666282"/>
            <a:ext cx="7764905" cy="369332"/>
          </a:xfrm>
          <a:prstGeom prst="rect">
            <a:avLst/>
          </a:prstGeom>
          <a:noFill/>
        </p:spPr>
        <p:txBody>
          <a:bodyPr wrap="square" rtlCol="0">
            <a:spAutoFit/>
          </a:bodyPr>
          <a:lstStyle/>
          <a:p>
            <a:r>
              <a:rPr lang="en-US" dirty="0"/>
              <a:t>Fig 1. search and home main user flow</a:t>
            </a:r>
            <a:endParaRPr lang="LID4096" dirty="0"/>
          </a:p>
        </p:txBody>
      </p:sp>
      <p:sp>
        <p:nvSpPr>
          <p:cNvPr id="9" name="TextBox 8">
            <a:extLst>
              <a:ext uri="{FF2B5EF4-FFF2-40B4-BE49-F238E27FC236}">
                <a16:creationId xmlns:a16="http://schemas.microsoft.com/office/drawing/2014/main" id="{57389BDA-60BD-07E0-7C09-6DB6640E3AF6}"/>
              </a:ext>
            </a:extLst>
          </p:cNvPr>
          <p:cNvSpPr txBox="1"/>
          <p:nvPr/>
        </p:nvSpPr>
        <p:spPr>
          <a:xfrm>
            <a:off x="1484026" y="6035614"/>
            <a:ext cx="9713626" cy="646331"/>
          </a:xfrm>
          <a:prstGeom prst="rect">
            <a:avLst/>
          </a:prstGeom>
          <a:noFill/>
        </p:spPr>
        <p:txBody>
          <a:bodyPr wrap="square" rtlCol="0">
            <a:spAutoFit/>
          </a:bodyPr>
          <a:lstStyle/>
          <a:p>
            <a:r>
              <a:rPr lang="en-US" dirty="0"/>
              <a:t>Description: the main landing screen helps users see after opening the app it also helps users find specific content or features within the app</a:t>
            </a:r>
            <a:endParaRPr lang="LID4096" dirty="0"/>
          </a:p>
        </p:txBody>
      </p:sp>
    </p:spTree>
    <p:extLst>
      <p:ext uri="{BB962C8B-B14F-4D97-AF65-F5344CB8AC3E}">
        <p14:creationId xmlns:p14="http://schemas.microsoft.com/office/powerpoint/2010/main" val="318859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D5118C-3581-D86D-CC68-B276A753A7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375" y="464694"/>
            <a:ext cx="7481037" cy="3957403"/>
          </a:xfrm>
          <a:prstGeom prst="rect">
            <a:avLst/>
          </a:prstGeom>
        </p:spPr>
      </p:pic>
      <p:sp>
        <p:nvSpPr>
          <p:cNvPr id="5" name="TextBox 4">
            <a:extLst>
              <a:ext uri="{FF2B5EF4-FFF2-40B4-BE49-F238E27FC236}">
                <a16:creationId xmlns:a16="http://schemas.microsoft.com/office/drawing/2014/main" id="{5DA035F8-3568-B013-315D-36A9F0CA3282}"/>
              </a:ext>
            </a:extLst>
          </p:cNvPr>
          <p:cNvSpPr txBox="1"/>
          <p:nvPr/>
        </p:nvSpPr>
        <p:spPr>
          <a:xfrm>
            <a:off x="1033375" y="4586990"/>
            <a:ext cx="7181235" cy="369332"/>
          </a:xfrm>
          <a:prstGeom prst="rect">
            <a:avLst/>
          </a:prstGeom>
          <a:noFill/>
        </p:spPr>
        <p:txBody>
          <a:bodyPr wrap="square" rtlCol="0">
            <a:spAutoFit/>
          </a:bodyPr>
          <a:lstStyle/>
          <a:p>
            <a:r>
              <a:rPr lang="en-US" dirty="0"/>
              <a:t>Fig2 rsvp/confirmation page</a:t>
            </a:r>
            <a:endParaRPr lang="LID4096" dirty="0"/>
          </a:p>
        </p:txBody>
      </p:sp>
      <p:sp>
        <p:nvSpPr>
          <p:cNvPr id="6" name="TextBox 5">
            <a:extLst>
              <a:ext uri="{FF2B5EF4-FFF2-40B4-BE49-F238E27FC236}">
                <a16:creationId xmlns:a16="http://schemas.microsoft.com/office/drawing/2014/main" id="{18F1FBED-3D09-E5DD-0F71-C7847EF7BFFA}"/>
              </a:ext>
            </a:extLst>
          </p:cNvPr>
          <p:cNvSpPr txBox="1"/>
          <p:nvPr/>
        </p:nvSpPr>
        <p:spPr>
          <a:xfrm>
            <a:off x="1033375" y="5336498"/>
            <a:ext cx="6221864" cy="1200329"/>
          </a:xfrm>
          <a:prstGeom prst="rect">
            <a:avLst/>
          </a:prstGeom>
          <a:noFill/>
        </p:spPr>
        <p:txBody>
          <a:bodyPr wrap="square" rtlCol="0">
            <a:spAutoFit/>
          </a:bodyPr>
          <a:lstStyle/>
          <a:p>
            <a:r>
              <a:rPr lang="en-US" dirty="0"/>
              <a:t>Description:</a:t>
            </a:r>
          </a:p>
          <a:p>
            <a:r>
              <a:rPr lang="en-US" dirty="0"/>
              <a:t>	helps users action </a:t>
            </a:r>
            <a:r>
              <a:rPr lang="en-US" dirty="0" err="1"/>
              <a:t>e.g</a:t>
            </a:r>
            <a:r>
              <a:rPr lang="en-US" dirty="0"/>
              <a:t> place orders or join events, it shows details of the events time and shows order summary, also provides next steps or additional info</a:t>
            </a:r>
          </a:p>
        </p:txBody>
      </p:sp>
    </p:spTree>
    <p:extLst>
      <p:ext uri="{BB962C8B-B14F-4D97-AF65-F5344CB8AC3E}">
        <p14:creationId xmlns:p14="http://schemas.microsoft.com/office/powerpoint/2010/main" val="163488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67770F-0628-5F1C-BCF2-5AB196814E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621" y="479685"/>
            <a:ext cx="7918595" cy="4572000"/>
          </a:xfrm>
          <a:prstGeom prst="rect">
            <a:avLst/>
          </a:prstGeom>
        </p:spPr>
      </p:pic>
      <p:sp>
        <p:nvSpPr>
          <p:cNvPr id="4" name="TextBox 3">
            <a:extLst>
              <a:ext uri="{FF2B5EF4-FFF2-40B4-BE49-F238E27FC236}">
                <a16:creationId xmlns:a16="http://schemas.microsoft.com/office/drawing/2014/main" id="{DBFE3612-82E3-B0D1-D269-DBD3C0F7CE6A}"/>
              </a:ext>
            </a:extLst>
          </p:cNvPr>
          <p:cNvSpPr txBox="1"/>
          <p:nvPr/>
        </p:nvSpPr>
        <p:spPr>
          <a:xfrm>
            <a:off x="944380" y="5254053"/>
            <a:ext cx="5981076" cy="923330"/>
          </a:xfrm>
          <a:prstGeom prst="rect">
            <a:avLst/>
          </a:prstGeom>
          <a:noFill/>
        </p:spPr>
        <p:txBody>
          <a:bodyPr wrap="square" rtlCol="0">
            <a:spAutoFit/>
          </a:bodyPr>
          <a:lstStyle/>
          <a:p>
            <a:r>
              <a:rPr lang="en-US" dirty="0"/>
              <a:t>Fig3 mapping page </a:t>
            </a:r>
          </a:p>
          <a:p>
            <a:r>
              <a:rPr lang="en-US" dirty="0"/>
              <a:t>Description:</a:t>
            </a:r>
          </a:p>
          <a:p>
            <a:r>
              <a:rPr lang="en-US" dirty="0"/>
              <a:t>	gives users eligibility to asses events faster </a:t>
            </a:r>
            <a:endParaRPr lang="LID4096" dirty="0"/>
          </a:p>
        </p:txBody>
      </p:sp>
    </p:spTree>
    <p:extLst>
      <p:ext uri="{BB962C8B-B14F-4D97-AF65-F5344CB8AC3E}">
        <p14:creationId xmlns:p14="http://schemas.microsoft.com/office/powerpoint/2010/main" val="2770683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80458C-B7CB-CCF8-E20C-D574B1017463}"/>
              </a:ext>
            </a:extLst>
          </p:cNvPr>
          <p:cNvSpPr txBox="1"/>
          <p:nvPr/>
        </p:nvSpPr>
        <p:spPr>
          <a:xfrm>
            <a:off x="899409" y="284813"/>
            <a:ext cx="10538085" cy="984885"/>
          </a:xfrm>
          <a:prstGeom prst="rect">
            <a:avLst/>
          </a:prstGeom>
          <a:noFill/>
        </p:spPr>
        <p:txBody>
          <a:bodyPr wrap="square" rtlCol="0">
            <a:spAutoFit/>
          </a:bodyPr>
          <a:lstStyle/>
          <a:p>
            <a:r>
              <a:rPr lang="en-US" sz="4000" dirty="0"/>
              <a:t>Low-Fidelity Prototypes</a:t>
            </a:r>
          </a:p>
          <a:p>
            <a:endParaRPr lang="LID4096" dirty="0"/>
          </a:p>
        </p:txBody>
      </p:sp>
      <p:sp>
        <p:nvSpPr>
          <p:cNvPr id="3" name="TextBox 2">
            <a:extLst>
              <a:ext uri="{FF2B5EF4-FFF2-40B4-BE49-F238E27FC236}">
                <a16:creationId xmlns:a16="http://schemas.microsoft.com/office/drawing/2014/main" id="{BFB7C0B6-9270-49C4-3855-4C0DA01D9947}"/>
              </a:ext>
            </a:extLst>
          </p:cNvPr>
          <p:cNvSpPr txBox="1"/>
          <p:nvPr/>
        </p:nvSpPr>
        <p:spPr>
          <a:xfrm>
            <a:off x="1693889" y="931144"/>
            <a:ext cx="8169639" cy="369332"/>
          </a:xfrm>
          <a:prstGeom prst="rect">
            <a:avLst/>
          </a:prstGeom>
          <a:noFill/>
        </p:spPr>
        <p:txBody>
          <a:bodyPr wrap="square" rtlCol="0">
            <a:spAutoFit/>
          </a:bodyPr>
          <a:lstStyle/>
          <a:p>
            <a:pPr marL="285750" indent="-285750">
              <a:buFont typeface="Wingdings" panose="05000000000000000000" pitchFamily="2" charset="2"/>
              <a:buChar char="v"/>
            </a:pPr>
            <a:r>
              <a:rPr lang="en-US" dirty="0"/>
              <a:t>This helps users feel how the actual software will look</a:t>
            </a:r>
            <a:endParaRPr lang="LID4096" dirty="0"/>
          </a:p>
        </p:txBody>
      </p:sp>
      <p:pic>
        <p:nvPicPr>
          <p:cNvPr id="5" name="Picture 4">
            <a:extLst>
              <a:ext uri="{FF2B5EF4-FFF2-40B4-BE49-F238E27FC236}">
                <a16:creationId xmlns:a16="http://schemas.microsoft.com/office/drawing/2014/main" id="{D10BA1DE-7445-771C-E741-190F1886E2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638" y="1424066"/>
            <a:ext cx="8169638" cy="4505595"/>
          </a:xfrm>
          <a:prstGeom prst="rect">
            <a:avLst/>
          </a:prstGeom>
        </p:spPr>
      </p:pic>
      <p:sp>
        <p:nvSpPr>
          <p:cNvPr id="6" name="TextBox 5">
            <a:extLst>
              <a:ext uri="{FF2B5EF4-FFF2-40B4-BE49-F238E27FC236}">
                <a16:creationId xmlns:a16="http://schemas.microsoft.com/office/drawing/2014/main" id="{D421B6B2-F8DE-7D51-5E56-CB9421048793}"/>
              </a:ext>
            </a:extLst>
          </p:cNvPr>
          <p:cNvSpPr txBox="1"/>
          <p:nvPr/>
        </p:nvSpPr>
        <p:spPr>
          <a:xfrm>
            <a:off x="554638" y="6145967"/>
            <a:ext cx="7929795" cy="369332"/>
          </a:xfrm>
          <a:prstGeom prst="rect">
            <a:avLst/>
          </a:prstGeom>
          <a:noFill/>
        </p:spPr>
        <p:txBody>
          <a:bodyPr wrap="square" rtlCol="0">
            <a:spAutoFit/>
          </a:bodyPr>
          <a:lstStyle/>
          <a:p>
            <a:r>
              <a:rPr lang="en-US" dirty="0"/>
              <a:t>Fig4 login and profile wireframes</a:t>
            </a:r>
            <a:endParaRPr lang="LID4096" dirty="0"/>
          </a:p>
        </p:txBody>
      </p:sp>
    </p:spTree>
    <p:extLst>
      <p:ext uri="{BB962C8B-B14F-4D97-AF65-F5344CB8AC3E}">
        <p14:creationId xmlns:p14="http://schemas.microsoft.com/office/powerpoint/2010/main" val="1029479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0B2C2E-E295-8E04-5B59-97679667F7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629585"/>
            <a:ext cx="8534400" cy="5471411"/>
          </a:xfrm>
          <a:prstGeom prst="rect">
            <a:avLst/>
          </a:prstGeom>
        </p:spPr>
      </p:pic>
      <p:sp>
        <p:nvSpPr>
          <p:cNvPr id="4" name="TextBox 3">
            <a:extLst>
              <a:ext uri="{FF2B5EF4-FFF2-40B4-BE49-F238E27FC236}">
                <a16:creationId xmlns:a16="http://schemas.microsoft.com/office/drawing/2014/main" id="{6A8C0EC6-8D37-7C11-F7C9-2680ADE22652}"/>
              </a:ext>
            </a:extLst>
          </p:cNvPr>
          <p:cNvSpPr txBox="1"/>
          <p:nvPr/>
        </p:nvSpPr>
        <p:spPr>
          <a:xfrm>
            <a:off x="1524000" y="5731664"/>
            <a:ext cx="5356485" cy="369332"/>
          </a:xfrm>
          <a:prstGeom prst="rect">
            <a:avLst/>
          </a:prstGeom>
          <a:noFill/>
        </p:spPr>
        <p:txBody>
          <a:bodyPr wrap="square" rtlCol="0">
            <a:spAutoFit/>
          </a:bodyPr>
          <a:lstStyle/>
          <a:p>
            <a:r>
              <a:rPr lang="en-US" dirty="0"/>
              <a:t>Fig5 Navigation wireframe prototype</a:t>
            </a:r>
            <a:endParaRPr lang="LID4096" dirty="0"/>
          </a:p>
        </p:txBody>
      </p:sp>
    </p:spTree>
    <p:extLst>
      <p:ext uri="{BB962C8B-B14F-4D97-AF65-F5344CB8AC3E}">
        <p14:creationId xmlns:p14="http://schemas.microsoft.com/office/powerpoint/2010/main" val="4174462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1DED1C-63A0-E268-EA81-040E11A68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4689" y="134912"/>
            <a:ext cx="9898504" cy="5186596"/>
          </a:xfrm>
          <a:prstGeom prst="rect">
            <a:avLst/>
          </a:prstGeom>
        </p:spPr>
      </p:pic>
      <p:sp>
        <p:nvSpPr>
          <p:cNvPr id="5" name="TextBox 4">
            <a:extLst>
              <a:ext uri="{FF2B5EF4-FFF2-40B4-BE49-F238E27FC236}">
                <a16:creationId xmlns:a16="http://schemas.microsoft.com/office/drawing/2014/main" id="{A68E67BC-096D-AAD5-4B18-84ACE4F96285}"/>
              </a:ext>
            </a:extLst>
          </p:cNvPr>
          <p:cNvSpPr txBox="1"/>
          <p:nvPr/>
        </p:nvSpPr>
        <p:spPr>
          <a:xfrm>
            <a:off x="474689" y="5576341"/>
            <a:ext cx="5266544" cy="646331"/>
          </a:xfrm>
          <a:prstGeom prst="rect">
            <a:avLst/>
          </a:prstGeom>
          <a:noFill/>
        </p:spPr>
        <p:txBody>
          <a:bodyPr wrap="square" rtlCol="0">
            <a:spAutoFit/>
          </a:bodyPr>
          <a:lstStyle/>
          <a:p>
            <a:r>
              <a:rPr lang="en-US" dirty="0"/>
              <a:t>Fig6 overall overview mainframe prototype of Lagos events app</a:t>
            </a:r>
            <a:endParaRPr lang="LID4096" dirty="0"/>
          </a:p>
        </p:txBody>
      </p:sp>
    </p:spTree>
    <p:extLst>
      <p:ext uri="{BB962C8B-B14F-4D97-AF65-F5344CB8AC3E}">
        <p14:creationId xmlns:p14="http://schemas.microsoft.com/office/powerpoint/2010/main" val="1892261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4D4757-609E-3EAD-9257-4A8F8BC746E1}"/>
              </a:ext>
            </a:extLst>
          </p:cNvPr>
          <p:cNvSpPr txBox="1"/>
          <p:nvPr/>
        </p:nvSpPr>
        <p:spPr>
          <a:xfrm>
            <a:off x="1274164" y="809469"/>
            <a:ext cx="8124669" cy="1754326"/>
          </a:xfrm>
          <a:prstGeom prst="rect">
            <a:avLst/>
          </a:prstGeom>
          <a:noFill/>
        </p:spPr>
        <p:txBody>
          <a:bodyPr wrap="square" rtlCol="0">
            <a:spAutoFit/>
          </a:bodyPr>
          <a:lstStyle/>
          <a:p>
            <a:pPr marL="285750" indent="-285750">
              <a:buFont typeface="Wingdings" panose="05000000000000000000" pitchFamily="2" charset="2"/>
              <a:buChar char="q"/>
            </a:pPr>
            <a:r>
              <a:rPr lang="en-US" sz="3600" dirty="0"/>
              <a:t>These wireframes were created quickly to visualize ideas and get user feedback on navigation and layout before coding</a:t>
            </a:r>
            <a:endParaRPr lang="LID4096" sz="3600" dirty="0"/>
          </a:p>
        </p:txBody>
      </p:sp>
      <p:sp>
        <p:nvSpPr>
          <p:cNvPr id="3" name="TextBox 2">
            <a:extLst>
              <a:ext uri="{FF2B5EF4-FFF2-40B4-BE49-F238E27FC236}">
                <a16:creationId xmlns:a16="http://schemas.microsoft.com/office/drawing/2014/main" id="{04D37FAD-655F-B94A-6857-B918CC52CFF0}"/>
              </a:ext>
            </a:extLst>
          </p:cNvPr>
          <p:cNvSpPr txBox="1"/>
          <p:nvPr/>
        </p:nvSpPr>
        <p:spPr>
          <a:xfrm>
            <a:off x="2008682" y="4302177"/>
            <a:ext cx="8904157" cy="923330"/>
          </a:xfrm>
          <a:prstGeom prst="rect">
            <a:avLst/>
          </a:prstGeom>
          <a:noFill/>
        </p:spPr>
        <p:txBody>
          <a:bodyPr wrap="square" rtlCol="0">
            <a:spAutoFit/>
          </a:bodyPr>
          <a:lstStyle/>
          <a:p>
            <a:r>
              <a:rPr lang="en-US" sz="5400" dirty="0">
                <a:solidFill>
                  <a:srgbClr val="FF0000"/>
                </a:solidFill>
              </a:rPr>
              <a:t>Thank you</a:t>
            </a:r>
            <a:endParaRPr lang="LID4096" sz="5400" dirty="0">
              <a:solidFill>
                <a:srgbClr val="FF0000"/>
              </a:solidFill>
            </a:endParaRPr>
          </a:p>
        </p:txBody>
      </p:sp>
    </p:spTree>
    <p:extLst>
      <p:ext uri="{BB962C8B-B14F-4D97-AF65-F5344CB8AC3E}">
        <p14:creationId xmlns:p14="http://schemas.microsoft.com/office/powerpoint/2010/main" val="2379359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1615</TotalTime>
  <Words>474</Words>
  <Application>Microsoft Office PowerPoint</Application>
  <PresentationFormat>Widescreen</PresentationFormat>
  <Paragraphs>45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Georgia Pro Cond Black</vt:lpstr>
      <vt:lpstr>Wingdings</vt:lpstr>
      <vt:lpstr>Vapor Trail</vt:lpstr>
      <vt:lpstr>Group 21</vt:lpstr>
      <vt:lpstr>PowerPoint Presentation</vt:lpstr>
      <vt:lpstr>“Lagos events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IFIDON IREFERE</dc:creator>
  <cp:lastModifiedBy>ifidon ayomide</cp:lastModifiedBy>
  <cp:revision>11</cp:revision>
  <dcterms:created xsi:type="dcterms:W3CDTF">2026-02-04T14:35:52Z</dcterms:created>
  <dcterms:modified xsi:type="dcterms:W3CDTF">2026-02-05T21:06:15Z</dcterms:modified>
</cp:coreProperties>
</file>