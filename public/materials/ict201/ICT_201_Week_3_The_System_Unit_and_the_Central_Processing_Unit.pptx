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53"/>
  </p:notesMasterIdLst>
  <p:handoutMasterIdLst>
    <p:handoutMasterId r:id="rId54"/>
  </p:handoutMasterIdLst>
  <p:sldIdLst>
    <p:sldId id="256" r:id="rId2"/>
    <p:sldId id="526" r:id="rId3"/>
    <p:sldId id="527" r:id="rId4"/>
    <p:sldId id="879" r:id="rId5"/>
    <p:sldId id="519" r:id="rId6"/>
    <p:sldId id="878" r:id="rId7"/>
    <p:sldId id="915" r:id="rId8"/>
    <p:sldId id="880" r:id="rId9"/>
    <p:sldId id="514" r:id="rId10"/>
    <p:sldId id="565" r:id="rId11"/>
    <p:sldId id="967" r:id="rId12"/>
    <p:sldId id="968" r:id="rId13"/>
    <p:sldId id="969" r:id="rId14"/>
    <p:sldId id="970" r:id="rId15"/>
    <p:sldId id="971" r:id="rId16"/>
    <p:sldId id="972" r:id="rId17"/>
    <p:sldId id="973" r:id="rId18"/>
    <p:sldId id="974" r:id="rId19"/>
    <p:sldId id="975" r:id="rId20"/>
    <p:sldId id="976" r:id="rId21"/>
    <p:sldId id="977" r:id="rId22"/>
    <p:sldId id="978" r:id="rId23"/>
    <p:sldId id="979" r:id="rId24"/>
    <p:sldId id="980" r:id="rId25"/>
    <p:sldId id="983" r:id="rId26"/>
    <p:sldId id="984" r:id="rId27"/>
    <p:sldId id="981" r:id="rId28"/>
    <p:sldId id="985" r:id="rId29"/>
    <p:sldId id="986" r:id="rId30"/>
    <p:sldId id="987" r:id="rId31"/>
    <p:sldId id="988" r:id="rId32"/>
    <p:sldId id="989" r:id="rId33"/>
    <p:sldId id="990" r:id="rId34"/>
    <p:sldId id="991" r:id="rId35"/>
    <p:sldId id="992" r:id="rId36"/>
    <p:sldId id="993" r:id="rId37"/>
    <p:sldId id="995" r:id="rId38"/>
    <p:sldId id="996" r:id="rId39"/>
    <p:sldId id="997" r:id="rId40"/>
    <p:sldId id="994" r:id="rId41"/>
    <p:sldId id="1000" r:id="rId42"/>
    <p:sldId id="1001" r:id="rId43"/>
    <p:sldId id="1002" r:id="rId44"/>
    <p:sldId id="1003" r:id="rId45"/>
    <p:sldId id="999" r:id="rId46"/>
    <p:sldId id="1004" r:id="rId47"/>
    <p:sldId id="1005" r:id="rId48"/>
    <p:sldId id="1006" r:id="rId49"/>
    <p:sldId id="1007" r:id="rId50"/>
    <p:sldId id="1008" r:id="rId51"/>
    <p:sldId id="1009" r:id="rId52"/>
  </p:sldIdLst>
  <p:sldSz cx="9144000" cy="6858000" type="screen4x3"/>
  <p:notesSz cx="7315200" cy="9601200"/>
  <p:custDataLst>
    <p:tags r:id="rId55"/>
  </p:custData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66" autoAdjust="0"/>
    <p:restoredTop sz="94660"/>
  </p:normalViewPr>
  <p:slideViewPr>
    <p:cSldViewPr>
      <p:cViewPr varScale="1">
        <p:scale>
          <a:sx n="68" d="100"/>
          <a:sy n="68" d="100"/>
        </p:scale>
        <p:origin x="1224"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74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7"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77828"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9"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52ED81C8-EB9E-43D7-BE83-0805E619C0C7}" type="slidenum">
              <a:rPr lang="ar-SA" altLang="en-US"/>
              <a:pPr>
                <a:defRPr/>
              </a:pPr>
              <a:t>‹#›</a:t>
            </a:fld>
            <a:endParaRPr lang="en-US" altLang="en-US"/>
          </a:p>
        </p:txBody>
      </p:sp>
    </p:spTree>
    <p:extLst>
      <p:ext uri="{BB962C8B-B14F-4D97-AF65-F5344CB8AC3E}">
        <p14:creationId xmlns:p14="http://schemas.microsoft.com/office/powerpoint/2010/main" val="34095013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79"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83"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894A09FF-A2DA-476C-B039-18DBC396A5DF}" type="slidenum">
              <a:rPr lang="ar-SA" altLang="en-US"/>
              <a:pPr>
                <a:defRPr/>
              </a:pPr>
              <a:t>‹#›</a:t>
            </a:fld>
            <a:endParaRPr lang="en-US" altLang="en-US"/>
          </a:p>
        </p:txBody>
      </p:sp>
    </p:spTree>
    <p:extLst>
      <p:ext uri="{BB962C8B-B14F-4D97-AF65-F5344CB8AC3E}">
        <p14:creationId xmlns:p14="http://schemas.microsoft.com/office/powerpoint/2010/main" val="42809169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1</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1715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2</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471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3</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9537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4</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6651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5</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1584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6</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1957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7</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7447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8</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1071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9</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6523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10</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5559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grpSp>
      <p:sp>
        <p:nvSpPr>
          <p:cNvPr id="97282"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9728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r>
              <a:rPr lang="en-US"/>
              <a:t>Click to edit Master subtitle style</a:t>
            </a:r>
          </a:p>
        </p:txBody>
      </p:sp>
      <p:sp>
        <p:nvSpPr>
          <p:cNvPr id="8" name="Rectangle 4"/>
          <p:cNvSpPr>
            <a:spLocks noGrp="1" noChangeArrowheads="1"/>
          </p:cNvSpPr>
          <p:nvPr>
            <p:ph type="dt" sz="half" idx="10"/>
          </p:nvPr>
        </p:nvSpPr>
        <p:spPr/>
        <p:txBody>
          <a:bodyPr/>
          <a:lstStyle>
            <a:lvl1pPr>
              <a:defRPr/>
            </a:lvl1pPr>
          </a:lstStyle>
          <a:p>
            <a:pPr>
              <a:defRPr/>
            </a:pPr>
            <a:fld id="{7A6A57B4-2DBC-4857-ABD2-C4E1F5AD309D}" type="datetime1">
              <a:rPr lang="en-US"/>
              <a:pPr>
                <a:defRPr/>
              </a:pPr>
              <a:t>12/8/2025</a:t>
            </a:fld>
            <a:endParaRPr lang="en-US"/>
          </a:p>
        </p:txBody>
      </p:sp>
      <p:sp>
        <p:nvSpPr>
          <p:cNvPr id="9" name="Rectangle 5"/>
          <p:cNvSpPr>
            <a:spLocks noGrp="1" noChangeArrowheads="1"/>
          </p:cNvSpPr>
          <p:nvPr>
            <p:ph type="ftr" sz="quarter" idx="11"/>
          </p:nvPr>
        </p:nvSpPr>
        <p:spPr/>
        <p:txBody>
          <a:bodyPr/>
          <a:lstStyle>
            <a:lvl1pPr>
              <a:defRPr/>
            </a:lvl1pPr>
          </a:lstStyle>
          <a:p>
            <a:pPr>
              <a:defRPr/>
            </a:pPr>
            <a:endParaRPr lang="en-US"/>
          </a:p>
        </p:txBody>
      </p:sp>
      <p:sp>
        <p:nvSpPr>
          <p:cNvPr id="10" name="Rectangle 6"/>
          <p:cNvSpPr>
            <a:spLocks noGrp="1" noChangeArrowheads="1"/>
          </p:cNvSpPr>
          <p:nvPr>
            <p:ph type="sldNum" sz="quarter" idx="12"/>
          </p:nvPr>
        </p:nvSpPr>
        <p:spPr/>
        <p:txBody>
          <a:bodyPr/>
          <a:lstStyle>
            <a:lvl1pPr>
              <a:defRPr/>
            </a:lvl1pPr>
          </a:lstStyle>
          <a:p>
            <a:pPr>
              <a:defRPr/>
            </a:pPr>
            <a:fld id="{5101CF6D-3A52-48B7-8F5A-BDD857CE30CD}" type="slidenum">
              <a:rPr lang="ar-SA" altLang="en-US"/>
              <a:pPr>
                <a:defRPr/>
              </a:pPr>
              <a:t>‹#›</a:t>
            </a:fld>
            <a:endParaRPr lang="en-US" altLang="en-US"/>
          </a:p>
        </p:txBody>
      </p:sp>
    </p:spTree>
    <p:extLst>
      <p:ext uri="{BB962C8B-B14F-4D97-AF65-F5344CB8AC3E}">
        <p14:creationId xmlns:p14="http://schemas.microsoft.com/office/powerpoint/2010/main" val="249926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4937C412-EF2B-42E7-B238-285F472DECCC}" type="datetime1">
              <a:rPr lang="en-US"/>
              <a:pPr>
                <a:defRPr/>
              </a:pPr>
              <a:t>12/8/2025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0D1010C-2F64-482A-AC10-0B9E85ACDB7D}" type="slidenum">
              <a:rPr lang="ar-SA" altLang="en-US"/>
              <a:pPr>
                <a:defRPr/>
              </a:pPr>
              <a:t>‹#›</a:t>
            </a:fld>
            <a:endParaRPr lang="en-US" altLang="en-US"/>
          </a:p>
        </p:txBody>
      </p:sp>
    </p:spTree>
    <p:extLst>
      <p:ext uri="{BB962C8B-B14F-4D97-AF65-F5344CB8AC3E}">
        <p14:creationId xmlns:p14="http://schemas.microsoft.com/office/powerpoint/2010/main" val="1916591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29C7A87A-2E13-4674-9FBB-5EF41D8D942C}" type="datetime1">
              <a:rPr lang="en-US"/>
              <a:pPr>
                <a:defRPr/>
              </a:pPr>
              <a:t>12/8/2025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D42B3B-252A-4661-ADF9-9BFE76F8F944}" type="slidenum">
              <a:rPr lang="ar-SA" altLang="en-US"/>
              <a:pPr>
                <a:defRPr/>
              </a:pPr>
              <a:t>‹#›</a:t>
            </a:fld>
            <a:endParaRPr lang="en-US" altLang="en-US"/>
          </a:p>
        </p:txBody>
      </p:sp>
    </p:spTree>
    <p:extLst>
      <p:ext uri="{BB962C8B-B14F-4D97-AF65-F5344CB8AC3E}">
        <p14:creationId xmlns:p14="http://schemas.microsoft.com/office/powerpoint/2010/main" val="1926285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E609DD42-A4AF-4E69-B741-E80403319C11}" type="datetime1">
              <a:rPr lang="en-US"/>
              <a:pPr>
                <a:defRPr/>
              </a:pPr>
              <a:t>12/8/2025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6AC05BD-71D8-42BD-AF35-ADFEDF91D5D1}" type="slidenum">
              <a:rPr lang="ar-SA" altLang="en-US"/>
              <a:pPr>
                <a:defRPr/>
              </a:pPr>
              <a:t>‹#›</a:t>
            </a:fld>
            <a:endParaRPr lang="en-US" altLang="en-US"/>
          </a:p>
        </p:txBody>
      </p:sp>
    </p:spTree>
    <p:extLst>
      <p:ext uri="{BB962C8B-B14F-4D97-AF65-F5344CB8AC3E}">
        <p14:creationId xmlns:p14="http://schemas.microsoft.com/office/powerpoint/2010/main" val="3808512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39B463D3-C53D-4145-B75E-A82AFDA8D032}" type="datetime1">
              <a:rPr lang="en-US"/>
              <a:pPr>
                <a:defRPr/>
              </a:pPr>
              <a:t>12/8/2025</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CB0B3F09-3563-40EF-811B-9A4BE18E0B2F}" type="slidenum">
              <a:rPr lang="ar-SA" altLang="en-US"/>
              <a:pPr>
                <a:defRPr/>
              </a:pPr>
              <a:t>‹#›</a:t>
            </a:fld>
            <a:endParaRPr lang="en-US" altLang="en-US"/>
          </a:p>
        </p:txBody>
      </p:sp>
    </p:spTree>
    <p:extLst>
      <p:ext uri="{BB962C8B-B14F-4D97-AF65-F5344CB8AC3E}">
        <p14:creationId xmlns:p14="http://schemas.microsoft.com/office/powerpoint/2010/main" val="225771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0D8AB667-4595-4177-8504-FB627296AB33}" type="datetime1">
              <a:rPr lang="en-US"/>
              <a:pPr>
                <a:defRPr/>
              </a:pPr>
              <a:t>12/8/2025</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E15D301-F532-4E8E-A495-065FC6D461A7}" type="slidenum">
              <a:rPr lang="ar-SA" altLang="en-US"/>
              <a:pPr>
                <a:defRPr/>
              </a:pPr>
              <a:t>‹#›</a:t>
            </a:fld>
            <a:endParaRPr lang="en-US" altLang="en-US"/>
          </a:p>
        </p:txBody>
      </p:sp>
    </p:spTree>
    <p:extLst>
      <p:ext uri="{BB962C8B-B14F-4D97-AF65-F5344CB8AC3E}">
        <p14:creationId xmlns:p14="http://schemas.microsoft.com/office/powerpoint/2010/main" val="2762779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88FF0628-67F2-4EF4-86D3-324F007F14B0}" type="datetime1">
              <a:rPr lang="en-US"/>
              <a:pPr>
                <a:defRPr/>
              </a:pPr>
              <a:t>12/8/2025</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1C79993A-9EAE-42CD-B8A8-EEF40C1E0D51}" type="slidenum">
              <a:rPr lang="ar-SA" altLang="en-US"/>
              <a:pPr>
                <a:defRPr/>
              </a:pPr>
              <a:t>‹#›</a:t>
            </a:fld>
            <a:endParaRPr lang="en-US" altLang="en-US"/>
          </a:p>
        </p:txBody>
      </p:sp>
    </p:spTree>
    <p:extLst>
      <p:ext uri="{BB962C8B-B14F-4D97-AF65-F5344CB8AC3E}">
        <p14:creationId xmlns:p14="http://schemas.microsoft.com/office/powerpoint/2010/main" val="2230988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9DC5F05-ED40-454D-95C8-3453B7E7BB5B}" type="datetime1">
              <a:rPr lang="en-US"/>
              <a:pPr>
                <a:defRPr/>
              </a:pPr>
              <a:t>12/8/2025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FAFEAF1-3044-4204-8B6F-F53936E6E60A}" type="slidenum">
              <a:rPr lang="ar-SA" altLang="en-US"/>
              <a:pPr>
                <a:defRPr/>
              </a:pPr>
              <a:t>‹#›</a:t>
            </a:fld>
            <a:endParaRPr lang="en-US" altLang="en-US"/>
          </a:p>
        </p:txBody>
      </p:sp>
    </p:spTree>
    <p:extLst>
      <p:ext uri="{BB962C8B-B14F-4D97-AF65-F5344CB8AC3E}">
        <p14:creationId xmlns:p14="http://schemas.microsoft.com/office/powerpoint/2010/main" val="2139360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A92DFE8-9BCF-414E-AED7-5563BFB4AA38}" type="datetime1">
              <a:rPr lang="en-US"/>
              <a:pPr>
                <a:defRPr/>
              </a:pPr>
              <a:t>12/8/2025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4139072-BCFF-4B00-ACD4-6DF1BA958382}" type="slidenum">
              <a:rPr lang="ar-SA" altLang="en-US"/>
              <a:pPr>
                <a:defRPr/>
              </a:pPr>
              <a:t>‹#›</a:t>
            </a:fld>
            <a:endParaRPr lang="en-US" altLang="en-US"/>
          </a:p>
        </p:txBody>
      </p:sp>
    </p:spTree>
    <p:extLst>
      <p:ext uri="{BB962C8B-B14F-4D97-AF65-F5344CB8AC3E}">
        <p14:creationId xmlns:p14="http://schemas.microsoft.com/office/powerpoint/2010/main" val="4245223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15348B16-74D5-4854-8AB8-9D4A4DF3A19A}" type="datetime1">
              <a:rPr lang="en-US"/>
              <a:pPr>
                <a:defRPr/>
              </a:pPr>
              <a:t>12/8/2025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42C787-322D-45BF-A103-35EE7773702D}" type="slidenum">
              <a:rPr lang="ar-SA" altLang="en-US"/>
              <a:pPr>
                <a:defRPr/>
              </a:pPr>
              <a:t>‹#›</a:t>
            </a:fld>
            <a:endParaRPr lang="en-US" altLang="en-US"/>
          </a:p>
        </p:txBody>
      </p:sp>
    </p:spTree>
    <p:extLst>
      <p:ext uri="{BB962C8B-B14F-4D97-AF65-F5344CB8AC3E}">
        <p14:creationId xmlns:p14="http://schemas.microsoft.com/office/powerpoint/2010/main" val="4079385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553E0A1-5428-499E-A086-042824C3739D}" type="datetime1">
              <a:rPr lang="en-US"/>
              <a:pPr>
                <a:defRPr/>
              </a:pPr>
              <a:t>12/8/2025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D5820A5-4DC5-43F5-9BA2-B42E567F43C3}" type="slidenum">
              <a:rPr lang="ar-SA" altLang="en-US"/>
              <a:pPr>
                <a:defRPr/>
              </a:pPr>
              <a:t>‹#›</a:t>
            </a:fld>
            <a:endParaRPr lang="en-US" altLang="en-US"/>
          </a:p>
        </p:txBody>
      </p:sp>
    </p:spTree>
    <p:extLst>
      <p:ext uri="{BB962C8B-B14F-4D97-AF65-F5344CB8AC3E}">
        <p14:creationId xmlns:p14="http://schemas.microsoft.com/office/powerpoint/2010/main" val="45831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DEEA5EEE-51A1-44A1-9A46-0EBE715EE6EC}" type="datetime1">
              <a:rPr lang="en-US"/>
              <a:pPr>
                <a:defRPr/>
              </a:pPr>
              <a:t>12/8/2025</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69299B50-F463-407A-BCCB-B9D2AD4327B7}" type="slidenum">
              <a:rPr lang="ar-SA" altLang="en-US"/>
              <a:pPr>
                <a:defRPr/>
              </a:pPr>
              <a:t>‹#›</a:t>
            </a:fld>
            <a:endParaRPr lang="en-US" altLang="en-US"/>
          </a:p>
        </p:txBody>
      </p:sp>
    </p:spTree>
    <p:extLst>
      <p:ext uri="{BB962C8B-B14F-4D97-AF65-F5344CB8AC3E}">
        <p14:creationId xmlns:p14="http://schemas.microsoft.com/office/powerpoint/2010/main" val="2137216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6EE95FA3-5977-4F81-8E44-468604C95138}" type="datetime1">
              <a:rPr lang="en-US"/>
              <a:pPr>
                <a:defRPr/>
              </a:pPr>
              <a:t>12/8/2025</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A25454AC-C24E-455A-B2FE-658E4A7B77BA}" type="slidenum">
              <a:rPr lang="ar-SA" altLang="en-US"/>
              <a:pPr>
                <a:defRPr/>
              </a:pPr>
              <a:t>‹#›</a:t>
            </a:fld>
            <a:endParaRPr lang="en-US" altLang="en-US"/>
          </a:p>
        </p:txBody>
      </p:sp>
    </p:spTree>
    <p:extLst>
      <p:ext uri="{BB962C8B-B14F-4D97-AF65-F5344CB8AC3E}">
        <p14:creationId xmlns:p14="http://schemas.microsoft.com/office/powerpoint/2010/main" val="2689701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6260"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cs typeface="Arial" charset="0"/>
              </a:defRPr>
            </a:lvl1pPr>
          </a:lstStyle>
          <a:p>
            <a:pPr>
              <a:defRPr/>
            </a:pPr>
            <a:fld id="{97F3FF16-A966-4720-B871-21D0EBD4D873}" type="datetime1">
              <a:rPr lang="en-US"/>
              <a:pPr>
                <a:defRPr/>
              </a:pPr>
              <a:t>12/8/2025</a:t>
            </a:fld>
            <a:endParaRPr lang="en-US"/>
          </a:p>
        </p:txBody>
      </p:sp>
      <p:sp>
        <p:nvSpPr>
          <p:cNvPr id="9626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cs typeface="Arial" charset="0"/>
              </a:defRPr>
            </a:lvl1pPr>
          </a:lstStyle>
          <a:p>
            <a:pPr>
              <a:defRPr/>
            </a:pPr>
            <a:endParaRPr lang="en-US"/>
          </a:p>
        </p:txBody>
      </p:sp>
      <p:sp>
        <p:nvSpPr>
          <p:cNvPr id="96262"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AA6F67FD-1207-490D-809C-65CC19F8E7B4}" type="slidenum">
              <a:rPr lang="ar-SA" altLang="en-US"/>
              <a:pPr>
                <a:defRPr/>
              </a:pPr>
              <a:t>‹#›</a:t>
            </a:fld>
            <a:endParaRPr lang="en-US" altLang="en-US"/>
          </a:p>
        </p:txBody>
      </p:sp>
      <p:sp>
        <p:nvSpPr>
          <p:cNvPr id="1031"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2" name="Line 8"/>
          <p:cNvSpPr>
            <a:spLocks noChangeShapeType="1"/>
          </p:cNvSpPr>
          <p:nvPr/>
        </p:nvSpPr>
        <p:spPr bwMode="auto">
          <a:xfrm>
            <a:off x="457200" y="1447800"/>
            <a:ext cx="807720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3"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4"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4"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Lst>
  <p:hf hdr="0" ftr="0" dt="0"/>
  <p:txStyles>
    <p:title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p:titleStyle>
    <p:body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16632"/>
            <a:ext cx="8534400"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5400" b="1" kern="0" dirty="0">
                <a:solidFill>
                  <a:schemeClr val="tx2"/>
                </a:solidFill>
                <a:latin typeface="Garamond" panose="02020404030301010803" pitchFamily="18" charset="0"/>
              </a:rPr>
              <a:t>ICT 201: </a:t>
            </a:r>
          </a:p>
          <a:p>
            <a:r>
              <a:rPr lang="en-US" altLang="en-US" sz="3600" b="1" kern="0" dirty="0">
                <a:solidFill>
                  <a:schemeClr val="tx2"/>
                </a:solidFill>
                <a:latin typeface="Garamond" panose="02020404030301010803" pitchFamily="18" charset="0"/>
              </a:rPr>
              <a:t>INTRODUCTION TO INFORMATION AND COMMUNICATION TECHNOLOGY</a:t>
            </a:r>
            <a:r>
              <a:rPr lang="en-US" altLang="en-US" sz="7200" b="1" kern="0" dirty="0">
                <a:solidFill>
                  <a:schemeClr val="tx2"/>
                </a:solidFill>
                <a:latin typeface="Garamond" panose="02020404030301010803" pitchFamily="18" charset="0"/>
              </a:rPr>
              <a:t/>
            </a:r>
            <a:br>
              <a:rPr lang="en-US" altLang="en-US" sz="7200" b="1" kern="0" dirty="0">
                <a:solidFill>
                  <a:schemeClr val="tx2"/>
                </a:solidFill>
                <a:latin typeface="Garamond" panose="02020404030301010803" pitchFamily="18" charset="0"/>
              </a:rPr>
            </a:br>
            <a:endParaRPr lang="en-US" altLang="en-US" sz="7200" b="1" kern="0" dirty="0">
              <a:latin typeface="Comic Sans MS" panose="030F0702030302020204" pitchFamily="66" charset="0"/>
              <a:ea typeface="MS PGothic" panose="020B0600070205080204" pitchFamily="34" charset="-128"/>
            </a:endParaRPr>
          </a:p>
          <a:p>
            <a:endParaRPr lang="en-US" altLang="en-US" sz="2700" kern="0" dirty="0">
              <a:latin typeface="Comic Sans MS" panose="030F0702030302020204" pitchFamily="66" charset="0"/>
              <a:ea typeface="MS PGothic"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844824"/>
            <a:ext cx="85344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7000" b="1" kern="0" dirty="0">
                <a:solidFill>
                  <a:schemeClr val="tx2"/>
                </a:solidFill>
                <a:latin typeface="Garamond" panose="02020404030301010803" pitchFamily="18" charset="0"/>
              </a:rPr>
              <a:t>Lecturers/Instructors </a:t>
            </a:r>
            <a:endParaRPr lang="en-US" sz="7000" kern="0" dirty="0"/>
          </a:p>
        </p:txBody>
      </p:sp>
      <p:sp>
        <p:nvSpPr>
          <p:cNvPr id="4" name="Rectangle 10"/>
          <p:cNvSpPr>
            <a:spLocks noGrp="1" noChangeArrowheads="1"/>
          </p:cNvSpPr>
          <p:nvPr>
            <p:ph type="subTitle" idx="1"/>
          </p:nvPr>
        </p:nvSpPr>
        <p:spPr>
          <a:xfrm>
            <a:off x="251520" y="3192016"/>
            <a:ext cx="8659688" cy="3549352"/>
          </a:xfrm>
          <a:noFill/>
        </p:spPr>
        <p:txBody>
          <a:bodyPr/>
          <a:lstStyle/>
          <a:p>
            <a:r>
              <a:rPr lang="en-US" altLang="en-US" sz="4500" dirty="0">
                <a:latin typeface="Comic Sans MS" panose="030F0702030302020204" pitchFamily="66" charset="0"/>
              </a:rPr>
              <a:t>Dr. S. </a:t>
            </a:r>
            <a:r>
              <a:rPr lang="en-US" altLang="en-US" sz="4500" dirty="0" err="1">
                <a:latin typeface="Comic Sans MS" panose="030F0702030302020204" pitchFamily="66" charset="0"/>
              </a:rPr>
              <a:t>Akinboro</a:t>
            </a:r>
            <a:endParaRPr lang="en-US" altLang="en-US" sz="4500" dirty="0">
              <a:latin typeface="Comic Sans MS" panose="030F0702030302020204" pitchFamily="66" charset="0"/>
            </a:endParaRPr>
          </a:p>
          <a:p>
            <a:r>
              <a:rPr lang="en-US" altLang="en-US" sz="4500" dirty="0">
                <a:latin typeface="Comic Sans MS" panose="030F0702030302020204" pitchFamily="66" charset="0"/>
              </a:rPr>
              <a:t>Dr. </a:t>
            </a:r>
            <a:r>
              <a:rPr lang="en-US" altLang="en-US" sz="4500" dirty="0" err="1">
                <a:latin typeface="Comic Sans MS" panose="030F0702030302020204" pitchFamily="66" charset="0"/>
              </a:rPr>
              <a:t>Ufuoma</a:t>
            </a:r>
            <a:r>
              <a:rPr lang="en-US" altLang="en-US" sz="4500" dirty="0">
                <a:latin typeface="Comic Sans MS" panose="030F0702030302020204" pitchFamily="66" charset="0"/>
              </a:rPr>
              <a:t> C. </a:t>
            </a:r>
            <a:r>
              <a:rPr lang="en-US" altLang="en-US" sz="4500" dirty="0" err="1">
                <a:latin typeface="Comic Sans MS" panose="030F0702030302020204" pitchFamily="66" charset="0"/>
              </a:rPr>
              <a:t>Ogude</a:t>
            </a:r>
            <a:endParaRPr lang="en-US" altLang="en-US" sz="4500" dirty="0">
              <a:latin typeface="Comic Sans MS" panose="030F0702030302020204" pitchFamily="66" charset="0"/>
            </a:endParaRPr>
          </a:p>
          <a:p>
            <a:r>
              <a:rPr lang="en-GB" altLang="en-US" sz="4500" dirty="0">
                <a:latin typeface="Comic Sans MS" panose="030F0702030302020204" pitchFamily="66" charset="0"/>
                <a:ea typeface="MS PGothic" panose="020B0600070205080204" pitchFamily="34" charset="-128"/>
              </a:rPr>
              <a:t>0803 820 7103</a:t>
            </a:r>
            <a:endParaRPr lang="en-US" altLang="en-US" sz="4500" dirty="0">
              <a:latin typeface="Comic Sans MS" panose="030F0702030302020204" pitchFamily="66" charset="0"/>
              <a:ea typeface="MS PGothic" panose="020B0600070205080204" pitchFamily="34" charset="-128"/>
            </a:endParaRPr>
          </a:p>
          <a:p>
            <a:r>
              <a:rPr lang="en-US" sz="2200" dirty="0">
                <a:latin typeface="Comic Sans MS" panose="030F0702030302020204" pitchFamily="66" charset="0"/>
              </a:rPr>
              <a:t>	</a:t>
            </a:r>
          </a:p>
          <a:p>
            <a:pPr eaLnBrk="1" hangingPunct="1"/>
            <a:endParaRPr lang="en-US" altLang="en-US" sz="2700" dirty="0">
              <a:latin typeface="Comic Sans MS" panose="030F0702030302020204" pitchFamily="66" charset="0"/>
              <a:ea typeface="MS PGothic" panose="020B0600070205080204" pitchFamily="34" charset="-128"/>
            </a:endParaRPr>
          </a:p>
        </p:txBody>
      </p:sp>
    </p:spTree>
    <p:extLst>
      <p:ext uri="{BB962C8B-B14F-4D97-AF65-F5344CB8AC3E}">
        <p14:creationId xmlns:p14="http://schemas.microsoft.com/office/powerpoint/2010/main" val="3338001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Schedule</a:t>
            </a:r>
            <a:r>
              <a:rPr lang="en-US" sz="6600" b="1" dirty="0"/>
              <a:t> </a:t>
            </a:r>
            <a:endParaRPr lang="en-US" sz="6600" dirty="0"/>
          </a:p>
        </p:txBody>
      </p:sp>
      <p:sp>
        <p:nvSpPr>
          <p:cNvPr id="4" name="Rectangle 3"/>
          <p:cNvSpPr/>
          <p:nvPr/>
        </p:nvSpPr>
        <p:spPr>
          <a:xfrm>
            <a:off x="457200" y="1492181"/>
            <a:ext cx="8075240" cy="5681235"/>
          </a:xfrm>
          <a:prstGeom prst="rect">
            <a:avLst/>
          </a:prstGeom>
        </p:spPr>
        <p:txBody>
          <a:bodyPr wrap="square">
            <a:spAutoFit/>
          </a:bodyPr>
          <a:lstStyle/>
          <a:p>
            <a:pPr marL="355600" indent="-355600">
              <a:buFont typeface="Wingdings" panose="05000000000000000000" pitchFamily="2" charset="2"/>
              <a:buChar char="§"/>
            </a:pPr>
            <a:r>
              <a:rPr lang="en-GB" sz="1700" b="1" kern="0" dirty="0">
                <a:latin typeface="Comic Sans MS" panose="030F0702030302020204" pitchFamily="66" charset="0"/>
              </a:rPr>
              <a:t>Lecture Schedule:</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Mondays: </a:t>
            </a:r>
            <a:r>
              <a:rPr lang="en-GB" sz="1700" kern="0" dirty="0">
                <a:latin typeface="Comic Sans MS" panose="030F0702030302020204" pitchFamily="66" charset="0"/>
              </a:rPr>
              <a:t>8:00am - 10:00am</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Class Venue:</a:t>
            </a:r>
            <a:r>
              <a:rPr lang="en-GB" sz="1700" kern="0" dirty="0">
                <a:latin typeface="Comic Sans MS" panose="030F0702030302020204" pitchFamily="66" charset="0"/>
              </a:rPr>
              <a:t> Physical (Room S006) and Virtual </a:t>
            </a:r>
          </a:p>
          <a:p>
            <a:pPr marL="1077913" lvl="1" indent="-354013">
              <a:lnSpc>
                <a:spcPct val="150000"/>
              </a:lnSpc>
              <a:buFont typeface="Wingdings" panose="05000000000000000000" pitchFamily="2" charset="2"/>
              <a:buChar char="Ø"/>
            </a:pPr>
            <a:r>
              <a:rPr lang="en-GB" sz="1700" kern="0" dirty="0">
                <a:latin typeface="Comic Sans MS" panose="030F0702030302020204" pitchFamily="66" charset="0"/>
              </a:rPr>
              <a:t>Please attend your lectures. Attendance is mandatory</a:t>
            </a:r>
          </a:p>
          <a:p>
            <a:pPr marL="357188" lvl="1" indent="-357188">
              <a:buFont typeface="Wingdings" panose="05000000000000000000" pitchFamily="2" charset="2"/>
              <a:buChar char="§"/>
            </a:pPr>
            <a:r>
              <a:rPr lang="en-US" sz="1700" b="1" kern="0" dirty="0">
                <a:latin typeface="Comic Sans MS" panose="030F0702030302020204" pitchFamily="66" charset="0"/>
              </a:rPr>
              <a:t>Classroom Policy</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Review recommended material before coming to class</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Must be on time</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Turn off cell phones</a:t>
            </a:r>
            <a:endParaRPr lang="en-GB" sz="1700" kern="0" dirty="0">
              <a:latin typeface="Comic Sans MS" panose="030F0702030302020204" pitchFamily="66" charset="0"/>
            </a:endParaRPr>
          </a:p>
          <a:p>
            <a:pPr marL="357188" indent="-357188" eaLnBrk="1" hangingPunct="1">
              <a:buFont typeface="Wingdings" panose="05000000000000000000" pitchFamily="2" charset="2"/>
              <a:buChar char="§"/>
              <a:tabLst>
                <a:tab pos="271463" algn="l"/>
              </a:tabLst>
              <a:defRPr/>
            </a:pPr>
            <a:r>
              <a:rPr lang="en-US" sz="1700" b="1" dirty="0">
                <a:latin typeface="Comic Sans MS" pitchFamily="66" charset="0"/>
                <a:ea typeface="ＭＳ Ｐゴシック" pitchFamily="34" charset="-128"/>
              </a:rPr>
              <a:t>Expectations  </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Read assigned readings</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Attend lectures and participate in discussions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Bring your ideas and concerns to class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Work effectively in a group setting</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Learn how to use the tools and understand your project very well when necessary </a:t>
            </a:r>
            <a:endParaRPr lang="en-US" sz="1700" dirty="0">
              <a:solidFill>
                <a:srgbClr val="663300"/>
              </a:solidFill>
              <a:latin typeface="Comic Sans MS" pitchFamily="66" charset="0"/>
              <a:ea typeface="ＭＳ Ｐゴシック" pitchFamily="34" charset="-128"/>
            </a:endParaRPr>
          </a:p>
        </p:txBody>
      </p:sp>
    </p:spTree>
    <p:extLst>
      <p:ext uri="{BB962C8B-B14F-4D97-AF65-F5344CB8AC3E}">
        <p14:creationId xmlns:p14="http://schemas.microsoft.com/office/powerpoint/2010/main" val="1722518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7000" b="1" dirty="0"/>
              <a:t>Learning Outcomes</a:t>
            </a:r>
            <a:endParaRPr lang="en-US" sz="7000" dirty="0"/>
          </a:p>
        </p:txBody>
      </p:sp>
      <p:sp>
        <p:nvSpPr>
          <p:cNvPr id="4" name="Rectangle 3"/>
          <p:cNvSpPr/>
          <p:nvPr/>
        </p:nvSpPr>
        <p:spPr>
          <a:xfrm>
            <a:off x="457200" y="1484784"/>
            <a:ext cx="8229600" cy="4657942"/>
          </a:xfrm>
          <a:prstGeom prst="rect">
            <a:avLst/>
          </a:prstGeom>
        </p:spPr>
        <p:txBody>
          <a:bodyPr wrap="square">
            <a:spAutoFit/>
          </a:bodyPr>
          <a:lstStyle/>
          <a:p>
            <a:pPr algn="just">
              <a:lnSpc>
                <a:spcPct val="150000"/>
              </a:lnSpc>
            </a:pPr>
            <a:r>
              <a:rPr lang="en-US" sz="2000" dirty="0">
                <a:latin typeface="Comic Sans MS" panose="030F0702030302020204" pitchFamily="66" charset="0"/>
              </a:rPr>
              <a:t>At the end of the course, students should be able to:</a:t>
            </a:r>
          </a:p>
          <a:p>
            <a:pPr marL="714375" indent="-357188" algn="just">
              <a:lnSpc>
                <a:spcPct val="150000"/>
              </a:lnSpc>
            </a:pPr>
            <a:r>
              <a:rPr lang="en-US" sz="2000" dirty="0">
                <a:latin typeface="Comic Sans MS" panose="030F0702030302020204" pitchFamily="66" charset="0"/>
              </a:rPr>
              <a:t>1. Identify components of the computer and know-how the components communicate;</a:t>
            </a:r>
          </a:p>
          <a:p>
            <a:pPr marL="714375" indent="-357188" algn="just">
              <a:lnSpc>
                <a:spcPct val="150000"/>
              </a:lnSpc>
            </a:pPr>
            <a:r>
              <a:rPr lang="en-US" sz="2000" dirty="0">
                <a:latin typeface="Comic Sans MS" panose="030F0702030302020204" pitchFamily="66" charset="0"/>
              </a:rPr>
              <a:t>2. Know the concept of data transfer and memory types and management;</a:t>
            </a:r>
          </a:p>
          <a:p>
            <a:pPr marL="714375" indent="-357188" algn="just">
              <a:lnSpc>
                <a:spcPct val="150000"/>
              </a:lnSpc>
            </a:pPr>
            <a:r>
              <a:rPr lang="en-US" sz="2000" dirty="0">
                <a:latin typeface="Comic Sans MS" panose="030F0702030302020204" pitchFamily="66" charset="0"/>
              </a:rPr>
              <a:t>3. Be comfortable with graphics processing;</a:t>
            </a:r>
          </a:p>
          <a:p>
            <a:pPr marL="714375" indent="-357188" algn="just">
              <a:lnSpc>
                <a:spcPct val="150000"/>
              </a:lnSpc>
            </a:pPr>
            <a:r>
              <a:rPr lang="en-US" sz="2000" dirty="0">
                <a:latin typeface="Comic Sans MS" panose="030F0702030302020204" pitchFamily="66" charset="0"/>
              </a:rPr>
              <a:t>4. Identify and be able to use different communication ports;</a:t>
            </a:r>
          </a:p>
          <a:p>
            <a:pPr marL="714375" indent="-357188" algn="just">
              <a:lnSpc>
                <a:spcPct val="150000"/>
              </a:lnSpc>
            </a:pPr>
            <a:r>
              <a:rPr lang="en-US" sz="2000" dirty="0">
                <a:latin typeface="Comic Sans MS" panose="030F0702030302020204" pitchFamily="66" charset="0"/>
              </a:rPr>
              <a:t>5. Know the software types;</a:t>
            </a:r>
          </a:p>
          <a:p>
            <a:pPr marL="714375" indent="-357188" algn="just">
              <a:lnSpc>
                <a:spcPct val="150000"/>
              </a:lnSpc>
            </a:pPr>
            <a:r>
              <a:rPr lang="en-US" sz="2000" dirty="0">
                <a:latin typeface="Comic Sans MS" panose="030F0702030302020204" pitchFamily="66" charset="0"/>
              </a:rPr>
              <a:t>6. State different computer network topologies and their sizes; </a:t>
            </a:r>
          </a:p>
          <a:p>
            <a:pPr marL="714375" indent="-357188" algn="just">
              <a:lnSpc>
                <a:spcPct val="150000"/>
              </a:lnSpc>
            </a:pPr>
            <a:r>
              <a:rPr lang="en-US" sz="2000" dirty="0">
                <a:latin typeface="Comic Sans MS" panose="030F0702030302020204" pitchFamily="66" charset="0"/>
              </a:rPr>
              <a:t>7. Be able to use office applications and the internet.</a:t>
            </a:r>
          </a:p>
        </p:txBody>
      </p:sp>
    </p:spTree>
    <p:extLst>
      <p:ext uri="{BB962C8B-B14F-4D97-AF65-F5344CB8AC3E}">
        <p14:creationId xmlns:p14="http://schemas.microsoft.com/office/powerpoint/2010/main" val="3043364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404664"/>
            <a:ext cx="8229600" cy="1012974"/>
          </a:xfrm>
        </p:spPr>
        <p:txBody>
          <a:bodyPr/>
          <a:lstStyle/>
          <a:p>
            <a:pPr algn="ctr"/>
            <a:r>
              <a:rPr lang="en-US" sz="8000" b="1" dirty="0"/>
              <a:t>Course Contents</a:t>
            </a:r>
            <a:endParaRPr lang="en-US" sz="8000" dirty="0"/>
          </a:p>
        </p:txBody>
      </p:sp>
      <p:sp>
        <p:nvSpPr>
          <p:cNvPr id="4" name="Rectangle 3"/>
          <p:cNvSpPr/>
          <p:nvPr/>
        </p:nvSpPr>
        <p:spPr>
          <a:xfrm>
            <a:off x="539552" y="1340768"/>
            <a:ext cx="7920880" cy="5551713"/>
          </a:xfrm>
          <a:prstGeom prst="rect">
            <a:avLst/>
          </a:prstGeom>
        </p:spPr>
        <p:txBody>
          <a:bodyPr wrap="square">
            <a:spAutoFit/>
          </a:bodyPr>
          <a:lstStyle/>
          <a:p>
            <a:pPr algn="just">
              <a:lnSpc>
                <a:spcPct val="200000"/>
              </a:lnSpc>
            </a:pPr>
            <a:r>
              <a:rPr lang="en-US" dirty="0">
                <a:latin typeface="Comic Sans MS" panose="030F0702030302020204" pitchFamily="66" charset="0"/>
              </a:rPr>
              <a:t>Basic principle of computers. Computer "backbone".  Data transmission. Random Access Memory. Permanent Memory. Graphic processing. Communication Ports. Input and Output Devices. Software types. Accessibility options. Computer types. Portable digital devices. Network Types. Internet. Instant messaging. Voice over Internet Protocol. Really Simple Syndication. Network communication. Internet data transfer. Data rate units. Internet access. Virtual (online) communities. Computer in the workplace. Office Applications (word processing, spreadsheets, presentation, etc.). Other well-known applications. Telecommuting (telework).</a:t>
            </a:r>
          </a:p>
        </p:txBody>
      </p:sp>
    </p:spTree>
    <p:extLst>
      <p:ext uri="{BB962C8B-B14F-4D97-AF65-F5344CB8AC3E}">
        <p14:creationId xmlns:p14="http://schemas.microsoft.com/office/powerpoint/2010/main" val="3442175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Module</a:t>
            </a:r>
            <a:endParaRPr lang="en-US" sz="8000" dirty="0"/>
          </a:p>
        </p:txBody>
      </p:sp>
      <p:sp>
        <p:nvSpPr>
          <p:cNvPr id="4" name="Rectangle 3"/>
          <p:cNvSpPr/>
          <p:nvPr/>
        </p:nvSpPr>
        <p:spPr>
          <a:xfrm>
            <a:off x="457200" y="1484784"/>
            <a:ext cx="8003232" cy="5047536"/>
          </a:xfrm>
          <a:prstGeom prst="rect">
            <a:avLst/>
          </a:prstGeom>
        </p:spPr>
        <p:txBody>
          <a:bodyPr wrap="square">
            <a:spAutoFit/>
          </a:bodyPr>
          <a:lstStyle/>
          <a:p>
            <a:pPr marL="342900" indent="-342900" algn="just">
              <a:buFont typeface="Wingdings" panose="05000000000000000000" pitchFamily="2" charset="2"/>
              <a:buChar char="Ø"/>
            </a:pPr>
            <a:r>
              <a:rPr lang="en-US" sz="1700" b="1" dirty="0">
                <a:latin typeface="Comic Sans MS" panose="030F0702030302020204" pitchFamily="66" charset="0"/>
              </a:rPr>
              <a:t>Module 1 Introduction to Information Communication Technology</a:t>
            </a:r>
          </a:p>
          <a:p>
            <a:pPr marL="714375" indent="-342900" algn="just">
              <a:buFont typeface="Wingdings" panose="05000000000000000000" pitchFamily="2" charset="2"/>
              <a:buChar char="§"/>
            </a:pPr>
            <a:r>
              <a:rPr lang="en-US" sz="1600" dirty="0">
                <a:latin typeface="Comic Sans MS" panose="030F0702030302020204" pitchFamily="66" charset="0"/>
              </a:rPr>
              <a:t>Unit 1: Information Communication Technology: Principles, Practices, and Opportunities.</a:t>
            </a:r>
          </a:p>
          <a:p>
            <a:pPr marL="714375" indent="-342900" algn="just">
              <a:buFont typeface="Wingdings" panose="05000000000000000000" pitchFamily="2" charset="2"/>
              <a:buChar char="§"/>
            </a:pPr>
            <a:r>
              <a:rPr lang="en-US" sz="1600" dirty="0">
                <a:latin typeface="Comic Sans MS" panose="030F0702030302020204" pitchFamily="66" charset="0"/>
              </a:rPr>
              <a:t>Unit 2: Essentials of Computing</a:t>
            </a:r>
          </a:p>
          <a:p>
            <a:pPr marL="714375" indent="-342900" algn="just">
              <a:buFont typeface="Wingdings" panose="05000000000000000000" pitchFamily="2" charset="2"/>
              <a:buChar char="§"/>
            </a:pPr>
            <a:r>
              <a:rPr lang="en-US" sz="1600" dirty="0">
                <a:latin typeface="Comic Sans MS" panose="030F0702030302020204" pitchFamily="66" charset="0"/>
              </a:rPr>
              <a:t>Unit 3: The System Unit and the Central Processing Unit</a:t>
            </a:r>
          </a:p>
          <a:p>
            <a:pPr marL="714375" indent="-342900" algn="just">
              <a:buFont typeface="Wingdings" panose="05000000000000000000" pitchFamily="2" charset="2"/>
              <a:buChar char="§"/>
            </a:pPr>
            <a:r>
              <a:rPr lang="en-US" sz="1600" dirty="0">
                <a:latin typeface="Comic Sans MS" panose="030F0702030302020204" pitchFamily="66" charset="0"/>
              </a:rPr>
              <a:t>Unit 4: Input Devices, Output Devices and Storage Devices and Memory</a:t>
            </a:r>
          </a:p>
          <a:p>
            <a:pPr marL="714375" indent="-342900" algn="just">
              <a:buFont typeface="Wingdings" panose="05000000000000000000" pitchFamily="2" charset="2"/>
              <a:buChar char="§"/>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2 Computer Networks, Distributed Networks and the Internet</a:t>
            </a:r>
          </a:p>
          <a:p>
            <a:pPr marL="714375" indent="-342900" algn="just">
              <a:buFont typeface="Wingdings" panose="05000000000000000000" pitchFamily="2" charset="2"/>
              <a:buChar char="§"/>
            </a:pPr>
            <a:r>
              <a:rPr lang="en-US" sz="1600" dirty="0">
                <a:latin typeface="Comic Sans MS" panose="030F0702030302020204" pitchFamily="66" charset="0"/>
              </a:rPr>
              <a:t>Unit 5: Computer Networks, Networking Technologies and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6: Enterprise and Wireless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7: Essentials of the Internet and World Wide Web</a:t>
            </a:r>
          </a:p>
          <a:p>
            <a:pPr marL="714375" indent="-342900" algn="just">
              <a:buFont typeface="Wingdings" panose="05000000000000000000" pitchFamily="2" charset="2"/>
              <a:buChar char="§"/>
            </a:pPr>
            <a:r>
              <a:rPr lang="en-US" sz="1600" dirty="0">
                <a:latin typeface="Comic Sans MS" panose="030F0702030302020204" pitchFamily="66" charset="0"/>
              </a:rPr>
              <a:t>Unit 8: Electronic Commerce and Electronic Business</a:t>
            </a:r>
          </a:p>
          <a:p>
            <a:pPr marL="714375" indent="-342900" algn="just">
              <a:buFont typeface="Wingdings" panose="05000000000000000000" pitchFamily="2" charset="2"/>
              <a:buChar char="§"/>
            </a:pPr>
            <a:r>
              <a:rPr lang="en-US" sz="1600" dirty="0">
                <a:latin typeface="Comic Sans MS" panose="030F0702030302020204" pitchFamily="66" charset="0"/>
              </a:rPr>
              <a:t>Unit 9: Launching Information Technology Applications Projects</a:t>
            </a:r>
          </a:p>
          <a:p>
            <a:pPr marL="342900" indent="-342900" algn="just">
              <a:buFont typeface="Wingdings" panose="05000000000000000000" pitchFamily="2" charset="2"/>
              <a:buChar char="Ø"/>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3 Managing Information and Communication Technology Applications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10: Creating Enterprise Applications and Project Management</a:t>
            </a:r>
          </a:p>
          <a:p>
            <a:pPr marL="714375" indent="-342900" algn="just">
              <a:buFont typeface="Wingdings" panose="05000000000000000000" pitchFamily="2" charset="2"/>
              <a:buChar char="§"/>
            </a:pPr>
            <a:r>
              <a:rPr lang="en-US" sz="1600" dirty="0">
                <a:latin typeface="Comic Sans MS" panose="030F0702030302020204" pitchFamily="66" charset="0"/>
              </a:rPr>
              <a:t>Unit 11: Web Based Application and Information Systems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12: Issues in Information Technology and Careers in ICT</a:t>
            </a:r>
            <a:endParaRPr lang="en-US" sz="1600" b="1" dirty="0">
              <a:latin typeface="Comic Sans MS" panose="030F0702030302020204" pitchFamily="66" charset="0"/>
            </a:endParaRPr>
          </a:p>
        </p:txBody>
      </p:sp>
    </p:spTree>
    <p:extLst>
      <p:ext uri="{BB962C8B-B14F-4D97-AF65-F5344CB8AC3E}">
        <p14:creationId xmlns:p14="http://schemas.microsoft.com/office/powerpoint/2010/main" val="3124774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Outline</a:t>
            </a:r>
            <a:endParaRPr lang="en-US" sz="8000" dirty="0"/>
          </a:p>
        </p:txBody>
      </p:sp>
      <p:sp>
        <p:nvSpPr>
          <p:cNvPr id="4" name="Rectangle 3"/>
          <p:cNvSpPr/>
          <p:nvPr/>
        </p:nvSpPr>
        <p:spPr>
          <a:xfrm>
            <a:off x="457200" y="1493585"/>
            <a:ext cx="8229600" cy="5247783"/>
          </a:xfrm>
          <a:prstGeom prst="rect">
            <a:avLst/>
          </a:prstGeom>
        </p:spPr>
        <p:txBody>
          <a:bodyPr wrap="square">
            <a:spAutoFit/>
          </a:bodyPr>
          <a:lstStyle/>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 Information Communication Technology: Principles, Practices, and Opportunities.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2: Essentials of Computing</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3: The System Unit and the Central Processing Unit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4: Input Devices, Output Devices and Storage Devices and Memory</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5: Computer Networks, Networking Technologies and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6: Enterprise and Wireless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7: Essentials of the Internet and World Wide Web</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8: Electronic Commerce and Electronic Business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9: Launching Information Technology Applications Projects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10: Creating Enterprise Applications and Project Management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11: Web Based Application and Information Systems in the Enterprise</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12: Issues in Information Technology and Careers in ICT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13: Continuous Assessment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14: Examination   </a:t>
            </a:r>
          </a:p>
        </p:txBody>
      </p:sp>
    </p:spTree>
    <p:extLst>
      <p:ext uri="{BB962C8B-B14F-4D97-AF65-F5344CB8AC3E}">
        <p14:creationId xmlns:p14="http://schemas.microsoft.com/office/powerpoint/2010/main" val="2525320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6600" b="1" dirty="0"/>
              <a:t>Books and References</a:t>
            </a:r>
            <a:endParaRPr lang="en-US" sz="6600" dirty="0"/>
          </a:p>
        </p:txBody>
      </p:sp>
      <p:sp>
        <p:nvSpPr>
          <p:cNvPr id="4" name="Rectangle 3"/>
          <p:cNvSpPr/>
          <p:nvPr/>
        </p:nvSpPr>
        <p:spPr>
          <a:xfrm>
            <a:off x="457199" y="1538010"/>
            <a:ext cx="8043863" cy="4555286"/>
          </a:xfrm>
          <a:prstGeom prst="rect">
            <a:avLst/>
          </a:prstGeom>
        </p:spPr>
        <p:txBody>
          <a:bodyPr wrap="square">
            <a:spAutoFit/>
          </a:bodyPr>
          <a:lstStyle/>
          <a:p>
            <a:pPr marL="536575" indent="-361950" algn="just">
              <a:lnSpc>
                <a:spcPct val="150000"/>
              </a:lnSpc>
              <a:buFont typeface="Wingdings" pitchFamily="2" charset="2"/>
              <a:buChar char="§"/>
              <a:defRPr/>
            </a:pPr>
            <a:r>
              <a:rPr lang="en-US" sz="1500" dirty="0">
                <a:latin typeface="Comic Sans MS" panose="030F0702030302020204" pitchFamily="66" charset="0"/>
              </a:rPr>
              <a:t>Use and Effects By: Harry </a:t>
            </a:r>
            <a:r>
              <a:rPr lang="en-US" sz="1500" dirty="0" err="1">
                <a:latin typeface="Comic Sans MS" panose="030F0702030302020204" pitchFamily="66" charset="0"/>
              </a:rPr>
              <a:t>Bouwman</a:t>
            </a:r>
            <a:r>
              <a:rPr lang="en-US" sz="1500" dirty="0">
                <a:latin typeface="Comic Sans MS" panose="030F0702030302020204" pitchFamily="66" charset="0"/>
              </a:rPr>
              <a:t>, Bart van den </a:t>
            </a:r>
            <a:r>
              <a:rPr lang="en-US" sz="1500" dirty="0" err="1">
                <a:latin typeface="Comic Sans MS" panose="030F0702030302020204" pitchFamily="66" charset="0"/>
              </a:rPr>
              <a:t>Hooff</a:t>
            </a:r>
            <a:r>
              <a:rPr lang="en-US" sz="1500" dirty="0">
                <a:latin typeface="Comic Sans MS" panose="030F0702030302020204" pitchFamily="66" charset="0"/>
              </a:rPr>
              <a:t>, </a:t>
            </a:r>
            <a:r>
              <a:rPr lang="en-US" sz="1500" dirty="0" err="1">
                <a:latin typeface="Comic Sans MS" panose="030F0702030302020204" pitchFamily="66" charset="0"/>
              </a:rPr>
              <a:t>Lidwien</a:t>
            </a:r>
            <a:r>
              <a:rPr lang="en-US" sz="1500" dirty="0">
                <a:latin typeface="Comic Sans MS" panose="030F0702030302020204" pitchFamily="66" charset="0"/>
              </a:rPr>
              <a:t> van de </a:t>
            </a:r>
            <a:r>
              <a:rPr lang="en-US" sz="1500" dirty="0" err="1">
                <a:latin typeface="Comic Sans MS" panose="030F0702030302020204" pitchFamily="66" charset="0"/>
              </a:rPr>
              <a:t>Wijngaert</a:t>
            </a:r>
            <a:r>
              <a:rPr lang="en-US" sz="1500" dirty="0">
                <a:latin typeface="Comic Sans MS" panose="030F0702030302020204" pitchFamily="66" charset="0"/>
              </a:rPr>
              <a:t> &amp; Jan van Dijk, Publisher: SAGE Publications Ltd, Publication year: 2005, Online pub date: June 19, 2012</a:t>
            </a:r>
          </a:p>
          <a:p>
            <a:pPr marL="536575" indent="-361950" algn="just">
              <a:lnSpc>
                <a:spcPct val="150000"/>
              </a:lnSpc>
              <a:buFont typeface="Wingdings" pitchFamily="2" charset="2"/>
              <a:buChar char="§"/>
              <a:defRPr/>
            </a:pPr>
            <a:r>
              <a:rPr lang="en-US" sz="1500" dirty="0">
                <a:latin typeface="Comic Sans MS" panose="030F0702030302020204" pitchFamily="66" charset="0"/>
              </a:rPr>
              <a:t>Discovering Computers. Living in a Digital World. FUNDAMENTALS, 2011 EDITION. Gary B. Shelly. Misty E. </a:t>
            </a:r>
            <a:r>
              <a:rPr lang="en-US" sz="1500" dirty="0" err="1">
                <a:latin typeface="Comic Sans MS" panose="030F0702030302020204" pitchFamily="66" charset="0"/>
              </a:rPr>
              <a:t>Vermaat</a:t>
            </a:r>
            <a:r>
              <a:rPr lang="en-US" sz="1500" dirty="0">
                <a:latin typeface="Comic Sans MS" panose="030F0702030302020204" pitchFamily="66" charset="0"/>
              </a:rPr>
              <a:t>. Shelly Cashman</a:t>
            </a:r>
          </a:p>
          <a:p>
            <a:pPr marL="536575" indent="-361950" algn="just">
              <a:lnSpc>
                <a:spcPct val="150000"/>
              </a:lnSpc>
              <a:buFont typeface="Wingdings" pitchFamily="2" charset="2"/>
              <a:buChar char="§"/>
              <a:defRPr/>
            </a:pPr>
            <a:r>
              <a:rPr lang="en-US" sz="1500" dirty="0">
                <a:latin typeface="Comic Sans MS" panose="030F0702030302020204" pitchFamily="66" charset="0"/>
              </a:rPr>
              <a:t>Charles S. Parker, Understanding Computers: Today and Tomorrow, Course Technology, 25 Thomson Place, Boston, Massachusetts 02210, USA</a:t>
            </a:r>
          </a:p>
          <a:p>
            <a:pPr marL="536575" indent="-361950" algn="just">
              <a:lnSpc>
                <a:spcPct val="150000"/>
              </a:lnSpc>
              <a:buFont typeface="Wingdings" pitchFamily="2" charset="2"/>
              <a:buChar char="§"/>
              <a:defRPr/>
            </a:pPr>
            <a:r>
              <a:rPr lang="en-US" sz="1500" dirty="0" err="1">
                <a:latin typeface="Comic Sans MS" panose="030F0702030302020204" pitchFamily="66" charset="0"/>
              </a:rPr>
              <a:t>Livesley</a:t>
            </a:r>
            <a:r>
              <a:rPr lang="en-US" sz="1500" dirty="0">
                <a:latin typeface="Comic Sans MS" panose="030F0702030302020204" pitchFamily="66" charset="0"/>
              </a:rPr>
              <a:t>, Robert Kenneth. An introduction to automatic digital computers. Cambridge University Press, 2017.</a:t>
            </a:r>
          </a:p>
          <a:p>
            <a:pPr marL="536575" indent="-361950" algn="just">
              <a:lnSpc>
                <a:spcPct val="150000"/>
              </a:lnSpc>
              <a:buFont typeface="Wingdings" pitchFamily="2" charset="2"/>
              <a:buChar char="§"/>
              <a:defRPr/>
            </a:pPr>
            <a:r>
              <a:rPr lang="en-US" sz="1500" dirty="0" err="1">
                <a:latin typeface="Comic Sans MS" panose="030F0702030302020204" pitchFamily="66" charset="0"/>
              </a:rPr>
              <a:t>Zawacki</a:t>
            </a:r>
            <a:r>
              <a:rPr lang="en-US" sz="1500" dirty="0">
                <a:latin typeface="Comic Sans MS" panose="030F0702030302020204" pitchFamily="66" charset="0"/>
              </a:rPr>
              <a:t>-Richter, Olaf, and Colin </a:t>
            </a:r>
            <a:r>
              <a:rPr lang="en-US" sz="1500" dirty="0" err="1">
                <a:latin typeface="Comic Sans MS" panose="030F0702030302020204" pitchFamily="66" charset="0"/>
              </a:rPr>
              <a:t>Latchem</a:t>
            </a:r>
            <a:r>
              <a:rPr lang="en-US" sz="1500" dirty="0">
                <a:latin typeface="Comic Sans MS" panose="030F0702030302020204" pitchFamily="66" charset="0"/>
              </a:rPr>
              <a:t>. "Exploring four decades of research in Computers &amp; Education." Computers &amp; Education 122 (2018): 136-152.</a:t>
            </a:r>
          </a:p>
          <a:p>
            <a:pPr marL="536575" indent="-361950" algn="just">
              <a:lnSpc>
                <a:spcPct val="150000"/>
              </a:lnSpc>
              <a:buFont typeface="Wingdings" pitchFamily="2" charset="2"/>
              <a:buChar char="§"/>
              <a:defRPr/>
            </a:pPr>
            <a:r>
              <a:rPr lang="en-US" sz="1500" dirty="0">
                <a:latin typeface="Comic Sans MS" panose="030F0702030302020204" pitchFamily="66" charset="0"/>
              </a:rPr>
              <a:t>Sinha, Pradeep K., and </a:t>
            </a:r>
            <a:r>
              <a:rPr lang="en-US" sz="1500" dirty="0" err="1">
                <a:latin typeface="Comic Sans MS" panose="030F0702030302020204" pitchFamily="66" charset="0"/>
              </a:rPr>
              <a:t>Priti</a:t>
            </a:r>
            <a:r>
              <a:rPr lang="en-US" sz="1500" dirty="0">
                <a:latin typeface="Comic Sans MS" panose="030F0702030302020204" pitchFamily="66" charset="0"/>
              </a:rPr>
              <a:t> Sinha. Computer fundamentals. BPB publications, 2010. </a:t>
            </a:r>
          </a:p>
          <a:p>
            <a:pPr marL="536575" indent="-361950" algn="just">
              <a:lnSpc>
                <a:spcPct val="150000"/>
              </a:lnSpc>
              <a:buFont typeface="Wingdings" pitchFamily="2" charset="2"/>
              <a:buChar char="§"/>
              <a:defRPr/>
            </a:pPr>
            <a:r>
              <a:rPr lang="en-US" sz="1500" dirty="0">
                <a:latin typeface="Comic Sans MS" panose="030F0702030302020204" pitchFamily="66" charset="0"/>
              </a:rPr>
              <a:t>Goel, Anita. Computer fundamentals. Pearson Education India, 2010.</a:t>
            </a:r>
            <a:endParaRPr lang="en-US" sz="1500" dirty="0">
              <a:latin typeface="Comic Sans MS" pitchFamily="66" charset="0"/>
              <a:ea typeface="ＭＳ Ｐゴシック" pitchFamily="34" charset="-128"/>
            </a:endParaRPr>
          </a:p>
        </p:txBody>
      </p:sp>
    </p:spTree>
    <p:extLst>
      <p:ext uri="{BB962C8B-B14F-4D97-AF65-F5344CB8AC3E}">
        <p14:creationId xmlns:p14="http://schemas.microsoft.com/office/powerpoint/2010/main" val="3414840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altLang="en-US" sz="9600" b="1" dirty="0"/>
              <a:t>Pre-Requisite</a:t>
            </a:r>
            <a:r>
              <a:rPr lang="en-US" altLang="en-US" sz="6600" b="1" dirty="0"/>
              <a:t> </a:t>
            </a:r>
            <a:endParaRPr lang="en-US" altLang="en-US" sz="6600" dirty="0"/>
          </a:p>
        </p:txBody>
      </p:sp>
      <p:pic>
        <p:nvPicPr>
          <p:cNvPr id="5" name="Picture 4"/>
          <p:cNvPicPr>
            <a:picLocks noChangeAspect="1"/>
          </p:cNvPicPr>
          <p:nvPr/>
        </p:nvPicPr>
        <p:blipFill>
          <a:blip r:embed="rId3"/>
          <a:stretch>
            <a:fillRect/>
          </a:stretch>
        </p:blipFill>
        <p:spPr>
          <a:xfrm>
            <a:off x="1259632" y="1499249"/>
            <a:ext cx="6624736" cy="5080937"/>
          </a:xfrm>
          <a:prstGeom prst="rect">
            <a:avLst/>
          </a:prstGeom>
        </p:spPr>
      </p:pic>
    </p:spTree>
    <p:extLst>
      <p:ext uri="{BB962C8B-B14F-4D97-AF65-F5344CB8AC3E}">
        <p14:creationId xmlns:p14="http://schemas.microsoft.com/office/powerpoint/2010/main" val="1442900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Evaluation</a:t>
            </a:r>
            <a:endParaRPr lang="en-US" altLang="en-US" sz="8000" dirty="0"/>
          </a:p>
        </p:txBody>
      </p:sp>
      <p:sp>
        <p:nvSpPr>
          <p:cNvPr id="4" name="Rectangle 3"/>
          <p:cNvSpPr/>
          <p:nvPr/>
        </p:nvSpPr>
        <p:spPr>
          <a:xfrm>
            <a:off x="457200" y="1484784"/>
            <a:ext cx="8229600" cy="3447098"/>
          </a:xfrm>
          <a:prstGeom prst="rect">
            <a:avLst/>
          </a:prstGeom>
        </p:spPr>
        <p:txBody>
          <a:bodyPr wrap="square">
            <a:spAutoFit/>
          </a:bodyPr>
          <a:lstStyle/>
          <a:p>
            <a:pPr>
              <a:defRPr/>
            </a:pPr>
            <a:endParaRPr lang="en-US" b="1" dirty="0">
              <a:latin typeface="Comic Sans MS" pitchFamily="66" charset="0"/>
            </a:endParaRPr>
          </a:p>
          <a:p>
            <a:pPr>
              <a:buFont typeface="Wingdings" pitchFamily="2" charset="2"/>
              <a:buChar char="Ø"/>
              <a:defRPr/>
            </a:pPr>
            <a:r>
              <a:rPr lang="en-US" sz="4000" b="1" dirty="0">
                <a:latin typeface="Comic Sans MS" pitchFamily="66" charset="0"/>
              </a:rPr>
              <a:t>Final Examination: 70%</a:t>
            </a:r>
          </a:p>
          <a:p>
            <a:pPr lvl="2">
              <a:defRPr/>
            </a:pPr>
            <a:endParaRPr lang="en-US" sz="4000" dirty="0">
              <a:latin typeface="Comic Sans MS" pitchFamily="66" charset="0"/>
            </a:endParaRPr>
          </a:p>
          <a:p>
            <a:pPr>
              <a:buFont typeface="Wingdings" pitchFamily="2" charset="2"/>
              <a:buChar char="Ø"/>
              <a:defRPr/>
            </a:pPr>
            <a:r>
              <a:rPr lang="en-US" sz="4000" b="1" dirty="0">
                <a:latin typeface="Comic Sans MS" pitchFamily="66" charset="0"/>
              </a:rPr>
              <a:t>Continuous Assessment: 30% </a:t>
            </a:r>
          </a:p>
          <a:p>
            <a:pPr marL="1139825" lvl="3" indent="-346075">
              <a:buFont typeface="Wingdings" panose="05000000000000000000" pitchFamily="2" charset="2"/>
              <a:buChar char="§"/>
              <a:defRPr/>
            </a:pPr>
            <a:r>
              <a:rPr lang="en-US" sz="4000" dirty="0">
                <a:latin typeface="Comic Sans MS" pitchFamily="66" charset="0"/>
              </a:rPr>
              <a:t>Written test</a:t>
            </a:r>
          </a:p>
          <a:p>
            <a:pPr marL="1139825" lvl="3" indent="-346075">
              <a:buFont typeface="Wingdings" panose="05000000000000000000" pitchFamily="2" charset="2"/>
              <a:buChar char="§"/>
              <a:defRPr/>
            </a:pPr>
            <a:r>
              <a:rPr lang="en-US" sz="4000" dirty="0">
                <a:latin typeface="Comic Sans MS" pitchFamily="66" charset="0"/>
              </a:rPr>
              <a:t>Assignments/Project</a:t>
            </a:r>
          </a:p>
        </p:txBody>
      </p:sp>
    </p:spTree>
    <p:extLst>
      <p:ext uri="{BB962C8B-B14F-4D97-AF65-F5344CB8AC3E}">
        <p14:creationId xmlns:p14="http://schemas.microsoft.com/office/powerpoint/2010/main" val="2954830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3</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527248" y="3212976"/>
            <a:ext cx="8229600" cy="216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r>
              <a:rPr lang="en-US" sz="4800" b="1" dirty="0">
                <a:latin typeface="Comic Sans MS" panose="030F0702030302020204" pitchFamily="66" charset="0"/>
              </a:rPr>
              <a:t>THE SYSTEM UNIT AND THE CENTRAL PROCESSING UNIT</a:t>
            </a:r>
          </a:p>
        </p:txBody>
      </p:sp>
    </p:spTree>
    <p:extLst>
      <p:ext uri="{BB962C8B-B14F-4D97-AF65-F5344CB8AC3E}">
        <p14:creationId xmlns:p14="http://schemas.microsoft.com/office/powerpoint/2010/main" val="1183770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457200" y="1546447"/>
            <a:ext cx="8075240" cy="503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buFont typeface="Wingdings" panose="05000000000000000000" pitchFamily="2" charset="2"/>
              <a:buChar char="Ø"/>
            </a:pPr>
            <a:r>
              <a:rPr lang="en-US" sz="2100" b="1" kern="0" dirty="0"/>
              <a:t>THE SYSTEM UNIT</a:t>
            </a:r>
          </a:p>
          <a:p>
            <a:pPr>
              <a:buFont typeface="Wingdings" panose="05000000000000000000" pitchFamily="2" charset="2"/>
              <a:buChar char="Ø"/>
            </a:pPr>
            <a:r>
              <a:rPr lang="en-US" sz="2100" b="1" kern="0" dirty="0"/>
              <a:t>THE PROCESSOR</a:t>
            </a:r>
          </a:p>
          <a:p>
            <a:pPr>
              <a:buFont typeface="Wingdings" panose="05000000000000000000" pitchFamily="2" charset="2"/>
              <a:buChar char="Ø"/>
            </a:pPr>
            <a:r>
              <a:rPr lang="en-US" sz="2100" b="1" kern="0" dirty="0"/>
              <a:t>FUNCTIONS OF THE CENTRAL PROCESSING UNIT (CPU)</a:t>
            </a:r>
          </a:p>
          <a:p>
            <a:pPr>
              <a:buFont typeface="Wingdings" panose="05000000000000000000" pitchFamily="2" charset="2"/>
              <a:buChar char="Ø"/>
            </a:pPr>
            <a:r>
              <a:rPr lang="en-US" sz="2100" b="1" kern="0" dirty="0"/>
              <a:t>PROCESSOR CHIPS</a:t>
            </a:r>
          </a:p>
          <a:p>
            <a:pPr>
              <a:buFont typeface="Wingdings" panose="05000000000000000000" pitchFamily="2" charset="2"/>
              <a:buChar char="Ø"/>
            </a:pPr>
            <a:r>
              <a:rPr lang="en-US" sz="2100" b="1" kern="0" dirty="0"/>
              <a:t>THE PROCESSING SEQUENCE</a:t>
            </a:r>
          </a:p>
          <a:p>
            <a:pPr>
              <a:buFont typeface="Wingdings" panose="05000000000000000000" pitchFamily="2" charset="2"/>
              <a:buChar char="Ø"/>
            </a:pPr>
            <a:r>
              <a:rPr lang="en-US" sz="2100" b="1" kern="0" dirty="0"/>
              <a:t>PROCESSOR SPEED</a:t>
            </a:r>
          </a:p>
          <a:p>
            <a:pPr>
              <a:buFont typeface="Wingdings" panose="05000000000000000000" pitchFamily="2" charset="2"/>
              <a:buChar char="Ø"/>
            </a:pPr>
            <a:r>
              <a:rPr lang="en-US" sz="2100" b="1" kern="0" dirty="0"/>
              <a:t>DETERMINING PROCESSOR SPEED</a:t>
            </a:r>
          </a:p>
          <a:p>
            <a:pPr>
              <a:buFont typeface="Wingdings" panose="05000000000000000000" pitchFamily="2" charset="2"/>
              <a:buChar char="Ø"/>
            </a:pPr>
            <a:r>
              <a:rPr lang="en-US" sz="2100" b="1" kern="0" dirty="0"/>
              <a:t>PORTS</a:t>
            </a:r>
          </a:p>
          <a:p>
            <a:pPr>
              <a:buFont typeface="Wingdings" panose="05000000000000000000" pitchFamily="2" charset="2"/>
              <a:buChar char="Ø"/>
            </a:pPr>
            <a:r>
              <a:rPr lang="en-US" sz="2100" b="1" kern="0" dirty="0"/>
              <a:t>UNIVERSAL SERIAL BUS (USB)</a:t>
            </a:r>
          </a:p>
          <a:p>
            <a:pPr>
              <a:buFont typeface="Wingdings" panose="05000000000000000000" pitchFamily="2" charset="2"/>
              <a:buChar char="Ø"/>
            </a:pPr>
            <a:r>
              <a:rPr lang="en-US" sz="2100" b="1" kern="0" dirty="0"/>
              <a:t>ADD-IN BOARDS</a:t>
            </a:r>
          </a:p>
          <a:p>
            <a:pPr>
              <a:buFont typeface="Wingdings" panose="05000000000000000000" pitchFamily="2" charset="2"/>
              <a:buChar char="Ø"/>
            </a:pPr>
            <a:r>
              <a:rPr lang="en-US" sz="2100" b="1" kern="0" dirty="0"/>
              <a:t>PLUG AND PLAY</a:t>
            </a:r>
          </a:p>
        </p:txBody>
      </p:sp>
    </p:spTree>
    <p:extLst>
      <p:ext uri="{BB962C8B-B14F-4D97-AF65-F5344CB8AC3E}">
        <p14:creationId xmlns:p14="http://schemas.microsoft.com/office/powerpoint/2010/main" val="2678274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084982"/>
          </a:xfrm>
        </p:spPr>
        <p:txBody>
          <a:bodyPr>
            <a:noAutofit/>
          </a:bodyPr>
          <a:lstStyle/>
          <a:p>
            <a:pPr algn="ctr">
              <a:lnSpc>
                <a:spcPct val="200000"/>
              </a:lnSpc>
            </a:pPr>
            <a:r>
              <a:rPr lang="en-US" sz="6600" b="1" i="0" u="none" strike="noStrike" baseline="0" dirty="0">
                <a:latin typeface="Times New Roman" panose="02020603050405020304" pitchFamily="18" charset="0"/>
              </a:rPr>
              <a:t>THE SYSTEM UNIT</a:t>
            </a:r>
            <a:endParaRPr lang="en-US" sz="6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2000" b="0" i="0" u="none" strike="noStrike" baseline="0" dirty="0">
                <a:latin typeface="Times New Roman" panose="02020603050405020304" pitchFamily="18" charset="0"/>
              </a:rPr>
              <a:t>In its general interpretation, a system is a collection of inter-related parts, working together to achieve a common goal. </a:t>
            </a:r>
          </a:p>
          <a:p>
            <a:pPr marL="357188" indent="0" algn="just">
              <a:lnSpc>
                <a:spcPct val="200000"/>
              </a:lnSpc>
              <a:buNone/>
            </a:pPr>
            <a:r>
              <a:rPr lang="en-US" sz="2000" b="0" i="0" u="none" strike="noStrike" baseline="0" dirty="0">
                <a:latin typeface="Times New Roman" panose="02020603050405020304" pitchFamily="18" charset="0"/>
              </a:rPr>
              <a:t>For our purpose however, a system shall be considered as a set of inter-relating elements responding to input to produce output.</a:t>
            </a:r>
          </a:p>
          <a:p>
            <a:pPr algn="just">
              <a:lnSpc>
                <a:spcPct val="200000"/>
              </a:lnSpc>
            </a:pPr>
            <a:r>
              <a:rPr lang="en-US" sz="2000" b="0" i="0" u="none" strike="noStrike" baseline="0" dirty="0">
                <a:latin typeface="Times New Roman" panose="02020603050405020304" pitchFamily="18" charset="0"/>
              </a:rPr>
              <a:t>The </a:t>
            </a:r>
            <a:r>
              <a:rPr lang="en-US" sz="2000" b="1" i="0" u="none" strike="noStrike" baseline="0" dirty="0">
                <a:latin typeface="Times New Roman" panose="02020603050405020304" pitchFamily="18" charset="0"/>
              </a:rPr>
              <a:t>System Unit </a:t>
            </a:r>
            <a:r>
              <a:rPr lang="en-US" sz="2000" b="0" i="0" u="none" strike="noStrike" baseline="0" dirty="0">
                <a:latin typeface="Times New Roman" panose="02020603050405020304" pitchFamily="18" charset="0"/>
              </a:rPr>
              <a:t>is the hardware unit that houses a computer’s processor, ports, power supply, casing, motherboard and add-in boards and memory chips</a:t>
            </a:r>
            <a:endParaRPr lang="en-US" sz="2000"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680349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084982"/>
          </a:xfrm>
        </p:spPr>
        <p:txBody>
          <a:bodyPr>
            <a:noAutofit/>
          </a:bodyPr>
          <a:lstStyle/>
          <a:p>
            <a:pPr algn="ctr">
              <a:lnSpc>
                <a:spcPct val="200000"/>
              </a:lnSpc>
            </a:pPr>
            <a:r>
              <a:rPr lang="en-US" sz="6600" b="1" i="0" u="none" strike="noStrike" baseline="0" dirty="0">
                <a:latin typeface="Times New Roman" panose="02020603050405020304" pitchFamily="18" charset="0"/>
              </a:rPr>
              <a:t>THE PROCESSOR</a:t>
            </a:r>
            <a:endParaRPr lang="en-US" sz="6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r>
              <a:rPr lang="en-US" sz="1800" b="0" i="0" u="none" strike="noStrike" baseline="0" dirty="0">
                <a:latin typeface="Times New Roman" panose="02020603050405020304" pitchFamily="18" charset="0"/>
              </a:rPr>
              <a:t>Central Processing Unit (CPU) or Processor is the computer hardware that executes program instructions and performs the computer’s processing actions. </a:t>
            </a:r>
          </a:p>
          <a:p>
            <a:pPr algn="l"/>
            <a:r>
              <a:rPr lang="en-US" sz="1800" b="0" i="0" u="none" strike="noStrike" baseline="0" dirty="0">
                <a:latin typeface="Times New Roman" panose="02020603050405020304" pitchFamily="18" charset="0"/>
              </a:rPr>
              <a:t>It is made up of the following components housed in the Computer System Unit:</a:t>
            </a:r>
          </a:p>
          <a:p>
            <a:pPr marL="900113" algn="l">
              <a:buFont typeface="Wingdings" panose="05000000000000000000" pitchFamily="2" charset="2"/>
              <a:buChar char="Ø"/>
            </a:pPr>
            <a:r>
              <a:rPr lang="en-US" sz="1800" b="1" i="0" u="none" strike="noStrike" baseline="0" dirty="0">
                <a:latin typeface="Times New Roman" panose="02020603050405020304" pitchFamily="18" charset="0"/>
              </a:rPr>
              <a:t>Integrated Circuits/Chip/Microchip:</a:t>
            </a:r>
            <a:r>
              <a:rPr lang="en-US" sz="1800" b="0" i="0" u="none" strike="noStrike" baseline="0" dirty="0">
                <a:latin typeface="Times New Roman" panose="02020603050405020304" pitchFamily="18" charset="0"/>
              </a:rPr>
              <a:t> A collection of thousands or millions of transistors placed on a small silicon chip.</a:t>
            </a:r>
          </a:p>
          <a:p>
            <a:pPr marL="900113" algn="l">
              <a:buFont typeface="Wingdings" panose="05000000000000000000" pitchFamily="2" charset="2"/>
              <a:buChar char="Ø"/>
            </a:pPr>
            <a:r>
              <a:rPr lang="en-US" sz="1800" b="1" i="0" u="none" strike="noStrike" baseline="0" dirty="0">
                <a:latin typeface="Times New Roman" panose="02020603050405020304" pitchFamily="18" charset="0"/>
              </a:rPr>
              <a:t>Transistor:</a:t>
            </a:r>
            <a:r>
              <a:rPr lang="en-US" sz="1800" b="0" i="0" u="none" strike="noStrike" baseline="0" dirty="0">
                <a:latin typeface="Times New Roman" panose="02020603050405020304" pitchFamily="18" charset="0"/>
              </a:rPr>
              <a:t> An electrical switch that can be in one of two states: open or closed.</a:t>
            </a:r>
          </a:p>
          <a:p>
            <a:pPr marL="900113" algn="l">
              <a:buFont typeface="Wingdings" panose="05000000000000000000" pitchFamily="2" charset="2"/>
              <a:buChar char="Ø"/>
            </a:pPr>
            <a:r>
              <a:rPr lang="en-US" sz="1800" b="1" i="0" u="none" strike="noStrike" baseline="0" dirty="0">
                <a:latin typeface="Times New Roman" panose="02020603050405020304" pitchFamily="18" charset="0"/>
              </a:rPr>
              <a:t>Integrating:</a:t>
            </a:r>
            <a:r>
              <a:rPr lang="en-US" sz="1800" b="0" i="0" u="none" strike="noStrike" baseline="0" dirty="0">
                <a:latin typeface="Times New Roman" panose="02020603050405020304" pitchFamily="18" charset="0"/>
              </a:rPr>
              <a:t> The process of packing more transistors onto a single chip.</a:t>
            </a:r>
          </a:p>
          <a:p>
            <a:pPr marL="900113" algn="l">
              <a:buFont typeface="Wingdings" panose="05000000000000000000" pitchFamily="2" charset="2"/>
              <a:buChar char="Ø"/>
            </a:pPr>
            <a:r>
              <a:rPr lang="en-US" sz="1800" b="1" i="0" u="none" strike="noStrike" baseline="0" dirty="0">
                <a:latin typeface="Times New Roman" panose="02020603050405020304" pitchFamily="18" charset="0"/>
              </a:rPr>
              <a:t>Control Unit:</a:t>
            </a:r>
            <a:r>
              <a:rPr lang="en-US" sz="1800" b="0" i="0" u="none" strike="noStrike" baseline="0" dirty="0">
                <a:latin typeface="Times New Roman" panose="02020603050405020304" pitchFamily="18" charset="0"/>
              </a:rPr>
              <a:t> The part of the CPU that oversees and controls all computer activities according to the instructions it receives.</a:t>
            </a:r>
          </a:p>
          <a:p>
            <a:pPr marL="900113" algn="l">
              <a:buFont typeface="Wingdings" panose="05000000000000000000" pitchFamily="2" charset="2"/>
              <a:buChar char="Ø"/>
            </a:pPr>
            <a:r>
              <a:rPr lang="en-US" sz="1800" b="1" i="0" u="none" strike="noStrike" baseline="0" dirty="0">
                <a:latin typeface="Times New Roman" panose="02020603050405020304" pitchFamily="18" charset="0"/>
              </a:rPr>
              <a:t>Instructions:</a:t>
            </a:r>
            <a:r>
              <a:rPr lang="en-US" sz="1800" b="0" i="0" u="none" strike="noStrike" baseline="0" dirty="0">
                <a:latin typeface="Times New Roman" panose="02020603050405020304" pitchFamily="18" charset="0"/>
              </a:rPr>
              <a:t> Detailed descriptions of the actions to be carried out during input, processing, output, storage, and transmission.</a:t>
            </a:r>
          </a:p>
          <a:p>
            <a:pPr marL="900113" algn="l">
              <a:buFont typeface="Wingdings" panose="05000000000000000000" pitchFamily="2" charset="2"/>
              <a:buChar char="Ø"/>
            </a:pPr>
            <a:r>
              <a:rPr lang="en-US" sz="1800" b="1" i="0" u="none" strike="noStrike" baseline="0" dirty="0">
                <a:latin typeface="Times New Roman" panose="02020603050405020304" pitchFamily="18" charset="0"/>
              </a:rPr>
              <a:t>Arithmetic/Logic Unit (ALU):</a:t>
            </a:r>
            <a:r>
              <a:rPr lang="en-US" sz="1800" b="0" i="0" u="none" strike="noStrike" baseline="0" dirty="0">
                <a:latin typeface="Times New Roman" panose="02020603050405020304" pitchFamily="18" charset="0"/>
              </a:rPr>
              <a:t> The part of the CPU that performs arithmetic and logical operations.</a:t>
            </a:r>
          </a:p>
          <a:p>
            <a:pPr marL="1257300" indent="0" algn="l">
              <a:buNone/>
            </a:pPr>
            <a:r>
              <a:rPr lang="en-US" sz="1800" b="0" i="0" u="none" strike="noStrike" baseline="0" dirty="0">
                <a:latin typeface="Times New Roman" panose="02020603050405020304" pitchFamily="18" charset="0"/>
              </a:rPr>
              <a:t>– </a:t>
            </a:r>
            <a:r>
              <a:rPr lang="en-US" sz="1800" b="1" i="0" u="none" strike="noStrike" baseline="0" dirty="0">
                <a:latin typeface="Times New Roman" panose="02020603050405020304" pitchFamily="18" charset="0"/>
              </a:rPr>
              <a:t>Arithmetic Operations: </a:t>
            </a:r>
            <a:r>
              <a:rPr lang="en-US" sz="1800" b="0" i="0" u="none" strike="noStrike" baseline="0" dirty="0">
                <a:latin typeface="Times New Roman" panose="02020603050405020304" pitchFamily="18" charset="0"/>
              </a:rPr>
              <a:t>Addition, Subtraction, Multiplication, and Division.</a:t>
            </a:r>
          </a:p>
          <a:p>
            <a:pPr marL="1257300" indent="0" algn="l">
              <a:buNone/>
            </a:pPr>
            <a:r>
              <a:rPr lang="en-US" sz="1800" b="0" i="0" u="none" strike="noStrike" baseline="0" dirty="0">
                <a:latin typeface="Times New Roman" panose="02020603050405020304" pitchFamily="18" charset="0"/>
              </a:rPr>
              <a:t>– </a:t>
            </a:r>
            <a:r>
              <a:rPr lang="en-US" sz="1800" b="1" i="0" u="none" strike="noStrike" baseline="0" dirty="0">
                <a:latin typeface="Times New Roman" panose="02020603050405020304" pitchFamily="18" charset="0"/>
              </a:rPr>
              <a:t>Logical Operations:</a:t>
            </a:r>
            <a:r>
              <a:rPr lang="en-US" sz="1800" b="0" i="0" u="none" strike="noStrike" baseline="0" dirty="0">
                <a:latin typeface="Times New Roman" panose="02020603050405020304" pitchFamily="18" charset="0"/>
              </a:rPr>
              <a:t> Greater Than (&gt;), Less Than (&lt;), Equal To (=)</a:t>
            </a:r>
            <a:endParaRPr lang="en-US" sz="2100"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3328574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084982"/>
          </a:xfrm>
        </p:spPr>
        <p:txBody>
          <a:bodyPr>
            <a:noAutofit/>
          </a:bodyPr>
          <a:lstStyle/>
          <a:p>
            <a:pPr algn="ctr"/>
            <a:r>
              <a:rPr lang="en-US" sz="3600" b="1" i="0" u="none" strike="noStrike" baseline="0" dirty="0">
                <a:latin typeface="Times New Roman" panose="02020603050405020304" pitchFamily="18" charset="0"/>
              </a:rPr>
              <a:t>FUNCTIONS OF </a:t>
            </a:r>
            <a:r>
              <a:rPr lang="en-US" sz="3600" b="1" i="1" u="none" strike="noStrike" baseline="0" dirty="0">
                <a:latin typeface="Times New Roman" panose="02020603050405020304" pitchFamily="18" charset="0"/>
              </a:rPr>
              <a:t>THE CENTRAL PROCESSING UNIT (CPU)</a:t>
            </a:r>
            <a:endParaRPr lang="en-US" sz="3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lnSpc>
                <a:spcPct val="150000"/>
              </a:lnSpc>
            </a:pPr>
            <a:r>
              <a:rPr lang="en-US" sz="2200" b="1" i="1" u="none" strike="noStrike" baseline="0" dirty="0">
                <a:latin typeface="Times New Roman" panose="02020603050405020304" pitchFamily="18" charset="0"/>
              </a:rPr>
              <a:t>The Central Processing Unit (CPU) </a:t>
            </a:r>
            <a:r>
              <a:rPr lang="en-US" sz="2200" b="0" i="0" u="none" strike="noStrike" baseline="0" dirty="0">
                <a:latin typeface="Times New Roman" panose="02020603050405020304" pitchFamily="18" charset="0"/>
              </a:rPr>
              <a:t>is known to be the brain and the computational unit of the System Unit (SU). </a:t>
            </a:r>
          </a:p>
          <a:p>
            <a:pPr algn="l">
              <a:lnSpc>
                <a:spcPct val="150000"/>
              </a:lnSpc>
            </a:pPr>
            <a:r>
              <a:rPr lang="en-US" sz="2200" b="0" i="0" u="none" strike="noStrike" baseline="0" dirty="0">
                <a:latin typeface="Times New Roman" panose="02020603050405020304" pitchFamily="18" charset="0"/>
              </a:rPr>
              <a:t>It performs the following major functions;</a:t>
            </a:r>
          </a:p>
          <a:p>
            <a:pPr marL="1071563" indent="-357188" algn="l">
              <a:lnSpc>
                <a:spcPct val="150000"/>
              </a:lnSpc>
              <a:buFont typeface="Wingdings" panose="05000000000000000000" pitchFamily="2" charset="2"/>
              <a:buChar char="Ø"/>
            </a:pPr>
            <a:r>
              <a:rPr lang="en-US" sz="2200" b="0" i="0" u="none" strike="noStrike" baseline="0" dirty="0">
                <a:latin typeface="Times New Roman" panose="02020603050405020304" pitchFamily="18" charset="0"/>
              </a:rPr>
              <a:t>Coordinating the activities of all units or devices associated with the computer system.</a:t>
            </a:r>
          </a:p>
          <a:p>
            <a:pPr marL="1071563" indent="-357188" algn="l">
              <a:lnSpc>
                <a:spcPct val="150000"/>
              </a:lnSpc>
              <a:buFont typeface="Wingdings" panose="05000000000000000000" pitchFamily="2" charset="2"/>
              <a:buChar char="Ø"/>
            </a:pPr>
            <a:r>
              <a:rPr lang="en-US" sz="2200" b="0" i="0" u="none" strike="noStrike" baseline="0" dirty="0">
                <a:latin typeface="Times New Roman" panose="02020603050405020304" pitchFamily="18" charset="0"/>
              </a:rPr>
              <a:t>Accepting and executing instructions to cause the computer system unit to perform tasks.</a:t>
            </a:r>
            <a:endParaRPr lang="en-US" sz="2200"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3842956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084982"/>
          </a:xfrm>
        </p:spPr>
        <p:txBody>
          <a:bodyPr>
            <a:noAutofit/>
          </a:bodyPr>
          <a:lstStyle/>
          <a:p>
            <a:pPr algn="ctr"/>
            <a:r>
              <a:rPr lang="en-US" sz="6600" b="1" i="0" u="none" strike="noStrike" baseline="0" dirty="0">
                <a:latin typeface="Times New Roman" panose="02020603050405020304" pitchFamily="18" charset="0"/>
              </a:rPr>
              <a:t>PROCESSOR CHIPS</a:t>
            </a:r>
            <a:endParaRPr lang="en-US" sz="6600" b="1" kern="0" dirty="0"/>
          </a:p>
        </p:txBody>
      </p:sp>
      <p:sp>
        <p:nvSpPr>
          <p:cNvPr id="5" name="Rectangle 3"/>
          <p:cNvSpPr txBox="1">
            <a:spLocks noChangeArrowheads="1"/>
          </p:cNvSpPr>
          <p:nvPr/>
        </p:nvSpPr>
        <p:spPr bwMode="auto">
          <a:xfrm>
            <a:off x="429244" y="1484784"/>
            <a:ext cx="8229599"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r>
              <a:rPr lang="en-US" sz="2000" b="0" i="0" u="none" strike="noStrike" baseline="0" dirty="0">
                <a:latin typeface="Times New Roman" panose="02020603050405020304" pitchFamily="18" charset="0"/>
              </a:rPr>
              <a:t>Microprocessor is the smallest type of processor, with all of the processing capabilities of the control unit and ALU located on a single chip.</a:t>
            </a:r>
          </a:p>
          <a:p>
            <a:pPr marL="900113" algn="l">
              <a:buFont typeface="Wingdings" panose="05000000000000000000" pitchFamily="2" charset="2"/>
              <a:buChar char="Ø"/>
            </a:pPr>
            <a:r>
              <a:rPr lang="en-US" sz="2000" b="0" i="1" u="none" strike="noStrike" baseline="0" dirty="0">
                <a:latin typeface="Times New Roman" panose="02020603050405020304" pitchFamily="18" charset="0"/>
              </a:rPr>
              <a:t>Evolution of Intel Pentium Family of Microprocessors</a:t>
            </a:r>
          </a:p>
          <a:p>
            <a:pPr marL="0" indent="0" algn="l">
              <a:buNone/>
            </a:pPr>
            <a:r>
              <a:rPr lang="en-US" sz="2000" b="1" i="0" u="none" strike="noStrike" baseline="0" dirty="0">
                <a:latin typeface="Times New Roman" panose="02020603050405020304" pitchFamily="18" charset="0"/>
              </a:rPr>
              <a:t>Table 1 </a:t>
            </a:r>
            <a:r>
              <a:rPr lang="en-US" sz="2000" b="0" i="0" u="none" strike="noStrike" baseline="0" dirty="0">
                <a:latin typeface="Times New Roman" panose="02020603050405020304" pitchFamily="18" charset="0"/>
              </a:rPr>
              <a:t>Evolution of Intel Pentium Family of Microprocessors</a:t>
            </a:r>
          </a:p>
        </p:txBody>
      </p:sp>
      <p:pic>
        <p:nvPicPr>
          <p:cNvPr id="3" name="Picture 2">
            <a:extLst>
              <a:ext uri="{FF2B5EF4-FFF2-40B4-BE49-F238E27FC236}">
                <a16:creationId xmlns:a16="http://schemas.microsoft.com/office/drawing/2014/main" id="{23B59BAB-9B24-46DA-A3A8-EF260E868218}"/>
              </a:ext>
            </a:extLst>
          </p:cNvPr>
          <p:cNvPicPr>
            <a:picLocks noChangeAspect="1"/>
          </p:cNvPicPr>
          <p:nvPr/>
        </p:nvPicPr>
        <p:blipFill>
          <a:blip r:embed="rId2"/>
          <a:stretch>
            <a:fillRect/>
          </a:stretch>
        </p:blipFill>
        <p:spPr>
          <a:xfrm>
            <a:off x="457200" y="2924944"/>
            <a:ext cx="8075240" cy="3816424"/>
          </a:xfrm>
          <a:prstGeom prst="rect">
            <a:avLst/>
          </a:prstGeom>
        </p:spPr>
      </p:pic>
    </p:spTree>
    <p:extLst>
      <p:ext uri="{BB962C8B-B14F-4D97-AF65-F5344CB8AC3E}">
        <p14:creationId xmlns:p14="http://schemas.microsoft.com/office/powerpoint/2010/main" val="2069525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084982"/>
          </a:xfrm>
        </p:spPr>
        <p:txBody>
          <a:bodyPr>
            <a:noAutofit/>
          </a:bodyPr>
          <a:lstStyle/>
          <a:p>
            <a:pPr algn="ctr"/>
            <a:r>
              <a:rPr lang="en-US" sz="6600" b="1" i="0" u="none" strike="noStrike" baseline="0" dirty="0">
                <a:latin typeface="Times New Roman" panose="02020603050405020304" pitchFamily="18" charset="0"/>
              </a:rPr>
              <a:t>PROCESSOR CHIPS</a:t>
            </a:r>
            <a:endParaRPr lang="en-US" sz="6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endParaRPr lang="en-US" sz="2000" b="0" i="0" u="none" strike="noStrike" baseline="0" dirty="0">
              <a:latin typeface="Times New Roman" panose="02020603050405020304" pitchFamily="18" charset="0"/>
            </a:endParaRPr>
          </a:p>
        </p:txBody>
      </p:sp>
      <p:pic>
        <p:nvPicPr>
          <p:cNvPr id="4" name="Picture 3">
            <a:extLst>
              <a:ext uri="{FF2B5EF4-FFF2-40B4-BE49-F238E27FC236}">
                <a16:creationId xmlns:a16="http://schemas.microsoft.com/office/drawing/2014/main" id="{0D219249-1D48-43C5-9688-BA75BC571593}"/>
              </a:ext>
            </a:extLst>
          </p:cNvPr>
          <p:cNvPicPr>
            <a:picLocks noChangeAspect="1"/>
          </p:cNvPicPr>
          <p:nvPr/>
        </p:nvPicPr>
        <p:blipFill>
          <a:blip r:embed="rId2"/>
          <a:stretch>
            <a:fillRect/>
          </a:stretch>
        </p:blipFill>
        <p:spPr>
          <a:xfrm>
            <a:off x="457201" y="1484784"/>
            <a:ext cx="8047284" cy="3024336"/>
          </a:xfrm>
          <a:prstGeom prst="rect">
            <a:avLst/>
          </a:prstGeom>
        </p:spPr>
      </p:pic>
    </p:spTree>
    <p:extLst>
      <p:ext uri="{BB962C8B-B14F-4D97-AF65-F5344CB8AC3E}">
        <p14:creationId xmlns:p14="http://schemas.microsoft.com/office/powerpoint/2010/main" val="3613388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084982"/>
          </a:xfrm>
        </p:spPr>
        <p:txBody>
          <a:bodyPr>
            <a:noAutofit/>
          </a:bodyPr>
          <a:lstStyle/>
          <a:p>
            <a:pPr algn="ctr"/>
            <a:r>
              <a:rPr lang="en-US" sz="6600" b="1" i="0" u="none" strike="noStrike" baseline="0" dirty="0">
                <a:latin typeface="Times New Roman" panose="02020603050405020304" pitchFamily="18" charset="0"/>
              </a:rPr>
              <a:t>PROCESSOR CHIPS</a:t>
            </a:r>
            <a:endParaRPr lang="en-US" sz="6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lnSpc>
                <a:spcPct val="150000"/>
              </a:lnSpc>
            </a:pPr>
            <a:r>
              <a:rPr lang="en-US" sz="2400" b="1" i="1" u="none" strike="noStrike" baseline="0" dirty="0">
                <a:latin typeface="Times New Roman" panose="02020603050405020304" pitchFamily="18" charset="0"/>
              </a:rPr>
              <a:t>Intel Microprocessors</a:t>
            </a:r>
          </a:p>
          <a:p>
            <a:pPr marL="900113" algn="l">
              <a:lnSpc>
                <a:spcPct val="150000"/>
              </a:lnSpc>
              <a:buFont typeface="Wingdings" panose="05000000000000000000" pitchFamily="2" charset="2"/>
              <a:buChar char="Ø"/>
            </a:pPr>
            <a:r>
              <a:rPr lang="it-IT" sz="2400" b="0" i="0" u="none" strike="noStrike" baseline="0" dirty="0">
                <a:latin typeface="Times New Roman" panose="02020603050405020304" pitchFamily="18" charset="0"/>
              </a:rPr>
              <a:t>Intel Celeron Processors (R, M, Duo Core, 2Duo Core)</a:t>
            </a:r>
          </a:p>
          <a:p>
            <a:pPr marL="900113" algn="l">
              <a:lnSpc>
                <a:spcPct val="150000"/>
              </a:lnSpc>
              <a:buFont typeface="Wingdings" panose="05000000000000000000" pitchFamily="2" charset="2"/>
              <a:buChar char="Ø"/>
            </a:pPr>
            <a:r>
              <a:rPr lang="en-US" sz="2400" b="0" i="0" u="none" strike="noStrike" baseline="0" dirty="0">
                <a:latin typeface="Times New Roman" panose="02020603050405020304" pitchFamily="18" charset="0"/>
              </a:rPr>
              <a:t>Intel Pentium-M Processors</a:t>
            </a:r>
          </a:p>
          <a:p>
            <a:pPr marL="900113" algn="l">
              <a:lnSpc>
                <a:spcPct val="150000"/>
              </a:lnSpc>
              <a:buFont typeface="Wingdings" panose="05000000000000000000" pitchFamily="2" charset="2"/>
              <a:buChar char="Ø"/>
            </a:pPr>
            <a:r>
              <a:rPr lang="en-US" sz="2400" b="0" i="0" u="none" strike="noStrike" baseline="0" dirty="0">
                <a:latin typeface="Times New Roman" panose="02020603050405020304" pitchFamily="18" charset="0"/>
              </a:rPr>
              <a:t>Intel Celeron-M Processors</a:t>
            </a:r>
          </a:p>
          <a:p>
            <a:pPr marL="900113" algn="l">
              <a:lnSpc>
                <a:spcPct val="150000"/>
              </a:lnSpc>
              <a:buFont typeface="Wingdings" panose="05000000000000000000" pitchFamily="2" charset="2"/>
              <a:buChar char="Ø"/>
            </a:pPr>
            <a:r>
              <a:rPr lang="en-US" sz="2400" b="0" i="0" u="none" strike="noStrike" baseline="0" dirty="0">
                <a:latin typeface="Times New Roman" panose="02020603050405020304" pitchFamily="18" charset="0"/>
              </a:rPr>
              <a:t>Intel Xeon Processors</a:t>
            </a:r>
          </a:p>
          <a:p>
            <a:pPr marL="900113" algn="l">
              <a:lnSpc>
                <a:spcPct val="150000"/>
              </a:lnSpc>
              <a:buFont typeface="Wingdings" panose="05000000000000000000" pitchFamily="2" charset="2"/>
              <a:buChar char="Ø"/>
            </a:pPr>
            <a:r>
              <a:rPr lang="en-US" sz="2400" b="0" i="0" u="none" strike="noStrike" baseline="0" dirty="0">
                <a:latin typeface="Times New Roman" panose="02020603050405020304" pitchFamily="18" charset="0"/>
              </a:rPr>
              <a:t>Intel Itanium Processors</a:t>
            </a:r>
          </a:p>
          <a:p>
            <a:pPr algn="l">
              <a:lnSpc>
                <a:spcPct val="150000"/>
              </a:lnSpc>
            </a:pPr>
            <a:r>
              <a:rPr lang="en-US" sz="2400" b="0" i="0" u="none" strike="noStrike" baseline="0" dirty="0">
                <a:latin typeface="Times New Roman" panose="02020603050405020304" pitchFamily="18" charset="0"/>
              </a:rPr>
              <a:t>Evolution of Microprocessors for Macintosh Computers</a:t>
            </a:r>
          </a:p>
        </p:txBody>
      </p:sp>
    </p:spTree>
    <p:extLst>
      <p:ext uri="{BB962C8B-B14F-4D97-AF65-F5344CB8AC3E}">
        <p14:creationId xmlns:p14="http://schemas.microsoft.com/office/powerpoint/2010/main" val="3893818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084982"/>
          </a:xfrm>
        </p:spPr>
        <p:txBody>
          <a:bodyPr>
            <a:noAutofit/>
          </a:bodyPr>
          <a:lstStyle/>
          <a:p>
            <a:pPr algn="ctr"/>
            <a:r>
              <a:rPr lang="en-US" sz="6600" b="1" i="0" u="none" strike="noStrike" baseline="0" dirty="0">
                <a:latin typeface="Times New Roman" panose="02020603050405020304" pitchFamily="18" charset="0"/>
              </a:rPr>
              <a:t>PROCESSOR CHIPS</a:t>
            </a:r>
            <a:endParaRPr lang="en-US" sz="6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r>
              <a:rPr lang="en-US" sz="2000" b="1" i="0" u="none" strike="noStrike" baseline="0" dirty="0">
                <a:latin typeface="Times New Roman" panose="02020603050405020304" pitchFamily="18" charset="0"/>
              </a:rPr>
              <a:t>Table 2 </a:t>
            </a:r>
            <a:r>
              <a:rPr lang="en-US" sz="2000" b="0" i="0" u="none" strike="noStrike" baseline="0" dirty="0">
                <a:latin typeface="Times New Roman" panose="02020603050405020304" pitchFamily="18" charset="0"/>
              </a:rPr>
              <a:t>Evolution of Microprocessors for Macintosh Computers</a:t>
            </a:r>
          </a:p>
        </p:txBody>
      </p:sp>
      <p:pic>
        <p:nvPicPr>
          <p:cNvPr id="3" name="Picture 2">
            <a:extLst>
              <a:ext uri="{FF2B5EF4-FFF2-40B4-BE49-F238E27FC236}">
                <a16:creationId xmlns:a16="http://schemas.microsoft.com/office/drawing/2014/main" id="{66B5CBBF-0C72-4092-A481-8270FAE7A8EC}"/>
              </a:ext>
            </a:extLst>
          </p:cNvPr>
          <p:cNvPicPr>
            <a:picLocks noChangeAspect="1"/>
          </p:cNvPicPr>
          <p:nvPr/>
        </p:nvPicPr>
        <p:blipFill>
          <a:blip r:embed="rId2"/>
          <a:stretch>
            <a:fillRect/>
          </a:stretch>
        </p:blipFill>
        <p:spPr>
          <a:xfrm>
            <a:off x="429245" y="1977922"/>
            <a:ext cx="8075240" cy="4763446"/>
          </a:xfrm>
          <a:prstGeom prst="rect">
            <a:avLst/>
          </a:prstGeom>
        </p:spPr>
      </p:pic>
    </p:spTree>
    <p:extLst>
      <p:ext uri="{BB962C8B-B14F-4D97-AF65-F5344CB8AC3E}">
        <p14:creationId xmlns:p14="http://schemas.microsoft.com/office/powerpoint/2010/main" val="2534679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084982"/>
          </a:xfrm>
        </p:spPr>
        <p:txBody>
          <a:bodyPr>
            <a:noAutofit/>
          </a:bodyPr>
          <a:lstStyle/>
          <a:p>
            <a:pPr algn="ctr"/>
            <a:r>
              <a:rPr lang="en-US" sz="6600" b="1" i="0" u="none" strike="noStrike" baseline="0" dirty="0">
                <a:latin typeface="Times New Roman" panose="02020603050405020304" pitchFamily="18" charset="0"/>
              </a:rPr>
              <a:t>PROCESSOR CHIPS</a:t>
            </a:r>
            <a:endParaRPr lang="en-US" sz="6600" b="1" kern="0" dirty="0"/>
          </a:p>
        </p:txBody>
      </p:sp>
      <p:sp>
        <p:nvSpPr>
          <p:cNvPr id="5" name="Rectangle 3"/>
          <p:cNvSpPr txBox="1">
            <a:spLocks noChangeArrowheads="1"/>
          </p:cNvSpPr>
          <p:nvPr/>
        </p:nvSpPr>
        <p:spPr bwMode="auto">
          <a:xfrm>
            <a:off x="429245" y="1484784"/>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lnSpc>
                <a:spcPct val="150000"/>
              </a:lnSpc>
            </a:pPr>
            <a:r>
              <a:rPr lang="en-US" sz="2400" b="1" i="1" u="none" strike="noStrike" baseline="0" dirty="0">
                <a:latin typeface="Times New Roman" panose="02020603050405020304" pitchFamily="18" charset="0"/>
              </a:rPr>
              <a:t>Other Microprocessor Chips</a:t>
            </a:r>
          </a:p>
          <a:p>
            <a:pPr marL="714375" algn="l">
              <a:lnSpc>
                <a:spcPct val="150000"/>
              </a:lnSpc>
              <a:buFont typeface="Wingdings" panose="05000000000000000000" pitchFamily="2" charset="2"/>
              <a:buChar char="Ø"/>
            </a:pPr>
            <a:r>
              <a:rPr lang="en-US" sz="2400" b="0" i="0" u="none" strike="noStrike" baseline="0" dirty="0">
                <a:latin typeface="Times New Roman" panose="02020603050405020304" pitchFamily="18" charset="0"/>
              </a:rPr>
              <a:t>AMD</a:t>
            </a:r>
          </a:p>
          <a:p>
            <a:pPr marL="714375" algn="l">
              <a:lnSpc>
                <a:spcPct val="150000"/>
              </a:lnSpc>
              <a:buFont typeface="Wingdings" panose="05000000000000000000" pitchFamily="2" charset="2"/>
              <a:buChar char="Ø"/>
            </a:pPr>
            <a:r>
              <a:rPr lang="en-US" sz="2400" b="0" i="0" u="none" strike="noStrike" baseline="0" dirty="0">
                <a:latin typeface="Times New Roman" panose="02020603050405020304" pitchFamily="18" charset="0"/>
              </a:rPr>
              <a:t>Digital Equipment Corp.</a:t>
            </a:r>
          </a:p>
          <a:p>
            <a:pPr marL="714375" algn="l">
              <a:lnSpc>
                <a:spcPct val="150000"/>
              </a:lnSpc>
              <a:buFont typeface="Wingdings" panose="05000000000000000000" pitchFamily="2" charset="2"/>
              <a:buChar char="Ø"/>
            </a:pPr>
            <a:r>
              <a:rPr lang="en-US" sz="2400" b="0" i="0" u="none" strike="noStrike" baseline="0" dirty="0">
                <a:latin typeface="Times New Roman" panose="02020603050405020304" pitchFamily="18" charset="0"/>
              </a:rPr>
              <a:t>Mercury</a:t>
            </a:r>
          </a:p>
          <a:p>
            <a:pPr marL="714375" algn="l">
              <a:lnSpc>
                <a:spcPct val="150000"/>
              </a:lnSpc>
              <a:buFont typeface="Wingdings" panose="05000000000000000000" pitchFamily="2" charset="2"/>
              <a:buChar char="Ø"/>
            </a:pPr>
            <a:r>
              <a:rPr lang="en-US" sz="2400" b="0" i="0" u="none" strike="noStrike" baseline="0" dirty="0">
                <a:latin typeface="Times New Roman" panose="02020603050405020304" pitchFamily="18" charset="0"/>
              </a:rPr>
              <a:t>Hewlett-Packard</a:t>
            </a:r>
          </a:p>
          <a:p>
            <a:pPr marL="714375" algn="l">
              <a:lnSpc>
                <a:spcPct val="150000"/>
              </a:lnSpc>
              <a:buFont typeface="Wingdings" panose="05000000000000000000" pitchFamily="2" charset="2"/>
              <a:buChar char="Ø"/>
            </a:pPr>
            <a:r>
              <a:rPr lang="en-US" sz="2400" b="0" i="0" u="none" strike="noStrike" baseline="0" dirty="0">
                <a:latin typeface="Times New Roman" panose="02020603050405020304" pitchFamily="18" charset="0"/>
              </a:rPr>
              <a:t>MIPS Technologies</a:t>
            </a:r>
          </a:p>
          <a:p>
            <a:pPr marL="714375" algn="l">
              <a:lnSpc>
                <a:spcPct val="150000"/>
              </a:lnSpc>
              <a:buFont typeface="Wingdings" panose="05000000000000000000" pitchFamily="2" charset="2"/>
              <a:buChar char="Ø"/>
            </a:pPr>
            <a:r>
              <a:rPr lang="en-US" sz="2400" b="0" i="0" u="none" strike="noStrike" baseline="0" dirty="0">
                <a:latin typeface="Times New Roman" panose="02020603050405020304" pitchFamily="18" charset="0"/>
              </a:rPr>
              <a:t>Sun Microcomputers</a:t>
            </a:r>
          </a:p>
        </p:txBody>
      </p:sp>
    </p:spTree>
    <p:extLst>
      <p:ext uri="{BB962C8B-B14F-4D97-AF65-F5344CB8AC3E}">
        <p14:creationId xmlns:p14="http://schemas.microsoft.com/office/powerpoint/2010/main" val="1051207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67146"/>
            <a:ext cx="8229600" cy="1345630"/>
          </a:xfrm>
        </p:spPr>
        <p:txBody>
          <a:bodyPr>
            <a:noAutofit/>
          </a:bodyPr>
          <a:lstStyle/>
          <a:p>
            <a:pPr algn="ctr"/>
            <a:r>
              <a:rPr lang="en-US" b="1" i="0" u="none" strike="noStrike" baseline="0" dirty="0">
                <a:latin typeface="Times New Roman" panose="02020603050405020304" pitchFamily="18" charset="0"/>
              </a:rPr>
              <a:t>THE PROCESSING SEQUENCE</a:t>
            </a:r>
            <a:endParaRPr lang="en-US" b="1" kern="0" dirty="0"/>
          </a:p>
        </p:txBody>
      </p:sp>
      <p:sp>
        <p:nvSpPr>
          <p:cNvPr id="5" name="Rectangle 3"/>
          <p:cNvSpPr txBox="1">
            <a:spLocks noChangeArrowheads="1"/>
          </p:cNvSpPr>
          <p:nvPr/>
        </p:nvSpPr>
        <p:spPr bwMode="auto">
          <a:xfrm>
            <a:off x="457200" y="1442517"/>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r>
              <a:rPr lang="en-US" sz="2300" b="1" i="1" u="none" strike="noStrike" baseline="0" dirty="0">
                <a:latin typeface="Times New Roman" panose="02020603050405020304" pitchFamily="18" charset="0"/>
              </a:rPr>
              <a:t>Machine Cycle: </a:t>
            </a:r>
            <a:r>
              <a:rPr lang="en-US" sz="2300" b="0" i="0" u="none" strike="noStrike" baseline="0" dirty="0">
                <a:latin typeface="Times New Roman" panose="02020603050405020304" pitchFamily="18" charset="0"/>
              </a:rPr>
              <a:t>The four processing steps performed by the control unit: fetch, decode, execute, and store.</a:t>
            </a:r>
          </a:p>
        </p:txBody>
      </p:sp>
      <p:pic>
        <p:nvPicPr>
          <p:cNvPr id="3" name="Picture 2">
            <a:extLst>
              <a:ext uri="{FF2B5EF4-FFF2-40B4-BE49-F238E27FC236}">
                <a16:creationId xmlns:a16="http://schemas.microsoft.com/office/drawing/2014/main" id="{6B399BF0-FF6F-4BBB-9F5D-9D1C02AD8A8F}"/>
              </a:ext>
            </a:extLst>
          </p:cNvPr>
          <p:cNvPicPr>
            <a:picLocks noChangeAspect="1"/>
          </p:cNvPicPr>
          <p:nvPr/>
        </p:nvPicPr>
        <p:blipFill>
          <a:blip r:embed="rId2"/>
          <a:stretch>
            <a:fillRect/>
          </a:stretch>
        </p:blipFill>
        <p:spPr>
          <a:xfrm>
            <a:off x="457200" y="2185540"/>
            <a:ext cx="8075240" cy="4605314"/>
          </a:xfrm>
          <a:prstGeom prst="rect">
            <a:avLst/>
          </a:prstGeom>
        </p:spPr>
      </p:pic>
    </p:spTree>
    <p:extLst>
      <p:ext uri="{BB962C8B-B14F-4D97-AF65-F5344CB8AC3E}">
        <p14:creationId xmlns:p14="http://schemas.microsoft.com/office/powerpoint/2010/main" val="2239494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67146"/>
            <a:ext cx="8229600" cy="1345630"/>
          </a:xfrm>
        </p:spPr>
        <p:txBody>
          <a:bodyPr>
            <a:noAutofit/>
          </a:bodyPr>
          <a:lstStyle/>
          <a:p>
            <a:pPr algn="ctr"/>
            <a:r>
              <a:rPr lang="en-US" b="1" i="0" u="none" strike="noStrike" baseline="0" dirty="0">
                <a:latin typeface="Times New Roman" panose="02020603050405020304" pitchFamily="18" charset="0"/>
              </a:rPr>
              <a:t>THE PROCESSING SEQUENCE</a:t>
            </a:r>
            <a:endParaRPr lang="en-US" b="1" kern="0" dirty="0"/>
          </a:p>
        </p:txBody>
      </p:sp>
      <p:sp>
        <p:nvSpPr>
          <p:cNvPr id="5" name="Rectangle 3"/>
          <p:cNvSpPr txBox="1">
            <a:spLocks noChangeArrowheads="1"/>
          </p:cNvSpPr>
          <p:nvPr/>
        </p:nvSpPr>
        <p:spPr bwMode="auto">
          <a:xfrm>
            <a:off x="457200" y="1442517"/>
            <a:ext cx="807524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lnSpc>
                <a:spcPct val="150000"/>
              </a:lnSpc>
            </a:pPr>
            <a:r>
              <a:rPr lang="en-US" sz="2000" b="1" i="1" u="none" strike="noStrike" baseline="0" dirty="0">
                <a:latin typeface="Times New Roman" panose="02020603050405020304" pitchFamily="18" charset="0"/>
              </a:rPr>
              <a:t>Instruction Cycle (I-cycle): </a:t>
            </a:r>
            <a:r>
              <a:rPr lang="en-US" sz="2000" b="0" i="0" u="none" strike="noStrike" baseline="0" dirty="0">
                <a:latin typeface="Times New Roman" panose="02020603050405020304" pitchFamily="18" charset="0"/>
              </a:rPr>
              <a:t>The first two steps of the machine cycle (fetch and decode), in which instructions are obtained and translated.</a:t>
            </a:r>
          </a:p>
          <a:p>
            <a:pPr algn="l">
              <a:lnSpc>
                <a:spcPct val="150000"/>
              </a:lnSpc>
            </a:pPr>
            <a:r>
              <a:rPr lang="en-US" sz="2000" b="1" i="1" u="none" strike="noStrike" baseline="0" dirty="0">
                <a:latin typeface="Times New Roman" panose="02020603050405020304" pitchFamily="18" charset="0"/>
              </a:rPr>
              <a:t>Execution Cycle (E-cycle): </a:t>
            </a:r>
            <a:r>
              <a:rPr lang="en-US" sz="2000" b="0" i="0" u="none" strike="noStrike" baseline="0" dirty="0">
                <a:latin typeface="Times New Roman" panose="02020603050405020304" pitchFamily="18" charset="0"/>
              </a:rPr>
              <a:t>The last two steps of the machine cycle (execute and store), which produce processing results.</a:t>
            </a:r>
          </a:p>
          <a:p>
            <a:pPr algn="l">
              <a:lnSpc>
                <a:spcPct val="150000"/>
              </a:lnSpc>
            </a:pPr>
            <a:r>
              <a:rPr lang="en-US" sz="2000" b="1" i="1" u="none" strike="noStrike" baseline="0" dirty="0">
                <a:latin typeface="Times New Roman" panose="02020603050405020304" pitchFamily="18" charset="0"/>
              </a:rPr>
              <a:t>Register: </a:t>
            </a:r>
            <a:r>
              <a:rPr lang="en-US" sz="2000" b="0" i="0" u="none" strike="noStrike" baseline="0" dirty="0">
                <a:latin typeface="Times New Roman" panose="02020603050405020304" pitchFamily="18" charset="0"/>
              </a:rPr>
              <a:t>A temporary storage area in the processor that can move data and instructions more quickly than main memory can, and momentarily hold the data or instructions used in processing as well as the results that are generated. There are four types</a:t>
            </a:r>
            <a:r>
              <a:rPr lang="en-US" sz="2000" b="0" i="1" u="none" strike="noStrike" baseline="0" dirty="0">
                <a:latin typeface="Times New Roman" panose="02020603050405020304" pitchFamily="18" charset="0"/>
              </a:rPr>
              <a:t>:</a:t>
            </a:r>
          </a:p>
          <a:p>
            <a:pPr marL="900113"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Storage Registers</a:t>
            </a:r>
          </a:p>
          <a:p>
            <a:pPr marL="900113"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Address Registers</a:t>
            </a:r>
          </a:p>
          <a:p>
            <a:pPr marL="900113"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Accumulators</a:t>
            </a:r>
          </a:p>
          <a:p>
            <a:pPr marL="900113"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General-Purpose Registers</a:t>
            </a:r>
          </a:p>
        </p:txBody>
      </p:sp>
    </p:spTree>
    <p:extLst>
      <p:ext uri="{BB962C8B-B14F-4D97-AF65-F5344CB8AC3E}">
        <p14:creationId xmlns:p14="http://schemas.microsoft.com/office/powerpoint/2010/main" val="1102283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67146"/>
            <a:ext cx="8229600" cy="1345630"/>
          </a:xfrm>
        </p:spPr>
        <p:txBody>
          <a:bodyPr>
            <a:noAutofit/>
          </a:bodyPr>
          <a:lstStyle/>
          <a:p>
            <a:pPr algn="ctr"/>
            <a:r>
              <a:rPr lang="en-US" sz="6600" b="1" i="0" u="none" strike="noStrike" baseline="0" dirty="0">
                <a:latin typeface="Times New Roman" panose="02020603050405020304" pitchFamily="18" charset="0"/>
              </a:rPr>
              <a:t>PROCESSOR SPEED</a:t>
            </a:r>
            <a:endParaRPr lang="en-US" sz="6600" b="1" kern="0" dirty="0"/>
          </a:p>
        </p:txBody>
      </p:sp>
      <p:sp>
        <p:nvSpPr>
          <p:cNvPr id="5" name="Rectangle 3"/>
          <p:cNvSpPr txBox="1">
            <a:spLocks noChangeArrowheads="1"/>
          </p:cNvSpPr>
          <p:nvPr/>
        </p:nvSpPr>
        <p:spPr bwMode="auto">
          <a:xfrm>
            <a:off x="457200" y="1484784"/>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lnSpc>
                <a:spcPct val="150000"/>
              </a:lnSpc>
            </a:pPr>
            <a:r>
              <a:rPr lang="en-US" sz="2200" b="1" i="1" u="none" strike="noStrike" baseline="0" dirty="0">
                <a:latin typeface="Times New Roman" panose="02020603050405020304" pitchFamily="18" charset="0"/>
              </a:rPr>
              <a:t>Millisecond: </a:t>
            </a:r>
            <a:r>
              <a:rPr lang="en-US" sz="2200" b="0" i="0" u="none" strike="noStrike" baseline="0" dirty="0">
                <a:latin typeface="Times New Roman" panose="02020603050405020304" pitchFamily="18" charset="0"/>
              </a:rPr>
              <a:t>One thousandth of a second</a:t>
            </a:r>
          </a:p>
          <a:p>
            <a:pPr algn="l">
              <a:lnSpc>
                <a:spcPct val="150000"/>
              </a:lnSpc>
            </a:pPr>
            <a:r>
              <a:rPr lang="en-US" sz="2200" b="1" i="1" u="none" strike="noStrike" baseline="0" dirty="0">
                <a:latin typeface="Times New Roman" panose="02020603050405020304" pitchFamily="18" charset="0"/>
              </a:rPr>
              <a:t>Microsecond: </a:t>
            </a:r>
            <a:r>
              <a:rPr lang="en-US" sz="2200" b="0" i="0" u="none" strike="noStrike" baseline="0" dirty="0">
                <a:latin typeface="Times New Roman" panose="02020603050405020304" pitchFamily="18" charset="0"/>
              </a:rPr>
              <a:t>One millionth of a second.</a:t>
            </a:r>
          </a:p>
          <a:p>
            <a:pPr algn="l">
              <a:lnSpc>
                <a:spcPct val="150000"/>
              </a:lnSpc>
            </a:pPr>
            <a:r>
              <a:rPr lang="en-US" sz="2200" b="1" i="1" u="none" strike="noStrike" baseline="0" dirty="0">
                <a:latin typeface="Times New Roman" panose="02020603050405020304" pitchFamily="18" charset="0"/>
              </a:rPr>
              <a:t>Nanosecond: </a:t>
            </a:r>
            <a:r>
              <a:rPr lang="en-US" sz="2200" b="0" i="0" u="none" strike="noStrike" baseline="0" dirty="0">
                <a:latin typeface="Times New Roman" panose="02020603050405020304" pitchFamily="18" charset="0"/>
              </a:rPr>
              <a:t>One billionth of a second.</a:t>
            </a:r>
          </a:p>
          <a:p>
            <a:pPr algn="l">
              <a:lnSpc>
                <a:spcPct val="150000"/>
              </a:lnSpc>
            </a:pPr>
            <a:r>
              <a:rPr lang="en-US" sz="2200" b="1" i="1" u="none" strike="noStrike" baseline="0" dirty="0">
                <a:latin typeface="Times New Roman" panose="02020603050405020304" pitchFamily="18" charset="0"/>
              </a:rPr>
              <a:t>Picoseconds: </a:t>
            </a:r>
            <a:r>
              <a:rPr lang="en-US" sz="2200" b="0" i="0" u="none" strike="noStrike" baseline="0" dirty="0">
                <a:latin typeface="Times New Roman" panose="02020603050405020304" pitchFamily="18" charset="0"/>
              </a:rPr>
              <a:t>One trillionth of a second.</a:t>
            </a:r>
          </a:p>
          <a:p>
            <a:pPr algn="l">
              <a:lnSpc>
                <a:spcPct val="150000"/>
              </a:lnSpc>
            </a:pPr>
            <a:r>
              <a:rPr lang="en-US" sz="2200" b="1" i="1" u="none" strike="noStrike" baseline="0" dirty="0">
                <a:latin typeface="Times New Roman" panose="02020603050405020304" pitchFamily="18" charset="0"/>
              </a:rPr>
              <a:t>Millions of Instructions per Second (MIPS): </a:t>
            </a:r>
            <a:r>
              <a:rPr lang="en-US" sz="2200" b="0" i="0" u="none" strike="noStrike" baseline="0" dirty="0">
                <a:latin typeface="Times New Roman" panose="02020603050405020304" pitchFamily="18" charset="0"/>
              </a:rPr>
              <a:t>The number of instructions the processor can execute per second – a measure of processor speed.</a:t>
            </a:r>
          </a:p>
          <a:p>
            <a:pPr algn="l">
              <a:lnSpc>
                <a:spcPct val="150000"/>
              </a:lnSpc>
            </a:pPr>
            <a:r>
              <a:rPr lang="en-US" sz="2200" b="1" i="1" u="none" strike="noStrike" baseline="0" dirty="0">
                <a:latin typeface="Times New Roman" panose="02020603050405020304" pitchFamily="18" charset="0"/>
              </a:rPr>
              <a:t>Megaflops: </a:t>
            </a:r>
            <a:r>
              <a:rPr lang="en-US" sz="2200" b="0" i="0" u="none" strike="noStrike" baseline="0" dirty="0">
                <a:latin typeface="Times New Roman" panose="02020603050405020304" pitchFamily="18" charset="0"/>
              </a:rPr>
              <a:t>Millions of floating point operations per second – a measure of how many detailed arithmetic calculations the computer can perform per second.</a:t>
            </a:r>
          </a:p>
        </p:txBody>
      </p:sp>
    </p:spTree>
    <p:extLst>
      <p:ext uri="{BB962C8B-B14F-4D97-AF65-F5344CB8AC3E}">
        <p14:creationId xmlns:p14="http://schemas.microsoft.com/office/powerpoint/2010/main" val="3564458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4800" b="1" i="0" u="none" strike="noStrike" baseline="0" dirty="0">
                <a:latin typeface="Times New Roman" panose="02020603050405020304" pitchFamily="18" charset="0"/>
              </a:rPr>
              <a:t>DETERMINING PROCESSOR SPEED</a:t>
            </a:r>
            <a:endParaRPr lang="en-US" sz="4800" b="1" kern="0" dirty="0"/>
          </a:p>
        </p:txBody>
      </p:sp>
      <p:sp>
        <p:nvSpPr>
          <p:cNvPr id="5" name="Rectangle 3"/>
          <p:cNvSpPr txBox="1">
            <a:spLocks noChangeArrowheads="1"/>
          </p:cNvSpPr>
          <p:nvPr/>
        </p:nvSpPr>
        <p:spPr bwMode="auto">
          <a:xfrm>
            <a:off x="457200" y="1484784"/>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r>
              <a:rPr lang="en-US" sz="1800" b="0" i="0" u="none" strike="noStrike" baseline="0" dirty="0">
                <a:latin typeface="Times New Roman" panose="02020603050405020304" pitchFamily="18" charset="0"/>
              </a:rPr>
              <a:t>In determining Processor Speed, four elements are considered:</a:t>
            </a:r>
          </a:p>
          <a:p>
            <a:pPr marL="900113" algn="l">
              <a:buFont typeface="Wingdings" panose="05000000000000000000" pitchFamily="2" charset="2"/>
              <a:buChar char="Ø"/>
            </a:pPr>
            <a:r>
              <a:rPr lang="en-US" sz="1800" b="0" i="0" u="none" strike="noStrike" baseline="0" dirty="0">
                <a:latin typeface="Times New Roman" panose="02020603050405020304" pitchFamily="18" charset="0"/>
              </a:rPr>
              <a:t>System Clock</a:t>
            </a:r>
          </a:p>
          <a:p>
            <a:pPr marL="900113" algn="l">
              <a:buFont typeface="Wingdings" panose="05000000000000000000" pitchFamily="2" charset="2"/>
              <a:buChar char="Ø"/>
            </a:pPr>
            <a:r>
              <a:rPr lang="en-US" sz="1800" b="0" i="0" u="none" strike="noStrike" baseline="0" dirty="0">
                <a:latin typeface="Times New Roman" panose="02020603050405020304" pitchFamily="18" charset="0"/>
              </a:rPr>
              <a:t>Bus Width</a:t>
            </a:r>
          </a:p>
          <a:p>
            <a:pPr marL="900113" algn="l">
              <a:buFont typeface="Wingdings" panose="05000000000000000000" pitchFamily="2" charset="2"/>
              <a:buChar char="Ø"/>
            </a:pPr>
            <a:r>
              <a:rPr lang="en-US" sz="1800" b="0" i="0" u="none" strike="noStrike" baseline="0" dirty="0">
                <a:latin typeface="Times New Roman" panose="02020603050405020304" pitchFamily="18" charset="0"/>
              </a:rPr>
              <a:t>Word Size</a:t>
            </a:r>
          </a:p>
          <a:p>
            <a:pPr marL="900113" algn="l">
              <a:buFont typeface="Wingdings" panose="05000000000000000000" pitchFamily="2" charset="2"/>
              <a:buChar char="Ø"/>
            </a:pPr>
            <a:r>
              <a:rPr lang="en-US" sz="1800" b="0" i="0" u="none" strike="noStrike" baseline="0" dirty="0">
                <a:latin typeface="Times New Roman" panose="02020603050405020304" pitchFamily="18" charset="0"/>
              </a:rPr>
              <a:t>Available Memory </a:t>
            </a:r>
          </a:p>
          <a:p>
            <a:pPr algn="l"/>
            <a:r>
              <a:rPr lang="en-US" sz="1800" b="1" i="1" u="none" strike="noStrike" baseline="0" dirty="0">
                <a:latin typeface="Times New Roman" panose="02020603050405020304" pitchFamily="18" charset="0"/>
              </a:rPr>
              <a:t>System Clock: </a:t>
            </a:r>
            <a:r>
              <a:rPr lang="en-US" sz="1800" b="0" i="0" u="none" strike="noStrike" baseline="0" dirty="0">
                <a:latin typeface="Times New Roman" panose="02020603050405020304" pitchFamily="18" charset="0"/>
              </a:rPr>
              <a:t>A circuit that generates electronic impulses at a fixed rate to synchronize processing activities.</a:t>
            </a:r>
            <a:endParaRPr lang="en-NG" sz="1800" b="0" i="0" u="none" strike="noStrike" baseline="0" dirty="0">
              <a:latin typeface="Times New Roman" panose="02020603050405020304" pitchFamily="18" charset="0"/>
            </a:endParaRPr>
          </a:p>
          <a:p>
            <a:pPr marL="900113" algn="l">
              <a:buFont typeface="Wingdings" panose="05000000000000000000" pitchFamily="2" charset="2"/>
              <a:buChar char="Ø"/>
            </a:pPr>
            <a:r>
              <a:rPr lang="en-US" sz="1800" b="1" i="1" u="none" strike="noStrike" baseline="0" dirty="0">
                <a:latin typeface="Times New Roman" panose="02020603050405020304" pitchFamily="18" charset="0"/>
              </a:rPr>
              <a:t>Megahertz (MHz): </a:t>
            </a:r>
            <a:r>
              <a:rPr lang="en-US" sz="1800" b="0" i="0" u="none" strike="noStrike" baseline="0" dirty="0">
                <a:latin typeface="Times New Roman" panose="02020603050405020304" pitchFamily="18" charset="0"/>
              </a:rPr>
              <a:t>Millions of electric pulses per second – a measure of a computer’s speed.</a:t>
            </a:r>
          </a:p>
          <a:p>
            <a:pPr marL="900113" algn="l">
              <a:buFont typeface="Wingdings" panose="05000000000000000000" pitchFamily="2" charset="2"/>
              <a:buChar char="Ø"/>
            </a:pPr>
            <a:r>
              <a:rPr lang="en-US" sz="1800" b="1" i="1" u="none" strike="noStrike" baseline="0" dirty="0">
                <a:latin typeface="Times New Roman" panose="02020603050405020304" pitchFamily="18" charset="0"/>
              </a:rPr>
              <a:t>Gigahertz (GHz): </a:t>
            </a:r>
            <a:r>
              <a:rPr lang="en-US" sz="1800" b="0" i="0" u="none" strike="noStrike" baseline="0" dirty="0">
                <a:latin typeface="Times New Roman" panose="02020603050405020304" pitchFamily="18" charset="0"/>
              </a:rPr>
              <a:t>Billions of pulses per second</a:t>
            </a:r>
          </a:p>
          <a:p>
            <a:pPr algn="l"/>
            <a:r>
              <a:rPr lang="en-US" sz="1800" b="1" i="0" u="none" strike="noStrike" baseline="0" dirty="0">
                <a:latin typeface="Times New Roman" panose="02020603050405020304" pitchFamily="18" charset="0"/>
              </a:rPr>
              <a:t>Bus Width</a:t>
            </a:r>
          </a:p>
          <a:p>
            <a:pPr marL="900113" algn="l">
              <a:buFont typeface="Wingdings" panose="05000000000000000000" pitchFamily="2" charset="2"/>
              <a:buChar char="Ø"/>
            </a:pPr>
            <a:r>
              <a:rPr lang="en-US" sz="1800" b="1" i="1" u="none" strike="noStrike" baseline="0" dirty="0">
                <a:latin typeface="Times New Roman" panose="02020603050405020304" pitchFamily="18" charset="0"/>
              </a:rPr>
              <a:t>Input/Output (I/O) bus: </a:t>
            </a:r>
            <a:r>
              <a:rPr lang="en-US" sz="1800" b="0" i="0" u="none" strike="noStrike" baseline="0" dirty="0">
                <a:latin typeface="Times New Roman" panose="02020603050405020304" pitchFamily="18" charset="0"/>
              </a:rPr>
              <a:t>A bus (electronic circuit) that moves data into and out of the processor.</a:t>
            </a:r>
          </a:p>
          <a:p>
            <a:pPr marL="900113" algn="l">
              <a:buFont typeface="Wingdings" panose="05000000000000000000" pitchFamily="2" charset="2"/>
              <a:buChar char="Ø"/>
            </a:pPr>
            <a:r>
              <a:rPr lang="en-US" sz="1800" b="1" i="1" u="none" strike="noStrike" baseline="0" dirty="0">
                <a:latin typeface="Times New Roman" panose="02020603050405020304" pitchFamily="18" charset="0"/>
              </a:rPr>
              <a:t>Data Bus: </a:t>
            </a:r>
            <a:r>
              <a:rPr lang="en-US" sz="1800" b="0" i="0" u="none" strike="noStrike" baseline="0" dirty="0">
                <a:latin typeface="Times New Roman" panose="02020603050405020304" pitchFamily="18" charset="0"/>
              </a:rPr>
              <a:t>A bus that moves data between the central processor and memory.</a:t>
            </a:r>
          </a:p>
          <a:p>
            <a:pPr algn="l"/>
            <a:r>
              <a:rPr lang="en-US" sz="1800" b="1" i="0" u="none" strike="noStrike" baseline="0" dirty="0">
                <a:latin typeface="Times New Roman" panose="02020603050405020304" pitchFamily="18" charset="0"/>
              </a:rPr>
              <a:t>Word Size</a:t>
            </a:r>
          </a:p>
          <a:p>
            <a:pPr marL="900113" algn="l">
              <a:buFont typeface="Wingdings" panose="05000000000000000000" pitchFamily="2" charset="2"/>
              <a:buChar char="Ø"/>
            </a:pPr>
            <a:r>
              <a:rPr lang="en-US" sz="1800" b="1" i="1" u="none" strike="noStrike" baseline="0" dirty="0">
                <a:latin typeface="Times New Roman" panose="02020603050405020304" pitchFamily="18" charset="0"/>
              </a:rPr>
              <a:t>Word: </a:t>
            </a:r>
            <a:r>
              <a:rPr lang="en-US" sz="1800" b="0" i="0" u="none" strike="noStrike" baseline="0" dirty="0">
                <a:latin typeface="Times New Roman" panose="02020603050405020304" pitchFamily="18" charset="0"/>
              </a:rPr>
              <a:t>The number of bits a computer can process at one time.</a:t>
            </a:r>
            <a:endParaRPr lang="en-US" sz="2200" b="0"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1540330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4800" b="1" i="0" u="none" strike="noStrike" baseline="0" dirty="0">
                <a:latin typeface="Times New Roman" panose="02020603050405020304" pitchFamily="18" charset="0"/>
              </a:rPr>
              <a:t>DETERMINING PROCESSOR SPEED</a:t>
            </a:r>
            <a:endParaRPr lang="en-US" sz="4800" b="1" kern="0" dirty="0"/>
          </a:p>
        </p:txBody>
      </p:sp>
      <p:sp>
        <p:nvSpPr>
          <p:cNvPr id="5" name="Rectangle 3"/>
          <p:cNvSpPr txBox="1">
            <a:spLocks noChangeArrowheads="1"/>
          </p:cNvSpPr>
          <p:nvPr/>
        </p:nvSpPr>
        <p:spPr bwMode="auto">
          <a:xfrm>
            <a:off x="457200" y="1484784"/>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342900" indent="-342900" algn="l">
              <a:buFont typeface="Wingdings" panose="05000000000000000000" pitchFamily="2" charset="2"/>
              <a:buChar char="q"/>
            </a:pPr>
            <a:r>
              <a:rPr lang="en-US" sz="2000" b="1" i="1" u="none" strike="noStrike" baseline="0" dirty="0">
                <a:latin typeface="Times New Roman" panose="02020603050405020304" pitchFamily="18" charset="0"/>
                <a:cs typeface="Times New Roman" panose="02020603050405020304" pitchFamily="18" charset="0"/>
              </a:rPr>
              <a:t>Cache Memory</a:t>
            </a:r>
            <a:r>
              <a:rPr lang="en-US" sz="2000" b="1" i="0" u="none" strike="noStrike" baseline="0" dirty="0">
                <a:latin typeface="Times New Roman" panose="02020603050405020304" pitchFamily="18" charset="0"/>
                <a:cs typeface="Times New Roman" panose="02020603050405020304" pitchFamily="18" charset="0"/>
              </a:rPr>
              <a:t>: </a:t>
            </a:r>
            <a:r>
              <a:rPr lang="en-US" sz="2000" b="0" i="0" u="none" strike="noStrike" baseline="0" dirty="0">
                <a:latin typeface="Times New Roman" panose="02020603050405020304" pitchFamily="18" charset="0"/>
                <a:cs typeface="Times New Roman" panose="02020603050405020304" pitchFamily="18" charset="0"/>
              </a:rPr>
              <a:t>A form of high-speed memory that acts as a temporary holding/processing cell.</a:t>
            </a:r>
          </a:p>
          <a:p>
            <a:pPr marL="0" indent="0" algn="l">
              <a:buNone/>
            </a:pPr>
            <a:r>
              <a:rPr lang="en-US" sz="2000" b="0" i="0" u="none" strike="noStrike" baseline="0" dirty="0">
                <a:latin typeface="Times New Roman" panose="02020603050405020304" pitchFamily="18" charset="0"/>
                <a:cs typeface="Times New Roman" panose="02020603050405020304" pitchFamily="18" charset="0"/>
              </a:rPr>
              <a:t>Other factors include:</a:t>
            </a:r>
          </a:p>
          <a:p>
            <a:pPr marL="342900" indent="-342900" algn="l">
              <a:buFont typeface="Wingdings" panose="05000000000000000000" pitchFamily="2" charset="2"/>
              <a:buChar char="q"/>
            </a:pPr>
            <a:r>
              <a:rPr lang="en-US" sz="2000" b="1" i="1" u="none" strike="noStrike" baseline="0" dirty="0">
                <a:latin typeface="Times New Roman" panose="02020603050405020304" pitchFamily="18" charset="0"/>
                <a:cs typeface="Times New Roman" panose="02020603050405020304" pitchFamily="18" charset="0"/>
              </a:rPr>
              <a:t>Coprocessors: </a:t>
            </a:r>
            <a:r>
              <a:rPr lang="en-US" sz="2000" b="0" i="0" u="none" strike="noStrike" baseline="0" dirty="0">
                <a:latin typeface="Times New Roman" panose="02020603050405020304" pitchFamily="18" charset="0"/>
                <a:cs typeface="Times New Roman" panose="02020603050405020304" pitchFamily="18" charset="0"/>
              </a:rPr>
              <a:t>A special-purpose chip mounted on a processor board; it is designed to handle common functions quickly and efficiently.</a:t>
            </a:r>
          </a:p>
          <a:p>
            <a:pPr marL="342900" indent="-342900" algn="l">
              <a:buFont typeface="Wingdings" panose="05000000000000000000" pitchFamily="2" charset="2"/>
              <a:buChar char="q"/>
            </a:pPr>
            <a:r>
              <a:rPr lang="en-US" sz="2000" b="1" i="1" u="none" strike="noStrike" baseline="0" dirty="0">
                <a:latin typeface="Times New Roman" panose="02020603050405020304" pitchFamily="18" charset="0"/>
                <a:cs typeface="Times New Roman" panose="02020603050405020304" pitchFamily="18" charset="0"/>
              </a:rPr>
              <a:t>Accelerator Boards: </a:t>
            </a:r>
            <a:r>
              <a:rPr lang="en-US" sz="2000" b="0" i="0" u="none" strike="noStrike" baseline="0" dirty="0">
                <a:latin typeface="Times New Roman" panose="02020603050405020304" pitchFamily="18" charset="0"/>
                <a:cs typeface="Times New Roman" panose="02020603050405020304" pitchFamily="18" charset="0"/>
              </a:rPr>
              <a:t>An add-in circuit board that increases a computer’s processing speed.</a:t>
            </a:r>
          </a:p>
          <a:p>
            <a:pPr marL="342900" indent="-342900" algn="l">
              <a:buFont typeface="Wingdings" panose="05000000000000000000" pitchFamily="2" charset="2"/>
              <a:buChar char="q"/>
            </a:pPr>
            <a:r>
              <a:rPr lang="en-US" sz="2000" b="1" i="0" u="none" strike="noStrike" baseline="0" dirty="0">
                <a:latin typeface="Times New Roman" panose="02020603050405020304" pitchFamily="18" charset="0"/>
                <a:cs typeface="Times New Roman" panose="02020603050405020304" pitchFamily="18" charset="0"/>
              </a:rPr>
              <a:t>Reduced Instruction Set Computer (RISC)</a:t>
            </a:r>
          </a:p>
          <a:p>
            <a:pPr marL="900113" algn="l">
              <a:buFont typeface="Wingdings" panose="05000000000000000000" pitchFamily="2" charset="2"/>
              <a:buChar char="Ø"/>
            </a:pPr>
            <a:r>
              <a:rPr lang="en-US" sz="2000" b="1" i="1" u="none" strike="noStrike" baseline="0" dirty="0">
                <a:latin typeface="Times New Roman" panose="02020603050405020304" pitchFamily="18" charset="0"/>
                <a:cs typeface="Times New Roman" panose="02020603050405020304" pitchFamily="18" charset="0"/>
              </a:rPr>
              <a:t>Complex Instruction Set Computing (CISC): </a:t>
            </a:r>
            <a:r>
              <a:rPr lang="en-US" sz="2000" b="0" i="0" u="none" strike="noStrike" baseline="0" dirty="0">
                <a:latin typeface="Times New Roman" panose="02020603050405020304" pitchFamily="18" charset="0"/>
                <a:cs typeface="Times New Roman" panose="02020603050405020304" pitchFamily="18" charset="0"/>
              </a:rPr>
              <a:t>A computing instruction set that moves data to and from main memory so often that it limits the use of registers.</a:t>
            </a:r>
          </a:p>
          <a:p>
            <a:pPr marL="900113" algn="l">
              <a:buFont typeface="Wingdings" panose="05000000000000000000" pitchFamily="2" charset="2"/>
              <a:buChar char="Ø"/>
            </a:pPr>
            <a:r>
              <a:rPr lang="en-US" sz="2000" b="1" i="1" u="none" strike="noStrike" baseline="0" dirty="0">
                <a:latin typeface="Times New Roman" panose="02020603050405020304" pitchFamily="18" charset="0"/>
                <a:cs typeface="Times New Roman" panose="02020603050405020304" pitchFamily="18" charset="0"/>
              </a:rPr>
              <a:t>Microcode: </a:t>
            </a:r>
            <a:r>
              <a:rPr lang="en-US" sz="2000" b="0" i="0" u="none" strike="noStrike" baseline="0" dirty="0">
                <a:latin typeface="Times New Roman" panose="02020603050405020304" pitchFamily="18" charset="0"/>
                <a:cs typeface="Times New Roman" panose="02020603050405020304" pitchFamily="18" charset="0"/>
              </a:rPr>
              <a:t>The instructions that coordinate the execution of the instructions to move data and from memory.</a:t>
            </a:r>
          </a:p>
          <a:p>
            <a:pPr marL="900113" algn="l">
              <a:buFont typeface="Wingdings" panose="05000000000000000000" pitchFamily="2" charset="2"/>
              <a:buChar char="Ø"/>
            </a:pPr>
            <a:r>
              <a:rPr lang="en-US" sz="2000" b="1" i="1" u="none" strike="noStrike" baseline="0" dirty="0">
                <a:latin typeface="Times New Roman" panose="02020603050405020304" pitchFamily="18" charset="0"/>
                <a:cs typeface="Times New Roman" panose="02020603050405020304" pitchFamily="18" charset="0"/>
              </a:rPr>
              <a:t>Reduced Instruction Set Computing (RISC): </a:t>
            </a:r>
            <a:r>
              <a:rPr lang="en-US" sz="2000" b="0" i="0" u="none" strike="noStrike" baseline="0" dirty="0">
                <a:latin typeface="Times New Roman" panose="02020603050405020304" pitchFamily="18" charset="0"/>
                <a:cs typeface="Times New Roman" panose="02020603050405020304" pitchFamily="18" charset="0"/>
              </a:rPr>
              <a:t>A computing instruction set that takes data for the execution of an instruction only from registers.</a:t>
            </a:r>
          </a:p>
        </p:txBody>
      </p:sp>
    </p:spTree>
    <p:extLst>
      <p:ext uri="{BB962C8B-B14F-4D97-AF65-F5344CB8AC3E}">
        <p14:creationId xmlns:p14="http://schemas.microsoft.com/office/powerpoint/2010/main" val="395843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4800" b="1" i="0" u="none" strike="noStrike" baseline="0" dirty="0">
                <a:latin typeface="Times New Roman" panose="02020603050405020304" pitchFamily="18" charset="0"/>
              </a:rPr>
              <a:t>DETERMINING PROCESSOR SPEED</a:t>
            </a:r>
            <a:endParaRPr lang="en-US" sz="4800" b="1" kern="0" dirty="0"/>
          </a:p>
        </p:txBody>
      </p:sp>
      <p:sp>
        <p:nvSpPr>
          <p:cNvPr id="5" name="Rectangle 3"/>
          <p:cNvSpPr txBox="1">
            <a:spLocks noChangeArrowheads="1"/>
          </p:cNvSpPr>
          <p:nvPr/>
        </p:nvSpPr>
        <p:spPr bwMode="auto">
          <a:xfrm>
            <a:off x="457200" y="1484784"/>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342900" indent="-342900" algn="l">
              <a:buFont typeface="Wingdings" panose="05000000000000000000" pitchFamily="2" charset="2"/>
              <a:buChar char="q"/>
            </a:pPr>
            <a:r>
              <a:rPr lang="en-US" sz="2000" b="1" i="1" u="none" strike="noStrike" baseline="0" dirty="0">
                <a:latin typeface="Times New Roman" panose="02020603050405020304" pitchFamily="18" charset="0"/>
                <a:cs typeface="Times New Roman" panose="02020603050405020304" pitchFamily="18" charset="0"/>
              </a:rPr>
              <a:t>Pipelining: </a:t>
            </a:r>
            <a:r>
              <a:rPr lang="en-US" sz="2000" b="0" i="0" u="none" strike="noStrike" baseline="0" dirty="0">
                <a:latin typeface="Times New Roman" panose="02020603050405020304" pitchFamily="18" charset="0"/>
                <a:cs typeface="Times New Roman" panose="02020603050405020304" pitchFamily="18" charset="0"/>
              </a:rPr>
              <a:t>A computer starts processing a new instruction as soon as the previous instruction reaches its next step in the processing cycle.</a:t>
            </a:r>
          </a:p>
          <a:p>
            <a:pPr marL="342900" indent="-342900" algn="l">
              <a:buFont typeface="Wingdings" panose="05000000000000000000" pitchFamily="2" charset="2"/>
              <a:buChar char="q"/>
            </a:pPr>
            <a:r>
              <a:rPr lang="en-US" sz="2000" b="1" i="1" u="none" strike="noStrike" baseline="0" dirty="0">
                <a:latin typeface="Times New Roman" panose="02020603050405020304" pitchFamily="18" charset="0"/>
                <a:cs typeface="Times New Roman" panose="02020603050405020304" pitchFamily="18" charset="0"/>
              </a:rPr>
              <a:t>Parallel Processing: </a:t>
            </a:r>
            <a:r>
              <a:rPr lang="en-US" sz="2000" b="0" i="0" u="none" strike="noStrike" baseline="0" dirty="0">
                <a:latin typeface="Times New Roman" panose="02020603050405020304" pitchFamily="18" charset="0"/>
                <a:cs typeface="Times New Roman" panose="02020603050405020304" pitchFamily="18" charset="0"/>
              </a:rPr>
              <a:t>Processing in which a computer handles different parts of a problem by executing instructions simultaneously.</a:t>
            </a:r>
          </a:p>
          <a:p>
            <a:pPr marL="900113" algn="l">
              <a:buFont typeface="Wingdings" panose="05000000000000000000" pitchFamily="2" charset="2"/>
              <a:buChar char="Ø"/>
            </a:pPr>
            <a:r>
              <a:rPr lang="en-US" sz="2000" b="1" i="1" u="none" strike="noStrike" baseline="0" dirty="0">
                <a:latin typeface="Times New Roman" panose="02020603050405020304" pitchFamily="18" charset="0"/>
                <a:cs typeface="Times New Roman" panose="02020603050405020304" pitchFamily="18" charset="0"/>
              </a:rPr>
              <a:t>Sequential Processing: </a:t>
            </a:r>
            <a:r>
              <a:rPr lang="en-US" sz="2000" b="0" i="0" u="none" strike="noStrike" baseline="0" dirty="0">
                <a:latin typeface="Times New Roman" panose="02020603050405020304" pitchFamily="18" charset="0"/>
                <a:cs typeface="Times New Roman" panose="02020603050405020304" pitchFamily="18" charset="0"/>
              </a:rPr>
              <a:t>Processing in which the execution of one instruction is followed by the execution of another.</a:t>
            </a:r>
          </a:p>
          <a:p>
            <a:pPr marL="900113" algn="l">
              <a:buFont typeface="Wingdings" panose="05000000000000000000" pitchFamily="2" charset="2"/>
              <a:buChar char="Ø"/>
            </a:pPr>
            <a:r>
              <a:rPr lang="en-US" sz="2000" b="1" i="1" u="none" strike="noStrike" baseline="0" dirty="0">
                <a:latin typeface="Times New Roman" panose="02020603050405020304" pitchFamily="18" charset="0"/>
                <a:cs typeface="Times New Roman" panose="02020603050405020304" pitchFamily="18" charset="0"/>
              </a:rPr>
              <a:t>Single Instruction/Multiple Data (SIMD) method: </a:t>
            </a:r>
            <a:r>
              <a:rPr lang="en-US" sz="2000" b="0" i="0" u="none" strike="noStrike" baseline="0" dirty="0">
                <a:latin typeface="Times New Roman" panose="02020603050405020304" pitchFamily="18" charset="0"/>
                <a:cs typeface="Times New Roman" panose="02020603050405020304" pitchFamily="18" charset="0"/>
              </a:rPr>
              <a:t>A parallel-processing method that executes the same instruction on many data values simultaneously.</a:t>
            </a:r>
          </a:p>
          <a:p>
            <a:pPr marL="900113" algn="l">
              <a:buFont typeface="Wingdings" panose="05000000000000000000" pitchFamily="2" charset="2"/>
              <a:buChar char="Ø"/>
            </a:pPr>
            <a:r>
              <a:rPr lang="en-US" sz="2000" b="1" i="1" u="none" strike="noStrike" baseline="0" dirty="0">
                <a:latin typeface="Times New Roman" panose="02020603050405020304" pitchFamily="18" charset="0"/>
                <a:cs typeface="Times New Roman" panose="02020603050405020304" pitchFamily="18" charset="0"/>
              </a:rPr>
              <a:t>Multiple Instruction/Multiple Data (MIMD) method: </a:t>
            </a:r>
            <a:r>
              <a:rPr lang="en-US" sz="2000" b="0" i="0" u="none" strike="noStrike" baseline="0" dirty="0">
                <a:latin typeface="Times New Roman" panose="02020603050405020304" pitchFamily="18" charset="0"/>
                <a:cs typeface="Times New Roman" panose="02020603050405020304" pitchFamily="18" charset="0"/>
              </a:rPr>
              <a:t>A parallel-processing method that connects a number of processors that run different programs or parts of a program on different sets of data.</a:t>
            </a:r>
          </a:p>
          <a:p>
            <a:pPr marL="342900" indent="-342900" algn="l">
              <a:buFont typeface="Wingdings" panose="05000000000000000000" pitchFamily="2" charset="2"/>
              <a:buChar char="q"/>
            </a:pPr>
            <a:r>
              <a:rPr lang="en-US" sz="2000" b="1" i="1" u="none" strike="noStrike" baseline="0" dirty="0">
                <a:latin typeface="Times New Roman" panose="02020603050405020304" pitchFamily="18" charset="0"/>
                <a:cs typeface="Times New Roman" panose="02020603050405020304" pitchFamily="18" charset="0"/>
              </a:rPr>
              <a:t>Grid and Cloud Computing: </a:t>
            </a:r>
            <a:r>
              <a:rPr lang="en-US" sz="2000" b="0" i="0" u="none" strike="noStrike" baseline="0" dirty="0">
                <a:latin typeface="Times New Roman" panose="02020603050405020304" pitchFamily="18" charset="0"/>
                <a:cs typeface="Times New Roman" panose="02020603050405020304" pitchFamily="18" charset="0"/>
              </a:rPr>
              <a:t>A process that harnesses idle time on computers and then uses them to provide processing for an application that needs more speed and capability than may be available on a single computer, or even on a supercomputer.</a:t>
            </a:r>
            <a:endParaRPr lang="en-NG"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62377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4624"/>
            <a:ext cx="8229600" cy="1556792"/>
          </a:xfrm>
        </p:spPr>
        <p:txBody>
          <a:bodyPr>
            <a:noAutofit/>
          </a:bodyPr>
          <a:lstStyle/>
          <a:p>
            <a:pPr algn="ctr"/>
            <a:r>
              <a:rPr lang="en-US" sz="5400" b="1" i="0" u="none" strike="noStrike" baseline="0" dirty="0">
                <a:latin typeface="Times New Roman" panose="02020603050405020304" pitchFamily="18" charset="0"/>
              </a:rPr>
              <a:t>THE TWO TYPES OF BUS</a:t>
            </a:r>
            <a:endParaRPr lang="en-US" sz="5400" b="1" kern="0" dirty="0"/>
          </a:p>
        </p:txBody>
      </p:sp>
      <p:pic>
        <p:nvPicPr>
          <p:cNvPr id="3" name="Picture 2">
            <a:extLst>
              <a:ext uri="{FF2B5EF4-FFF2-40B4-BE49-F238E27FC236}">
                <a16:creationId xmlns:a16="http://schemas.microsoft.com/office/drawing/2014/main" id="{CC69E6F1-F7A5-47EF-9389-5C9FD24D3C20}"/>
              </a:ext>
            </a:extLst>
          </p:cNvPr>
          <p:cNvPicPr>
            <a:picLocks noChangeAspect="1"/>
          </p:cNvPicPr>
          <p:nvPr/>
        </p:nvPicPr>
        <p:blipFill>
          <a:blip r:embed="rId2"/>
          <a:stretch>
            <a:fillRect/>
          </a:stretch>
        </p:blipFill>
        <p:spPr>
          <a:xfrm>
            <a:off x="457200" y="1484784"/>
            <a:ext cx="8075240" cy="5328592"/>
          </a:xfrm>
          <a:prstGeom prst="rect">
            <a:avLst/>
          </a:prstGeom>
        </p:spPr>
      </p:pic>
    </p:spTree>
    <p:extLst>
      <p:ext uri="{BB962C8B-B14F-4D97-AF65-F5344CB8AC3E}">
        <p14:creationId xmlns:p14="http://schemas.microsoft.com/office/powerpoint/2010/main" val="4006200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5400" b="1" i="0" u="none" strike="noStrike" baseline="0" dirty="0">
                <a:latin typeface="Times New Roman" panose="02020603050405020304" pitchFamily="18" charset="0"/>
              </a:rPr>
              <a:t>THE TWO TYPES OF BUS</a:t>
            </a:r>
            <a:endParaRPr lang="en-US" sz="5400" b="1" kern="0" dirty="0"/>
          </a:p>
        </p:txBody>
      </p:sp>
      <p:sp>
        <p:nvSpPr>
          <p:cNvPr id="5" name="Rectangle 3"/>
          <p:cNvSpPr txBox="1">
            <a:spLocks noChangeArrowheads="1"/>
          </p:cNvSpPr>
          <p:nvPr/>
        </p:nvSpPr>
        <p:spPr bwMode="auto">
          <a:xfrm>
            <a:off x="457200" y="1412776"/>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r>
              <a:rPr lang="en-US" sz="2100" b="1" i="0" u="none" strike="noStrike" baseline="0" dirty="0">
                <a:latin typeface="Times New Roman" panose="02020603050405020304" pitchFamily="18" charset="0"/>
              </a:rPr>
              <a:t>PORTS</a:t>
            </a:r>
          </a:p>
          <a:p>
            <a:pPr marL="714375" algn="l">
              <a:buFont typeface="Wingdings" panose="05000000000000000000" pitchFamily="2" charset="2"/>
              <a:buChar char="Ø"/>
            </a:pPr>
            <a:r>
              <a:rPr lang="en-US" sz="2100" b="1" i="1" u="none" strike="noStrike" baseline="0" dirty="0">
                <a:latin typeface="Times New Roman" panose="02020603050405020304" pitchFamily="18" charset="0"/>
              </a:rPr>
              <a:t>Port: </a:t>
            </a:r>
            <a:r>
              <a:rPr lang="en-US" sz="2100" b="0" i="0" u="none" strike="noStrike" baseline="0" dirty="0">
                <a:latin typeface="Times New Roman" panose="02020603050405020304" pitchFamily="18" charset="0"/>
              </a:rPr>
              <a:t>A connector through which input/output devices can be plugged into the computer.</a:t>
            </a:r>
          </a:p>
          <a:p>
            <a:pPr marL="714375" algn="l">
              <a:buFont typeface="Wingdings" panose="05000000000000000000" pitchFamily="2" charset="2"/>
              <a:buChar char="Ø"/>
            </a:pPr>
            <a:r>
              <a:rPr lang="en-US" sz="2100" b="1" i="1" u="none" strike="noStrike" baseline="0" dirty="0">
                <a:latin typeface="Times New Roman" panose="02020603050405020304" pitchFamily="18" charset="0"/>
              </a:rPr>
              <a:t>Expansion Slot: </a:t>
            </a:r>
            <a:r>
              <a:rPr lang="en-US" sz="2100" b="0" i="0" u="none" strike="noStrike" baseline="0" dirty="0">
                <a:latin typeface="Times New Roman" panose="02020603050405020304" pitchFamily="18" charset="0"/>
              </a:rPr>
              <a:t>A slot inside a computer that allows a user to add an additional circuit board.</a:t>
            </a:r>
          </a:p>
          <a:p>
            <a:pPr marL="714375" algn="l">
              <a:buFont typeface="Wingdings" panose="05000000000000000000" pitchFamily="2" charset="2"/>
              <a:buChar char="Ø"/>
            </a:pPr>
            <a:endParaRPr lang="en-US" sz="2100" b="0" i="0" u="none" strike="noStrike" baseline="0" dirty="0">
              <a:latin typeface="Times New Roman" panose="02020603050405020304" pitchFamily="18" charset="0"/>
            </a:endParaRPr>
          </a:p>
          <a:p>
            <a:pPr algn="l"/>
            <a:r>
              <a:rPr lang="en-US" sz="2100" b="1" i="0" u="none" strike="noStrike" baseline="0" dirty="0">
                <a:latin typeface="Times New Roman" panose="02020603050405020304" pitchFamily="18" charset="0"/>
              </a:rPr>
              <a:t>UNIVERSAL SERIAL BUS (USB)</a:t>
            </a:r>
          </a:p>
          <a:p>
            <a:pPr marL="714375" algn="l">
              <a:buFont typeface="Wingdings" panose="05000000000000000000" pitchFamily="2" charset="2"/>
              <a:buChar char="Ø"/>
            </a:pPr>
            <a:r>
              <a:rPr lang="en-US" sz="2100" b="1" i="1" u="none" strike="noStrike" baseline="0" dirty="0">
                <a:latin typeface="Times New Roman" panose="02020603050405020304" pitchFamily="18" charset="0"/>
              </a:rPr>
              <a:t>Universal Serial Bus (USB): </a:t>
            </a:r>
            <a:r>
              <a:rPr lang="en-US" sz="2100" b="0" i="0" u="none" strike="noStrike" baseline="0" dirty="0">
                <a:latin typeface="Times New Roman" panose="02020603050405020304" pitchFamily="18" charset="0"/>
              </a:rPr>
              <a:t>A general purpose port that can connect up to 128 devices, and also hot swappable, meaning that devices can be plugged in or unplugged without having to shut down or reboot the system.</a:t>
            </a:r>
          </a:p>
          <a:p>
            <a:pPr marL="714375" algn="l">
              <a:buFont typeface="Wingdings" panose="05000000000000000000" pitchFamily="2" charset="2"/>
              <a:buChar char="Ø"/>
            </a:pPr>
            <a:endParaRPr lang="en-US" sz="2100" dirty="0">
              <a:latin typeface="Times New Roman" panose="02020603050405020304" pitchFamily="18" charset="0"/>
              <a:cs typeface="Times New Roman" panose="02020603050405020304" pitchFamily="18" charset="0"/>
            </a:endParaRPr>
          </a:p>
          <a:p>
            <a:pPr algn="l"/>
            <a:r>
              <a:rPr lang="en-US" sz="2100" b="1" i="0" u="none" strike="noStrike" baseline="0" dirty="0">
                <a:latin typeface="Times New Roman" panose="02020603050405020304" pitchFamily="18" charset="0"/>
              </a:rPr>
              <a:t>PLUG AND PLAY</a:t>
            </a:r>
          </a:p>
          <a:p>
            <a:pPr marL="714375" algn="l">
              <a:buFont typeface="Wingdings" panose="05000000000000000000" pitchFamily="2" charset="2"/>
              <a:buChar char="Ø"/>
            </a:pPr>
            <a:r>
              <a:rPr lang="en-US" sz="2100" b="1" i="1" u="none" strike="noStrike" baseline="0" dirty="0">
                <a:latin typeface="Times New Roman" panose="02020603050405020304" pitchFamily="18" charset="0"/>
              </a:rPr>
              <a:t>Plug and Play: </a:t>
            </a:r>
            <a:r>
              <a:rPr lang="en-US" sz="2100" b="0" i="0" u="none" strike="noStrike" baseline="0" dirty="0">
                <a:latin typeface="Times New Roman" panose="02020603050405020304" pitchFamily="18" charset="0"/>
              </a:rPr>
              <a:t>The ability to install devices into a computer when the computer itself makes any necessary internal adjustments.</a:t>
            </a:r>
            <a:endParaRPr lang="en-US" sz="2100" dirty="0">
              <a:latin typeface="Times New Roman" panose="02020603050405020304" pitchFamily="18" charset="0"/>
              <a:cs typeface="Times New Roman" panose="02020603050405020304" pitchFamily="18" charset="0"/>
            </a:endParaRPr>
          </a:p>
          <a:p>
            <a:pPr marL="714375" algn="l">
              <a:buFont typeface="Wingdings" panose="05000000000000000000" pitchFamily="2" charset="2"/>
              <a:buChar char="Ø"/>
            </a:pPr>
            <a:endParaRPr lang="en-US" sz="1900" b="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99872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7200" b="1" i="0" u="none" strike="noStrike" baseline="0" dirty="0">
                <a:latin typeface="Times New Roman" panose="02020603050405020304" pitchFamily="18" charset="0"/>
              </a:rPr>
              <a:t>ADD-IN BOARDS</a:t>
            </a:r>
            <a:endParaRPr lang="en-US" sz="7200" b="1" kern="0" dirty="0"/>
          </a:p>
        </p:txBody>
      </p:sp>
      <p:sp>
        <p:nvSpPr>
          <p:cNvPr id="5" name="Rectangle 3"/>
          <p:cNvSpPr txBox="1">
            <a:spLocks noChangeArrowheads="1"/>
          </p:cNvSpPr>
          <p:nvPr/>
        </p:nvSpPr>
        <p:spPr bwMode="auto">
          <a:xfrm>
            <a:off x="457200" y="1484784"/>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r>
              <a:rPr lang="en-US" sz="2200" b="1" i="1" u="none" strike="noStrike" baseline="0" dirty="0">
                <a:latin typeface="Times New Roman" panose="02020603050405020304" pitchFamily="18" charset="0"/>
              </a:rPr>
              <a:t>Add-in Boards: </a:t>
            </a:r>
            <a:r>
              <a:rPr lang="en-US" sz="2200" b="0" i="0" u="none" strike="noStrike" baseline="0" dirty="0">
                <a:latin typeface="Times New Roman" panose="02020603050405020304" pitchFamily="18" charset="0"/>
              </a:rPr>
              <a:t>A board that can be added to a computer to customize its features and capabilities.</a:t>
            </a:r>
          </a:p>
          <a:p>
            <a:pPr algn="l"/>
            <a:r>
              <a:rPr lang="en-US" sz="2200" b="0" i="0" u="none" strike="noStrike" baseline="0" dirty="0">
                <a:latin typeface="Times New Roman" panose="02020603050405020304" pitchFamily="18" charset="0"/>
              </a:rPr>
              <a:t>Types of Add-In Boards for Microcomputers</a:t>
            </a:r>
            <a:endParaRPr lang="en-US" sz="2200" b="1" i="0" u="none" strike="noStrike" baseline="0" dirty="0">
              <a:latin typeface="Times New Roman" panose="02020603050405020304" pitchFamily="18" charset="0"/>
            </a:endParaRPr>
          </a:p>
        </p:txBody>
      </p:sp>
      <p:pic>
        <p:nvPicPr>
          <p:cNvPr id="3" name="Picture 2">
            <a:extLst>
              <a:ext uri="{FF2B5EF4-FFF2-40B4-BE49-F238E27FC236}">
                <a16:creationId xmlns:a16="http://schemas.microsoft.com/office/drawing/2014/main" id="{E47D2C6B-6B3A-4CBD-8146-855563A18AFA}"/>
              </a:ext>
            </a:extLst>
          </p:cNvPr>
          <p:cNvPicPr>
            <a:picLocks noChangeAspect="1"/>
          </p:cNvPicPr>
          <p:nvPr/>
        </p:nvPicPr>
        <p:blipFill>
          <a:blip r:embed="rId2"/>
          <a:stretch>
            <a:fillRect/>
          </a:stretch>
        </p:blipFill>
        <p:spPr>
          <a:xfrm>
            <a:off x="457200" y="2600496"/>
            <a:ext cx="8075240" cy="4257504"/>
          </a:xfrm>
          <a:prstGeom prst="rect">
            <a:avLst/>
          </a:prstGeom>
        </p:spPr>
      </p:pic>
    </p:spTree>
    <p:extLst>
      <p:ext uri="{BB962C8B-B14F-4D97-AF65-F5344CB8AC3E}">
        <p14:creationId xmlns:p14="http://schemas.microsoft.com/office/powerpoint/2010/main" val="59710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7200" b="1" i="0" u="none" strike="noStrike" baseline="0" dirty="0">
                <a:latin typeface="Times New Roman" panose="02020603050405020304" pitchFamily="18" charset="0"/>
              </a:rPr>
              <a:t>ADD-IN BOARDS</a:t>
            </a:r>
            <a:endParaRPr lang="en-US" sz="7200" b="1" kern="0" dirty="0"/>
          </a:p>
        </p:txBody>
      </p:sp>
      <p:pic>
        <p:nvPicPr>
          <p:cNvPr id="4" name="Picture 3">
            <a:extLst>
              <a:ext uri="{FF2B5EF4-FFF2-40B4-BE49-F238E27FC236}">
                <a16:creationId xmlns:a16="http://schemas.microsoft.com/office/drawing/2014/main" id="{20880A1B-A1AF-4D47-BB20-188D6431BBCF}"/>
              </a:ext>
            </a:extLst>
          </p:cNvPr>
          <p:cNvPicPr>
            <a:picLocks noChangeAspect="1"/>
          </p:cNvPicPr>
          <p:nvPr/>
        </p:nvPicPr>
        <p:blipFill>
          <a:blip r:embed="rId2"/>
          <a:stretch>
            <a:fillRect/>
          </a:stretch>
        </p:blipFill>
        <p:spPr>
          <a:xfrm>
            <a:off x="539552" y="1484784"/>
            <a:ext cx="8147248" cy="5373216"/>
          </a:xfrm>
          <a:prstGeom prst="rect">
            <a:avLst/>
          </a:prstGeom>
        </p:spPr>
      </p:pic>
    </p:spTree>
    <p:extLst>
      <p:ext uri="{BB962C8B-B14F-4D97-AF65-F5344CB8AC3E}">
        <p14:creationId xmlns:p14="http://schemas.microsoft.com/office/powerpoint/2010/main" val="33382007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4"/>
          </a:xfrm>
        </p:spPr>
        <p:txBody>
          <a:bodyPr>
            <a:noAutofit/>
          </a:bodyPr>
          <a:lstStyle/>
          <a:p>
            <a:pPr algn="ctr"/>
            <a:r>
              <a:rPr lang="en-US" sz="8000" b="1" i="0" u="none" strike="noStrike" baseline="0" dirty="0">
                <a:latin typeface="Times New Roman" panose="02020603050405020304" pitchFamily="18" charset="0"/>
              </a:rPr>
              <a:t>CONCLUSION</a:t>
            </a:r>
            <a:endParaRPr lang="en-US" sz="8000" b="1" kern="0" dirty="0"/>
          </a:p>
        </p:txBody>
      </p:sp>
      <p:sp>
        <p:nvSpPr>
          <p:cNvPr id="5" name="Rectangle 3"/>
          <p:cNvSpPr txBox="1">
            <a:spLocks noChangeArrowheads="1"/>
          </p:cNvSpPr>
          <p:nvPr/>
        </p:nvSpPr>
        <p:spPr bwMode="auto">
          <a:xfrm>
            <a:off x="611560" y="1556792"/>
            <a:ext cx="7848872" cy="3240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just">
              <a:lnSpc>
                <a:spcPct val="200000"/>
              </a:lnSpc>
              <a:buNone/>
            </a:pPr>
            <a:r>
              <a:rPr lang="en-US" sz="2200" b="0" i="0" u="none" strike="noStrike" baseline="0" dirty="0">
                <a:latin typeface="Times New Roman" panose="02020603050405020304" pitchFamily="18" charset="0"/>
              </a:rPr>
              <a:t>The System Unit is more or less synonymous with the computer because it represents the processing capability, which is unique to Computers. Generally speaking, a computer system is recognized by the type and nature of its system unit (SU).</a:t>
            </a:r>
          </a:p>
        </p:txBody>
      </p:sp>
    </p:spTree>
    <p:extLst>
      <p:ext uri="{BB962C8B-B14F-4D97-AF65-F5344CB8AC3E}">
        <p14:creationId xmlns:p14="http://schemas.microsoft.com/office/powerpoint/2010/main" val="3000796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4"/>
          </a:xfrm>
        </p:spPr>
        <p:txBody>
          <a:bodyPr>
            <a:noAutofit/>
          </a:bodyPr>
          <a:lstStyle/>
          <a:p>
            <a:pPr algn="ctr"/>
            <a:r>
              <a:rPr lang="en-US" sz="9600" b="1" i="0" u="none" strike="noStrike" baseline="0" dirty="0">
                <a:latin typeface="Times New Roman" panose="02020603050405020304" pitchFamily="18" charset="0"/>
              </a:rPr>
              <a:t>SUMMARY</a:t>
            </a:r>
            <a:endParaRPr lang="en-US" sz="9600" b="1" kern="0" dirty="0"/>
          </a:p>
        </p:txBody>
      </p:sp>
      <p:sp>
        <p:nvSpPr>
          <p:cNvPr id="5" name="Rectangle 3"/>
          <p:cNvSpPr txBox="1">
            <a:spLocks noChangeArrowheads="1"/>
          </p:cNvSpPr>
          <p:nvPr/>
        </p:nvSpPr>
        <p:spPr bwMode="auto">
          <a:xfrm>
            <a:off x="457200" y="1484784"/>
            <a:ext cx="8075240"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2000" b="0" i="0" u="none" strike="noStrike" baseline="0" dirty="0">
                <a:latin typeface="Times New Roman" panose="02020603050405020304" pitchFamily="18" charset="0"/>
              </a:rPr>
              <a:t>We learnt that the system unit housed some important components which play a great role in the purchase of a computer system. </a:t>
            </a:r>
          </a:p>
          <a:p>
            <a:pPr marL="900113" algn="just">
              <a:lnSpc>
                <a:spcPct val="200000"/>
              </a:lnSpc>
              <a:buFont typeface="Wingdings" panose="05000000000000000000" pitchFamily="2" charset="2"/>
              <a:buChar char="Ø"/>
            </a:pPr>
            <a:r>
              <a:rPr lang="en-US" sz="2000" b="1" i="0" u="none" strike="noStrike" baseline="0" dirty="0">
                <a:latin typeface="Times New Roman" panose="02020603050405020304" pitchFamily="18" charset="0"/>
              </a:rPr>
              <a:t>The processor </a:t>
            </a:r>
            <a:r>
              <a:rPr lang="en-US" sz="2000" b="0" i="0" u="none" strike="noStrike" baseline="0" dirty="0">
                <a:latin typeface="Times New Roman" panose="02020603050405020304" pitchFamily="18" charset="0"/>
              </a:rPr>
              <a:t>- controls operations and performs arithmetic and logical operations.</a:t>
            </a:r>
          </a:p>
          <a:p>
            <a:pPr marL="900113" algn="just">
              <a:lnSpc>
                <a:spcPct val="200000"/>
              </a:lnSpc>
              <a:buFont typeface="Wingdings" panose="05000000000000000000" pitchFamily="2" charset="2"/>
              <a:buChar char="Ø"/>
            </a:pPr>
            <a:r>
              <a:rPr lang="en-US" sz="2000" b="1" i="0" u="none" strike="noStrike" baseline="0" dirty="0">
                <a:latin typeface="Times New Roman" panose="02020603050405020304" pitchFamily="18" charset="0"/>
              </a:rPr>
              <a:t>The memory </a:t>
            </a:r>
            <a:r>
              <a:rPr lang="en-US" sz="2000" b="0" i="0" u="none" strike="noStrike" baseline="0" dirty="0">
                <a:latin typeface="Times New Roman" panose="02020603050405020304" pitchFamily="18" charset="0"/>
              </a:rPr>
              <a:t>- serves the purpose of storage (holding data and instruction) and also used to boot the computer system.</a:t>
            </a:r>
          </a:p>
          <a:p>
            <a:pPr marL="900113" algn="just">
              <a:lnSpc>
                <a:spcPct val="200000"/>
              </a:lnSpc>
              <a:buFont typeface="Wingdings" panose="05000000000000000000" pitchFamily="2" charset="2"/>
              <a:buChar char="Ø"/>
            </a:pPr>
            <a:r>
              <a:rPr lang="en-US" sz="2000" b="1" i="0" u="none" strike="noStrike" baseline="0" dirty="0">
                <a:latin typeface="Times New Roman" panose="02020603050405020304" pitchFamily="18" charset="0"/>
              </a:rPr>
              <a:t>Expansion Slots</a:t>
            </a:r>
            <a:r>
              <a:rPr lang="en-US" sz="2000" b="0" i="0" u="none" strike="noStrike" baseline="0" dirty="0">
                <a:latin typeface="Times New Roman" panose="02020603050405020304" pitchFamily="18" charset="0"/>
              </a:rPr>
              <a:t>-allows external devices to connect and expand a computer capabilities.</a:t>
            </a:r>
          </a:p>
        </p:txBody>
      </p:sp>
    </p:spTree>
    <p:extLst>
      <p:ext uri="{BB962C8B-B14F-4D97-AF65-F5344CB8AC3E}">
        <p14:creationId xmlns:p14="http://schemas.microsoft.com/office/powerpoint/2010/main" val="19163834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7200" b="1" kern="0" dirty="0"/>
              <a:t>EXERCISE</a:t>
            </a:r>
          </a:p>
        </p:txBody>
      </p:sp>
      <p:sp>
        <p:nvSpPr>
          <p:cNvPr id="5" name="Rectangle 3"/>
          <p:cNvSpPr txBox="1">
            <a:spLocks noChangeArrowheads="1"/>
          </p:cNvSpPr>
          <p:nvPr/>
        </p:nvSpPr>
        <p:spPr bwMode="auto">
          <a:xfrm>
            <a:off x="634392" y="1484784"/>
            <a:ext cx="7875215"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just">
              <a:lnSpc>
                <a:spcPct val="200000"/>
              </a:lnSpc>
              <a:buNone/>
            </a:pPr>
            <a:r>
              <a:rPr lang="en-US" sz="2300" b="0" i="0" u="none" strike="noStrike" baseline="0" dirty="0">
                <a:latin typeface="Times New Roman" panose="02020603050405020304" pitchFamily="18" charset="0"/>
              </a:rPr>
              <a:t>a. List the four elements to be considered when determining processor speed?</a:t>
            </a:r>
          </a:p>
          <a:p>
            <a:pPr marL="0" indent="0" algn="just">
              <a:lnSpc>
                <a:spcPct val="200000"/>
              </a:lnSpc>
              <a:buNone/>
            </a:pPr>
            <a:r>
              <a:rPr lang="en-US" sz="2300" b="0" i="0" u="none" strike="noStrike" baseline="0" dirty="0">
                <a:latin typeface="Times New Roman" panose="02020603050405020304" pitchFamily="18" charset="0"/>
              </a:rPr>
              <a:t>b. What are the functions of the Central Processing Unit (CPU)?</a:t>
            </a:r>
          </a:p>
          <a:p>
            <a:pPr marL="0" indent="0" algn="just">
              <a:lnSpc>
                <a:spcPct val="200000"/>
              </a:lnSpc>
              <a:buNone/>
            </a:pPr>
            <a:r>
              <a:rPr lang="en-US" sz="2300" b="0" i="0" u="none" strike="noStrike" baseline="0" dirty="0">
                <a:latin typeface="Times New Roman" panose="02020603050405020304" pitchFamily="18" charset="0"/>
              </a:rPr>
              <a:t>c. What is the difference between the System Unit and the Central Processing Unit?</a:t>
            </a:r>
          </a:p>
          <a:p>
            <a:pPr marL="0" indent="0" algn="just">
              <a:lnSpc>
                <a:spcPct val="200000"/>
              </a:lnSpc>
              <a:buNone/>
            </a:pPr>
            <a:r>
              <a:rPr lang="en-US" sz="2300" b="0" i="0" u="none" strike="noStrike" baseline="0" dirty="0">
                <a:latin typeface="Times New Roman" panose="02020603050405020304" pitchFamily="18" charset="0"/>
              </a:rPr>
              <a:t>d. Define Grid Computing?</a:t>
            </a:r>
          </a:p>
        </p:txBody>
      </p:sp>
    </p:spTree>
    <p:extLst>
      <p:ext uri="{BB962C8B-B14F-4D97-AF65-F5344CB8AC3E}">
        <p14:creationId xmlns:p14="http://schemas.microsoft.com/office/powerpoint/2010/main" val="18954253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4</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527248" y="4797152"/>
            <a:ext cx="8229600"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3600" b="1" dirty="0">
                <a:latin typeface="Comic Sans MS" panose="030F0702030302020204" pitchFamily="66" charset="0"/>
              </a:rPr>
              <a:t>INPUT DEVICES, OUTPUT DEVICES AND STORAGE DEVICES AND </a:t>
            </a:r>
            <a:r>
              <a:rPr lang="en-US" sz="3600" b="1" dirty="0" smtClean="0">
                <a:latin typeface="Comic Sans MS" panose="030F0702030302020204" pitchFamily="66" charset="0"/>
              </a:rPr>
              <a:t>MEMORY</a:t>
            </a:r>
          </a:p>
          <a:p>
            <a:pPr marL="14288">
              <a:lnSpc>
                <a:spcPct val="150000"/>
              </a:lnSpc>
            </a:pPr>
            <a:r>
              <a:rPr lang="en-US" sz="3600" b="1" dirty="0" smtClean="0">
                <a:latin typeface="Comic Sans MS" panose="030F0702030302020204" pitchFamily="66" charset="0"/>
              </a:rPr>
              <a:t>Add Table 1 and 2</a:t>
            </a:r>
            <a:endParaRPr lang="en-US" sz="3600" b="1" dirty="0">
              <a:latin typeface="Comic Sans MS" panose="030F0702030302020204" pitchFamily="66" charset="0"/>
            </a:endParaRPr>
          </a:p>
        </p:txBody>
      </p:sp>
    </p:spTree>
    <p:extLst>
      <p:ext uri="{BB962C8B-B14F-4D97-AF65-F5344CB8AC3E}">
        <p14:creationId xmlns:p14="http://schemas.microsoft.com/office/powerpoint/2010/main" val="1687654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defRPr/>
            </a:pPr>
            <a:r>
              <a:rPr lang="en-US" sz="3600" b="1" dirty="0">
                <a:latin typeface="Comic Sans MS" panose="030F0702030302020204" pitchFamily="66" charset="0"/>
              </a:rPr>
              <a:t>Assignment/Project 1a </a:t>
            </a:r>
            <a:br>
              <a:rPr lang="en-US" sz="3600" b="1" dirty="0">
                <a:latin typeface="Comic Sans MS" panose="030F0702030302020204" pitchFamily="66" charset="0"/>
              </a:rPr>
            </a:br>
            <a:r>
              <a:rPr lang="en-US" sz="3600" b="1" dirty="0">
                <a:latin typeface="Comic Sans MS" panose="030F0702030302020204" pitchFamily="66" charset="0"/>
              </a:rPr>
              <a:t>Presentation Outline</a:t>
            </a:r>
            <a:r>
              <a:rPr lang="en-GB" sz="3600" b="1" dirty="0">
                <a:latin typeface="Comic Sans MS" panose="030F0702030302020204" pitchFamily="66" charset="0"/>
              </a:rPr>
              <a:t>  </a:t>
            </a:r>
          </a:p>
        </p:txBody>
      </p:sp>
      <p:sp>
        <p:nvSpPr>
          <p:cNvPr id="5" name="Rectangle 3"/>
          <p:cNvSpPr txBox="1">
            <a:spLocks noChangeArrowheads="1"/>
          </p:cNvSpPr>
          <p:nvPr/>
        </p:nvSpPr>
        <p:spPr bwMode="auto">
          <a:xfrm>
            <a:off x="611560" y="1484784"/>
            <a:ext cx="7931224"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buNone/>
            </a:pPr>
            <a:r>
              <a:rPr lang="en-US" sz="3200" b="1" i="0" u="none" strike="noStrike" baseline="0" dirty="0">
                <a:latin typeface="Times New Roman" panose="02020603050405020304" pitchFamily="18" charset="0"/>
              </a:rPr>
              <a:t>INPUT DEVICES</a:t>
            </a:r>
            <a:endParaRPr lang="en-US" sz="3200" b="1" kern="0" dirty="0"/>
          </a:p>
          <a:p>
            <a:pPr>
              <a:buFont typeface="Wingdings" panose="05000000000000000000" pitchFamily="2" charset="2"/>
              <a:buChar char="q"/>
            </a:pPr>
            <a:r>
              <a:rPr lang="en-US" sz="1700" b="1" kern="0" dirty="0"/>
              <a:t>Interaction with Computers Using Input Devices</a:t>
            </a:r>
          </a:p>
          <a:p>
            <a:pPr marL="900113">
              <a:buFont typeface="Wingdings" panose="05000000000000000000" pitchFamily="2" charset="2"/>
              <a:buChar char="Ø"/>
            </a:pPr>
            <a:r>
              <a:rPr lang="en-US" sz="1700" b="1" kern="0" dirty="0"/>
              <a:t>Keyboard</a:t>
            </a:r>
          </a:p>
          <a:p>
            <a:pPr marL="900113">
              <a:buFont typeface="Wingdings" panose="05000000000000000000" pitchFamily="2" charset="2"/>
              <a:buChar char="Ø"/>
            </a:pPr>
            <a:r>
              <a:rPr lang="en-US" sz="1700" b="1" kern="0" dirty="0"/>
              <a:t>Terminal</a:t>
            </a:r>
          </a:p>
          <a:p>
            <a:pPr marL="900113">
              <a:buFont typeface="Wingdings" panose="05000000000000000000" pitchFamily="2" charset="2"/>
              <a:buChar char="Ø"/>
            </a:pPr>
            <a:r>
              <a:rPr lang="en-US" sz="1700" b="1" kern="0" dirty="0"/>
              <a:t>Scanners</a:t>
            </a:r>
          </a:p>
          <a:p>
            <a:pPr marL="900113">
              <a:buFont typeface="Wingdings" panose="05000000000000000000" pitchFamily="2" charset="2"/>
              <a:buChar char="Ø"/>
            </a:pPr>
            <a:r>
              <a:rPr lang="en-US" sz="1700" b="1" kern="0" dirty="0"/>
              <a:t>Optical Character Recognition (OCR) </a:t>
            </a:r>
          </a:p>
          <a:p>
            <a:pPr marL="900113">
              <a:buFont typeface="Wingdings" panose="05000000000000000000" pitchFamily="2" charset="2"/>
              <a:buChar char="Ø"/>
            </a:pPr>
            <a:r>
              <a:rPr lang="en-US" sz="1700" b="1" kern="0" dirty="0"/>
              <a:t>Digitizers</a:t>
            </a:r>
          </a:p>
          <a:p>
            <a:pPr marL="900113">
              <a:buFont typeface="Wingdings" panose="05000000000000000000" pitchFamily="2" charset="2"/>
              <a:buChar char="Ø"/>
            </a:pPr>
            <a:r>
              <a:rPr lang="en-US" sz="1700" b="1" kern="0" dirty="0"/>
              <a:t>Pointing Devices</a:t>
            </a:r>
          </a:p>
          <a:p>
            <a:pPr marL="900113">
              <a:buFont typeface="Wingdings" panose="05000000000000000000" pitchFamily="2" charset="2"/>
              <a:buChar char="Ø"/>
            </a:pPr>
            <a:r>
              <a:rPr lang="en-US" sz="1700" b="1" kern="0" dirty="0"/>
              <a:t>Digitizing Table</a:t>
            </a:r>
          </a:p>
          <a:p>
            <a:pPr marL="900113">
              <a:buFont typeface="Wingdings" panose="05000000000000000000" pitchFamily="2" charset="2"/>
              <a:buChar char="Ø"/>
            </a:pPr>
            <a:r>
              <a:rPr lang="en-US" sz="1700" b="1" kern="0" dirty="0"/>
              <a:t>Digital Camera</a:t>
            </a:r>
          </a:p>
          <a:p>
            <a:pPr marL="900113">
              <a:buFont typeface="Wingdings" panose="05000000000000000000" pitchFamily="2" charset="2"/>
              <a:buChar char="Ø"/>
            </a:pPr>
            <a:r>
              <a:rPr lang="en-US" sz="1700" b="1" kern="0" dirty="0"/>
              <a:t>Digital Video Camcorders</a:t>
            </a:r>
          </a:p>
          <a:p>
            <a:pPr marL="900113">
              <a:buFont typeface="Wingdings" panose="05000000000000000000" pitchFamily="2" charset="2"/>
              <a:buChar char="Ø"/>
            </a:pPr>
            <a:r>
              <a:rPr lang="en-US" sz="1700" b="1" kern="0" dirty="0"/>
              <a:t>Voice and Sound Input Devices</a:t>
            </a:r>
          </a:p>
          <a:p>
            <a:pPr marL="900113">
              <a:buFont typeface="Wingdings" panose="05000000000000000000" pitchFamily="2" charset="2"/>
              <a:buChar char="Ø"/>
            </a:pPr>
            <a:r>
              <a:rPr lang="en-US" sz="1700" b="1" kern="0" dirty="0"/>
              <a:t>Bar Code </a:t>
            </a:r>
          </a:p>
          <a:p>
            <a:pPr marL="900113">
              <a:buFont typeface="Wingdings" panose="05000000000000000000" pitchFamily="2" charset="2"/>
              <a:buChar char="Ø"/>
            </a:pPr>
            <a:r>
              <a:rPr lang="en-US" sz="1700" b="1" kern="0" dirty="0"/>
              <a:t>Wand</a:t>
            </a:r>
          </a:p>
          <a:p>
            <a:pPr marL="900113">
              <a:buFont typeface="Wingdings" panose="05000000000000000000" pitchFamily="2" charset="2"/>
              <a:buChar char="Ø"/>
            </a:pPr>
            <a:r>
              <a:rPr lang="en-US" sz="1700" b="1" kern="0" dirty="0"/>
              <a:t>Multimedia</a:t>
            </a:r>
          </a:p>
          <a:p>
            <a:pPr>
              <a:buFont typeface="Wingdings" panose="05000000000000000000" pitchFamily="2" charset="2"/>
              <a:buChar char="q"/>
            </a:pPr>
            <a:r>
              <a:rPr lang="en-US" sz="1700" b="1" kern="0" dirty="0"/>
              <a:t>The Purpose of the Mouse</a:t>
            </a:r>
          </a:p>
        </p:txBody>
      </p:sp>
    </p:spTree>
    <p:extLst>
      <p:ext uri="{BB962C8B-B14F-4D97-AF65-F5344CB8AC3E}">
        <p14:creationId xmlns:p14="http://schemas.microsoft.com/office/powerpoint/2010/main" val="3059905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8000" b="1" i="0" u="none" strike="noStrike" baseline="0" dirty="0">
                <a:latin typeface="Times New Roman" panose="02020603050405020304" pitchFamily="18" charset="0"/>
              </a:rPr>
              <a:t>OBJECTIVES</a:t>
            </a:r>
            <a:endParaRPr lang="en-US" sz="8000" b="1" kern="0" dirty="0"/>
          </a:p>
        </p:txBody>
      </p:sp>
      <p:sp>
        <p:nvSpPr>
          <p:cNvPr id="5" name="Rectangle 3"/>
          <p:cNvSpPr txBox="1">
            <a:spLocks noChangeArrowheads="1"/>
          </p:cNvSpPr>
          <p:nvPr/>
        </p:nvSpPr>
        <p:spPr bwMode="auto">
          <a:xfrm>
            <a:off x="490377" y="1484784"/>
            <a:ext cx="8114071"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lnSpc>
                <a:spcPct val="150000"/>
              </a:lnSpc>
            </a:pPr>
            <a:r>
              <a:rPr lang="en-US" sz="2000" b="0" i="0" u="none" strike="noStrike" baseline="0" dirty="0">
                <a:latin typeface="Times New Roman" panose="02020603050405020304" pitchFamily="18" charset="0"/>
              </a:rPr>
              <a:t>At the end of this unit, you should be able to:</a:t>
            </a:r>
          </a:p>
          <a:p>
            <a:pPr marL="900113"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Identify the six special key groups on a standard computer keyboard</a:t>
            </a:r>
          </a:p>
          <a:p>
            <a:pPr marL="900113"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Name the functional keys on a keyboard</a:t>
            </a:r>
          </a:p>
          <a:p>
            <a:pPr marL="900113"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Describe the purpose of a mouse and the role it plays in computing</a:t>
            </a:r>
          </a:p>
          <a:p>
            <a:pPr marL="900113"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Identify other input devices apart from the mouse and keyboard</a:t>
            </a:r>
            <a:endParaRPr lang="en-US" sz="20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8877939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4624"/>
            <a:ext cx="8229600" cy="1368152"/>
          </a:xfrm>
        </p:spPr>
        <p:txBody>
          <a:bodyPr>
            <a:noAutofit/>
          </a:bodyPr>
          <a:lstStyle/>
          <a:p>
            <a:pPr algn="ctr"/>
            <a:r>
              <a:rPr lang="en-US" sz="8000" b="1" i="0" u="none" strike="noStrike" baseline="0" dirty="0">
                <a:latin typeface="Times New Roman" panose="02020603050405020304" pitchFamily="18" charset="0"/>
              </a:rPr>
              <a:t>CONCLUSION</a:t>
            </a:r>
            <a:endParaRPr lang="en-US" sz="8000" b="1" kern="0" dirty="0"/>
          </a:p>
        </p:txBody>
      </p:sp>
      <p:sp>
        <p:nvSpPr>
          <p:cNvPr id="5" name="Rectangle 3"/>
          <p:cNvSpPr txBox="1">
            <a:spLocks noChangeArrowheads="1"/>
          </p:cNvSpPr>
          <p:nvPr/>
        </p:nvSpPr>
        <p:spPr bwMode="auto">
          <a:xfrm>
            <a:off x="490377" y="1484784"/>
            <a:ext cx="8114071"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just">
              <a:lnSpc>
                <a:spcPct val="200000"/>
              </a:lnSpc>
              <a:buNone/>
            </a:pPr>
            <a:r>
              <a:rPr lang="en-US" sz="2300" b="0" i="0" u="none" strike="noStrike" baseline="0" dirty="0">
                <a:latin typeface="Times New Roman" panose="02020603050405020304" pitchFamily="18" charset="0"/>
              </a:rPr>
              <a:t>Input Devices are devices which enable data, information and instructions to be transmitted into the Computer system. </a:t>
            </a:r>
          </a:p>
          <a:p>
            <a:pPr marL="0" indent="0" algn="just">
              <a:lnSpc>
                <a:spcPct val="200000"/>
              </a:lnSpc>
              <a:buNone/>
            </a:pPr>
            <a:r>
              <a:rPr lang="en-US" sz="2300" b="0" i="0" u="none" strike="noStrike" baseline="0" dirty="0">
                <a:latin typeface="Times New Roman" panose="02020603050405020304" pitchFamily="18" charset="0"/>
              </a:rPr>
              <a:t>They act as a gateway for receiving input usually in user understandable form from the outside world and convert it to machine understandable form which the Computer can understand.</a:t>
            </a:r>
            <a:endParaRPr lang="en-US" sz="23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11713209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4624"/>
            <a:ext cx="8229600" cy="1368152"/>
          </a:xfrm>
        </p:spPr>
        <p:txBody>
          <a:bodyPr>
            <a:noAutofit/>
          </a:bodyPr>
          <a:lstStyle/>
          <a:p>
            <a:pPr algn="ctr"/>
            <a:r>
              <a:rPr lang="en-US" sz="9600" b="1" i="0" u="none" strike="noStrike" baseline="0" dirty="0">
                <a:latin typeface="Times New Roman" panose="02020603050405020304" pitchFamily="18" charset="0"/>
              </a:rPr>
              <a:t>SUMMARY</a:t>
            </a:r>
            <a:endParaRPr lang="en-US" sz="9600" b="1" kern="0" dirty="0"/>
          </a:p>
        </p:txBody>
      </p:sp>
      <p:sp>
        <p:nvSpPr>
          <p:cNvPr id="5" name="Rectangle 3"/>
          <p:cNvSpPr txBox="1">
            <a:spLocks noChangeArrowheads="1"/>
          </p:cNvSpPr>
          <p:nvPr/>
        </p:nvSpPr>
        <p:spPr bwMode="auto">
          <a:xfrm>
            <a:off x="490377" y="1484784"/>
            <a:ext cx="8114071" cy="468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lnSpc>
                <a:spcPct val="200000"/>
              </a:lnSpc>
            </a:pPr>
            <a:r>
              <a:rPr lang="en-US" sz="2400" b="0" i="0" u="none" strike="noStrike" baseline="0" dirty="0">
                <a:latin typeface="Times New Roman" panose="02020603050405020304" pitchFamily="18" charset="0"/>
              </a:rPr>
              <a:t>In summary you have learnt about:</a:t>
            </a:r>
          </a:p>
          <a:p>
            <a:pPr marL="900113" algn="l">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The special keys on the keyboard</a:t>
            </a:r>
          </a:p>
          <a:p>
            <a:pPr marL="900113" algn="l">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Purpose of the mouse</a:t>
            </a:r>
          </a:p>
          <a:p>
            <a:pPr marL="900113" algn="l">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Other input devices, such as: scanning devices, image capturing devices, digitizing devices, audio input devices and assistive input devices.</a:t>
            </a:r>
            <a:endParaRPr lang="en-US" sz="24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35054398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7200" b="1" kern="0" dirty="0"/>
              <a:t>EXERCISE</a:t>
            </a:r>
          </a:p>
        </p:txBody>
      </p:sp>
      <p:sp>
        <p:nvSpPr>
          <p:cNvPr id="5" name="Rectangle 3"/>
          <p:cNvSpPr txBox="1">
            <a:spLocks noChangeArrowheads="1"/>
          </p:cNvSpPr>
          <p:nvPr/>
        </p:nvSpPr>
        <p:spPr bwMode="auto">
          <a:xfrm>
            <a:off x="634392" y="1484784"/>
            <a:ext cx="7875215"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l">
              <a:lnSpc>
                <a:spcPct val="200000"/>
              </a:lnSpc>
              <a:buNone/>
            </a:pPr>
            <a:r>
              <a:rPr lang="en-US" sz="2300" b="0" i="0" u="none" strike="noStrike" baseline="0" dirty="0">
                <a:latin typeface="Times New Roman" panose="02020603050405020304" pitchFamily="18" charset="0"/>
              </a:rPr>
              <a:t>a. List three pointing devices</a:t>
            </a:r>
          </a:p>
          <a:p>
            <a:pPr marL="0" indent="0" algn="l">
              <a:lnSpc>
                <a:spcPct val="200000"/>
              </a:lnSpc>
              <a:buNone/>
            </a:pPr>
            <a:r>
              <a:rPr lang="en-US" sz="2300" b="0" i="0" u="none" strike="noStrike" baseline="0" dirty="0">
                <a:latin typeface="Times New Roman" panose="02020603050405020304" pitchFamily="18" charset="0"/>
              </a:rPr>
              <a:t>b. Which category of device is the Optical Character Recognition (OCR)?</a:t>
            </a:r>
          </a:p>
          <a:p>
            <a:pPr marL="0" indent="0" algn="l">
              <a:lnSpc>
                <a:spcPct val="200000"/>
              </a:lnSpc>
              <a:buNone/>
            </a:pPr>
            <a:r>
              <a:rPr lang="en-US" sz="2300" b="0" i="0" u="none" strike="noStrike" baseline="0" dirty="0">
                <a:latin typeface="Times New Roman" panose="02020603050405020304" pitchFamily="18" charset="0"/>
              </a:rPr>
              <a:t>c. What are the basic functions of a mouse?</a:t>
            </a:r>
          </a:p>
          <a:p>
            <a:pPr marL="0" indent="0" algn="l">
              <a:lnSpc>
                <a:spcPct val="200000"/>
              </a:lnSpc>
              <a:buNone/>
            </a:pPr>
            <a:r>
              <a:rPr lang="en-US" sz="2300" b="0" i="0" u="none" strike="noStrike" baseline="0" dirty="0">
                <a:latin typeface="Times New Roman" panose="02020603050405020304" pitchFamily="18" charset="0"/>
              </a:rPr>
              <a:t>d. What category of device is the joystick and what is it used for?</a:t>
            </a:r>
          </a:p>
        </p:txBody>
      </p:sp>
    </p:spTree>
    <p:extLst>
      <p:ext uri="{BB962C8B-B14F-4D97-AF65-F5344CB8AC3E}">
        <p14:creationId xmlns:p14="http://schemas.microsoft.com/office/powerpoint/2010/main" val="8703528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defRPr/>
            </a:pPr>
            <a:r>
              <a:rPr lang="en-US" sz="3600" b="1" dirty="0">
                <a:latin typeface="Comic Sans MS" panose="030F0702030302020204" pitchFamily="66" charset="0"/>
              </a:rPr>
              <a:t>Assignment/Project 1b </a:t>
            </a:r>
            <a:br>
              <a:rPr lang="en-US" sz="3600" b="1" dirty="0">
                <a:latin typeface="Comic Sans MS" panose="030F0702030302020204" pitchFamily="66" charset="0"/>
              </a:rPr>
            </a:br>
            <a:r>
              <a:rPr lang="en-US" sz="3600" b="1" dirty="0">
                <a:latin typeface="Comic Sans MS" panose="030F0702030302020204" pitchFamily="66" charset="0"/>
              </a:rPr>
              <a:t>Presentation Outline</a:t>
            </a:r>
            <a:r>
              <a:rPr lang="en-GB" sz="3600" b="1" dirty="0">
                <a:latin typeface="Comic Sans MS" panose="030F0702030302020204" pitchFamily="66" charset="0"/>
              </a:rPr>
              <a:t>  </a:t>
            </a:r>
          </a:p>
        </p:txBody>
      </p:sp>
      <p:sp>
        <p:nvSpPr>
          <p:cNvPr id="5" name="Rectangle 3"/>
          <p:cNvSpPr txBox="1">
            <a:spLocks noChangeArrowheads="1"/>
          </p:cNvSpPr>
          <p:nvPr/>
        </p:nvSpPr>
        <p:spPr bwMode="auto">
          <a:xfrm>
            <a:off x="539552" y="1484784"/>
            <a:ext cx="7931224"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buNone/>
            </a:pPr>
            <a:r>
              <a:rPr lang="en-US" sz="3200" b="1" i="0" u="none" strike="noStrike" baseline="0" dirty="0">
                <a:latin typeface="Times New Roman" panose="02020603050405020304" pitchFamily="18" charset="0"/>
              </a:rPr>
              <a:t>OUTPUT DEVICES</a:t>
            </a:r>
            <a:endParaRPr lang="en-US" sz="3200" b="1" kern="0" dirty="0"/>
          </a:p>
          <a:p>
            <a:pPr>
              <a:lnSpc>
                <a:spcPct val="150000"/>
              </a:lnSpc>
              <a:buFont typeface="Wingdings" panose="05000000000000000000" pitchFamily="2" charset="2"/>
              <a:buChar char="q"/>
            </a:pPr>
            <a:r>
              <a:rPr lang="en-US" sz="2000" b="1" kern="0" dirty="0"/>
              <a:t>Output and Information Distribution Devices</a:t>
            </a:r>
          </a:p>
          <a:p>
            <a:pPr>
              <a:lnSpc>
                <a:spcPct val="150000"/>
              </a:lnSpc>
              <a:buFont typeface="Wingdings" panose="05000000000000000000" pitchFamily="2" charset="2"/>
              <a:buChar char="q"/>
            </a:pPr>
            <a:r>
              <a:rPr lang="en-US" sz="2000" b="1" kern="0" dirty="0"/>
              <a:t>Types of Output Devices</a:t>
            </a:r>
          </a:p>
          <a:p>
            <a:pPr marL="1071563">
              <a:lnSpc>
                <a:spcPct val="150000"/>
              </a:lnSpc>
              <a:buFont typeface="Wingdings" panose="05000000000000000000" pitchFamily="2" charset="2"/>
              <a:buChar char="Ø"/>
            </a:pPr>
            <a:r>
              <a:rPr lang="en-US" sz="2000" b="1" kern="0" dirty="0"/>
              <a:t>Visual Displays (Monitors) </a:t>
            </a:r>
          </a:p>
          <a:p>
            <a:pPr marL="1071563">
              <a:lnSpc>
                <a:spcPct val="150000"/>
              </a:lnSpc>
              <a:buFont typeface="Wingdings" panose="05000000000000000000" pitchFamily="2" charset="2"/>
              <a:buChar char="Ø"/>
            </a:pPr>
            <a:r>
              <a:rPr lang="en-US" sz="2000" b="1" kern="0" dirty="0"/>
              <a:t>Data Projector</a:t>
            </a:r>
          </a:p>
          <a:p>
            <a:pPr marL="1071563">
              <a:lnSpc>
                <a:spcPct val="150000"/>
              </a:lnSpc>
              <a:buFont typeface="Wingdings" panose="05000000000000000000" pitchFamily="2" charset="2"/>
              <a:buChar char="Ø"/>
            </a:pPr>
            <a:r>
              <a:rPr lang="en-US" sz="2000" b="1" kern="0" dirty="0"/>
              <a:t>Printers</a:t>
            </a:r>
          </a:p>
          <a:p>
            <a:pPr marL="1071563">
              <a:lnSpc>
                <a:spcPct val="150000"/>
              </a:lnSpc>
              <a:buFont typeface="Wingdings" panose="05000000000000000000" pitchFamily="2" charset="2"/>
              <a:buChar char="Ø"/>
            </a:pPr>
            <a:r>
              <a:rPr lang="en-US" sz="2000" b="1" kern="0" dirty="0"/>
              <a:t>Audio Response Unit</a:t>
            </a:r>
          </a:p>
          <a:p>
            <a:pPr marL="1071563">
              <a:lnSpc>
                <a:spcPct val="150000"/>
              </a:lnSpc>
              <a:buFont typeface="Wingdings" panose="05000000000000000000" pitchFamily="2" charset="2"/>
              <a:buChar char="Ø"/>
            </a:pPr>
            <a:r>
              <a:rPr lang="en-US" sz="2000" b="1" kern="0" dirty="0"/>
              <a:t>Television</a:t>
            </a:r>
          </a:p>
          <a:p>
            <a:pPr marL="1071563">
              <a:lnSpc>
                <a:spcPct val="150000"/>
              </a:lnSpc>
              <a:buFont typeface="Wingdings" panose="05000000000000000000" pitchFamily="2" charset="2"/>
              <a:buChar char="Ø"/>
            </a:pPr>
            <a:r>
              <a:rPr lang="en-US" sz="2000" b="1" kern="0" dirty="0"/>
              <a:t>Plotter</a:t>
            </a:r>
          </a:p>
          <a:p>
            <a:pPr marL="1071563">
              <a:lnSpc>
                <a:spcPct val="150000"/>
              </a:lnSpc>
              <a:buFont typeface="Wingdings" panose="05000000000000000000" pitchFamily="2" charset="2"/>
              <a:buChar char="Ø"/>
            </a:pPr>
            <a:r>
              <a:rPr lang="en-US" sz="2000" b="1" kern="0" dirty="0"/>
              <a:t>Film Recorder</a:t>
            </a:r>
          </a:p>
        </p:txBody>
      </p:sp>
    </p:spTree>
    <p:extLst>
      <p:ext uri="{BB962C8B-B14F-4D97-AF65-F5344CB8AC3E}">
        <p14:creationId xmlns:p14="http://schemas.microsoft.com/office/powerpoint/2010/main" val="26670909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8000" b="1" i="0" u="none" strike="noStrike" baseline="0" dirty="0">
                <a:latin typeface="Times New Roman" panose="02020603050405020304" pitchFamily="18" charset="0"/>
              </a:rPr>
              <a:t>OBJECTIVES</a:t>
            </a:r>
            <a:endParaRPr lang="en-US" sz="8000" b="1" kern="0" dirty="0"/>
          </a:p>
        </p:txBody>
      </p:sp>
      <p:sp>
        <p:nvSpPr>
          <p:cNvPr id="5" name="Rectangle 3"/>
          <p:cNvSpPr txBox="1">
            <a:spLocks noChangeArrowheads="1"/>
          </p:cNvSpPr>
          <p:nvPr/>
        </p:nvSpPr>
        <p:spPr bwMode="auto">
          <a:xfrm>
            <a:off x="490377" y="1484784"/>
            <a:ext cx="8114071"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lnSpc>
                <a:spcPct val="200000"/>
              </a:lnSpc>
            </a:pPr>
            <a:r>
              <a:rPr lang="en-US" sz="2400" b="0" i="0" u="none" strike="noStrike" baseline="0" dirty="0">
                <a:latin typeface="Times New Roman" panose="02020603050405020304" pitchFamily="18" charset="0"/>
              </a:rPr>
              <a:t>At the end of this unit, you should be able to:</a:t>
            </a:r>
          </a:p>
          <a:p>
            <a:pPr marL="714375" algn="l">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Define an Output device.</a:t>
            </a:r>
          </a:p>
          <a:p>
            <a:pPr marL="714375" algn="l">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Identify the types of output devices and their properties.</a:t>
            </a:r>
          </a:p>
          <a:p>
            <a:pPr marL="714375" algn="l">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State their various functions and uses in business.</a:t>
            </a:r>
            <a:endParaRPr lang="en-US" sz="24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39933492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4624"/>
            <a:ext cx="8229600" cy="1368152"/>
          </a:xfrm>
        </p:spPr>
        <p:txBody>
          <a:bodyPr>
            <a:noAutofit/>
          </a:bodyPr>
          <a:lstStyle/>
          <a:p>
            <a:pPr algn="ctr"/>
            <a:r>
              <a:rPr lang="en-US" sz="8000" b="1" i="0" u="none" strike="noStrike" baseline="0" dirty="0">
                <a:latin typeface="Times New Roman" panose="02020603050405020304" pitchFamily="18" charset="0"/>
              </a:rPr>
              <a:t>CONCLUSION</a:t>
            </a:r>
            <a:endParaRPr lang="en-US" sz="8000" b="1" kern="0" dirty="0"/>
          </a:p>
        </p:txBody>
      </p:sp>
      <p:sp>
        <p:nvSpPr>
          <p:cNvPr id="5" name="Rectangle 3"/>
          <p:cNvSpPr txBox="1">
            <a:spLocks noChangeArrowheads="1"/>
          </p:cNvSpPr>
          <p:nvPr/>
        </p:nvSpPr>
        <p:spPr bwMode="auto">
          <a:xfrm>
            <a:off x="490377" y="1484784"/>
            <a:ext cx="8114071"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just">
              <a:lnSpc>
                <a:spcPct val="200000"/>
              </a:lnSpc>
              <a:buNone/>
            </a:pPr>
            <a:r>
              <a:rPr lang="en-US" sz="2400" b="0" i="0" u="none" strike="noStrike" baseline="0" dirty="0">
                <a:latin typeface="Times New Roman" panose="02020603050405020304" pitchFamily="18" charset="0"/>
              </a:rPr>
              <a:t>Output Device is a device that makes the results of processing available outside of the computer to be used in business decision making. </a:t>
            </a:r>
          </a:p>
          <a:p>
            <a:pPr marL="0" indent="0" algn="just">
              <a:lnSpc>
                <a:spcPct val="200000"/>
              </a:lnSpc>
              <a:buNone/>
            </a:pPr>
            <a:r>
              <a:rPr lang="en-US" sz="2400" b="0" i="0" u="none" strike="noStrike" baseline="0" dirty="0">
                <a:latin typeface="Times New Roman" panose="02020603050405020304" pitchFamily="18" charset="0"/>
              </a:rPr>
              <a:t>It brings out the information after the data has been processed.</a:t>
            </a:r>
            <a:endParaRPr lang="en-US" sz="24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38821907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4624"/>
            <a:ext cx="8229600" cy="1368152"/>
          </a:xfrm>
        </p:spPr>
        <p:txBody>
          <a:bodyPr>
            <a:noAutofit/>
          </a:bodyPr>
          <a:lstStyle/>
          <a:p>
            <a:pPr algn="ctr"/>
            <a:r>
              <a:rPr lang="en-US" sz="9600" b="1" i="0" u="none" strike="noStrike" baseline="0" dirty="0">
                <a:latin typeface="Times New Roman" panose="02020603050405020304" pitchFamily="18" charset="0"/>
              </a:rPr>
              <a:t>SUMMARY</a:t>
            </a:r>
            <a:endParaRPr lang="en-US" sz="9600" b="1" kern="0" dirty="0"/>
          </a:p>
        </p:txBody>
      </p:sp>
      <p:sp>
        <p:nvSpPr>
          <p:cNvPr id="5" name="Rectangle 3"/>
          <p:cNvSpPr txBox="1">
            <a:spLocks noChangeArrowheads="1"/>
          </p:cNvSpPr>
          <p:nvPr/>
        </p:nvSpPr>
        <p:spPr bwMode="auto">
          <a:xfrm>
            <a:off x="467544" y="1484784"/>
            <a:ext cx="8229600" cy="468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2400" b="0" i="0" u="none" strike="noStrike" baseline="0" dirty="0">
                <a:latin typeface="Times New Roman" panose="02020603050405020304" pitchFamily="18" charset="0"/>
              </a:rPr>
              <a:t>In summary you have learnt that the input and output devices:</a:t>
            </a:r>
          </a:p>
          <a:p>
            <a:pPr marL="714375" algn="just">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Play a great role in enhancing business decision taking, through outputting of information.</a:t>
            </a:r>
          </a:p>
          <a:p>
            <a:pPr marL="714375" algn="just">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Are of different types and technology.</a:t>
            </a:r>
          </a:p>
          <a:p>
            <a:pPr marL="714375" algn="just">
              <a:lnSpc>
                <a:spcPct val="200000"/>
              </a:lnSpc>
              <a:buFont typeface="Wingdings" panose="05000000000000000000" pitchFamily="2" charset="2"/>
              <a:buChar char="Ø"/>
            </a:pPr>
            <a:r>
              <a:rPr lang="en-US" sz="2400" b="0" i="0" u="none" strike="noStrike" baseline="0" dirty="0">
                <a:latin typeface="Times New Roman" panose="02020603050405020304" pitchFamily="18" charset="0"/>
              </a:rPr>
              <a:t>Transform data in machine form, to human understandable forms e.g. text and pictures.</a:t>
            </a:r>
            <a:endParaRPr lang="en-US" sz="24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9721250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7200" b="1" kern="0" dirty="0"/>
              <a:t>EXERCISE</a:t>
            </a:r>
          </a:p>
        </p:txBody>
      </p:sp>
      <p:sp>
        <p:nvSpPr>
          <p:cNvPr id="5" name="Rectangle 3"/>
          <p:cNvSpPr txBox="1">
            <a:spLocks noChangeArrowheads="1"/>
          </p:cNvSpPr>
          <p:nvPr/>
        </p:nvSpPr>
        <p:spPr bwMode="auto">
          <a:xfrm>
            <a:off x="634392" y="1484784"/>
            <a:ext cx="7875215"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l">
              <a:lnSpc>
                <a:spcPct val="200000"/>
              </a:lnSpc>
              <a:buNone/>
            </a:pPr>
            <a:r>
              <a:rPr lang="en-US" b="0" i="0" u="none" strike="noStrike" baseline="0" dirty="0">
                <a:latin typeface="Times New Roman" panose="02020603050405020304" pitchFamily="18" charset="0"/>
              </a:rPr>
              <a:t>a. Briefly define an output device.</a:t>
            </a:r>
          </a:p>
          <a:p>
            <a:pPr marL="0" indent="0" algn="l">
              <a:lnSpc>
                <a:spcPct val="200000"/>
              </a:lnSpc>
              <a:buNone/>
            </a:pPr>
            <a:r>
              <a:rPr lang="en-US" b="0" i="0" u="none" strike="noStrike" baseline="0" dirty="0">
                <a:latin typeface="Times New Roman" panose="02020603050405020304" pitchFamily="18" charset="0"/>
              </a:rPr>
              <a:t>b. Discuss the use of a data project and list its types.</a:t>
            </a:r>
          </a:p>
          <a:p>
            <a:pPr marL="0" indent="0" algn="l">
              <a:lnSpc>
                <a:spcPct val="200000"/>
              </a:lnSpc>
              <a:buNone/>
            </a:pPr>
            <a:r>
              <a:rPr lang="en-US" b="0" i="0" u="none" strike="noStrike" baseline="0" dirty="0">
                <a:latin typeface="Times New Roman" panose="02020603050405020304" pitchFamily="18" charset="0"/>
              </a:rPr>
              <a:t>c. What does RGB stands for in a monitor?</a:t>
            </a:r>
          </a:p>
          <a:p>
            <a:pPr marL="0" indent="0" algn="l">
              <a:lnSpc>
                <a:spcPct val="200000"/>
              </a:lnSpc>
              <a:buNone/>
            </a:pPr>
            <a:r>
              <a:rPr lang="en-US" b="0" i="0" u="none" strike="noStrike" baseline="0" dirty="0">
                <a:latin typeface="Times New Roman" panose="02020603050405020304" pitchFamily="18" charset="0"/>
              </a:rPr>
              <a:t>d. Define the following: film recorder, speaker and laser printer.</a:t>
            </a:r>
          </a:p>
        </p:txBody>
      </p:sp>
    </p:spTree>
    <p:extLst>
      <p:ext uri="{BB962C8B-B14F-4D97-AF65-F5344CB8AC3E}">
        <p14:creationId xmlns:p14="http://schemas.microsoft.com/office/powerpoint/2010/main" val="17411717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defRPr/>
            </a:pPr>
            <a:r>
              <a:rPr lang="en-US" sz="3600" b="1" dirty="0">
                <a:latin typeface="Comic Sans MS" panose="030F0702030302020204" pitchFamily="66" charset="0"/>
              </a:rPr>
              <a:t>Assignment/Project 1c </a:t>
            </a:r>
            <a:br>
              <a:rPr lang="en-US" sz="3600" b="1" dirty="0">
                <a:latin typeface="Comic Sans MS" panose="030F0702030302020204" pitchFamily="66" charset="0"/>
              </a:rPr>
            </a:br>
            <a:r>
              <a:rPr lang="en-US" sz="3600" b="1" dirty="0">
                <a:latin typeface="Comic Sans MS" panose="030F0702030302020204" pitchFamily="66" charset="0"/>
              </a:rPr>
              <a:t>Presentation Outline</a:t>
            </a:r>
            <a:r>
              <a:rPr lang="en-GB" sz="3600" b="1" dirty="0">
                <a:latin typeface="Comic Sans MS" panose="030F0702030302020204" pitchFamily="66" charset="0"/>
              </a:rPr>
              <a:t>  </a:t>
            </a:r>
          </a:p>
        </p:txBody>
      </p:sp>
      <p:sp>
        <p:nvSpPr>
          <p:cNvPr id="5" name="Rectangle 3"/>
          <p:cNvSpPr txBox="1">
            <a:spLocks noChangeArrowheads="1"/>
          </p:cNvSpPr>
          <p:nvPr/>
        </p:nvSpPr>
        <p:spPr bwMode="auto">
          <a:xfrm>
            <a:off x="611560" y="1484784"/>
            <a:ext cx="7931224"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buNone/>
            </a:pPr>
            <a:r>
              <a:rPr lang="en-US" sz="3200" b="1" i="0" u="none" strike="noStrike" baseline="0" dirty="0">
                <a:latin typeface="Times New Roman" panose="02020603050405020304" pitchFamily="18" charset="0"/>
              </a:rPr>
              <a:t>STORAGE DEVICES AND MEMORY</a:t>
            </a:r>
          </a:p>
          <a:p>
            <a:pPr marL="714375">
              <a:lnSpc>
                <a:spcPct val="150000"/>
              </a:lnSpc>
              <a:buFont typeface="Wingdings" panose="05000000000000000000" pitchFamily="2" charset="2"/>
              <a:buChar char="q"/>
            </a:pPr>
            <a:r>
              <a:rPr lang="en-US" sz="2100" b="1" kern="0" dirty="0"/>
              <a:t>Storage </a:t>
            </a:r>
          </a:p>
          <a:p>
            <a:pPr marL="1257300">
              <a:lnSpc>
                <a:spcPct val="150000"/>
              </a:lnSpc>
              <a:buFont typeface="Wingdings" panose="05000000000000000000" pitchFamily="2" charset="2"/>
              <a:buChar char="Ø"/>
            </a:pPr>
            <a:r>
              <a:rPr lang="en-US" sz="2100" b="1" kern="0" dirty="0"/>
              <a:t>Characteristics</a:t>
            </a:r>
          </a:p>
          <a:p>
            <a:pPr marL="714375">
              <a:lnSpc>
                <a:spcPct val="150000"/>
              </a:lnSpc>
              <a:buFont typeface="Wingdings" panose="05000000000000000000" pitchFamily="2" charset="2"/>
              <a:buChar char="q"/>
            </a:pPr>
            <a:r>
              <a:rPr lang="en-US" sz="2100" b="1" kern="0" dirty="0"/>
              <a:t>Types of Storage</a:t>
            </a:r>
          </a:p>
          <a:p>
            <a:pPr marL="714375">
              <a:lnSpc>
                <a:spcPct val="150000"/>
              </a:lnSpc>
              <a:buFont typeface="Wingdings" panose="05000000000000000000" pitchFamily="2" charset="2"/>
              <a:buChar char="q"/>
            </a:pPr>
            <a:r>
              <a:rPr lang="en-US" sz="2100" b="1" kern="0" dirty="0"/>
              <a:t>Storage Technologies</a:t>
            </a:r>
          </a:p>
          <a:p>
            <a:pPr marL="714375">
              <a:lnSpc>
                <a:spcPct val="150000"/>
              </a:lnSpc>
              <a:buFont typeface="Wingdings" panose="05000000000000000000" pitchFamily="2" charset="2"/>
              <a:buChar char="q"/>
            </a:pPr>
            <a:r>
              <a:rPr lang="en-US" sz="2100" b="1" kern="0" dirty="0"/>
              <a:t>Other Magnetic Disk Storage Systems</a:t>
            </a:r>
          </a:p>
          <a:p>
            <a:pPr marL="714375">
              <a:lnSpc>
                <a:spcPct val="150000"/>
              </a:lnSpc>
              <a:buFont typeface="Wingdings" panose="05000000000000000000" pitchFamily="2" charset="2"/>
              <a:buChar char="q"/>
            </a:pPr>
            <a:r>
              <a:rPr lang="en-US" sz="2100" b="1" kern="0" dirty="0"/>
              <a:t>Memory</a:t>
            </a:r>
          </a:p>
          <a:p>
            <a:pPr marL="714375">
              <a:lnSpc>
                <a:spcPct val="150000"/>
              </a:lnSpc>
              <a:buFont typeface="Wingdings" panose="05000000000000000000" pitchFamily="2" charset="2"/>
              <a:buChar char="q"/>
            </a:pPr>
            <a:r>
              <a:rPr lang="en-US" sz="2100" b="1" kern="0" dirty="0"/>
              <a:t>The Differences between Storage and Memory</a:t>
            </a:r>
          </a:p>
        </p:txBody>
      </p:sp>
    </p:spTree>
    <p:extLst>
      <p:ext uri="{BB962C8B-B14F-4D97-AF65-F5344CB8AC3E}">
        <p14:creationId xmlns:p14="http://schemas.microsoft.com/office/powerpoint/2010/main" val="7080912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8000" b="1" i="0" u="none" strike="noStrike" baseline="0" dirty="0">
                <a:latin typeface="Times New Roman" panose="02020603050405020304" pitchFamily="18" charset="0"/>
              </a:rPr>
              <a:t>OBJECTIVES</a:t>
            </a:r>
            <a:endParaRPr lang="en-US" sz="8000" b="1" kern="0" dirty="0"/>
          </a:p>
        </p:txBody>
      </p:sp>
      <p:sp>
        <p:nvSpPr>
          <p:cNvPr id="5" name="Rectangle 3"/>
          <p:cNvSpPr txBox="1">
            <a:spLocks noChangeArrowheads="1"/>
          </p:cNvSpPr>
          <p:nvPr/>
        </p:nvSpPr>
        <p:spPr bwMode="auto">
          <a:xfrm>
            <a:off x="490377" y="1484784"/>
            <a:ext cx="8114071"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lnSpc>
                <a:spcPct val="200000"/>
              </a:lnSpc>
            </a:pPr>
            <a:r>
              <a:rPr lang="en-US" sz="2100" b="0" i="0" u="none" strike="noStrike" baseline="0" dirty="0">
                <a:latin typeface="Times New Roman" panose="02020603050405020304" pitchFamily="18" charset="0"/>
              </a:rPr>
              <a:t>At the end of this unit, you are expected to:</a:t>
            </a:r>
          </a:p>
          <a:p>
            <a:pPr marL="714375" algn="l">
              <a:lnSpc>
                <a:spcPct val="200000"/>
              </a:lnSpc>
              <a:buFont typeface="Wingdings" panose="05000000000000000000" pitchFamily="2" charset="2"/>
              <a:buChar char="Ø"/>
            </a:pPr>
            <a:r>
              <a:rPr lang="en-US" sz="2100" b="0" i="0" u="none" strike="noStrike" baseline="0" dirty="0">
                <a:latin typeface="Times New Roman" panose="02020603050405020304" pitchFamily="18" charset="0"/>
              </a:rPr>
              <a:t>Understand what storage is, types and technology</a:t>
            </a:r>
          </a:p>
          <a:p>
            <a:pPr marL="714375" algn="l">
              <a:lnSpc>
                <a:spcPct val="200000"/>
              </a:lnSpc>
              <a:buFont typeface="Wingdings" panose="05000000000000000000" pitchFamily="2" charset="2"/>
              <a:buChar char="Ø"/>
            </a:pPr>
            <a:r>
              <a:rPr lang="en-US" sz="2100" b="0" i="0" u="none" strike="noStrike" baseline="0" dirty="0">
                <a:latin typeface="Times New Roman" panose="02020603050405020304" pitchFamily="18" charset="0"/>
              </a:rPr>
              <a:t>Know the types of memory and their sizes.</a:t>
            </a:r>
          </a:p>
          <a:p>
            <a:pPr marL="714375" algn="l">
              <a:lnSpc>
                <a:spcPct val="200000"/>
              </a:lnSpc>
              <a:buFont typeface="Wingdings" panose="05000000000000000000" pitchFamily="2" charset="2"/>
              <a:buChar char="Ø"/>
            </a:pPr>
            <a:r>
              <a:rPr lang="en-US" sz="2100" b="0" i="0" u="none" strike="noStrike" baseline="0" dirty="0">
                <a:latin typeface="Times New Roman" panose="02020603050405020304" pitchFamily="18" charset="0"/>
              </a:rPr>
              <a:t>Identify the differences between storage and memory.</a:t>
            </a:r>
          </a:p>
          <a:p>
            <a:pPr marL="714375" algn="l">
              <a:lnSpc>
                <a:spcPct val="200000"/>
              </a:lnSpc>
              <a:buFont typeface="Wingdings" panose="05000000000000000000" pitchFamily="2" charset="2"/>
              <a:buChar char="Ø"/>
            </a:pPr>
            <a:r>
              <a:rPr lang="en-US" sz="2100" b="0" i="0" u="none" strike="noStrike" baseline="0" dirty="0">
                <a:latin typeface="Times New Roman" panose="02020603050405020304" pitchFamily="18" charset="0"/>
              </a:rPr>
              <a:t>Distinguish between primary storage (also called memory) and secondary storage (also called storage), and between RAM and ROM.</a:t>
            </a:r>
            <a:endParaRPr lang="en-US" sz="21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11672161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4624"/>
            <a:ext cx="8229600" cy="1368152"/>
          </a:xfrm>
        </p:spPr>
        <p:txBody>
          <a:bodyPr>
            <a:noAutofit/>
          </a:bodyPr>
          <a:lstStyle/>
          <a:p>
            <a:pPr algn="ctr"/>
            <a:r>
              <a:rPr lang="en-US" sz="8000" b="1" i="0" u="none" strike="noStrike" baseline="0" dirty="0">
                <a:latin typeface="Times New Roman" panose="02020603050405020304" pitchFamily="18" charset="0"/>
              </a:rPr>
              <a:t>CONCLUSION</a:t>
            </a:r>
            <a:endParaRPr lang="en-US" sz="8000" b="1" kern="0" dirty="0"/>
          </a:p>
        </p:txBody>
      </p:sp>
      <p:sp>
        <p:nvSpPr>
          <p:cNvPr id="5" name="Rectangle 3"/>
          <p:cNvSpPr txBox="1">
            <a:spLocks noChangeArrowheads="1"/>
          </p:cNvSpPr>
          <p:nvPr/>
        </p:nvSpPr>
        <p:spPr bwMode="auto">
          <a:xfrm>
            <a:off x="490377" y="1484784"/>
            <a:ext cx="8114071"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just">
              <a:lnSpc>
                <a:spcPct val="200000"/>
              </a:lnSpc>
              <a:buNone/>
            </a:pPr>
            <a:r>
              <a:rPr lang="en-US" sz="2400" b="0" i="0" u="none" strike="noStrike" baseline="0" dirty="0">
                <a:latin typeface="Times New Roman" panose="02020603050405020304" pitchFamily="18" charset="0"/>
              </a:rPr>
              <a:t>Storage and memory look similar but perform different tasks. Memory is used to load program files and is volatile, while storage are used to hold data permanently and to be retrieved for future use.</a:t>
            </a:r>
            <a:endParaRPr lang="en-US" sz="24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267058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4624"/>
            <a:ext cx="8229600" cy="1368152"/>
          </a:xfrm>
        </p:spPr>
        <p:txBody>
          <a:bodyPr>
            <a:noAutofit/>
          </a:bodyPr>
          <a:lstStyle/>
          <a:p>
            <a:pPr algn="ctr"/>
            <a:r>
              <a:rPr lang="en-US" sz="9600" b="1" i="0" u="none" strike="noStrike" baseline="0" dirty="0">
                <a:latin typeface="Times New Roman" panose="02020603050405020304" pitchFamily="18" charset="0"/>
              </a:rPr>
              <a:t>SUMMARY</a:t>
            </a:r>
            <a:endParaRPr lang="en-US" sz="9600" b="1" kern="0" dirty="0"/>
          </a:p>
        </p:txBody>
      </p:sp>
      <p:sp>
        <p:nvSpPr>
          <p:cNvPr id="5" name="Rectangle 3"/>
          <p:cNvSpPr txBox="1">
            <a:spLocks noChangeArrowheads="1"/>
          </p:cNvSpPr>
          <p:nvPr/>
        </p:nvSpPr>
        <p:spPr bwMode="auto">
          <a:xfrm>
            <a:off x="467544" y="1484784"/>
            <a:ext cx="8229600" cy="5328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l">
              <a:lnSpc>
                <a:spcPct val="200000"/>
              </a:lnSpc>
            </a:pPr>
            <a:r>
              <a:rPr lang="en-US" sz="1800" b="0" i="0" u="none" strike="noStrike" baseline="0" dirty="0">
                <a:latin typeface="Times New Roman" panose="02020603050405020304" pitchFamily="18" charset="0"/>
              </a:rPr>
              <a:t>In this unit, we learnt that the:</a:t>
            </a:r>
          </a:p>
          <a:p>
            <a:pPr marL="714375" algn="l">
              <a:lnSpc>
                <a:spcPct val="200000"/>
              </a:lnSpc>
              <a:buFont typeface="Wingdings" panose="05000000000000000000" pitchFamily="2" charset="2"/>
              <a:buChar char="Ø"/>
            </a:pPr>
            <a:r>
              <a:rPr lang="en-US" sz="1800" b="0" i="0" u="none" strike="noStrike" baseline="0" dirty="0">
                <a:latin typeface="Times New Roman" panose="02020603050405020304" pitchFamily="18" charset="0"/>
              </a:rPr>
              <a:t>• The functions of storage and memory are similar, they work in different ways.</a:t>
            </a:r>
          </a:p>
          <a:p>
            <a:pPr marL="714375" algn="l">
              <a:lnSpc>
                <a:spcPct val="200000"/>
              </a:lnSpc>
              <a:buFont typeface="Wingdings" panose="05000000000000000000" pitchFamily="2" charset="2"/>
              <a:buChar char="Ø"/>
            </a:pPr>
            <a:r>
              <a:rPr lang="en-US" sz="1800" b="0" i="0" u="none" strike="noStrike" baseline="0" dirty="0">
                <a:latin typeface="Times New Roman" panose="02020603050405020304" pitchFamily="18" charset="0"/>
              </a:rPr>
              <a:t>• The memory - serves the purpose of temporary storage (holding data and instruction) and also used to boot the computer system.</a:t>
            </a:r>
          </a:p>
          <a:p>
            <a:pPr marL="714375" algn="l">
              <a:lnSpc>
                <a:spcPct val="200000"/>
              </a:lnSpc>
              <a:buFont typeface="Wingdings" panose="05000000000000000000" pitchFamily="2" charset="2"/>
              <a:buChar char="Ø"/>
            </a:pPr>
            <a:r>
              <a:rPr lang="en-US" sz="1800" b="0" i="0" u="none" strike="noStrike" baseline="0" dirty="0">
                <a:latin typeface="Times New Roman" panose="02020603050405020304" pitchFamily="18" charset="0"/>
              </a:rPr>
              <a:t>• Storage come in different types, sizes, and are made of various technologies.</a:t>
            </a:r>
          </a:p>
          <a:p>
            <a:pPr marL="714375" algn="l">
              <a:lnSpc>
                <a:spcPct val="200000"/>
              </a:lnSpc>
              <a:buFont typeface="Wingdings" panose="05000000000000000000" pitchFamily="2" charset="2"/>
              <a:buChar char="Ø"/>
            </a:pPr>
            <a:r>
              <a:rPr lang="en-US" sz="1800" b="0" i="0" u="none" strike="noStrike" baseline="0" dirty="0">
                <a:latin typeface="Times New Roman" panose="02020603050405020304" pitchFamily="18" charset="0"/>
              </a:rPr>
              <a:t>• Storage can be used on a local area network- allowing different kinds of storage</a:t>
            </a:r>
          </a:p>
          <a:p>
            <a:pPr marL="714375" algn="l">
              <a:lnSpc>
                <a:spcPct val="200000"/>
              </a:lnSpc>
              <a:buFont typeface="Wingdings" panose="05000000000000000000" pitchFamily="2" charset="2"/>
              <a:buChar char="Ø"/>
            </a:pPr>
            <a:r>
              <a:rPr lang="en-US" sz="1800" b="0" i="0" u="none" strike="noStrike" baseline="0" dirty="0">
                <a:latin typeface="Times New Roman" panose="02020603050405020304" pitchFamily="18" charset="0"/>
              </a:rPr>
              <a:t>devices, such as tape drives and disk arrays, to be shared by all users through network servers.</a:t>
            </a:r>
            <a:endParaRPr lang="en-US" sz="2400" b="1"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20262572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56792"/>
          </a:xfrm>
        </p:spPr>
        <p:txBody>
          <a:bodyPr>
            <a:noAutofit/>
          </a:bodyPr>
          <a:lstStyle/>
          <a:p>
            <a:pPr algn="ctr"/>
            <a:r>
              <a:rPr lang="en-US" sz="7200" b="1" kern="0" dirty="0"/>
              <a:t>EXERCISE</a:t>
            </a:r>
          </a:p>
        </p:txBody>
      </p:sp>
      <p:sp>
        <p:nvSpPr>
          <p:cNvPr id="5" name="Rectangle 3"/>
          <p:cNvSpPr txBox="1">
            <a:spLocks noChangeArrowheads="1"/>
          </p:cNvSpPr>
          <p:nvPr/>
        </p:nvSpPr>
        <p:spPr bwMode="auto">
          <a:xfrm>
            <a:off x="634392" y="1484784"/>
            <a:ext cx="7875215"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l">
              <a:lnSpc>
                <a:spcPct val="150000"/>
              </a:lnSpc>
              <a:buNone/>
            </a:pPr>
            <a:r>
              <a:rPr lang="en-US" sz="2000" b="0" i="0" u="none" strike="noStrike" baseline="0" dirty="0">
                <a:latin typeface="Times New Roman" panose="02020603050405020304" pitchFamily="18" charset="0"/>
              </a:rPr>
              <a:t>a. What does SAN stands for in storage?</a:t>
            </a:r>
          </a:p>
          <a:p>
            <a:pPr marL="0" indent="0" algn="l">
              <a:lnSpc>
                <a:spcPct val="150000"/>
              </a:lnSpc>
              <a:buNone/>
            </a:pPr>
            <a:r>
              <a:rPr lang="en-US" sz="2000" b="0" i="0" u="none" strike="noStrike" baseline="0" dirty="0">
                <a:latin typeface="Times New Roman" panose="02020603050405020304" pitchFamily="18" charset="0"/>
              </a:rPr>
              <a:t>b. What are the other magnetic disk storage systems?</a:t>
            </a:r>
          </a:p>
          <a:p>
            <a:pPr marL="0" indent="0" algn="l">
              <a:lnSpc>
                <a:spcPct val="150000"/>
              </a:lnSpc>
              <a:buNone/>
            </a:pPr>
            <a:r>
              <a:rPr lang="en-US" sz="2000" b="0" i="0" u="none" strike="noStrike" baseline="0" dirty="0">
                <a:latin typeface="Times New Roman" panose="02020603050405020304" pitchFamily="18" charset="0"/>
              </a:rPr>
              <a:t>c. Is memory and storage the same? Explain.</a:t>
            </a:r>
          </a:p>
          <a:p>
            <a:pPr marL="0" indent="0" algn="l">
              <a:lnSpc>
                <a:spcPct val="150000"/>
              </a:lnSpc>
              <a:buNone/>
            </a:pPr>
            <a:r>
              <a:rPr lang="en-US" sz="2000" b="0" i="0" u="none" strike="noStrike" baseline="0" dirty="0">
                <a:latin typeface="Times New Roman" panose="02020603050405020304" pitchFamily="18" charset="0"/>
              </a:rPr>
              <a:t>d. What does the following means in memory?</a:t>
            </a:r>
          </a:p>
          <a:p>
            <a:pPr marL="714375"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Byte</a:t>
            </a:r>
          </a:p>
          <a:p>
            <a:pPr marL="714375"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Kilobyte/K-byte/KB/K.</a:t>
            </a:r>
          </a:p>
          <a:p>
            <a:pPr marL="714375"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Megabyte/M-byte/MB/Meg</a:t>
            </a:r>
          </a:p>
          <a:p>
            <a:pPr marL="714375"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Gigabyte/G-byte/GB/Gig</a:t>
            </a:r>
          </a:p>
          <a:p>
            <a:pPr marL="714375"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Terabyte/T-byte/TB</a:t>
            </a:r>
          </a:p>
          <a:p>
            <a:pPr marL="714375" algn="l">
              <a:lnSpc>
                <a:spcPct val="150000"/>
              </a:lnSpc>
              <a:buFont typeface="Wingdings" panose="05000000000000000000" pitchFamily="2" charset="2"/>
              <a:buChar char="Ø"/>
            </a:pPr>
            <a:r>
              <a:rPr lang="en-US" sz="2000" b="0" i="0" u="none" strike="noStrike" baseline="0" dirty="0">
                <a:latin typeface="Times New Roman" panose="02020603050405020304" pitchFamily="18" charset="0"/>
              </a:rPr>
              <a:t>Address</a:t>
            </a:r>
          </a:p>
        </p:txBody>
      </p:sp>
    </p:spTree>
    <p:extLst>
      <p:ext uri="{BB962C8B-B14F-4D97-AF65-F5344CB8AC3E}">
        <p14:creationId xmlns:p14="http://schemas.microsoft.com/office/powerpoint/2010/main" val="30149989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5</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374848" y="3140968"/>
            <a:ext cx="8382000" cy="216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3200" b="1" dirty="0">
                <a:latin typeface="Comic Sans MS" panose="030F0702030302020204" pitchFamily="66" charset="0"/>
              </a:rPr>
              <a:t>COMPUTER NETWORKS, NETWORKING TECHNOLOGIES AND COMMUNICATIONS NETWORKS</a:t>
            </a:r>
          </a:p>
        </p:txBody>
      </p:sp>
    </p:spTree>
    <p:extLst>
      <p:ext uri="{BB962C8B-B14F-4D97-AF65-F5344CB8AC3E}">
        <p14:creationId xmlns:p14="http://schemas.microsoft.com/office/powerpoint/2010/main" val="20632238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611560" y="1484784"/>
            <a:ext cx="7776864" cy="503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buFont typeface="Wingdings" panose="05000000000000000000" pitchFamily="2" charset="2"/>
              <a:buChar char="§"/>
            </a:pPr>
            <a:r>
              <a:rPr lang="en-US" sz="2100" kern="0" dirty="0"/>
              <a:t>Types of Network Connection</a:t>
            </a:r>
          </a:p>
          <a:p>
            <a:pPr>
              <a:lnSpc>
                <a:spcPct val="150000"/>
              </a:lnSpc>
              <a:buFont typeface="Wingdings" panose="05000000000000000000" pitchFamily="2" charset="2"/>
              <a:buChar char="§"/>
            </a:pPr>
            <a:r>
              <a:rPr lang="en-US" sz="2100" kern="0" dirty="0"/>
              <a:t>Basic Components of a Network</a:t>
            </a:r>
          </a:p>
          <a:p>
            <a:pPr marL="900113">
              <a:lnSpc>
                <a:spcPct val="150000"/>
              </a:lnSpc>
              <a:buFont typeface="Wingdings" panose="05000000000000000000" pitchFamily="2" charset="2"/>
              <a:buChar char="Ø"/>
            </a:pPr>
            <a:r>
              <a:rPr lang="en-US" sz="2100" kern="0" dirty="0"/>
              <a:t>Network Software</a:t>
            </a:r>
          </a:p>
          <a:p>
            <a:pPr marL="900113">
              <a:lnSpc>
                <a:spcPct val="150000"/>
              </a:lnSpc>
              <a:buFont typeface="Wingdings" panose="05000000000000000000" pitchFamily="2" charset="2"/>
              <a:buChar char="Ø"/>
            </a:pPr>
            <a:r>
              <a:rPr lang="en-US" sz="2100" kern="0" dirty="0"/>
              <a:t>Application Software</a:t>
            </a:r>
          </a:p>
          <a:p>
            <a:pPr marL="900113">
              <a:lnSpc>
                <a:spcPct val="150000"/>
              </a:lnSpc>
              <a:buFont typeface="Wingdings" panose="05000000000000000000" pitchFamily="2" charset="2"/>
              <a:buChar char="Ø"/>
            </a:pPr>
            <a:r>
              <a:rPr lang="en-US" sz="2100" kern="0" dirty="0"/>
              <a:t>Network Hardware</a:t>
            </a:r>
          </a:p>
          <a:p>
            <a:pPr marL="900113">
              <a:lnSpc>
                <a:spcPct val="150000"/>
              </a:lnSpc>
              <a:buFont typeface="Wingdings" panose="05000000000000000000" pitchFamily="2" charset="2"/>
              <a:buChar char="Ø"/>
            </a:pPr>
            <a:r>
              <a:rPr lang="en-US" sz="2100" kern="0" dirty="0"/>
              <a:t>Standards for Networks</a:t>
            </a:r>
          </a:p>
          <a:p>
            <a:pPr marL="900113">
              <a:lnSpc>
                <a:spcPct val="150000"/>
              </a:lnSpc>
              <a:buFont typeface="Wingdings" panose="05000000000000000000" pitchFamily="2" charset="2"/>
              <a:buChar char="Ø"/>
            </a:pPr>
            <a:r>
              <a:rPr lang="en-US" sz="2100" kern="0" dirty="0"/>
              <a:t>Networking Checklist</a:t>
            </a:r>
          </a:p>
        </p:txBody>
      </p:sp>
    </p:spTree>
    <p:extLst>
      <p:ext uri="{BB962C8B-B14F-4D97-AF65-F5344CB8AC3E}">
        <p14:creationId xmlns:p14="http://schemas.microsoft.com/office/powerpoint/2010/main" val="7866222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1_MIT809-Topic1</Template>
  <TotalTime>3989</TotalTime>
  <Words>2978</Words>
  <Application>Microsoft Office PowerPoint</Application>
  <PresentationFormat>On-screen Show (4:3)</PresentationFormat>
  <Paragraphs>336</Paragraphs>
  <Slides>51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ＭＳ Ｐゴシック</vt:lpstr>
      <vt:lpstr>ＭＳ Ｐゴシック</vt:lpstr>
      <vt:lpstr>Arial</vt:lpstr>
      <vt:lpstr>Comic Sans MS</vt:lpstr>
      <vt:lpstr>Garamond</vt:lpstr>
      <vt:lpstr>Times New Roman</vt:lpstr>
      <vt:lpstr>Verdana</vt:lpstr>
      <vt:lpstr>Wingdings</vt:lpstr>
      <vt:lpstr>Level</vt:lpstr>
      <vt:lpstr>PowerPoint Presentation</vt:lpstr>
      <vt:lpstr>PowerPoint Presentation</vt:lpstr>
      <vt:lpstr>Course Schedule </vt:lpstr>
      <vt:lpstr>Learning Outcomes</vt:lpstr>
      <vt:lpstr>Course Contents</vt:lpstr>
      <vt:lpstr>Course Module</vt:lpstr>
      <vt:lpstr>Course Outline</vt:lpstr>
      <vt:lpstr>Books and References</vt:lpstr>
      <vt:lpstr>Pre-Requisite </vt:lpstr>
      <vt:lpstr>Course Evaluation</vt:lpstr>
      <vt:lpstr>PowerPoint Presentation</vt:lpstr>
      <vt:lpstr>Presentation Outline  </vt:lpstr>
      <vt:lpstr>THE SYSTEM UNIT</vt:lpstr>
      <vt:lpstr>THE PROCESSOR</vt:lpstr>
      <vt:lpstr>FUNCTIONS OF THE CENTRAL PROCESSING UNIT (CPU)</vt:lpstr>
      <vt:lpstr>PROCESSOR CHIPS</vt:lpstr>
      <vt:lpstr>PROCESSOR CHIPS</vt:lpstr>
      <vt:lpstr>PROCESSOR CHIPS</vt:lpstr>
      <vt:lpstr>PROCESSOR CHIPS</vt:lpstr>
      <vt:lpstr>PROCESSOR CHIPS</vt:lpstr>
      <vt:lpstr>THE PROCESSING SEQUENCE</vt:lpstr>
      <vt:lpstr>THE PROCESSING SEQUENCE</vt:lpstr>
      <vt:lpstr>PROCESSOR SPEED</vt:lpstr>
      <vt:lpstr>DETERMINING PROCESSOR SPEED</vt:lpstr>
      <vt:lpstr>DETERMINING PROCESSOR SPEED</vt:lpstr>
      <vt:lpstr>DETERMINING PROCESSOR SPEED</vt:lpstr>
      <vt:lpstr>THE TWO TYPES OF BUS</vt:lpstr>
      <vt:lpstr>THE TWO TYPES OF BUS</vt:lpstr>
      <vt:lpstr>ADD-IN BOARDS</vt:lpstr>
      <vt:lpstr>ADD-IN BOARDS</vt:lpstr>
      <vt:lpstr>CONCLUSION</vt:lpstr>
      <vt:lpstr>SUMMARY</vt:lpstr>
      <vt:lpstr>EXERCISE</vt:lpstr>
      <vt:lpstr>PowerPoint Presentation</vt:lpstr>
      <vt:lpstr>Assignment/Project 1a  Presentation Outline  </vt:lpstr>
      <vt:lpstr>OBJECTIVES</vt:lpstr>
      <vt:lpstr>CONCLUSION</vt:lpstr>
      <vt:lpstr>SUMMARY</vt:lpstr>
      <vt:lpstr>EXERCISE</vt:lpstr>
      <vt:lpstr>Assignment/Project 1b  Presentation Outline  </vt:lpstr>
      <vt:lpstr>OBJECTIVES</vt:lpstr>
      <vt:lpstr>CONCLUSION</vt:lpstr>
      <vt:lpstr>SUMMARY</vt:lpstr>
      <vt:lpstr>EXERCISE</vt:lpstr>
      <vt:lpstr>Assignment/Project 1c  Presentation Outline  </vt:lpstr>
      <vt:lpstr>OBJECTIVES</vt:lpstr>
      <vt:lpstr>CONCLUSION</vt:lpstr>
      <vt:lpstr>SUMMARY</vt:lpstr>
      <vt:lpstr>EXERCISE</vt:lpstr>
      <vt:lpstr>PowerPoint Presentation</vt:lpstr>
      <vt:lpstr>Presentation Outline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CISE 301</dc:subject>
  <dc:creator>Administrator</dc:creator>
  <cp:lastModifiedBy>Administrator</cp:lastModifiedBy>
  <cp:revision>471</cp:revision>
  <dcterms:created xsi:type="dcterms:W3CDTF">2022-01-09T18:11:19Z</dcterms:created>
  <dcterms:modified xsi:type="dcterms:W3CDTF">2025-12-08T08:27:25Z</dcterms:modified>
</cp:coreProperties>
</file>