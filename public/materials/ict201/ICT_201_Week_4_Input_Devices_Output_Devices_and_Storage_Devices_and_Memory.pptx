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30"/>
  </p:notesMasterIdLst>
  <p:handoutMasterIdLst>
    <p:handoutMasterId r:id="rId31"/>
  </p:handoutMasterIdLst>
  <p:sldIdLst>
    <p:sldId id="256" r:id="rId2"/>
    <p:sldId id="526" r:id="rId3"/>
    <p:sldId id="527" r:id="rId4"/>
    <p:sldId id="879" r:id="rId5"/>
    <p:sldId id="519" r:id="rId6"/>
    <p:sldId id="878" r:id="rId7"/>
    <p:sldId id="915" r:id="rId8"/>
    <p:sldId id="880" r:id="rId9"/>
    <p:sldId id="514" r:id="rId10"/>
    <p:sldId id="565" r:id="rId11"/>
    <p:sldId id="991" r:id="rId12"/>
    <p:sldId id="992" r:id="rId13"/>
    <p:sldId id="993" r:id="rId14"/>
    <p:sldId id="995" r:id="rId15"/>
    <p:sldId id="996" r:id="rId16"/>
    <p:sldId id="997" r:id="rId17"/>
    <p:sldId id="994" r:id="rId18"/>
    <p:sldId id="1000" r:id="rId19"/>
    <p:sldId id="1001" r:id="rId20"/>
    <p:sldId id="1002" r:id="rId21"/>
    <p:sldId id="1003" r:id="rId22"/>
    <p:sldId id="999" r:id="rId23"/>
    <p:sldId id="1004" r:id="rId24"/>
    <p:sldId id="1005" r:id="rId25"/>
    <p:sldId id="1006" r:id="rId26"/>
    <p:sldId id="1007" r:id="rId27"/>
    <p:sldId id="1008" r:id="rId28"/>
    <p:sldId id="1009" r:id="rId29"/>
  </p:sldIdLst>
  <p:sldSz cx="9144000" cy="6858000" type="screen4x3"/>
  <p:notesSz cx="7315200" cy="9601200"/>
  <p:custDataLst>
    <p:tags r:id="rId32"/>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12/10/2025</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12/10/2025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12/10/2025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12/10/2025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12/10/2025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12/10/2025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12/10/2025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12/10/2025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12/10/2025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12/10/2025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12/10/2025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12/10/2025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12/10/2025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12/10/2025</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and World Wide Web</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4</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527248" y="4797152"/>
            <a:ext cx="8229600"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600" b="1" dirty="0">
                <a:latin typeface="Comic Sans MS" panose="030F0702030302020204" pitchFamily="66" charset="0"/>
              </a:rPr>
              <a:t>INPUT DEVICES, OUTPUT DEVICES AND STORAGE DEVICES AND </a:t>
            </a:r>
            <a:r>
              <a:rPr lang="en-US" sz="3600" b="1" dirty="0" smtClean="0">
                <a:latin typeface="Comic Sans MS" panose="030F0702030302020204" pitchFamily="66" charset="0"/>
              </a:rPr>
              <a:t>MEMORY</a:t>
            </a:r>
          </a:p>
          <a:p>
            <a:pPr marL="14288">
              <a:lnSpc>
                <a:spcPct val="150000"/>
              </a:lnSpc>
            </a:pPr>
            <a:r>
              <a:rPr lang="en-US" sz="3600" b="1" dirty="0" smtClean="0">
                <a:latin typeface="Comic Sans MS" panose="030F0702030302020204" pitchFamily="66" charset="0"/>
              </a:rPr>
              <a:t>Add Table 1 and 2</a:t>
            </a:r>
            <a:endParaRPr lang="en-US" sz="3600" b="1" dirty="0">
              <a:latin typeface="Comic Sans MS" panose="030F0702030302020204" pitchFamily="66" charset="0"/>
            </a:endParaRPr>
          </a:p>
        </p:txBody>
      </p:sp>
    </p:spTree>
    <p:extLst>
      <p:ext uri="{BB962C8B-B14F-4D97-AF65-F5344CB8AC3E}">
        <p14:creationId xmlns:p14="http://schemas.microsoft.com/office/powerpoint/2010/main" val="1687654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3600" b="1" dirty="0">
                <a:latin typeface="Comic Sans MS" panose="030F0702030302020204" pitchFamily="66" charset="0"/>
              </a:rPr>
              <a:t>Assignment/Project 1a </a:t>
            </a:r>
            <a:br>
              <a:rPr lang="en-US" sz="3600" b="1" dirty="0">
                <a:latin typeface="Comic Sans MS" panose="030F0702030302020204" pitchFamily="66" charset="0"/>
              </a:rPr>
            </a:br>
            <a:r>
              <a:rPr lang="en-US" sz="3600" b="1" dirty="0">
                <a:latin typeface="Comic Sans MS" panose="030F0702030302020204" pitchFamily="66" charset="0"/>
              </a:rPr>
              <a:t>Presentation Outline</a:t>
            </a:r>
            <a:r>
              <a:rPr lang="en-GB" sz="36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93122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buNone/>
            </a:pPr>
            <a:r>
              <a:rPr lang="en-US" sz="3200" b="1" i="0" u="none" strike="noStrike" baseline="0" dirty="0">
                <a:latin typeface="Times New Roman" panose="02020603050405020304" pitchFamily="18" charset="0"/>
              </a:rPr>
              <a:t>INPUT DEVICES</a:t>
            </a:r>
            <a:endParaRPr lang="en-US" sz="3200" b="1" kern="0" dirty="0"/>
          </a:p>
          <a:p>
            <a:pPr>
              <a:buFont typeface="Wingdings" panose="05000000000000000000" pitchFamily="2" charset="2"/>
              <a:buChar char="q"/>
            </a:pPr>
            <a:r>
              <a:rPr lang="en-US" sz="1700" b="1" kern="0" dirty="0"/>
              <a:t>Interaction with Computers Using Input Devices</a:t>
            </a:r>
          </a:p>
          <a:p>
            <a:pPr marL="900113">
              <a:buFont typeface="Wingdings" panose="05000000000000000000" pitchFamily="2" charset="2"/>
              <a:buChar char="Ø"/>
            </a:pPr>
            <a:r>
              <a:rPr lang="en-US" sz="1700" b="1" kern="0" dirty="0"/>
              <a:t>Keyboard</a:t>
            </a:r>
          </a:p>
          <a:p>
            <a:pPr marL="900113">
              <a:buFont typeface="Wingdings" panose="05000000000000000000" pitchFamily="2" charset="2"/>
              <a:buChar char="Ø"/>
            </a:pPr>
            <a:r>
              <a:rPr lang="en-US" sz="1700" b="1" kern="0" dirty="0"/>
              <a:t>Terminal</a:t>
            </a:r>
          </a:p>
          <a:p>
            <a:pPr marL="900113">
              <a:buFont typeface="Wingdings" panose="05000000000000000000" pitchFamily="2" charset="2"/>
              <a:buChar char="Ø"/>
            </a:pPr>
            <a:r>
              <a:rPr lang="en-US" sz="1700" b="1" kern="0" dirty="0"/>
              <a:t>Scanners</a:t>
            </a:r>
          </a:p>
          <a:p>
            <a:pPr marL="900113">
              <a:buFont typeface="Wingdings" panose="05000000000000000000" pitchFamily="2" charset="2"/>
              <a:buChar char="Ø"/>
            </a:pPr>
            <a:r>
              <a:rPr lang="en-US" sz="1700" b="1" kern="0" dirty="0"/>
              <a:t>Optical Character Recognition (OCR) </a:t>
            </a:r>
          </a:p>
          <a:p>
            <a:pPr marL="900113">
              <a:buFont typeface="Wingdings" panose="05000000000000000000" pitchFamily="2" charset="2"/>
              <a:buChar char="Ø"/>
            </a:pPr>
            <a:r>
              <a:rPr lang="en-US" sz="1700" b="1" kern="0" dirty="0"/>
              <a:t>Digitizers</a:t>
            </a:r>
          </a:p>
          <a:p>
            <a:pPr marL="900113">
              <a:buFont typeface="Wingdings" panose="05000000000000000000" pitchFamily="2" charset="2"/>
              <a:buChar char="Ø"/>
            </a:pPr>
            <a:r>
              <a:rPr lang="en-US" sz="1700" b="1" kern="0" dirty="0"/>
              <a:t>Pointing Devices</a:t>
            </a:r>
          </a:p>
          <a:p>
            <a:pPr marL="900113">
              <a:buFont typeface="Wingdings" panose="05000000000000000000" pitchFamily="2" charset="2"/>
              <a:buChar char="Ø"/>
            </a:pPr>
            <a:r>
              <a:rPr lang="en-US" sz="1700" b="1" kern="0" dirty="0"/>
              <a:t>Digitizing Table</a:t>
            </a:r>
          </a:p>
          <a:p>
            <a:pPr marL="900113">
              <a:buFont typeface="Wingdings" panose="05000000000000000000" pitchFamily="2" charset="2"/>
              <a:buChar char="Ø"/>
            </a:pPr>
            <a:r>
              <a:rPr lang="en-US" sz="1700" b="1" kern="0" dirty="0"/>
              <a:t>Digital Camera</a:t>
            </a:r>
          </a:p>
          <a:p>
            <a:pPr marL="900113">
              <a:buFont typeface="Wingdings" panose="05000000000000000000" pitchFamily="2" charset="2"/>
              <a:buChar char="Ø"/>
            </a:pPr>
            <a:r>
              <a:rPr lang="en-US" sz="1700" b="1" kern="0" dirty="0"/>
              <a:t>Digital Video Camcorders</a:t>
            </a:r>
          </a:p>
          <a:p>
            <a:pPr marL="900113">
              <a:buFont typeface="Wingdings" panose="05000000000000000000" pitchFamily="2" charset="2"/>
              <a:buChar char="Ø"/>
            </a:pPr>
            <a:r>
              <a:rPr lang="en-US" sz="1700" b="1" kern="0" dirty="0"/>
              <a:t>Voice and Sound Input Devices</a:t>
            </a:r>
          </a:p>
          <a:p>
            <a:pPr marL="900113">
              <a:buFont typeface="Wingdings" panose="05000000000000000000" pitchFamily="2" charset="2"/>
              <a:buChar char="Ø"/>
            </a:pPr>
            <a:r>
              <a:rPr lang="en-US" sz="1700" b="1" kern="0" dirty="0"/>
              <a:t>Bar Code </a:t>
            </a:r>
          </a:p>
          <a:p>
            <a:pPr marL="900113">
              <a:buFont typeface="Wingdings" panose="05000000000000000000" pitchFamily="2" charset="2"/>
              <a:buChar char="Ø"/>
            </a:pPr>
            <a:r>
              <a:rPr lang="en-US" sz="1700" b="1" kern="0" dirty="0"/>
              <a:t>Wand</a:t>
            </a:r>
          </a:p>
          <a:p>
            <a:pPr marL="900113">
              <a:buFont typeface="Wingdings" panose="05000000000000000000" pitchFamily="2" charset="2"/>
              <a:buChar char="Ø"/>
            </a:pPr>
            <a:r>
              <a:rPr lang="en-US" sz="1700" b="1" kern="0" dirty="0"/>
              <a:t>Multimedia</a:t>
            </a:r>
          </a:p>
          <a:p>
            <a:pPr>
              <a:buFont typeface="Wingdings" panose="05000000000000000000" pitchFamily="2" charset="2"/>
              <a:buChar char="q"/>
            </a:pPr>
            <a:r>
              <a:rPr lang="en-US" sz="1700" b="1" kern="0" dirty="0"/>
              <a:t>The Purpose of the Mouse</a:t>
            </a:r>
          </a:p>
        </p:txBody>
      </p:sp>
    </p:spTree>
    <p:extLst>
      <p:ext uri="{BB962C8B-B14F-4D97-AF65-F5344CB8AC3E}">
        <p14:creationId xmlns:p14="http://schemas.microsoft.com/office/powerpoint/2010/main" val="30599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8000" b="1" i="0" u="none" strike="noStrike" baseline="0" dirty="0">
                <a:latin typeface="Times New Roman" panose="02020603050405020304" pitchFamily="18" charset="0"/>
              </a:rPr>
              <a:t>OBJECTIVES</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150000"/>
              </a:lnSpc>
            </a:pPr>
            <a:r>
              <a:rPr lang="en-US" sz="2000" b="0" i="0" u="none" strike="noStrike" baseline="0" dirty="0">
                <a:latin typeface="Times New Roman" panose="02020603050405020304" pitchFamily="18" charset="0"/>
              </a:rPr>
              <a:t>At the end of this unit, you should be able to:</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Identify the six special key groups on a standard computer keyboard</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Name the functional keys on a keyboard</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Describe the purpose of a mouse and the role it plays in computing</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Identify other input devices apart from the mouse and keyboard</a:t>
            </a:r>
            <a:endParaRPr lang="en-US" sz="20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887793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8000" b="1" i="0" u="none" strike="noStrike" baseline="0" dirty="0">
                <a:latin typeface="Times New Roman" panose="02020603050405020304" pitchFamily="18" charset="0"/>
              </a:rPr>
              <a:t>CONCLUSION</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300" b="0" i="0" u="none" strike="noStrike" baseline="0" dirty="0">
                <a:latin typeface="Times New Roman" panose="02020603050405020304" pitchFamily="18" charset="0"/>
              </a:rPr>
              <a:t>Input Devices are devices which enable data, information and instructions to be transmitted into the Computer system. </a:t>
            </a:r>
          </a:p>
          <a:p>
            <a:pPr marL="0" indent="0" algn="just">
              <a:lnSpc>
                <a:spcPct val="200000"/>
              </a:lnSpc>
              <a:buNone/>
            </a:pPr>
            <a:r>
              <a:rPr lang="en-US" sz="2300" b="0" i="0" u="none" strike="noStrike" baseline="0" dirty="0">
                <a:latin typeface="Times New Roman" panose="02020603050405020304" pitchFamily="18" charset="0"/>
              </a:rPr>
              <a:t>They act as a gateway for receiving input usually in user understandable form from the outside world and convert it to machine understandable form which the Computer can understand.</a:t>
            </a:r>
            <a:endParaRPr lang="en-US" sz="23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171320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9600" b="1" i="0" u="none" strike="noStrike" baseline="0" dirty="0">
                <a:latin typeface="Times New Roman" panose="02020603050405020304" pitchFamily="18" charset="0"/>
              </a:rPr>
              <a:t>SUMMARY</a:t>
            </a:r>
            <a:endParaRPr lang="en-US" sz="9600" b="1" kern="0" dirty="0"/>
          </a:p>
        </p:txBody>
      </p:sp>
      <p:sp>
        <p:nvSpPr>
          <p:cNvPr id="5" name="Rectangle 3"/>
          <p:cNvSpPr txBox="1">
            <a:spLocks noChangeArrowheads="1"/>
          </p:cNvSpPr>
          <p:nvPr/>
        </p:nvSpPr>
        <p:spPr bwMode="auto">
          <a:xfrm>
            <a:off x="490377" y="1484784"/>
            <a:ext cx="8114071"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2400" b="0" i="0" u="none" strike="noStrike" baseline="0" dirty="0">
                <a:latin typeface="Times New Roman" panose="02020603050405020304" pitchFamily="18" charset="0"/>
              </a:rPr>
              <a:t>In summary you have learnt about:</a:t>
            </a:r>
          </a:p>
          <a:p>
            <a:pPr marL="900113"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The special keys on the keyboard</a:t>
            </a:r>
          </a:p>
          <a:p>
            <a:pPr marL="900113"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Purpose of the mouse</a:t>
            </a:r>
          </a:p>
          <a:p>
            <a:pPr marL="900113"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Other input devices, such as: scanning devices, image capturing devices, digitizing devices, audio input devices and assistive input devices.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505439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l">
              <a:lnSpc>
                <a:spcPct val="200000"/>
              </a:lnSpc>
              <a:buNone/>
            </a:pPr>
            <a:r>
              <a:rPr lang="en-US" sz="2300" b="0" i="0" u="none" strike="noStrike" baseline="0" dirty="0">
                <a:latin typeface="Times New Roman" panose="02020603050405020304" pitchFamily="18" charset="0"/>
              </a:rPr>
              <a:t>a. List three pointing devices</a:t>
            </a:r>
          </a:p>
          <a:p>
            <a:pPr marL="0" indent="0" algn="l">
              <a:lnSpc>
                <a:spcPct val="200000"/>
              </a:lnSpc>
              <a:buNone/>
            </a:pPr>
            <a:r>
              <a:rPr lang="en-US" sz="2300" b="0" i="0" u="none" strike="noStrike" baseline="0" dirty="0">
                <a:latin typeface="Times New Roman" panose="02020603050405020304" pitchFamily="18" charset="0"/>
              </a:rPr>
              <a:t>b. Which category of device is the Optical Character Recognition (OCR)?</a:t>
            </a:r>
          </a:p>
          <a:p>
            <a:pPr marL="0" indent="0" algn="l">
              <a:lnSpc>
                <a:spcPct val="200000"/>
              </a:lnSpc>
              <a:buNone/>
            </a:pPr>
            <a:r>
              <a:rPr lang="en-US" sz="2300" b="0" i="0" u="none" strike="noStrike" baseline="0" dirty="0">
                <a:latin typeface="Times New Roman" panose="02020603050405020304" pitchFamily="18" charset="0"/>
              </a:rPr>
              <a:t>c. What are the basic functions of a mouse?</a:t>
            </a:r>
          </a:p>
          <a:p>
            <a:pPr marL="0" indent="0" algn="l">
              <a:lnSpc>
                <a:spcPct val="200000"/>
              </a:lnSpc>
              <a:buNone/>
            </a:pPr>
            <a:r>
              <a:rPr lang="en-US" sz="2300" b="0" i="0" u="none" strike="noStrike" baseline="0" dirty="0">
                <a:latin typeface="Times New Roman" panose="02020603050405020304" pitchFamily="18" charset="0"/>
              </a:rPr>
              <a:t>d. What category of device is the joystick and what is it used for?</a:t>
            </a:r>
          </a:p>
        </p:txBody>
      </p:sp>
    </p:spTree>
    <p:extLst>
      <p:ext uri="{BB962C8B-B14F-4D97-AF65-F5344CB8AC3E}">
        <p14:creationId xmlns:p14="http://schemas.microsoft.com/office/powerpoint/2010/main" val="870352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3600" b="1" dirty="0">
                <a:latin typeface="Comic Sans MS" panose="030F0702030302020204" pitchFamily="66" charset="0"/>
              </a:rPr>
              <a:t>Assignment/Project 1b </a:t>
            </a:r>
            <a:br>
              <a:rPr lang="en-US" sz="3600" b="1" dirty="0">
                <a:latin typeface="Comic Sans MS" panose="030F0702030302020204" pitchFamily="66" charset="0"/>
              </a:rPr>
            </a:br>
            <a:r>
              <a:rPr lang="en-US" sz="3600" b="1" dirty="0">
                <a:latin typeface="Comic Sans MS" panose="030F0702030302020204" pitchFamily="66" charset="0"/>
              </a:rPr>
              <a:t>Presentation Outline</a:t>
            </a:r>
            <a:r>
              <a:rPr lang="en-GB" sz="3600" b="1" dirty="0">
                <a:latin typeface="Comic Sans MS" panose="030F0702030302020204" pitchFamily="66" charset="0"/>
              </a:rPr>
              <a:t>  </a:t>
            </a:r>
          </a:p>
        </p:txBody>
      </p:sp>
      <p:sp>
        <p:nvSpPr>
          <p:cNvPr id="5" name="Rectangle 3"/>
          <p:cNvSpPr txBox="1">
            <a:spLocks noChangeArrowheads="1"/>
          </p:cNvSpPr>
          <p:nvPr/>
        </p:nvSpPr>
        <p:spPr bwMode="auto">
          <a:xfrm>
            <a:off x="539552" y="1484784"/>
            <a:ext cx="793122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buNone/>
            </a:pPr>
            <a:r>
              <a:rPr lang="en-US" sz="3200" b="1" i="0" u="none" strike="noStrike" baseline="0" dirty="0">
                <a:latin typeface="Times New Roman" panose="02020603050405020304" pitchFamily="18" charset="0"/>
              </a:rPr>
              <a:t>OUTPUT DEVICES</a:t>
            </a:r>
            <a:endParaRPr lang="en-US" sz="3200" b="1" kern="0" dirty="0"/>
          </a:p>
          <a:p>
            <a:pPr>
              <a:lnSpc>
                <a:spcPct val="150000"/>
              </a:lnSpc>
              <a:buFont typeface="Wingdings" panose="05000000000000000000" pitchFamily="2" charset="2"/>
              <a:buChar char="q"/>
            </a:pPr>
            <a:r>
              <a:rPr lang="en-US" sz="2000" b="1" kern="0" dirty="0"/>
              <a:t>Output and Information Distribution Devices</a:t>
            </a:r>
          </a:p>
          <a:p>
            <a:pPr>
              <a:lnSpc>
                <a:spcPct val="150000"/>
              </a:lnSpc>
              <a:buFont typeface="Wingdings" panose="05000000000000000000" pitchFamily="2" charset="2"/>
              <a:buChar char="q"/>
            </a:pPr>
            <a:r>
              <a:rPr lang="en-US" sz="2000" b="1" kern="0" dirty="0"/>
              <a:t>Types of Output Devices</a:t>
            </a:r>
          </a:p>
          <a:p>
            <a:pPr marL="1071563">
              <a:lnSpc>
                <a:spcPct val="150000"/>
              </a:lnSpc>
              <a:buFont typeface="Wingdings" panose="05000000000000000000" pitchFamily="2" charset="2"/>
              <a:buChar char="Ø"/>
            </a:pPr>
            <a:r>
              <a:rPr lang="en-US" sz="2000" b="1" kern="0" dirty="0"/>
              <a:t>Visual Displays (Monitors) </a:t>
            </a:r>
          </a:p>
          <a:p>
            <a:pPr marL="1071563">
              <a:lnSpc>
                <a:spcPct val="150000"/>
              </a:lnSpc>
              <a:buFont typeface="Wingdings" panose="05000000000000000000" pitchFamily="2" charset="2"/>
              <a:buChar char="Ø"/>
            </a:pPr>
            <a:r>
              <a:rPr lang="en-US" sz="2000" b="1" kern="0" dirty="0"/>
              <a:t>Data Projector</a:t>
            </a:r>
          </a:p>
          <a:p>
            <a:pPr marL="1071563">
              <a:lnSpc>
                <a:spcPct val="150000"/>
              </a:lnSpc>
              <a:buFont typeface="Wingdings" panose="05000000000000000000" pitchFamily="2" charset="2"/>
              <a:buChar char="Ø"/>
            </a:pPr>
            <a:r>
              <a:rPr lang="en-US" sz="2000" b="1" kern="0" dirty="0"/>
              <a:t>Printers</a:t>
            </a:r>
          </a:p>
          <a:p>
            <a:pPr marL="1071563">
              <a:lnSpc>
                <a:spcPct val="150000"/>
              </a:lnSpc>
              <a:buFont typeface="Wingdings" panose="05000000000000000000" pitchFamily="2" charset="2"/>
              <a:buChar char="Ø"/>
            </a:pPr>
            <a:r>
              <a:rPr lang="en-US" sz="2000" b="1" kern="0" dirty="0"/>
              <a:t>Audio Response Unit</a:t>
            </a:r>
          </a:p>
          <a:p>
            <a:pPr marL="1071563">
              <a:lnSpc>
                <a:spcPct val="150000"/>
              </a:lnSpc>
              <a:buFont typeface="Wingdings" panose="05000000000000000000" pitchFamily="2" charset="2"/>
              <a:buChar char="Ø"/>
            </a:pPr>
            <a:r>
              <a:rPr lang="en-US" sz="2000" b="1" kern="0" dirty="0"/>
              <a:t>Television</a:t>
            </a:r>
          </a:p>
          <a:p>
            <a:pPr marL="1071563">
              <a:lnSpc>
                <a:spcPct val="150000"/>
              </a:lnSpc>
              <a:buFont typeface="Wingdings" panose="05000000000000000000" pitchFamily="2" charset="2"/>
              <a:buChar char="Ø"/>
            </a:pPr>
            <a:r>
              <a:rPr lang="en-US" sz="2000" b="1" kern="0" dirty="0"/>
              <a:t>Plotter</a:t>
            </a:r>
          </a:p>
          <a:p>
            <a:pPr marL="1071563">
              <a:lnSpc>
                <a:spcPct val="150000"/>
              </a:lnSpc>
              <a:buFont typeface="Wingdings" panose="05000000000000000000" pitchFamily="2" charset="2"/>
              <a:buChar char="Ø"/>
            </a:pPr>
            <a:r>
              <a:rPr lang="en-US" sz="2000" b="1" kern="0" dirty="0"/>
              <a:t>Film Recorder</a:t>
            </a:r>
          </a:p>
        </p:txBody>
      </p:sp>
    </p:spTree>
    <p:extLst>
      <p:ext uri="{BB962C8B-B14F-4D97-AF65-F5344CB8AC3E}">
        <p14:creationId xmlns:p14="http://schemas.microsoft.com/office/powerpoint/2010/main" val="2667090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8000" b="1" i="0" u="none" strike="noStrike" baseline="0" dirty="0">
                <a:latin typeface="Times New Roman" panose="02020603050405020304" pitchFamily="18" charset="0"/>
              </a:rPr>
              <a:t>OBJECTIVES</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2400" b="0" i="0" u="none" strike="noStrike" baseline="0" dirty="0">
                <a:latin typeface="Times New Roman" panose="02020603050405020304" pitchFamily="18" charset="0"/>
              </a:rPr>
              <a:t>At the end of this unit, you should be able to:</a:t>
            </a:r>
          </a:p>
          <a:p>
            <a:pPr marL="714375"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Define an Output device.</a:t>
            </a:r>
          </a:p>
          <a:p>
            <a:pPr marL="714375"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Identify the types of output devices and their properties.</a:t>
            </a:r>
          </a:p>
          <a:p>
            <a:pPr marL="714375"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State their various functions and uses in business.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993349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8000" b="1" i="0" u="none" strike="noStrike" baseline="0" dirty="0">
                <a:latin typeface="Times New Roman" panose="02020603050405020304" pitchFamily="18" charset="0"/>
              </a:rPr>
              <a:t>CONCLUSION</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400" b="0" i="0" u="none" strike="noStrike" baseline="0" dirty="0">
                <a:latin typeface="Times New Roman" panose="02020603050405020304" pitchFamily="18" charset="0"/>
              </a:rPr>
              <a:t>Output Device is a device that makes the results of processing available outside of the computer to be used in business decision making. </a:t>
            </a:r>
          </a:p>
          <a:p>
            <a:pPr marL="0" indent="0" algn="just">
              <a:lnSpc>
                <a:spcPct val="200000"/>
              </a:lnSpc>
              <a:buNone/>
            </a:pPr>
            <a:r>
              <a:rPr lang="en-US" sz="2400" b="0" i="0" u="none" strike="noStrike" baseline="0" dirty="0">
                <a:latin typeface="Times New Roman" panose="02020603050405020304" pitchFamily="18" charset="0"/>
              </a:rPr>
              <a:t>It brings out the information after the data has been processed.</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882190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9600" b="1" i="0" u="none" strike="noStrike" baseline="0" dirty="0">
                <a:latin typeface="Times New Roman" panose="02020603050405020304" pitchFamily="18" charset="0"/>
              </a:rPr>
              <a:t>SUMMARY</a:t>
            </a:r>
            <a:endParaRPr lang="en-US" sz="9600" b="1" kern="0" dirty="0"/>
          </a:p>
        </p:txBody>
      </p:sp>
      <p:sp>
        <p:nvSpPr>
          <p:cNvPr id="5" name="Rectangle 3"/>
          <p:cNvSpPr txBox="1">
            <a:spLocks noChangeArrowheads="1"/>
          </p:cNvSpPr>
          <p:nvPr/>
        </p:nvSpPr>
        <p:spPr bwMode="auto">
          <a:xfrm>
            <a:off x="467544" y="1484784"/>
            <a:ext cx="8229600"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400" b="0" i="0" u="none" strike="noStrike" baseline="0" dirty="0">
                <a:latin typeface="Times New Roman" panose="02020603050405020304" pitchFamily="18" charset="0"/>
              </a:rPr>
              <a:t>In summary you have learnt that the input and output devices:</a:t>
            </a:r>
          </a:p>
          <a:p>
            <a:pPr marL="714375" algn="just">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Play a great role in enhancing business decision taking, through outputting of information.</a:t>
            </a:r>
          </a:p>
          <a:p>
            <a:pPr marL="714375" algn="just">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Are of different types and technology.</a:t>
            </a:r>
          </a:p>
          <a:p>
            <a:pPr marL="714375" algn="just">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Transform data in machine form, to human understandable forms e.g. text and pictures.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972125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l">
              <a:lnSpc>
                <a:spcPct val="200000"/>
              </a:lnSpc>
              <a:buNone/>
            </a:pPr>
            <a:r>
              <a:rPr lang="en-US" b="0" i="0" u="none" strike="noStrike" baseline="0" dirty="0">
                <a:latin typeface="Times New Roman" panose="02020603050405020304" pitchFamily="18" charset="0"/>
              </a:rPr>
              <a:t>a. Briefly define an output device.</a:t>
            </a:r>
          </a:p>
          <a:p>
            <a:pPr marL="0" indent="0" algn="l">
              <a:lnSpc>
                <a:spcPct val="200000"/>
              </a:lnSpc>
              <a:buNone/>
            </a:pPr>
            <a:r>
              <a:rPr lang="en-US" b="0" i="0" u="none" strike="noStrike" baseline="0" dirty="0">
                <a:latin typeface="Times New Roman" panose="02020603050405020304" pitchFamily="18" charset="0"/>
              </a:rPr>
              <a:t>b. Discuss the use of a data project and list its types.</a:t>
            </a:r>
          </a:p>
          <a:p>
            <a:pPr marL="0" indent="0" algn="l">
              <a:lnSpc>
                <a:spcPct val="200000"/>
              </a:lnSpc>
              <a:buNone/>
            </a:pPr>
            <a:r>
              <a:rPr lang="en-US" b="0" i="0" u="none" strike="noStrike" baseline="0" dirty="0">
                <a:latin typeface="Times New Roman" panose="02020603050405020304" pitchFamily="18" charset="0"/>
              </a:rPr>
              <a:t>c. What does RGB stands for in a monitor?</a:t>
            </a:r>
          </a:p>
          <a:p>
            <a:pPr marL="0" indent="0" algn="l">
              <a:lnSpc>
                <a:spcPct val="200000"/>
              </a:lnSpc>
              <a:buNone/>
            </a:pPr>
            <a:r>
              <a:rPr lang="en-US" b="0" i="0" u="none" strike="noStrike" baseline="0" dirty="0">
                <a:latin typeface="Times New Roman" panose="02020603050405020304" pitchFamily="18" charset="0"/>
              </a:rPr>
              <a:t>d. Define the following: film recorder, speaker and laser printer.</a:t>
            </a:r>
          </a:p>
        </p:txBody>
      </p:sp>
    </p:spTree>
    <p:extLst>
      <p:ext uri="{BB962C8B-B14F-4D97-AF65-F5344CB8AC3E}">
        <p14:creationId xmlns:p14="http://schemas.microsoft.com/office/powerpoint/2010/main" val="1741171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3600" b="1" dirty="0">
                <a:latin typeface="Comic Sans MS" panose="030F0702030302020204" pitchFamily="66" charset="0"/>
              </a:rPr>
              <a:t>Assignment/Project 1c </a:t>
            </a:r>
            <a:br>
              <a:rPr lang="en-US" sz="3600" b="1" dirty="0">
                <a:latin typeface="Comic Sans MS" panose="030F0702030302020204" pitchFamily="66" charset="0"/>
              </a:rPr>
            </a:br>
            <a:r>
              <a:rPr lang="en-US" sz="3600" b="1" dirty="0">
                <a:latin typeface="Comic Sans MS" panose="030F0702030302020204" pitchFamily="66" charset="0"/>
              </a:rPr>
              <a:t>Presentation Outline</a:t>
            </a:r>
            <a:r>
              <a:rPr lang="en-GB" sz="36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93122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buNone/>
            </a:pPr>
            <a:r>
              <a:rPr lang="en-US" sz="3200" b="1" i="0" u="none" strike="noStrike" baseline="0" dirty="0">
                <a:latin typeface="Times New Roman" panose="02020603050405020304" pitchFamily="18" charset="0"/>
              </a:rPr>
              <a:t>STORAGE DEVICES AND MEMORY</a:t>
            </a:r>
          </a:p>
          <a:p>
            <a:pPr marL="714375">
              <a:lnSpc>
                <a:spcPct val="150000"/>
              </a:lnSpc>
              <a:buFont typeface="Wingdings" panose="05000000000000000000" pitchFamily="2" charset="2"/>
              <a:buChar char="q"/>
            </a:pPr>
            <a:r>
              <a:rPr lang="en-US" sz="2100" b="1" kern="0" dirty="0"/>
              <a:t>Storage </a:t>
            </a:r>
          </a:p>
          <a:p>
            <a:pPr marL="1257300">
              <a:lnSpc>
                <a:spcPct val="150000"/>
              </a:lnSpc>
              <a:buFont typeface="Wingdings" panose="05000000000000000000" pitchFamily="2" charset="2"/>
              <a:buChar char="Ø"/>
            </a:pPr>
            <a:r>
              <a:rPr lang="en-US" sz="2100" b="1" kern="0" dirty="0"/>
              <a:t>Characteristics</a:t>
            </a:r>
          </a:p>
          <a:p>
            <a:pPr marL="714375">
              <a:lnSpc>
                <a:spcPct val="150000"/>
              </a:lnSpc>
              <a:buFont typeface="Wingdings" panose="05000000000000000000" pitchFamily="2" charset="2"/>
              <a:buChar char="q"/>
            </a:pPr>
            <a:r>
              <a:rPr lang="en-US" sz="2100" b="1" kern="0" dirty="0"/>
              <a:t>Types of Storage</a:t>
            </a:r>
          </a:p>
          <a:p>
            <a:pPr marL="714375">
              <a:lnSpc>
                <a:spcPct val="150000"/>
              </a:lnSpc>
              <a:buFont typeface="Wingdings" panose="05000000000000000000" pitchFamily="2" charset="2"/>
              <a:buChar char="q"/>
            </a:pPr>
            <a:r>
              <a:rPr lang="en-US" sz="2100" b="1" kern="0" dirty="0"/>
              <a:t>Storage Technologies</a:t>
            </a:r>
          </a:p>
          <a:p>
            <a:pPr marL="714375">
              <a:lnSpc>
                <a:spcPct val="150000"/>
              </a:lnSpc>
              <a:buFont typeface="Wingdings" panose="05000000000000000000" pitchFamily="2" charset="2"/>
              <a:buChar char="q"/>
            </a:pPr>
            <a:r>
              <a:rPr lang="en-US" sz="2100" b="1" kern="0" dirty="0"/>
              <a:t>Other Magnetic Disk Storage Systems</a:t>
            </a:r>
          </a:p>
          <a:p>
            <a:pPr marL="714375">
              <a:lnSpc>
                <a:spcPct val="150000"/>
              </a:lnSpc>
              <a:buFont typeface="Wingdings" panose="05000000000000000000" pitchFamily="2" charset="2"/>
              <a:buChar char="q"/>
            </a:pPr>
            <a:r>
              <a:rPr lang="en-US" sz="2100" b="1" kern="0" dirty="0"/>
              <a:t>Memory</a:t>
            </a:r>
          </a:p>
          <a:p>
            <a:pPr marL="714375">
              <a:lnSpc>
                <a:spcPct val="150000"/>
              </a:lnSpc>
              <a:buFont typeface="Wingdings" panose="05000000000000000000" pitchFamily="2" charset="2"/>
              <a:buChar char="q"/>
            </a:pPr>
            <a:r>
              <a:rPr lang="en-US" sz="2100" b="1" kern="0" dirty="0"/>
              <a:t>The Differences between Storage and Memory</a:t>
            </a:r>
          </a:p>
        </p:txBody>
      </p:sp>
    </p:spTree>
    <p:extLst>
      <p:ext uri="{BB962C8B-B14F-4D97-AF65-F5344CB8AC3E}">
        <p14:creationId xmlns:p14="http://schemas.microsoft.com/office/powerpoint/2010/main" val="708091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8000" b="1" i="0" u="none" strike="noStrike" baseline="0" dirty="0">
                <a:latin typeface="Times New Roman" panose="02020603050405020304" pitchFamily="18" charset="0"/>
              </a:rPr>
              <a:t>OBJECTIVES</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2100" b="0" i="0" u="none" strike="noStrike" baseline="0" dirty="0">
                <a:latin typeface="Times New Roman" panose="02020603050405020304" pitchFamily="18" charset="0"/>
              </a:rPr>
              <a:t>At the end of this unit, you are expected to:</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Understand what storage is, types and technology</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Know the types of memory and their sizes.</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Identify the differences between storage and memory.</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Distinguish between primary storage (also called memory) and secondary storage (also called storage), and between RAM and ROM.</a:t>
            </a:r>
            <a:endParaRPr lang="en-US" sz="21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167216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8000" b="1" i="0" u="none" strike="noStrike" baseline="0" dirty="0">
                <a:latin typeface="Times New Roman" panose="02020603050405020304" pitchFamily="18" charset="0"/>
              </a:rPr>
              <a:t>CONCLUSION</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400" b="0" i="0" u="none" strike="noStrike" baseline="0" dirty="0">
                <a:latin typeface="Times New Roman" panose="02020603050405020304" pitchFamily="18" charset="0"/>
              </a:rPr>
              <a:t>Storage and memory look similar but perform different tasks. Memory is used to load program files and is volatile, while storage are used to hold data permanently and to be retrieved for future use.</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6705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9600" b="1" i="0" u="none" strike="noStrike" baseline="0" dirty="0">
                <a:latin typeface="Times New Roman" panose="02020603050405020304" pitchFamily="18" charset="0"/>
              </a:rPr>
              <a:t>SUMMARY</a:t>
            </a:r>
            <a:endParaRPr lang="en-US" sz="9600" b="1" kern="0" dirty="0"/>
          </a:p>
        </p:txBody>
      </p:sp>
      <p:sp>
        <p:nvSpPr>
          <p:cNvPr id="5" name="Rectangle 3"/>
          <p:cNvSpPr txBox="1">
            <a:spLocks noChangeArrowheads="1"/>
          </p:cNvSpPr>
          <p:nvPr/>
        </p:nvSpPr>
        <p:spPr bwMode="auto">
          <a:xfrm>
            <a:off x="467544" y="1484784"/>
            <a:ext cx="8229600" cy="532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1800" b="0" i="0" u="none" strike="noStrike" baseline="0" dirty="0">
                <a:latin typeface="Times New Roman" panose="02020603050405020304" pitchFamily="18" charset="0"/>
              </a:rPr>
              <a:t>In this unit, we learnt that the:</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The functions of storage and memory are similar, they work in different ways.</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The memory - serves the purpose of temporary storage (holding data and instruction) and also used to boot the computer system.</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Storage come in different types, sizes, and are made of various technologies.</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Storage can be used on a local area network- allowing different kinds of storage</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devices, such as tape drives and disk arrays, to be shared by all users through network servers.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026257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l">
              <a:lnSpc>
                <a:spcPct val="150000"/>
              </a:lnSpc>
              <a:buNone/>
            </a:pPr>
            <a:r>
              <a:rPr lang="en-US" sz="2000" b="0" i="0" u="none" strike="noStrike" baseline="0" dirty="0">
                <a:latin typeface="Times New Roman" panose="02020603050405020304" pitchFamily="18" charset="0"/>
              </a:rPr>
              <a:t>a. What does SAN stands for in storage?</a:t>
            </a:r>
          </a:p>
          <a:p>
            <a:pPr marL="0" indent="0" algn="l">
              <a:lnSpc>
                <a:spcPct val="150000"/>
              </a:lnSpc>
              <a:buNone/>
            </a:pPr>
            <a:r>
              <a:rPr lang="en-US" sz="2000" b="0" i="0" u="none" strike="noStrike" baseline="0" dirty="0">
                <a:latin typeface="Times New Roman" panose="02020603050405020304" pitchFamily="18" charset="0"/>
              </a:rPr>
              <a:t>b. What are the other magnetic disk storage systems?</a:t>
            </a:r>
          </a:p>
          <a:p>
            <a:pPr marL="0" indent="0" algn="l">
              <a:lnSpc>
                <a:spcPct val="150000"/>
              </a:lnSpc>
              <a:buNone/>
            </a:pPr>
            <a:r>
              <a:rPr lang="en-US" sz="2000" b="0" i="0" u="none" strike="noStrike" baseline="0" dirty="0">
                <a:latin typeface="Times New Roman" panose="02020603050405020304" pitchFamily="18" charset="0"/>
              </a:rPr>
              <a:t>c. Is memory and storage the same? Explain.</a:t>
            </a:r>
          </a:p>
          <a:p>
            <a:pPr marL="0" indent="0" algn="l">
              <a:lnSpc>
                <a:spcPct val="150000"/>
              </a:lnSpc>
              <a:buNone/>
            </a:pPr>
            <a:r>
              <a:rPr lang="en-US" sz="2000" b="0" i="0" u="none" strike="noStrike" baseline="0" dirty="0">
                <a:latin typeface="Times New Roman" panose="02020603050405020304" pitchFamily="18" charset="0"/>
              </a:rPr>
              <a:t>d. What does the following means in memory?</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Byte</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Kilobyte/K-byte/KB/K.</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Megabyte/M-byte/MB/Meg</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Gigabyte/G-byte/GB/Gig</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Terabyte/T-byte/TB</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Address</a:t>
            </a:r>
          </a:p>
        </p:txBody>
      </p:sp>
    </p:spTree>
    <p:extLst>
      <p:ext uri="{BB962C8B-B14F-4D97-AF65-F5344CB8AC3E}">
        <p14:creationId xmlns:p14="http://schemas.microsoft.com/office/powerpoint/2010/main" val="3014998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5</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140968"/>
            <a:ext cx="83820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200" b="1" dirty="0">
                <a:latin typeface="Comic Sans MS" panose="030F0702030302020204" pitchFamily="66" charset="0"/>
              </a:rPr>
              <a:t>COMPUTER NETWORKS, NETWORKING TECHNOLOGIES AND COMMUNICATIONS NETWORKS</a:t>
            </a:r>
          </a:p>
        </p:txBody>
      </p:sp>
    </p:spTree>
    <p:extLst>
      <p:ext uri="{BB962C8B-B14F-4D97-AF65-F5344CB8AC3E}">
        <p14:creationId xmlns:p14="http://schemas.microsoft.com/office/powerpoint/2010/main" val="2063223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buFont typeface="Wingdings" panose="05000000000000000000" pitchFamily="2" charset="2"/>
              <a:buChar char="§"/>
            </a:pPr>
            <a:r>
              <a:rPr lang="en-US" sz="2100" kern="0" dirty="0"/>
              <a:t>Types of Network Connection</a:t>
            </a:r>
          </a:p>
          <a:p>
            <a:pPr>
              <a:lnSpc>
                <a:spcPct val="150000"/>
              </a:lnSpc>
              <a:buFont typeface="Wingdings" panose="05000000000000000000" pitchFamily="2" charset="2"/>
              <a:buChar char="§"/>
            </a:pPr>
            <a:r>
              <a:rPr lang="en-US" sz="2100" kern="0" dirty="0"/>
              <a:t>Basic Components of a Network</a:t>
            </a:r>
          </a:p>
          <a:p>
            <a:pPr marL="900113">
              <a:lnSpc>
                <a:spcPct val="150000"/>
              </a:lnSpc>
              <a:buFont typeface="Wingdings" panose="05000000000000000000" pitchFamily="2" charset="2"/>
              <a:buChar char="Ø"/>
            </a:pPr>
            <a:r>
              <a:rPr lang="en-US" sz="2100" kern="0" dirty="0"/>
              <a:t>Network Software</a:t>
            </a:r>
          </a:p>
          <a:p>
            <a:pPr marL="900113">
              <a:lnSpc>
                <a:spcPct val="150000"/>
              </a:lnSpc>
              <a:buFont typeface="Wingdings" panose="05000000000000000000" pitchFamily="2" charset="2"/>
              <a:buChar char="Ø"/>
            </a:pPr>
            <a:r>
              <a:rPr lang="en-US" sz="2100" kern="0" dirty="0"/>
              <a:t>Application Software</a:t>
            </a:r>
          </a:p>
          <a:p>
            <a:pPr marL="900113">
              <a:lnSpc>
                <a:spcPct val="150000"/>
              </a:lnSpc>
              <a:buFont typeface="Wingdings" panose="05000000000000000000" pitchFamily="2" charset="2"/>
              <a:buChar char="Ø"/>
            </a:pPr>
            <a:r>
              <a:rPr lang="en-US" sz="2100" kern="0" dirty="0"/>
              <a:t>Network Hardware</a:t>
            </a:r>
          </a:p>
          <a:p>
            <a:pPr marL="900113">
              <a:lnSpc>
                <a:spcPct val="150000"/>
              </a:lnSpc>
              <a:buFont typeface="Wingdings" panose="05000000000000000000" pitchFamily="2" charset="2"/>
              <a:buChar char="Ø"/>
            </a:pPr>
            <a:r>
              <a:rPr lang="en-US" sz="2100" kern="0" dirty="0"/>
              <a:t>Standards for Networks</a:t>
            </a:r>
          </a:p>
          <a:p>
            <a:pPr marL="900113">
              <a:lnSpc>
                <a:spcPct val="150000"/>
              </a:lnSpc>
              <a:buFont typeface="Wingdings" panose="05000000000000000000" pitchFamily="2" charset="2"/>
              <a:buChar char="Ø"/>
            </a:pPr>
            <a:r>
              <a:rPr lang="en-US" sz="2100" kern="0" dirty="0"/>
              <a:t>Networking Checklist</a:t>
            </a:r>
          </a:p>
        </p:txBody>
      </p:sp>
    </p:spTree>
    <p:extLst>
      <p:ext uri="{BB962C8B-B14F-4D97-AF65-F5344CB8AC3E}">
        <p14:creationId xmlns:p14="http://schemas.microsoft.com/office/powerpoint/2010/main" val="7866222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3990</TotalTime>
  <Words>1554</Words>
  <Application>Microsoft Office PowerPoint</Application>
  <PresentationFormat>On-screen Show (4:3)</PresentationFormat>
  <Paragraphs>205</Paragraphs>
  <Slides>28</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Assignment/Project 1a  Presentation Outline  </vt:lpstr>
      <vt:lpstr>OBJECTIVES</vt:lpstr>
      <vt:lpstr>CONCLUSION</vt:lpstr>
      <vt:lpstr>SUMMARY</vt:lpstr>
      <vt:lpstr>EXERCISE</vt:lpstr>
      <vt:lpstr>Assignment/Project 1b  Presentation Outline  </vt:lpstr>
      <vt:lpstr>OBJECTIVES</vt:lpstr>
      <vt:lpstr>CONCLUSION</vt:lpstr>
      <vt:lpstr>SUMMARY</vt:lpstr>
      <vt:lpstr>EXERCISE</vt:lpstr>
      <vt:lpstr>Assignment/Project 1c  Presentation Outline  </vt:lpstr>
      <vt:lpstr>OBJECTIVES</vt:lpstr>
      <vt:lpstr>CONCLUSION</vt:lpstr>
      <vt:lpstr>SUMMARY</vt:lpstr>
      <vt:lpstr>EXERCISE</vt:lpstr>
      <vt:lpstr>PowerPoint Presentation</vt:lpstr>
      <vt:lpstr>Presentation Outline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472</cp:revision>
  <dcterms:created xsi:type="dcterms:W3CDTF">2022-01-09T18:11:19Z</dcterms:created>
  <dcterms:modified xsi:type="dcterms:W3CDTF">2025-12-10T19:12:49Z</dcterms:modified>
</cp:coreProperties>
</file>