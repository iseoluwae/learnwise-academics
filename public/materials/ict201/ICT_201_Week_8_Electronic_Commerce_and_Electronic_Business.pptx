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27"/>
  </p:notesMasterIdLst>
  <p:handoutMasterIdLst>
    <p:handoutMasterId r:id="rId28"/>
  </p:handoutMasterIdLst>
  <p:sldIdLst>
    <p:sldId id="256" r:id="rId2"/>
    <p:sldId id="526" r:id="rId3"/>
    <p:sldId id="527" r:id="rId4"/>
    <p:sldId id="879" r:id="rId5"/>
    <p:sldId id="519" r:id="rId6"/>
    <p:sldId id="878" r:id="rId7"/>
    <p:sldId id="915" r:id="rId8"/>
    <p:sldId id="880" r:id="rId9"/>
    <p:sldId id="514" r:id="rId10"/>
    <p:sldId id="565" r:id="rId11"/>
    <p:sldId id="1052" r:id="rId12"/>
    <p:sldId id="1053" r:id="rId13"/>
    <p:sldId id="1054" r:id="rId14"/>
    <p:sldId id="1093" r:id="rId15"/>
    <p:sldId id="1094" r:id="rId16"/>
    <p:sldId id="1095" r:id="rId17"/>
    <p:sldId id="1096" r:id="rId18"/>
    <p:sldId id="1097" r:id="rId19"/>
    <p:sldId id="1098" r:id="rId20"/>
    <p:sldId id="1099" r:id="rId21"/>
    <p:sldId id="1100" r:id="rId22"/>
    <p:sldId id="1101" r:id="rId23"/>
    <p:sldId id="1102" r:id="rId24"/>
    <p:sldId id="1072" r:id="rId25"/>
    <p:sldId id="1073" r:id="rId26"/>
  </p:sldIdLst>
  <p:sldSz cx="9144000" cy="6858000" type="screen4x3"/>
  <p:notesSz cx="7315200" cy="9601200"/>
  <p:custDataLst>
    <p:tags r:id="rId29"/>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4660"/>
  </p:normalViewPr>
  <p:slideViewPr>
    <p:cSldViewPr>
      <p:cViewPr varScale="1">
        <p:scale>
          <a:sx n="68" d="100"/>
          <a:sy n="68" d="100"/>
        </p:scale>
        <p:origin x="1224"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74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7"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77828"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9"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2ED81C8-EB9E-43D7-BE83-0805E619C0C7}" type="slidenum">
              <a:rPr lang="ar-SA" altLang="en-US"/>
              <a:pPr>
                <a:defRPr/>
              </a:pPr>
              <a:t>‹#›</a:t>
            </a:fld>
            <a:endParaRPr lang="en-US" altLang="en-US"/>
          </a:p>
        </p:txBody>
      </p:sp>
    </p:spTree>
    <p:extLst>
      <p:ext uri="{BB962C8B-B14F-4D97-AF65-F5344CB8AC3E}">
        <p14:creationId xmlns:p14="http://schemas.microsoft.com/office/powerpoint/2010/main" val="34095013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7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8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894A09FF-A2DA-476C-B039-18DBC396A5DF}" type="slidenum">
              <a:rPr lang="ar-SA" altLang="en-US"/>
              <a:pPr>
                <a:defRPr/>
              </a:pPr>
              <a:t>‹#›</a:t>
            </a:fld>
            <a:endParaRPr lang="en-US" altLang="en-US"/>
          </a:p>
        </p:txBody>
      </p:sp>
    </p:spTree>
    <p:extLst>
      <p:ext uri="{BB962C8B-B14F-4D97-AF65-F5344CB8AC3E}">
        <p14:creationId xmlns:p14="http://schemas.microsoft.com/office/powerpoint/2010/main" val="42809169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1</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1715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2</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471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3</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9537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4</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651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5</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58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6</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1957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7</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744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8</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1071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9</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6523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10</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5559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grpSp>
      <p:sp>
        <p:nvSpPr>
          <p:cNvPr id="97282"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9728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pPr>
              <a:defRPr/>
            </a:pPr>
            <a:fld id="{7A6A57B4-2DBC-4857-ABD2-C4E1F5AD309D}" type="datetime1">
              <a:rPr lang="en-US"/>
              <a:pPr>
                <a:defRPr/>
              </a:pPr>
              <a:t>2/2/2026</a:t>
            </a:fld>
            <a:endParaRPr lang="en-US"/>
          </a:p>
        </p:txBody>
      </p:sp>
      <p:sp>
        <p:nvSpPr>
          <p:cNvPr id="9" name="Rectangle 5"/>
          <p:cNvSpPr>
            <a:spLocks noGrp="1" noChangeArrowheads="1"/>
          </p:cNvSpPr>
          <p:nvPr>
            <p:ph type="ftr" sz="quarter" idx="11"/>
          </p:nvPr>
        </p:nvSpPr>
        <p:spPr/>
        <p:txBody>
          <a:bodyPr/>
          <a:lstStyle>
            <a:lvl1pPr>
              <a:defRPr/>
            </a:lvl1pPr>
          </a:lstStyle>
          <a:p>
            <a:pPr>
              <a:defRPr/>
            </a:pPr>
            <a:endParaRPr lang="en-US"/>
          </a:p>
        </p:txBody>
      </p:sp>
      <p:sp>
        <p:nvSpPr>
          <p:cNvPr id="10" name="Rectangle 6"/>
          <p:cNvSpPr>
            <a:spLocks noGrp="1" noChangeArrowheads="1"/>
          </p:cNvSpPr>
          <p:nvPr>
            <p:ph type="sldNum" sz="quarter" idx="12"/>
          </p:nvPr>
        </p:nvSpPr>
        <p:spPr/>
        <p:txBody>
          <a:bodyPr/>
          <a:lstStyle>
            <a:lvl1pPr>
              <a:defRPr/>
            </a:lvl1pPr>
          </a:lstStyle>
          <a:p>
            <a:pPr>
              <a:defRPr/>
            </a:pPr>
            <a:fld id="{5101CF6D-3A52-48B7-8F5A-BDD857CE30CD}" type="slidenum">
              <a:rPr lang="ar-SA" altLang="en-US"/>
              <a:pPr>
                <a:defRPr/>
              </a:pPr>
              <a:t>‹#›</a:t>
            </a:fld>
            <a:endParaRPr lang="en-US" altLang="en-US"/>
          </a:p>
        </p:txBody>
      </p:sp>
    </p:spTree>
    <p:extLst>
      <p:ext uri="{BB962C8B-B14F-4D97-AF65-F5344CB8AC3E}">
        <p14:creationId xmlns:p14="http://schemas.microsoft.com/office/powerpoint/2010/main" val="249926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4937C412-EF2B-42E7-B238-285F472DECCC}" type="datetime1">
              <a:rPr lang="en-US"/>
              <a:pPr>
                <a:defRPr/>
              </a:pPr>
              <a:t>2/2/2026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0D1010C-2F64-482A-AC10-0B9E85ACDB7D}" type="slidenum">
              <a:rPr lang="ar-SA" altLang="en-US"/>
              <a:pPr>
                <a:defRPr/>
              </a:pPr>
              <a:t>‹#›</a:t>
            </a:fld>
            <a:endParaRPr lang="en-US" altLang="en-US"/>
          </a:p>
        </p:txBody>
      </p:sp>
    </p:spTree>
    <p:extLst>
      <p:ext uri="{BB962C8B-B14F-4D97-AF65-F5344CB8AC3E}">
        <p14:creationId xmlns:p14="http://schemas.microsoft.com/office/powerpoint/2010/main" val="1916591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9C7A87A-2E13-4674-9FBB-5EF41D8D942C}" type="datetime1">
              <a:rPr lang="en-US"/>
              <a:pPr>
                <a:defRPr/>
              </a:pPr>
              <a:t>2/2/2026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D42B3B-252A-4661-ADF9-9BFE76F8F944}" type="slidenum">
              <a:rPr lang="ar-SA" altLang="en-US"/>
              <a:pPr>
                <a:defRPr/>
              </a:pPr>
              <a:t>‹#›</a:t>
            </a:fld>
            <a:endParaRPr lang="en-US" altLang="en-US"/>
          </a:p>
        </p:txBody>
      </p:sp>
    </p:spTree>
    <p:extLst>
      <p:ext uri="{BB962C8B-B14F-4D97-AF65-F5344CB8AC3E}">
        <p14:creationId xmlns:p14="http://schemas.microsoft.com/office/powerpoint/2010/main" val="1926285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E609DD42-A4AF-4E69-B741-E80403319C11}" type="datetime1">
              <a:rPr lang="en-US"/>
              <a:pPr>
                <a:defRPr/>
              </a:pPr>
              <a:t>2/2/2026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6AC05BD-71D8-42BD-AF35-ADFEDF91D5D1}" type="slidenum">
              <a:rPr lang="ar-SA" altLang="en-US"/>
              <a:pPr>
                <a:defRPr/>
              </a:pPr>
              <a:t>‹#›</a:t>
            </a:fld>
            <a:endParaRPr lang="en-US" altLang="en-US"/>
          </a:p>
        </p:txBody>
      </p:sp>
    </p:spTree>
    <p:extLst>
      <p:ext uri="{BB962C8B-B14F-4D97-AF65-F5344CB8AC3E}">
        <p14:creationId xmlns:p14="http://schemas.microsoft.com/office/powerpoint/2010/main" val="3808512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39B463D3-C53D-4145-B75E-A82AFDA8D032}" type="datetime1">
              <a:rPr lang="en-US"/>
              <a:pPr>
                <a:defRPr/>
              </a:pPr>
              <a:t>2/2/2026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CB0B3F09-3563-40EF-811B-9A4BE18E0B2F}" type="slidenum">
              <a:rPr lang="ar-SA" altLang="en-US"/>
              <a:pPr>
                <a:defRPr/>
              </a:pPr>
              <a:t>‹#›</a:t>
            </a:fld>
            <a:endParaRPr lang="en-US" altLang="en-US"/>
          </a:p>
        </p:txBody>
      </p:sp>
    </p:spTree>
    <p:extLst>
      <p:ext uri="{BB962C8B-B14F-4D97-AF65-F5344CB8AC3E}">
        <p14:creationId xmlns:p14="http://schemas.microsoft.com/office/powerpoint/2010/main" val="225771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0D8AB667-4595-4177-8504-FB627296AB33}" type="datetime1">
              <a:rPr lang="en-US"/>
              <a:pPr>
                <a:defRPr/>
              </a:pPr>
              <a:t>2/2/2026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E15D301-F532-4E8E-A495-065FC6D461A7}" type="slidenum">
              <a:rPr lang="ar-SA" altLang="en-US"/>
              <a:pPr>
                <a:defRPr/>
              </a:pPr>
              <a:t>‹#›</a:t>
            </a:fld>
            <a:endParaRPr lang="en-US" altLang="en-US"/>
          </a:p>
        </p:txBody>
      </p:sp>
    </p:spTree>
    <p:extLst>
      <p:ext uri="{BB962C8B-B14F-4D97-AF65-F5344CB8AC3E}">
        <p14:creationId xmlns:p14="http://schemas.microsoft.com/office/powerpoint/2010/main" val="2762779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8FF0628-67F2-4EF4-86D3-324F007F14B0}" type="datetime1">
              <a:rPr lang="en-US"/>
              <a:pPr>
                <a:defRPr/>
              </a:pPr>
              <a:t>2/2/2026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C79993A-9EAE-42CD-B8A8-EEF40C1E0D51}" type="slidenum">
              <a:rPr lang="ar-SA" altLang="en-US"/>
              <a:pPr>
                <a:defRPr/>
              </a:pPr>
              <a:t>‹#›</a:t>
            </a:fld>
            <a:endParaRPr lang="en-US" altLang="en-US"/>
          </a:p>
        </p:txBody>
      </p:sp>
    </p:spTree>
    <p:extLst>
      <p:ext uri="{BB962C8B-B14F-4D97-AF65-F5344CB8AC3E}">
        <p14:creationId xmlns:p14="http://schemas.microsoft.com/office/powerpoint/2010/main" val="2230988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9DC5F05-ED40-454D-95C8-3453B7E7BB5B}" type="datetime1">
              <a:rPr lang="en-US"/>
              <a:pPr>
                <a:defRPr/>
              </a:pPr>
              <a:t>2/2/2026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FAFEAF1-3044-4204-8B6F-F53936E6E60A}" type="slidenum">
              <a:rPr lang="ar-SA" altLang="en-US"/>
              <a:pPr>
                <a:defRPr/>
              </a:pPr>
              <a:t>‹#›</a:t>
            </a:fld>
            <a:endParaRPr lang="en-US" altLang="en-US"/>
          </a:p>
        </p:txBody>
      </p:sp>
    </p:spTree>
    <p:extLst>
      <p:ext uri="{BB962C8B-B14F-4D97-AF65-F5344CB8AC3E}">
        <p14:creationId xmlns:p14="http://schemas.microsoft.com/office/powerpoint/2010/main" val="2139360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A92DFE8-9BCF-414E-AED7-5563BFB4AA38}" type="datetime1">
              <a:rPr lang="en-US"/>
              <a:pPr>
                <a:defRPr/>
              </a:pPr>
              <a:t>2/2/2026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4139072-BCFF-4B00-ACD4-6DF1BA958382}" type="slidenum">
              <a:rPr lang="ar-SA" altLang="en-US"/>
              <a:pPr>
                <a:defRPr/>
              </a:pPr>
              <a:t>‹#›</a:t>
            </a:fld>
            <a:endParaRPr lang="en-US" altLang="en-US"/>
          </a:p>
        </p:txBody>
      </p:sp>
    </p:spTree>
    <p:extLst>
      <p:ext uri="{BB962C8B-B14F-4D97-AF65-F5344CB8AC3E}">
        <p14:creationId xmlns:p14="http://schemas.microsoft.com/office/powerpoint/2010/main" val="424522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15348B16-74D5-4854-8AB8-9D4A4DF3A19A}" type="datetime1">
              <a:rPr lang="en-US"/>
              <a:pPr>
                <a:defRPr/>
              </a:pPr>
              <a:t>2/2/2026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42C787-322D-45BF-A103-35EE7773702D}" type="slidenum">
              <a:rPr lang="ar-SA" altLang="en-US"/>
              <a:pPr>
                <a:defRPr/>
              </a:pPr>
              <a:t>‹#›</a:t>
            </a:fld>
            <a:endParaRPr lang="en-US" altLang="en-US"/>
          </a:p>
        </p:txBody>
      </p:sp>
    </p:spTree>
    <p:extLst>
      <p:ext uri="{BB962C8B-B14F-4D97-AF65-F5344CB8AC3E}">
        <p14:creationId xmlns:p14="http://schemas.microsoft.com/office/powerpoint/2010/main" val="4079385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553E0A1-5428-499E-A086-042824C3739D}" type="datetime1">
              <a:rPr lang="en-US"/>
              <a:pPr>
                <a:defRPr/>
              </a:pPr>
              <a:t>2/2/2026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5820A5-4DC5-43F5-9BA2-B42E567F43C3}" type="slidenum">
              <a:rPr lang="ar-SA" altLang="en-US"/>
              <a:pPr>
                <a:defRPr/>
              </a:pPr>
              <a:t>‹#›</a:t>
            </a:fld>
            <a:endParaRPr lang="en-US" altLang="en-US"/>
          </a:p>
        </p:txBody>
      </p:sp>
    </p:spTree>
    <p:extLst>
      <p:ext uri="{BB962C8B-B14F-4D97-AF65-F5344CB8AC3E}">
        <p14:creationId xmlns:p14="http://schemas.microsoft.com/office/powerpoint/2010/main" val="45831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DEEA5EEE-51A1-44A1-9A46-0EBE715EE6EC}" type="datetime1">
              <a:rPr lang="en-US"/>
              <a:pPr>
                <a:defRPr/>
              </a:pPr>
              <a:t>2/2/2026</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69299B50-F463-407A-BCCB-B9D2AD4327B7}" type="slidenum">
              <a:rPr lang="ar-SA" altLang="en-US"/>
              <a:pPr>
                <a:defRPr/>
              </a:pPr>
              <a:t>‹#›</a:t>
            </a:fld>
            <a:endParaRPr lang="en-US" altLang="en-US"/>
          </a:p>
        </p:txBody>
      </p:sp>
    </p:spTree>
    <p:extLst>
      <p:ext uri="{BB962C8B-B14F-4D97-AF65-F5344CB8AC3E}">
        <p14:creationId xmlns:p14="http://schemas.microsoft.com/office/powerpoint/2010/main" val="2137216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6EE95FA3-5977-4F81-8E44-468604C95138}" type="datetime1">
              <a:rPr lang="en-US"/>
              <a:pPr>
                <a:defRPr/>
              </a:pPr>
              <a:t>2/2/2026</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A25454AC-C24E-455A-B2FE-658E4A7B77BA}" type="slidenum">
              <a:rPr lang="ar-SA" altLang="en-US"/>
              <a:pPr>
                <a:defRPr/>
              </a:pPr>
              <a:t>‹#›</a:t>
            </a:fld>
            <a:endParaRPr lang="en-US" altLang="en-US"/>
          </a:p>
        </p:txBody>
      </p:sp>
    </p:spTree>
    <p:extLst>
      <p:ext uri="{BB962C8B-B14F-4D97-AF65-F5344CB8AC3E}">
        <p14:creationId xmlns:p14="http://schemas.microsoft.com/office/powerpoint/2010/main" val="2689701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6260"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cs typeface="Arial" charset="0"/>
              </a:defRPr>
            </a:lvl1pPr>
          </a:lstStyle>
          <a:p>
            <a:pPr>
              <a:defRPr/>
            </a:pPr>
            <a:fld id="{97F3FF16-A966-4720-B871-21D0EBD4D873}" type="datetime1">
              <a:rPr lang="en-US"/>
              <a:pPr>
                <a:defRPr/>
              </a:pPr>
              <a:t>2/2/2026</a:t>
            </a:fld>
            <a:endParaRPr lang="en-US"/>
          </a:p>
        </p:txBody>
      </p:sp>
      <p:sp>
        <p:nvSpPr>
          <p:cNvPr id="962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cs typeface="Arial" charset="0"/>
              </a:defRPr>
            </a:lvl1pPr>
          </a:lstStyle>
          <a:p>
            <a:pPr>
              <a:defRPr/>
            </a:pPr>
            <a:endParaRPr lang="en-US"/>
          </a:p>
        </p:txBody>
      </p:sp>
      <p:sp>
        <p:nvSpPr>
          <p:cNvPr id="96262"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AA6F67FD-1207-490D-809C-65CC19F8E7B4}" type="slidenum">
              <a:rPr lang="ar-SA" altLang="en-US"/>
              <a:pPr>
                <a:defRPr/>
              </a:pPr>
              <a:t>‹#›</a:t>
            </a:fld>
            <a:endParaRPr lang="en-US" altLang="en-US"/>
          </a:p>
        </p:txBody>
      </p:sp>
      <p:sp>
        <p:nvSpPr>
          <p:cNvPr id="1031"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Lst>
  <p:hf hdr="0" ftr="0" dt="0"/>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16632"/>
            <a:ext cx="8534400"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5400" b="1" kern="0" dirty="0">
                <a:solidFill>
                  <a:schemeClr val="tx2"/>
                </a:solidFill>
                <a:latin typeface="Garamond" panose="02020404030301010803" pitchFamily="18" charset="0"/>
              </a:rPr>
              <a:t>ICT 201: </a:t>
            </a:r>
          </a:p>
          <a:p>
            <a:r>
              <a:rPr lang="en-US" altLang="en-US" sz="3600" b="1" kern="0" dirty="0">
                <a:solidFill>
                  <a:schemeClr val="tx2"/>
                </a:solidFill>
                <a:latin typeface="Garamond" panose="02020404030301010803" pitchFamily="18" charset="0"/>
              </a:rPr>
              <a:t>INTRODUCTION TO INFORMATION AND COMMUNICATION TECHNOLOGY</a:t>
            </a:r>
            <a:r>
              <a:rPr lang="en-US" altLang="en-US" sz="7200" b="1" kern="0" dirty="0">
                <a:solidFill>
                  <a:schemeClr val="tx2"/>
                </a:solidFill>
                <a:latin typeface="Garamond" panose="02020404030301010803" pitchFamily="18" charset="0"/>
              </a:rPr>
              <a:t/>
            </a:r>
            <a:br>
              <a:rPr lang="en-US" altLang="en-US" sz="7200" b="1" kern="0" dirty="0">
                <a:solidFill>
                  <a:schemeClr val="tx2"/>
                </a:solidFill>
                <a:latin typeface="Garamond" panose="02020404030301010803" pitchFamily="18" charset="0"/>
              </a:rPr>
            </a:br>
            <a:endParaRPr lang="en-US" altLang="en-US" sz="7200" b="1" kern="0" dirty="0">
              <a:latin typeface="Comic Sans MS" panose="030F0702030302020204" pitchFamily="66" charset="0"/>
              <a:ea typeface="MS PGothic" panose="020B0600070205080204" pitchFamily="34" charset="-128"/>
            </a:endParaRPr>
          </a:p>
          <a:p>
            <a:endParaRPr lang="en-US" altLang="en-US" sz="2700" kern="0" dirty="0">
              <a:latin typeface="Comic Sans MS" panose="030F0702030302020204" pitchFamily="66" charset="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844824"/>
            <a:ext cx="85344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7000" b="1" kern="0" dirty="0">
                <a:solidFill>
                  <a:schemeClr val="tx2"/>
                </a:solidFill>
                <a:latin typeface="Garamond" panose="02020404030301010803" pitchFamily="18" charset="0"/>
              </a:rPr>
              <a:t>Lecturers/Instructors </a:t>
            </a:r>
            <a:endParaRPr lang="en-US" sz="7000" kern="0" dirty="0"/>
          </a:p>
        </p:txBody>
      </p:sp>
      <p:sp>
        <p:nvSpPr>
          <p:cNvPr id="4" name="Rectangle 10"/>
          <p:cNvSpPr>
            <a:spLocks noGrp="1" noChangeArrowheads="1"/>
          </p:cNvSpPr>
          <p:nvPr>
            <p:ph type="subTitle" idx="1"/>
          </p:nvPr>
        </p:nvSpPr>
        <p:spPr>
          <a:xfrm>
            <a:off x="251520" y="3192016"/>
            <a:ext cx="8659688" cy="3549352"/>
          </a:xfrm>
          <a:noFill/>
        </p:spPr>
        <p:txBody>
          <a:bodyPr/>
          <a:lstStyle/>
          <a:p>
            <a:r>
              <a:rPr lang="en-US" altLang="en-US" sz="4500" dirty="0">
                <a:latin typeface="Comic Sans MS" panose="030F0702030302020204" pitchFamily="66" charset="0"/>
              </a:rPr>
              <a:t>Dr. S. </a:t>
            </a:r>
            <a:r>
              <a:rPr lang="en-US" altLang="en-US" sz="4500" dirty="0" err="1">
                <a:latin typeface="Comic Sans MS" panose="030F0702030302020204" pitchFamily="66" charset="0"/>
              </a:rPr>
              <a:t>Akinboro</a:t>
            </a:r>
            <a:endParaRPr lang="en-US" altLang="en-US" sz="4500" dirty="0">
              <a:latin typeface="Comic Sans MS" panose="030F0702030302020204" pitchFamily="66" charset="0"/>
            </a:endParaRPr>
          </a:p>
          <a:p>
            <a:r>
              <a:rPr lang="en-US" altLang="en-US" sz="4500" dirty="0">
                <a:latin typeface="Comic Sans MS" panose="030F0702030302020204" pitchFamily="66" charset="0"/>
              </a:rPr>
              <a:t>Dr. </a:t>
            </a:r>
            <a:r>
              <a:rPr lang="en-US" altLang="en-US" sz="4500" dirty="0" err="1">
                <a:latin typeface="Comic Sans MS" panose="030F0702030302020204" pitchFamily="66" charset="0"/>
              </a:rPr>
              <a:t>Ufuoma</a:t>
            </a:r>
            <a:r>
              <a:rPr lang="en-US" altLang="en-US" sz="4500" dirty="0">
                <a:latin typeface="Comic Sans MS" panose="030F0702030302020204" pitchFamily="66" charset="0"/>
              </a:rPr>
              <a:t> C. </a:t>
            </a:r>
            <a:r>
              <a:rPr lang="en-US" altLang="en-US" sz="4500" dirty="0" err="1">
                <a:latin typeface="Comic Sans MS" panose="030F0702030302020204" pitchFamily="66" charset="0"/>
              </a:rPr>
              <a:t>Ogude</a:t>
            </a:r>
            <a:endParaRPr lang="en-US" altLang="en-US" sz="4500" dirty="0">
              <a:latin typeface="Comic Sans MS" panose="030F0702030302020204" pitchFamily="66" charset="0"/>
            </a:endParaRPr>
          </a:p>
          <a:p>
            <a:r>
              <a:rPr lang="en-GB" altLang="en-US" sz="4500" dirty="0">
                <a:latin typeface="Comic Sans MS" panose="030F0702030302020204" pitchFamily="66" charset="0"/>
                <a:ea typeface="MS PGothic" panose="020B0600070205080204" pitchFamily="34" charset="-128"/>
              </a:rPr>
              <a:t>0803 820 7103</a:t>
            </a:r>
            <a:endParaRPr lang="en-US" altLang="en-US" sz="4500" dirty="0">
              <a:latin typeface="Comic Sans MS" panose="030F0702030302020204" pitchFamily="66" charset="0"/>
              <a:ea typeface="MS PGothic" panose="020B0600070205080204" pitchFamily="34" charset="-128"/>
            </a:endParaRPr>
          </a:p>
          <a:p>
            <a:r>
              <a:rPr lang="en-US" sz="2200" dirty="0">
                <a:latin typeface="Comic Sans MS" panose="030F0702030302020204" pitchFamily="66" charset="0"/>
              </a:rPr>
              <a:t>	</a:t>
            </a:r>
          </a:p>
          <a:p>
            <a:pPr eaLnBrk="1" hangingPunct="1"/>
            <a:endParaRPr lang="en-US" altLang="en-US" sz="2700" dirty="0">
              <a:latin typeface="Comic Sans MS" panose="030F0702030302020204" pitchFamily="66" charset="0"/>
              <a:ea typeface="MS PGothic" panose="020B0600070205080204" pitchFamily="34" charset="-128"/>
            </a:endParaRPr>
          </a:p>
        </p:txBody>
      </p:sp>
    </p:spTree>
    <p:extLst>
      <p:ext uri="{BB962C8B-B14F-4D97-AF65-F5344CB8AC3E}">
        <p14:creationId xmlns:p14="http://schemas.microsoft.com/office/powerpoint/2010/main" val="33380011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Schedule</a:t>
            </a:r>
            <a:r>
              <a:rPr lang="en-US" sz="6600" b="1" dirty="0"/>
              <a:t> </a:t>
            </a:r>
            <a:endParaRPr lang="en-US" sz="6600" dirty="0"/>
          </a:p>
        </p:txBody>
      </p:sp>
      <p:sp>
        <p:nvSpPr>
          <p:cNvPr id="4" name="Rectangle 3"/>
          <p:cNvSpPr/>
          <p:nvPr/>
        </p:nvSpPr>
        <p:spPr>
          <a:xfrm>
            <a:off x="457200" y="1492181"/>
            <a:ext cx="8075240" cy="5681235"/>
          </a:xfrm>
          <a:prstGeom prst="rect">
            <a:avLst/>
          </a:prstGeom>
        </p:spPr>
        <p:txBody>
          <a:bodyPr wrap="square">
            <a:spAutoFit/>
          </a:bodyPr>
          <a:lstStyle/>
          <a:p>
            <a:pPr marL="355600" indent="-355600">
              <a:buFont typeface="Wingdings" panose="05000000000000000000" pitchFamily="2" charset="2"/>
              <a:buChar char="§"/>
            </a:pPr>
            <a:r>
              <a:rPr lang="en-GB" sz="1700" b="1" kern="0" dirty="0">
                <a:latin typeface="Comic Sans MS" panose="030F0702030302020204" pitchFamily="66" charset="0"/>
              </a:rPr>
              <a:t>Lecture Schedule:</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Mondays: </a:t>
            </a:r>
            <a:r>
              <a:rPr lang="en-GB" sz="1700" kern="0" dirty="0">
                <a:latin typeface="Comic Sans MS" panose="030F0702030302020204" pitchFamily="66" charset="0"/>
              </a:rPr>
              <a:t>8:00am - 10:00am</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Class Venue:</a:t>
            </a:r>
            <a:r>
              <a:rPr lang="en-GB" sz="1700" kern="0" dirty="0">
                <a:latin typeface="Comic Sans MS" panose="030F0702030302020204" pitchFamily="66" charset="0"/>
              </a:rPr>
              <a:t> Physical (Room S006) and Virtual </a:t>
            </a:r>
          </a:p>
          <a:p>
            <a:pPr marL="1077913" lvl="1" indent="-354013">
              <a:lnSpc>
                <a:spcPct val="150000"/>
              </a:lnSpc>
              <a:buFont typeface="Wingdings" panose="05000000000000000000" pitchFamily="2" charset="2"/>
              <a:buChar char="Ø"/>
            </a:pPr>
            <a:r>
              <a:rPr lang="en-GB" sz="1700" kern="0" dirty="0">
                <a:latin typeface="Comic Sans MS" panose="030F0702030302020204" pitchFamily="66" charset="0"/>
              </a:rPr>
              <a:t>Please attend your lectures. Attendance is mandatory</a:t>
            </a:r>
          </a:p>
          <a:p>
            <a:pPr marL="357188" lvl="1" indent="-357188">
              <a:buFont typeface="Wingdings" panose="05000000000000000000" pitchFamily="2" charset="2"/>
              <a:buChar char="§"/>
            </a:pPr>
            <a:r>
              <a:rPr lang="en-US" sz="1700" b="1" kern="0" dirty="0">
                <a:latin typeface="Comic Sans MS" panose="030F0702030302020204" pitchFamily="66" charset="0"/>
              </a:rPr>
              <a:t>Classroom Policy</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Review recommended material before coming to class</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Must be on time</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Turn off cell phones</a:t>
            </a:r>
            <a:endParaRPr lang="en-GB" sz="1700" kern="0" dirty="0">
              <a:latin typeface="Comic Sans MS" panose="030F0702030302020204" pitchFamily="66" charset="0"/>
            </a:endParaRPr>
          </a:p>
          <a:p>
            <a:pPr marL="357188" indent="-357188" eaLnBrk="1" hangingPunct="1">
              <a:buFont typeface="Wingdings" panose="05000000000000000000" pitchFamily="2" charset="2"/>
              <a:buChar char="§"/>
              <a:tabLst>
                <a:tab pos="271463" algn="l"/>
              </a:tabLst>
              <a:defRPr/>
            </a:pPr>
            <a:r>
              <a:rPr lang="en-US" sz="1700" b="1" dirty="0">
                <a:latin typeface="Comic Sans MS" pitchFamily="66" charset="0"/>
                <a:ea typeface="ＭＳ Ｐゴシック" pitchFamily="34" charset="-128"/>
              </a:rPr>
              <a:t>Expectations  </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Read assigned readings</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Attend lectures and participate in discussions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Bring your ideas and concerns to class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Work effectively in a group setting</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Learn how to use the tools and understand your project very well when necessary </a:t>
            </a:r>
            <a:endParaRPr lang="en-US" sz="1700" dirty="0">
              <a:solidFill>
                <a:srgbClr val="663300"/>
              </a:solidFill>
              <a:latin typeface="Comic Sans MS" pitchFamily="66" charset="0"/>
              <a:ea typeface="ＭＳ Ｐゴシック" pitchFamily="34" charset="-128"/>
            </a:endParaRPr>
          </a:p>
        </p:txBody>
      </p:sp>
    </p:spTree>
    <p:extLst>
      <p:ext uri="{BB962C8B-B14F-4D97-AF65-F5344CB8AC3E}">
        <p14:creationId xmlns:p14="http://schemas.microsoft.com/office/powerpoint/2010/main" val="17225189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7000" b="1" dirty="0"/>
              <a:t>Learning Outcomes</a:t>
            </a:r>
            <a:endParaRPr lang="en-US" sz="7000" dirty="0"/>
          </a:p>
        </p:txBody>
      </p:sp>
      <p:sp>
        <p:nvSpPr>
          <p:cNvPr id="4" name="Rectangle 3"/>
          <p:cNvSpPr/>
          <p:nvPr/>
        </p:nvSpPr>
        <p:spPr>
          <a:xfrm>
            <a:off x="457200" y="1484784"/>
            <a:ext cx="8229600" cy="4657942"/>
          </a:xfrm>
          <a:prstGeom prst="rect">
            <a:avLst/>
          </a:prstGeom>
        </p:spPr>
        <p:txBody>
          <a:bodyPr wrap="square">
            <a:spAutoFit/>
          </a:bodyPr>
          <a:lstStyle/>
          <a:p>
            <a:pPr algn="just">
              <a:lnSpc>
                <a:spcPct val="150000"/>
              </a:lnSpc>
            </a:pPr>
            <a:r>
              <a:rPr lang="en-US" sz="2000" dirty="0">
                <a:latin typeface="Comic Sans MS" panose="030F0702030302020204" pitchFamily="66" charset="0"/>
              </a:rPr>
              <a:t>At the end of the course, students should be able to:</a:t>
            </a:r>
          </a:p>
          <a:p>
            <a:pPr marL="714375" indent="-357188" algn="just">
              <a:lnSpc>
                <a:spcPct val="150000"/>
              </a:lnSpc>
            </a:pPr>
            <a:r>
              <a:rPr lang="en-US" sz="2000" dirty="0">
                <a:latin typeface="Comic Sans MS" panose="030F0702030302020204" pitchFamily="66" charset="0"/>
              </a:rPr>
              <a:t>1. Identify components of the computer and know-how the components communicate;</a:t>
            </a:r>
          </a:p>
          <a:p>
            <a:pPr marL="714375" indent="-357188" algn="just">
              <a:lnSpc>
                <a:spcPct val="150000"/>
              </a:lnSpc>
            </a:pPr>
            <a:r>
              <a:rPr lang="en-US" sz="2000" dirty="0">
                <a:latin typeface="Comic Sans MS" panose="030F0702030302020204" pitchFamily="66" charset="0"/>
              </a:rPr>
              <a:t>2. Know the concept of data transfer and memory types and management;</a:t>
            </a:r>
          </a:p>
          <a:p>
            <a:pPr marL="714375" indent="-357188" algn="just">
              <a:lnSpc>
                <a:spcPct val="150000"/>
              </a:lnSpc>
            </a:pPr>
            <a:r>
              <a:rPr lang="en-US" sz="2000" dirty="0">
                <a:latin typeface="Comic Sans MS" panose="030F0702030302020204" pitchFamily="66" charset="0"/>
              </a:rPr>
              <a:t>3. Be comfortable with graphics processing;</a:t>
            </a:r>
          </a:p>
          <a:p>
            <a:pPr marL="714375" indent="-357188" algn="just">
              <a:lnSpc>
                <a:spcPct val="150000"/>
              </a:lnSpc>
            </a:pPr>
            <a:r>
              <a:rPr lang="en-US" sz="2000" dirty="0">
                <a:latin typeface="Comic Sans MS" panose="030F0702030302020204" pitchFamily="66" charset="0"/>
              </a:rPr>
              <a:t>4. Identify and be able to use different communication ports;</a:t>
            </a:r>
          </a:p>
          <a:p>
            <a:pPr marL="714375" indent="-357188" algn="just">
              <a:lnSpc>
                <a:spcPct val="150000"/>
              </a:lnSpc>
            </a:pPr>
            <a:r>
              <a:rPr lang="en-US" sz="2000" dirty="0">
                <a:latin typeface="Comic Sans MS" panose="030F0702030302020204" pitchFamily="66" charset="0"/>
              </a:rPr>
              <a:t>5. Know the software types;</a:t>
            </a:r>
          </a:p>
          <a:p>
            <a:pPr marL="714375" indent="-357188" algn="just">
              <a:lnSpc>
                <a:spcPct val="150000"/>
              </a:lnSpc>
            </a:pPr>
            <a:r>
              <a:rPr lang="en-US" sz="2000" dirty="0">
                <a:latin typeface="Comic Sans MS" panose="030F0702030302020204" pitchFamily="66" charset="0"/>
              </a:rPr>
              <a:t>6. State different computer network topologies and their sizes; </a:t>
            </a:r>
          </a:p>
          <a:p>
            <a:pPr marL="714375" indent="-357188" algn="just">
              <a:lnSpc>
                <a:spcPct val="150000"/>
              </a:lnSpc>
            </a:pPr>
            <a:r>
              <a:rPr lang="en-US" sz="2000" dirty="0">
                <a:latin typeface="Comic Sans MS" panose="030F0702030302020204" pitchFamily="66" charset="0"/>
              </a:rPr>
              <a:t>7. Be able to use office applications and the internet.</a:t>
            </a:r>
          </a:p>
        </p:txBody>
      </p:sp>
    </p:spTree>
    <p:extLst>
      <p:ext uri="{BB962C8B-B14F-4D97-AF65-F5344CB8AC3E}">
        <p14:creationId xmlns:p14="http://schemas.microsoft.com/office/powerpoint/2010/main" val="30433645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404664"/>
            <a:ext cx="8229600" cy="1012974"/>
          </a:xfrm>
        </p:spPr>
        <p:txBody>
          <a:bodyPr/>
          <a:lstStyle/>
          <a:p>
            <a:pPr algn="ctr"/>
            <a:r>
              <a:rPr lang="en-US" sz="8000" b="1" dirty="0"/>
              <a:t>Course Contents</a:t>
            </a:r>
            <a:endParaRPr lang="en-US" sz="8000" dirty="0"/>
          </a:p>
        </p:txBody>
      </p:sp>
      <p:sp>
        <p:nvSpPr>
          <p:cNvPr id="4" name="Rectangle 3"/>
          <p:cNvSpPr/>
          <p:nvPr/>
        </p:nvSpPr>
        <p:spPr>
          <a:xfrm>
            <a:off x="539552" y="1340768"/>
            <a:ext cx="7920880" cy="5551713"/>
          </a:xfrm>
          <a:prstGeom prst="rect">
            <a:avLst/>
          </a:prstGeom>
        </p:spPr>
        <p:txBody>
          <a:bodyPr wrap="square">
            <a:spAutoFit/>
          </a:bodyPr>
          <a:lstStyle/>
          <a:p>
            <a:pPr algn="just">
              <a:lnSpc>
                <a:spcPct val="200000"/>
              </a:lnSpc>
            </a:pPr>
            <a:r>
              <a:rPr lang="en-US" dirty="0">
                <a:latin typeface="Comic Sans MS" panose="030F0702030302020204" pitchFamily="66" charset="0"/>
              </a:rPr>
              <a:t>Basic principle of computers. Computer "backbone".  Data transmission. Random Access Memory. Permanent Memory. Graphic processing. Communication Ports. Input and Output Devices. Software types. Accessibility options. Computer types. Portable digital devices. Network Types. Internet. Instant messaging. Voice over Internet Protocol. Really Simple Syndication. Network communication. Internet data transfer. Data rate units. Internet access. Virtual (online) communities. Computer in the workplace. Office Applications (word processing, spreadsheets, presentation, etc.). Other well-known applications. Telecommuting (telework).</a:t>
            </a:r>
          </a:p>
        </p:txBody>
      </p:sp>
    </p:spTree>
    <p:extLst>
      <p:ext uri="{BB962C8B-B14F-4D97-AF65-F5344CB8AC3E}">
        <p14:creationId xmlns:p14="http://schemas.microsoft.com/office/powerpoint/2010/main" val="34421755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Module</a:t>
            </a:r>
            <a:endParaRPr lang="en-US" sz="8000" dirty="0"/>
          </a:p>
        </p:txBody>
      </p:sp>
      <p:sp>
        <p:nvSpPr>
          <p:cNvPr id="4" name="Rectangle 3"/>
          <p:cNvSpPr/>
          <p:nvPr/>
        </p:nvSpPr>
        <p:spPr>
          <a:xfrm>
            <a:off x="457200" y="1484784"/>
            <a:ext cx="8003232" cy="5047536"/>
          </a:xfrm>
          <a:prstGeom prst="rect">
            <a:avLst/>
          </a:prstGeom>
        </p:spPr>
        <p:txBody>
          <a:bodyPr wrap="square">
            <a:spAutoFit/>
          </a:bodyPr>
          <a:lstStyle/>
          <a:p>
            <a:pPr marL="342900" indent="-342900" algn="just">
              <a:buFont typeface="Wingdings" panose="05000000000000000000" pitchFamily="2" charset="2"/>
              <a:buChar char="Ø"/>
            </a:pPr>
            <a:r>
              <a:rPr lang="en-US" sz="1700" b="1" dirty="0">
                <a:latin typeface="Comic Sans MS" panose="030F0702030302020204" pitchFamily="66" charset="0"/>
              </a:rPr>
              <a:t>Module 1 Introduction to Information Communication Technology</a:t>
            </a:r>
          </a:p>
          <a:p>
            <a:pPr marL="714375" indent="-342900" algn="just">
              <a:buFont typeface="Wingdings" panose="05000000000000000000" pitchFamily="2" charset="2"/>
              <a:buChar char="§"/>
            </a:pPr>
            <a:r>
              <a:rPr lang="en-US" sz="1600" dirty="0">
                <a:latin typeface="Comic Sans MS" panose="030F0702030302020204" pitchFamily="66" charset="0"/>
              </a:rPr>
              <a:t>Unit 1: Information Communication Technology: Principles, Practices, and Opportunities.</a:t>
            </a:r>
          </a:p>
          <a:p>
            <a:pPr marL="714375" indent="-342900" algn="just">
              <a:buFont typeface="Wingdings" panose="05000000000000000000" pitchFamily="2" charset="2"/>
              <a:buChar char="§"/>
            </a:pPr>
            <a:r>
              <a:rPr lang="en-US" sz="1600" dirty="0">
                <a:latin typeface="Comic Sans MS" panose="030F0702030302020204" pitchFamily="66" charset="0"/>
              </a:rPr>
              <a:t>Unit 2: Essentials of Computing</a:t>
            </a:r>
          </a:p>
          <a:p>
            <a:pPr marL="714375" indent="-342900" algn="just">
              <a:buFont typeface="Wingdings" panose="05000000000000000000" pitchFamily="2" charset="2"/>
              <a:buChar char="§"/>
            </a:pPr>
            <a:r>
              <a:rPr lang="en-US" sz="1600" dirty="0">
                <a:latin typeface="Comic Sans MS" panose="030F0702030302020204" pitchFamily="66" charset="0"/>
              </a:rPr>
              <a:t>Unit 3: The System Unit and the Central Processing Unit</a:t>
            </a:r>
          </a:p>
          <a:p>
            <a:pPr marL="714375" indent="-342900" algn="just">
              <a:buFont typeface="Wingdings" panose="05000000000000000000" pitchFamily="2" charset="2"/>
              <a:buChar char="§"/>
            </a:pPr>
            <a:r>
              <a:rPr lang="en-US" sz="1600" dirty="0">
                <a:latin typeface="Comic Sans MS" panose="030F0702030302020204" pitchFamily="66" charset="0"/>
              </a:rPr>
              <a:t>Unit 4: Input Devices, Output Devices and Storage Devices and Memory</a:t>
            </a:r>
          </a:p>
          <a:p>
            <a:pPr marL="714375" indent="-342900" algn="just">
              <a:buFont typeface="Wingdings" panose="05000000000000000000" pitchFamily="2" charset="2"/>
              <a:buChar char="§"/>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2 Computer Networks, Distributed Networks and the Internet</a:t>
            </a:r>
          </a:p>
          <a:p>
            <a:pPr marL="714375" indent="-342900" algn="just">
              <a:buFont typeface="Wingdings" panose="05000000000000000000" pitchFamily="2" charset="2"/>
              <a:buChar char="§"/>
            </a:pPr>
            <a:r>
              <a:rPr lang="en-US" sz="1600" dirty="0">
                <a:latin typeface="Comic Sans MS" panose="030F0702030302020204" pitchFamily="66" charset="0"/>
              </a:rPr>
              <a:t>Unit 5: Computer Networks, Networking Technologies and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6: Enterprise and Wireless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7: Essentials of the Internet and World Wide Web</a:t>
            </a:r>
          </a:p>
          <a:p>
            <a:pPr marL="714375" indent="-342900" algn="just">
              <a:buFont typeface="Wingdings" panose="05000000000000000000" pitchFamily="2" charset="2"/>
              <a:buChar char="§"/>
            </a:pPr>
            <a:r>
              <a:rPr lang="en-US" sz="1600" dirty="0">
                <a:latin typeface="Comic Sans MS" panose="030F0702030302020204" pitchFamily="66" charset="0"/>
              </a:rPr>
              <a:t>Unit 8: Electronic Commerce and Electronic Business</a:t>
            </a:r>
          </a:p>
          <a:p>
            <a:pPr marL="714375" indent="-342900" algn="just">
              <a:buFont typeface="Wingdings" panose="05000000000000000000" pitchFamily="2" charset="2"/>
              <a:buChar char="§"/>
            </a:pPr>
            <a:r>
              <a:rPr lang="en-US" sz="1600" dirty="0">
                <a:latin typeface="Comic Sans MS" panose="030F0702030302020204" pitchFamily="66" charset="0"/>
              </a:rPr>
              <a:t>Unit 9: Launching Information Technology Applications Projects</a:t>
            </a:r>
          </a:p>
          <a:p>
            <a:pPr marL="342900" indent="-342900" algn="just">
              <a:buFont typeface="Wingdings" panose="05000000000000000000" pitchFamily="2" charset="2"/>
              <a:buChar char="Ø"/>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3 Managing Information and Communication Technology Applications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10: Creating Enterprise Applications and Project Management</a:t>
            </a:r>
          </a:p>
          <a:p>
            <a:pPr marL="714375" indent="-342900" algn="just">
              <a:buFont typeface="Wingdings" panose="05000000000000000000" pitchFamily="2" charset="2"/>
              <a:buChar char="§"/>
            </a:pPr>
            <a:r>
              <a:rPr lang="en-US" sz="1600" dirty="0">
                <a:latin typeface="Comic Sans MS" panose="030F0702030302020204" pitchFamily="66" charset="0"/>
              </a:rPr>
              <a:t>Unit 11: Web Based Application and Information Systems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12: Issues in Information Technology and Careers in ICT</a:t>
            </a:r>
            <a:endParaRPr lang="en-US" sz="1600" b="1" dirty="0">
              <a:latin typeface="Comic Sans MS" panose="030F0702030302020204" pitchFamily="66" charset="0"/>
            </a:endParaRPr>
          </a:p>
        </p:txBody>
      </p:sp>
    </p:spTree>
    <p:extLst>
      <p:ext uri="{BB962C8B-B14F-4D97-AF65-F5344CB8AC3E}">
        <p14:creationId xmlns:p14="http://schemas.microsoft.com/office/powerpoint/2010/main" val="31247745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Outline</a:t>
            </a:r>
            <a:endParaRPr lang="en-US" sz="8000" dirty="0"/>
          </a:p>
        </p:txBody>
      </p:sp>
      <p:sp>
        <p:nvSpPr>
          <p:cNvPr id="4" name="Rectangle 3"/>
          <p:cNvSpPr/>
          <p:nvPr/>
        </p:nvSpPr>
        <p:spPr>
          <a:xfrm>
            <a:off x="457200" y="1493585"/>
            <a:ext cx="8229600" cy="5247783"/>
          </a:xfrm>
          <a:prstGeom prst="rect">
            <a:avLst/>
          </a:prstGeom>
        </p:spPr>
        <p:txBody>
          <a:bodyPr wrap="square">
            <a:spAutoFit/>
          </a:bodyPr>
          <a:lstStyle/>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 Information Communication Technology: Principles, Practices, and Opportunities.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2: Essentials of Computing</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3: The System Unit and the Central Processing Unit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4: Input Devices, Output Devices and Storage Devices and Memory</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5: Computer Networks, Networking Technologies and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6: Enterprise and Wireless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7: Essentials of the Internet </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8: Electronic Commerce and Electronic Business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9: Launching Information Technology Applications Projects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10: Creating Enterprise Applications and Project Management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11: Web Based Application and Information Systems in the Enterprise</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12: Issues in Information Technology and Careers in ICT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13: Continuous Assessment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14: Examination   </a:t>
            </a:r>
          </a:p>
        </p:txBody>
      </p:sp>
    </p:spTree>
    <p:extLst>
      <p:ext uri="{BB962C8B-B14F-4D97-AF65-F5344CB8AC3E}">
        <p14:creationId xmlns:p14="http://schemas.microsoft.com/office/powerpoint/2010/main" val="25253207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6600" b="1" dirty="0"/>
              <a:t>Books and References</a:t>
            </a:r>
            <a:endParaRPr lang="en-US" sz="6600" dirty="0"/>
          </a:p>
        </p:txBody>
      </p:sp>
      <p:sp>
        <p:nvSpPr>
          <p:cNvPr id="4" name="Rectangle 3"/>
          <p:cNvSpPr/>
          <p:nvPr/>
        </p:nvSpPr>
        <p:spPr>
          <a:xfrm>
            <a:off x="457199" y="1538010"/>
            <a:ext cx="8043863" cy="4555286"/>
          </a:xfrm>
          <a:prstGeom prst="rect">
            <a:avLst/>
          </a:prstGeom>
        </p:spPr>
        <p:txBody>
          <a:bodyPr wrap="square">
            <a:spAutoFit/>
          </a:bodyPr>
          <a:lstStyle/>
          <a:p>
            <a:pPr marL="536575" indent="-361950" algn="just">
              <a:lnSpc>
                <a:spcPct val="150000"/>
              </a:lnSpc>
              <a:buFont typeface="Wingdings" pitchFamily="2" charset="2"/>
              <a:buChar char="§"/>
              <a:defRPr/>
            </a:pPr>
            <a:r>
              <a:rPr lang="en-US" sz="1500" dirty="0">
                <a:latin typeface="Comic Sans MS" panose="030F0702030302020204" pitchFamily="66" charset="0"/>
              </a:rPr>
              <a:t>Use and Effects By: Harry </a:t>
            </a:r>
            <a:r>
              <a:rPr lang="en-US" sz="1500" dirty="0" err="1">
                <a:latin typeface="Comic Sans MS" panose="030F0702030302020204" pitchFamily="66" charset="0"/>
              </a:rPr>
              <a:t>Bouwman</a:t>
            </a:r>
            <a:r>
              <a:rPr lang="en-US" sz="1500" dirty="0">
                <a:latin typeface="Comic Sans MS" panose="030F0702030302020204" pitchFamily="66" charset="0"/>
              </a:rPr>
              <a:t>, Bart van den </a:t>
            </a:r>
            <a:r>
              <a:rPr lang="en-US" sz="1500" dirty="0" err="1">
                <a:latin typeface="Comic Sans MS" panose="030F0702030302020204" pitchFamily="66" charset="0"/>
              </a:rPr>
              <a:t>Hooff</a:t>
            </a:r>
            <a:r>
              <a:rPr lang="en-US" sz="1500" dirty="0">
                <a:latin typeface="Comic Sans MS" panose="030F0702030302020204" pitchFamily="66" charset="0"/>
              </a:rPr>
              <a:t>, </a:t>
            </a:r>
            <a:r>
              <a:rPr lang="en-US" sz="1500" dirty="0" err="1">
                <a:latin typeface="Comic Sans MS" panose="030F0702030302020204" pitchFamily="66" charset="0"/>
              </a:rPr>
              <a:t>Lidwien</a:t>
            </a:r>
            <a:r>
              <a:rPr lang="en-US" sz="1500" dirty="0">
                <a:latin typeface="Comic Sans MS" panose="030F0702030302020204" pitchFamily="66" charset="0"/>
              </a:rPr>
              <a:t> van de </a:t>
            </a:r>
            <a:r>
              <a:rPr lang="en-US" sz="1500" dirty="0" err="1">
                <a:latin typeface="Comic Sans MS" panose="030F0702030302020204" pitchFamily="66" charset="0"/>
              </a:rPr>
              <a:t>Wijngaert</a:t>
            </a:r>
            <a:r>
              <a:rPr lang="en-US" sz="1500" dirty="0">
                <a:latin typeface="Comic Sans MS" panose="030F0702030302020204" pitchFamily="66" charset="0"/>
              </a:rPr>
              <a:t> &amp; Jan van Dijk, Publisher: SAGE Publications Ltd, Publication year: 2005, Online pub date: June 19, 2012</a:t>
            </a:r>
          </a:p>
          <a:p>
            <a:pPr marL="536575" indent="-361950" algn="just">
              <a:lnSpc>
                <a:spcPct val="150000"/>
              </a:lnSpc>
              <a:buFont typeface="Wingdings" pitchFamily="2" charset="2"/>
              <a:buChar char="§"/>
              <a:defRPr/>
            </a:pPr>
            <a:r>
              <a:rPr lang="en-US" sz="1500" dirty="0">
                <a:latin typeface="Comic Sans MS" panose="030F0702030302020204" pitchFamily="66" charset="0"/>
              </a:rPr>
              <a:t>Discovering Computers. Living in a Digital World. FUNDAMENTALS, 2011 EDITION. Gary B. Shelly. Misty E. </a:t>
            </a:r>
            <a:r>
              <a:rPr lang="en-US" sz="1500" dirty="0" err="1">
                <a:latin typeface="Comic Sans MS" panose="030F0702030302020204" pitchFamily="66" charset="0"/>
              </a:rPr>
              <a:t>Vermaat</a:t>
            </a:r>
            <a:r>
              <a:rPr lang="en-US" sz="1500" dirty="0">
                <a:latin typeface="Comic Sans MS" panose="030F0702030302020204" pitchFamily="66" charset="0"/>
              </a:rPr>
              <a:t>. Shelly Cashman</a:t>
            </a:r>
          </a:p>
          <a:p>
            <a:pPr marL="536575" indent="-361950" algn="just">
              <a:lnSpc>
                <a:spcPct val="150000"/>
              </a:lnSpc>
              <a:buFont typeface="Wingdings" pitchFamily="2" charset="2"/>
              <a:buChar char="§"/>
              <a:defRPr/>
            </a:pPr>
            <a:r>
              <a:rPr lang="en-US" sz="1500" dirty="0">
                <a:latin typeface="Comic Sans MS" panose="030F0702030302020204" pitchFamily="66" charset="0"/>
              </a:rPr>
              <a:t>Charles S. Parker, Understanding Computers: Today and Tomorrow, Course Technology, 25 Thomson Place, Boston, Massachusetts 02210, USA</a:t>
            </a:r>
          </a:p>
          <a:p>
            <a:pPr marL="536575" indent="-361950" algn="just">
              <a:lnSpc>
                <a:spcPct val="150000"/>
              </a:lnSpc>
              <a:buFont typeface="Wingdings" pitchFamily="2" charset="2"/>
              <a:buChar char="§"/>
              <a:defRPr/>
            </a:pPr>
            <a:r>
              <a:rPr lang="en-US" sz="1500" dirty="0" err="1">
                <a:latin typeface="Comic Sans MS" panose="030F0702030302020204" pitchFamily="66" charset="0"/>
              </a:rPr>
              <a:t>Livesley</a:t>
            </a:r>
            <a:r>
              <a:rPr lang="en-US" sz="1500" dirty="0">
                <a:latin typeface="Comic Sans MS" panose="030F0702030302020204" pitchFamily="66" charset="0"/>
              </a:rPr>
              <a:t>, Robert Kenneth. An introduction to automatic digital computers. Cambridge University Press, 2017.</a:t>
            </a:r>
          </a:p>
          <a:p>
            <a:pPr marL="536575" indent="-361950" algn="just">
              <a:lnSpc>
                <a:spcPct val="150000"/>
              </a:lnSpc>
              <a:buFont typeface="Wingdings" pitchFamily="2" charset="2"/>
              <a:buChar char="§"/>
              <a:defRPr/>
            </a:pPr>
            <a:r>
              <a:rPr lang="en-US" sz="1500" dirty="0" err="1">
                <a:latin typeface="Comic Sans MS" panose="030F0702030302020204" pitchFamily="66" charset="0"/>
              </a:rPr>
              <a:t>Zawacki</a:t>
            </a:r>
            <a:r>
              <a:rPr lang="en-US" sz="1500" dirty="0">
                <a:latin typeface="Comic Sans MS" panose="030F0702030302020204" pitchFamily="66" charset="0"/>
              </a:rPr>
              <a:t>-Richter, Olaf, and Colin </a:t>
            </a:r>
            <a:r>
              <a:rPr lang="en-US" sz="1500" dirty="0" err="1">
                <a:latin typeface="Comic Sans MS" panose="030F0702030302020204" pitchFamily="66" charset="0"/>
              </a:rPr>
              <a:t>Latchem</a:t>
            </a:r>
            <a:r>
              <a:rPr lang="en-US" sz="1500" dirty="0">
                <a:latin typeface="Comic Sans MS" panose="030F0702030302020204" pitchFamily="66" charset="0"/>
              </a:rPr>
              <a:t>. "Exploring four decades of research in Computers &amp; Education." Computers &amp; Education 122 (2018): 136-152.</a:t>
            </a:r>
          </a:p>
          <a:p>
            <a:pPr marL="536575" indent="-361950" algn="just">
              <a:lnSpc>
                <a:spcPct val="150000"/>
              </a:lnSpc>
              <a:buFont typeface="Wingdings" pitchFamily="2" charset="2"/>
              <a:buChar char="§"/>
              <a:defRPr/>
            </a:pPr>
            <a:r>
              <a:rPr lang="en-US" sz="1500" dirty="0">
                <a:latin typeface="Comic Sans MS" panose="030F0702030302020204" pitchFamily="66" charset="0"/>
              </a:rPr>
              <a:t>Sinha, Pradeep K., and </a:t>
            </a:r>
            <a:r>
              <a:rPr lang="en-US" sz="1500" dirty="0" err="1">
                <a:latin typeface="Comic Sans MS" panose="030F0702030302020204" pitchFamily="66" charset="0"/>
              </a:rPr>
              <a:t>Priti</a:t>
            </a:r>
            <a:r>
              <a:rPr lang="en-US" sz="1500" dirty="0">
                <a:latin typeface="Comic Sans MS" panose="030F0702030302020204" pitchFamily="66" charset="0"/>
              </a:rPr>
              <a:t> Sinha. Computer fundamentals. BPB publications, 2010. </a:t>
            </a:r>
          </a:p>
          <a:p>
            <a:pPr marL="536575" indent="-361950" algn="just">
              <a:lnSpc>
                <a:spcPct val="150000"/>
              </a:lnSpc>
              <a:buFont typeface="Wingdings" pitchFamily="2" charset="2"/>
              <a:buChar char="§"/>
              <a:defRPr/>
            </a:pPr>
            <a:r>
              <a:rPr lang="en-US" sz="1500" dirty="0">
                <a:latin typeface="Comic Sans MS" panose="030F0702030302020204" pitchFamily="66" charset="0"/>
              </a:rPr>
              <a:t>Goel, Anita. Computer fundamentals. Pearson Education India, 2010.</a:t>
            </a:r>
            <a:endParaRPr lang="en-US" sz="1500" dirty="0">
              <a:latin typeface="Comic Sans MS" pitchFamily="66" charset="0"/>
              <a:ea typeface="ＭＳ Ｐゴシック" pitchFamily="34" charset="-128"/>
            </a:endParaRPr>
          </a:p>
        </p:txBody>
      </p:sp>
    </p:spTree>
    <p:extLst>
      <p:ext uri="{BB962C8B-B14F-4D97-AF65-F5344CB8AC3E}">
        <p14:creationId xmlns:p14="http://schemas.microsoft.com/office/powerpoint/2010/main" val="34148405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altLang="en-US" sz="9600" b="1" dirty="0"/>
              <a:t>Pre-Requisite</a:t>
            </a:r>
            <a:r>
              <a:rPr lang="en-US" altLang="en-US" sz="6600" b="1" dirty="0"/>
              <a:t> </a:t>
            </a:r>
            <a:endParaRPr lang="en-US" altLang="en-US" sz="6600" dirty="0"/>
          </a:p>
        </p:txBody>
      </p:sp>
      <p:pic>
        <p:nvPicPr>
          <p:cNvPr id="5" name="Picture 4"/>
          <p:cNvPicPr>
            <a:picLocks noChangeAspect="1"/>
          </p:cNvPicPr>
          <p:nvPr/>
        </p:nvPicPr>
        <p:blipFill>
          <a:blip r:embed="rId3"/>
          <a:stretch>
            <a:fillRect/>
          </a:stretch>
        </p:blipFill>
        <p:spPr>
          <a:xfrm>
            <a:off x="1259632" y="1499249"/>
            <a:ext cx="6624736" cy="5080937"/>
          </a:xfrm>
          <a:prstGeom prst="rect">
            <a:avLst/>
          </a:prstGeom>
        </p:spPr>
      </p:pic>
    </p:spTree>
    <p:extLst>
      <p:ext uri="{BB962C8B-B14F-4D97-AF65-F5344CB8AC3E}">
        <p14:creationId xmlns:p14="http://schemas.microsoft.com/office/powerpoint/2010/main" val="14429000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Evaluation</a:t>
            </a:r>
            <a:endParaRPr lang="en-US" altLang="en-US" sz="8000" dirty="0"/>
          </a:p>
        </p:txBody>
      </p:sp>
      <p:sp>
        <p:nvSpPr>
          <p:cNvPr id="4" name="Rectangle 3"/>
          <p:cNvSpPr/>
          <p:nvPr/>
        </p:nvSpPr>
        <p:spPr>
          <a:xfrm>
            <a:off x="457200" y="1484784"/>
            <a:ext cx="8229600" cy="3447098"/>
          </a:xfrm>
          <a:prstGeom prst="rect">
            <a:avLst/>
          </a:prstGeom>
        </p:spPr>
        <p:txBody>
          <a:bodyPr wrap="square">
            <a:spAutoFit/>
          </a:bodyPr>
          <a:lstStyle/>
          <a:p>
            <a:pPr>
              <a:defRPr/>
            </a:pPr>
            <a:endParaRPr lang="en-US" b="1" dirty="0">
              <a:latin typeface="Comic Sans MS" pitchFamily="66" charset="0"/>
            </a:endParaRPr>
          </a:p>
          <a:p>
            <a:pPr>
              <a:buFont typeface="Wingdings" pitchFamily="2" charset="2"/>
              <a:buChar char="Ø"/>
              <a:defRPr/>
            </a:pPr>
            <a:r>
              <a:rPr lang="en-US" sz="4000" b="1" dirty="0">
                <a:latin typeface="Comic Sans MS" pitchFamily="66" charset="0"/>
              </a:rPr>
              <a:t>Final Examination: 70%</a:t>
            </a:r>
          </a:p>
          <a:p>
            <a:pPr lvl="2">
              <a:defRPr/>
            </a:pPr>
            <a:endParaRPr lang="en-US" sz="4000" dirty="0">
              <a:latin typeface="Comic Sans MS" pitchFamily="66" charset="0"/>
            </a:endParaRPr>
          </a:p>
          <a:p>
            <a:pPr>
              <a:buFont typeface="Wingdings" pitchFamily="2" charset="2"/>
              <a:buChar char="Ø"/>
              <a:defRPr/>
            </a:pPr>
            <a:r>
              <a:rPr lang="en-US" sz="4000" b="1" dirty="0">
                <a:latin typeface="Comic Sans MS" pitchFamily="66" charset="0"/>
              </a:rPr>
              <a:t>Continuous Assessment: 30% </a:t>
            </a:r>
          </a:p>
          <a:p>
            <a:pPr marL="1139825" lvl="3" indent="-346075">
              <a:buFont typeface="Wingdings" panose="05000000000000000000" pitchFamily="2" charset="2"/>
              <a:buChar char="§"/>
              <a:defRPr/>
            </a:pPr>
            <a:r>
              <a:rPr lang="en-US" sz="4000" dirty="0">
                <a:latin typeface="Comic Sans MS" pitchFamily="66" charset="0"/>
              </a:rPr>
              <a:t>Written test</a:t>
            </a:r>
          </a:p>
          <a:p>
            <a:pPr marL="1139825" lvl="3" indent="-346075">
              <a:buFont typeface="Wingdings" panose="05000000000000000000" pitchFamily="2" charset="2"/>
              <a:buChar char="§"/>
              <a:defRPr/>
            </a:pPr>
            <a:r>
              <a:rPr lang="en-US" sz="4000" dirty="0">
                <a:latin typeface="Comic Sans MS" pitchFamily="66" charset="0"/>
              </a:rPr>
              <a:t>Assignments/Project</a:t>
            </a:r>
          </a:p>
        </p:txBody>
      </p:sp>
    </p:spTree>
    <p:extLst>
      <p:ext uri="{BB962C8B-B14F-4D97-AF65-F5344CB8AC3E}">
        <p14:creationId xmlns:p14="http://schemas.microsoft.com/office/powerpoint/2010/main" val="29548308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a:t>
            </a:r>
            <a:r>
              <a:rPr lang="en-US" sz="8800" b="1" kern="0" dirty="0" smtClean="0"/>
              <a:t>8</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140968"/>
            <a:ext cx="83820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3200" b="1" dirty="0" smtClean="0">
                <a:latin typeface="Comic Sans MS" panose="030F0702030302020204" pitchFamily="66" charset="0"/>
              </a:rPr>
              <a:t>ELECTRONIC COMMERCE AND ELECTRONIC BUSINESS</a:t>
            </a:r>
            <a:endParaRPr lang="en-US" sz="3200" b="1" dirty="0">
              <a:latin typeface="Comic Sans MS" panose="030F0702030302020204" pitchFamily="66" charset="0"/>
            </a:endParaRPr>
          </a:p>
        </p:txBody>
      </p:sp>
    </p:spTree>
    <p:extLst>
      <p:ext uri="{BB962C8B-B14F-4D97-AF65-F5344CB8AC3E}">
        <p14:creationId xmlns:p14="http://schemas.microsoft.com/office/powerpoint/2010/main" val="23676548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776864"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buFont typeface="Wingdings" panose="05000000000000000000" pitchFamily="2" charset="2"/>
              <a:buChar char="§"/>
            </a:pPr>
            <a:r>
              <a:rPr lang="en-US" b="1" kern="0" dirty="0">
                <a:latin typeface="Times New Roman" panose="02020603050405020304" pitchFamily="18" charset="0"/>
                <a:cs typeface="Times New Roman" panose="02020603050405020304" pitchFamily="18" charset="0"/>
              </a:rPr>
              <a:t>Players in the Game</a:t>
            </a:r>
          </a:p>
          <a:p>
            <a:pPr>
              <a:lnSpc>
                <a:spcPct val="150000"/>
              </a:lnSpc>
              <a:buFont typeface="Wingdings" panose="05000000000000000000" pitchFamily="2" charset="2"/>
              <a:buChar char="§"/>
            </a:pPr>
            <a:r>
              <a:rPr lang="en-US" b="1" kern="0" dirty="0">
                <a:latin typeface="Times New Roman" panose="02020603050405020304" pitchFamily="18" charset="0"/>
                <a:cs typeface="Times New Roman" panose="02020603050405020304" pitchFamily="18" charset="0"/>
              </a:rPr>
              <a:t>Types of E-Commerce</a:t>
            </a:r>
          </a:p>
          <a:p>
            <a:pPr>
              <a:lnSpc>
                <a:spcPct val="150000"/>
              </a:lnSpc>
              <a:buFont typeface="Wingdings" panose="05000000000000000000" pitchFamily="2" charset="2"/>
              <a:buChar char="§"/>
            </a:pPr>
            <a:r>
              <a:rPr lang="en-US" b="1" kern="0" dirty="0">
                <a:latin typeface="Times New Roman" panose="02020603050405020304" pitchFamily="18" charset="0"/>
                <a:cs typeface="Times New Roman" panose="02020603050405020304" pitchFamily="18" charset="0"/>
              </a:rPr>
              <a:t>Benefits of E-Commerce</a:t>
            </a:r>
          </a:p>
          <a:p>
            <a:pPr>
              <a:lnSpc>
                <a:spcPct val="150000"/>
              </a:lnSpc>
              <a:buFont typeface="Wingdings" panose="05000000000000000000" pitchFamily="2" charset="2"/>
              <a:buChar char="§"/>
            </a:pPr>
            <a:r>
              <a:rPr lang="en-US" b="1" kern="0" dirty="0">
                <a:latin typeface="Times New Roman" panose="02020603050405020304" pitchFamily="18" charset="0"/>
                <a:cs typeface="Times New Roman" panose="02020603050405020304" pitchFamily="18" charset="0"/>
              </a:rPr>
              <a:t>Mode of Payment in E-Commerce</a:t>
            </a:r>
          </a:p>
        </p:txBody>
      </p:sp>
    </p:spTree>
    <p:extLst>
      <p:ext uri="{BB962C8B-B14F-4D97-AF65-F5344CB8AC3E}">
        <p14:creationId xmlns:p14="http://schemas.microsoft.com/office/powerpoint/2010/main" val="24348147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8800" b="1" dirty="0"/>
              <a:t>OBJECTIVES</a:t>
            </a:r>
            <a:endParaRPr lang="en-GB" sz="8800" b="1" dirty="0">
              <a:latin typeface="Comic Sans MS" panose="030F0702030302020204" pitchFamily="66" charset="0"/>
            </a:endParaRPr>
          </a:p>
        </p:txBody>
      </p:sp>
      <p:sp>
        <p:nvSpPr>
          <p:cNvPr id="5" name="Rectangle 3"/>
          <p:cNvSpPr txBox="1">
            <a:spLocks noChangeArrowheads="1"/>
          </p:cNvSpPr>
          <p:nvPr/>
        </p:nvSpPr>
        <p:spPr bwMode="auto">
          <a:xfrm>
            <a:off x="539552" y="1484784"/>
            <a:ext cx="7992888"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100" dirty="0">
                <a:latin typeface="Times New Roman" panose="02020603050405020304" pitchFamily="18" charset="0"/>
                <a:cs typeface="Times New Roman" panose="02020603050405020304" pitchFamily="18" charset="0"/>
              </a:rPr>
              <a:t>After you have read this unit, you should be able to know:</a:t>
            </a:r>
          </a:p>
          <a:p>
            <a:pPr marL="717550">
              <a:lnSpc>
                <a:spcPct val="200000"/>
              </a:lnSpc>
              <a:buFont typeface="Wingdings" panose="05000000000000000000" pitchFamily="2" charset="2"/>
              <a:buChar char="Ø"/>
              <a:tabLst>
                <a:tab pos="633413" algn="l"/>
              </a:tabLst>
            </a:pPr>
            <a:r>
              <a:rPr lang="en-US" sz="2100" dirty="0" smtClean="0">
                <a:latin typeface="Times New Roman" panose="02020603050405020304" pitchFamily="18" charset="0"/>
                <a:cs typeface="Times New Roman" panose="02020603050405020304" pitchFamily="18" charset="0"/>
              </a:rPr>
              <a:t>Concept </a:t>
            </a:r>
            <a:r>
              <a:rPr lang="en-US" sz="2100" dirty="0">
                <a:latin typeface="Times New Roman" panose="02020603050405020304" pitchFamily="18" charset="0"/>
                <a:cs typeface="Times New Roman" panose="02020603050405020304" pitchFamily="18" charset="0"/>
              </a:rPr>
              <a:t>of E-Commerce</a:t>
            </a:r>
          </a:p>
          <a:p>
            <a:pPr marL="717550">
              <a:lnSpc>
                <a:spcPct val="200000"/>
              </a:lnSpc>
              <a:buFont typeface="Wingdings" panose="05000000000000000000" pitchFamily="2" charset="2"/>
              <a:buChar char="Ø"/>
              <a:tabLst>
                <a:tab pos="633413" algn="l"/>
              </a:tabLst>
            </a:pPr>
            <a:r>
              <a:rPr lang="en-US" sz="2100" dirty="0" smtClean="0">
                <a:latin typeface="Times New Roman" panose="02020603050405020304" pitchFamily="18" charset="0"/>
                <a:cs typeface="Times New Roman" panose="02020603050405020304" pitchFamily="18" charset="0"/>
              </a:rPr>
              <a:t>The </a:t>
            </a:r>
            <a:r>
              <a:rPr lang="en-US" sz="2100" dirty="0">
                <a:latin typeface="Times New Roman" panose="02020603050405020304" pitchFamily="18" charset="0"/>
                <a:cs typeface="Times New Roman" panose="02020603050405020304" pitchFamily="18" charset="0"/>
              </a:rPr>
              <a:t>advantages and disadvantages of E-commerce</a:t>
            </a:r>
          </a:p>
          <a:p>
            <a:pPr marL="717550">
              <a:lnSpc>
                <a:spcPct val="200000"/>
              </a:lnSpc>
              <a:buFont typeface="Wingdings" panose="05000000000000000000" pitchFamily="2" charset="2"/>
              <a:buChar char="Ø"/>
              <a:tabLst>
                <a:tab pos="633413" algn="l"/>
              </a:tabLst>
            </a:pPr>
            <a:r>
              <a:rPr lang="en-US" sz="2100" dirty="0" smtClean="0">
                <a:latin typeface="Times New Roman" panose="02020603050405020304" pitchFamily="18" charset="0"/>
                <a:cs typeface="Times New Roman" panose="02020603050405020304" pitchFamily="18" charset="0"/>
              </a:rPr>
              <a:t>Types </a:t>
            </a:r>
            <a:r>
              <a:rPr lang="en-US" sz="2100" dirty="0">
                <a:latin typeface="Times New Roman" panose="02020603050405020304" pitchFamily="18" charset="0"/>
                <a:cs typeface="Times New Roman" panose="02020603050405020304" pitchFamily="18" charset="0"/>
              </a:rPr>
              <a:t>of E-commerce</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71590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sz="8800" b="1" dirty="0" smtClean="0"/>
              <a:t>Introduction </a:t>
            </a:r>
            <a:endParaRPr lang="en-GB" sz="8800" b="1" dirty="0">
              <a:latin typeface="Comic Sans MS" panose="030F0702030302020204" pitchFamily="66" charset="0"/>
            </a:endParaRPr>
          </a:p>
        </p:txBody>
      </p:sp>
      <p:sp>
        <p:nvSpPr>
          <p:cNvPr id="5" name="Rectangle 3"/>
          <p:cNvSpPr txBox="1">
            <a:spLocks noChangeArrowheads="1"/>
          </p:cNvSpPr>
          <p:nvPr/>
        </p:nvSpPr>
        <p:spPr bwMode="auto">
          <a:xfrm>
            <a:off x="539552" y="1484784"/>
            <a:ext cx="7992888"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100" dirty="0">
                <a:latin typeface="Times New Roman" panose="02020603050405020304" pitchFamily="18" charset="0"/>
                <a:cs typeface="Times New Roman" panose="02020603050405020304" pitchFamily="18" charset="0"/>
              </a:rPr>
              <a:t>Electronic commerce, also known as e-commerce is the buying and selling of goods over </a:t>
            </a:r>
            <a:r>
              <a:rPr lang="en-US" sz="2100" dirty="0" smtClean="0">
                <a:latin typeface="Times New Roman" panose="02020603050405020304" pitchFamily="18" charset="0"/>
                <a:cs typeface="Times New Roman" panose="02020603050405020304" pitchFamily="18" charset="0"/>
              </a:rPr>
              <a:t>the Internet</a:t>
            </a:r>
            <a:r>
              <a:rPr lang="en-US" sz="2100" dirty="0">
                <a:latin typeface="Times New Roman" panose="02020603050405020304" pitchFamily="18" charset="0"/>
                <a:cs typeface="Times New Roman" panose="02020603050405020304" pitchFamily="18" charset="0"/>
              </a:rPr>
              <a:t>. </a:t>
            </a:r>
            <a:endParaRPr lang="en-US" sz="2100" dirty="0" smtClean="0">
              <a:latin typeface="Times New Roman" panose="02020603050405020304" pitchFamily="18" charset="0"/>
              <a:cs typeface="Times New Roman" panose="02020603050405020304" pitchFamily="18" charset="0"/>
            </a:endParaRPr>
          </a:p>
          <a:p>
            <a:pPr>
              <a:lnSpc>
                <a:spcPct val="200000"/>
              </a:lnSpc>
            </a:pPr>
            <a:r>
              <a:rPr lang="en-US" sz="2100" dirty="0" smtClean="0">
                <a:latin typeface="Times New Roman" panose="02020603050405020304" pitchFamily="18" charset="0"/>
                <a:cs typeface="Times New Roman" panose="02020603050405020304" pitchFamily="18" charset="0"/>
              </a:rPr>
              <a:t>Shopping </a:t>
            </a:r>
            <a:r>
              <a:rPr lang="en-US" sz="2100" dirty="0">
                <a:latin typeface="Times New Roman" panose="02020603050405020304" pitchFamily="18" charset="0"/>
                <a:cs typeface="Times New Roman" panose="02020603050405020304" pitchFamily="18" charset="0"/>
              </a:rPr>
              <a:t>on the Internet is growing rapidly because E-commerce </a:t>
            </a:r>
            <a:r>
              <a:rPr lang="en-US" sz="2100" dirty="0" smtClean="0">
                <a:latin typeface="Times New Roman" panose="02020603050405020304" pitchFamily="18" charset="0"/>
                <a:cs typeface="Times New Roman" panose="02020603050405020304" pitchFamily="18" charset="0"/>
              </a:rPr>
              <a:t>provides incentives </a:t>
            </a:r>
            <a:r>
              <a:rPr lang="en-US" sz="2100" dirty="0">
                <a:latin typeface="Times New Roman" panose="02020603050405020304" pitchFamily="18" charset="0"/>
                <a:cs typeface="Times New Roman" panose="02020603050405020304" pitchFamily="18" charset="0"/>
              </a:rPr>
              <a:t>for both buyers and sellers.</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30611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sz="4800" b="1" dirty="0"/>
              <a:t>PLAYERS IN THE </a:t>
            </a:r>
            <a:r>
              <a:rPr lang="en-US" sz="4800" b="1" dirty="0" smtClean="0"/>
              <a:t>GAME </a:t>
            </a:r>
            <a:endParaRPr lang="en-GB" sz="4800" b="1" dirty="0">
              <a:latin typeface="Comic Sans MS" panose="030F0702030302020204" pitchFamily="66" charset="0"/>
            </a:endParaRPr>
          </a:p>
        </p:txBody>
      </p:sp>
      <p:sp>
        <p:nvSpPr>
          <p:cNvPr id="5" name="Rectangle 3"/>
          <p:cNvSpPr txBox="1">
            <a:spLocks noChangeArrowheads="1"/>
          </p:cNvSpPr>
          <p:nvPr/>
        </p:nvSpPr>
        <p:spPr bwMode="auto">
          <a:xfrm>
            <a:off x="457200" y="1484784"/>
            <a:ext cx="8229600"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2200" dirty="0" smtClean="0">
                <a:latin typeface="Times New Roman" panose="02020603050405020304" pitchFamily="18" charset="0"/>
                <a:cs typeface="Times New Roman" panose="02020603050405020304" pitchFamily="18" charset="0"/>
              </a:rPr>
              <a:t>There </a:t>
            </a:r>
            <a:r>
              <a:rPr lang="en-US" sz="2200" dirty="0">
                <a:latin typeface="Times New Roman" panose="02020603050405020304" pitchFamily="18" charset="0"/>
                <a:cs typeface="Times New Roman" panose="02020603050405020304" pitchFamily="18" charset="0"/>
              </a:rPr>
              <a:t>are two major parties in the e-commerce business world. </a:t>
            </a:r>
            <a:endParaRPr lang="en-US" sz="2200" dirty="0" smtClean="0">
              <a:latin typeface="Times New Roman" panose="02020603050405020304" pitchFamily="18" charset="0"/>
              <a:cs typeface="Times New Roman" panose="02020603050405020304" pitchFamily="18" charset="0"/>
            </a:endParaRPr>
          </a:p>
          <a:p>
            <a:pPr marL="365125" indent="0">
              <a:buNone/>
            </a:pPr>
            <a:r>
              <a:rPr lang="en-US" sz="2200" dirty="0" smtClean="0">
                <a:latin typeface="Times New Roman" panose="02020603050405020304" pitchFamily="18" charset="0"/>
                <a:cs typeface="Times New Roman" panose="02020603050405020304" pitchFamily="18" charset="0"/>
              </a:rPr>
              <a:t>They </a:t>
            </a:r>
            <a:r>
              <a:rPr lang="en-US" sz="2200" dirty="0">
                <a:latin typeface="Times New Roman" panose="02020603050405020304" pitchFamily="18" charset="0"/>
                <a:cs typeface="Times New Roman" panose="02020603050405020304" pitchFamily="18" charset="0"/>
              </a:rPr>
              <a:t>are:</a:t>
            </a:r>
          </a:p>
          <a:p>
            <a:pPr marL="900113">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Buyers</a:t>
            </a:r>
            <a:endParaRPr lang="en-US" sz="2200" dirty="0">
              <a:latin typeface="Times New Roman" panose="02020603050405020304" pitchFamily="18" charset="0"/>
              <a:cs typeface="Times New Roman" panose="02020603050405020304" pitchFamily="18" charset="0"/>
            </a:endParaRPr>
          </a:p>
          <a:p>
            <a:pPr marL="900113">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Sellers</a:t>
            </a:r>
            <a:r>
              <a:rPr lang="en-US" sz="2200" dirty="0">
                <a:latin typeface="Times New Roman" panose="02020603050405020304" pitchFamily="18" charset="0"/>
                <a:cs typeface="Times New Roman" panose="02020603050405020304" pitchFamily="18" charset="0"/>
              </a:rPr>
              <a:t>.</a:t>
            </a:r>
          </a:p>
          <a:p>
            <a:r>
              <a:rPr lang="en-US" sz="2200" b="1" dirty="0">
                <a:latin typeface="Times New Roman" panose="02020603050405020304" pitchFamily="18" charset="0"/>
                <a:cs typeface="Times New Roman" panose="02020603050405020304" pitchFamily="18" charset="0"/>
              </a:rPr>
              <a:t>Buyer</a:t>
            </a:r>
          </a:p>
          <a:p>
            <a:pPr marL="900113">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From the buyer’s perspective, goods and services can be purchased at any time of the day </a:t>
            </a:r>
            <a:r>
              <a:rPr lang="en-US" sz="2200" dirty="0" smtClean="0">
                <a:latin typeface="Times New Roman" panose="02020603050405020304" pitchFamily="18" charset="0"/>
                <a:cs typeface="Times New Roman" panose="02020603050405020304" pitchFamily="18" charset="0"/>
              </a:rPr>
              <a:t>or night</a:t>
            </a:r>
            <a:r>
              <a:rPr lang="en-US" sz="2200" dirty="0">
                <a:latin typeface="Times New Roman" panose="02020603050405020304" pitchFamily="18" charset="0"/>
                <a:cs typeface="Times New Roman" panose="02020603050405020304" pitchFamily="18" charset="0"/>
              </a:rPr>
              <a:t>. </a:t>
            </a:r>
            <a:endParaRPr lang="en-US" sz="2200" dirty="0" smtClean="0">
              <a:latin typeface="Times New Roman" panose="02020603050405020304" pitchFamily="18" charset="0"/>
              <a:cs typeface="Times New Roman" panose="02020603050405020304" pitchFamily="18" charset="0"/>
            </a:endParaRPr>
          </a:p>
          <a:p>
            <a:pPr marL="900113">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Traditional </a:t>
            </a:r>
            <a:r>
              <a:rPr lang="en-US" sz="2200" dirty="0">
                <a:latin typeface="Times New Roman" panose="02020603050405020304" pitchFamily="18" charset="0"/>
                <a:cs typeface="Times New Roman" panose="02020603050405020304" pitchFamily="18" charset="0"/>
              </a:rPr>
              <a:t>commerce, also known as bricks and mortar business, is typically limited </a:t>
            </a:r>
            <a:r>
              <a:rPr lang="en-US" sz="2200" dirty="0" smtClean="0">
                <a:latin typeface="Times New Roman" panose="02020603050405020304" pitchFamily="18" charset="0"/>
                <a:cs typeface="Times New Roman" panose="02020603050405020304" pitchFamily="18" charset="0"/>
              </a:rPr>
              <a:t>to standard </a:t>
            </a:r>
            <a:r>
              <a:rPr lang="en-US" sz="2200" dirty="0">
                <a:latin typeface="Times New Roman" panose="02020603050405020304" pitchFamily="18" charset="0"/>
                <a:cs typeface="Times New Roman" panose="02020603050405020304" pitchFamily="18" charset="0"/>
              </a:rPr>
              <a:t>business hours when the seller is open. </a:t>
            </a:r>
            <a:endParaRPr lang="en-US" sz="2200" dirty="0" smtClean="0">
              <a:latin typeface="Times New Roman" panose="02020603050405020304" pitchFamily="18" charset="0"/>
              <a:cs typeface="Times New Roman" panose="02020603050405020304" pitchFamily="18" charset="0"/>
            </a:endParaRPr>
          </a:p>
          <a:p>
            <a:pPr marL="900113">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Buyers </a:t>
            </a:r>
            <a:r>
              <a:rPr lang="en-US" sz="2200" dirty="0">
                <a:latin typeface="Times New Roman" panose="02020603050405020304" pitchFamily="18" charset="0"/>
                <a:cs typeface="Times New Roman" panose="02020603050405020304" pitchFamily="18" charset="0"/>
              </a:rPr>
              <a:t>don’t have to travel physically to </a:t>
            </a:r>
            <a:r>
              <a:rPr lang="en-US" sz="2200" dirty="0" smtClean="0">
                <a:latin typeface="Times New Roman" panose="02020603050405020304" pitchFamily="18" charset="0"/>
                <a:cs typeface="Times New Roman" panose="02020603050405020304" pitchFamily="18" charset="0"/>
              </a:rPr>
              <a:t>the seller’s </a:t>
            </a:r>
            <a:r>
              <a:rPr lang="en-US" sz="2200" dirty="0">
                <a:latin typeface="Times New Roman" panose="02020603050405020304" pitchFamily="18" charset="0"/>
                <a:cs typeface="Times New Roman" panose="02020603050405020304" pitchFamily="18" charset="0"/>
              </a:rPr>
              <a:t>location. </a:t>
            </a:r>
            <a:endParaRPr lang="en-US" sz="2200" dirty="0" smtClean="0">
              <a:latin typeface="Times New Roman" panose="02020603050405020304" pitchFamily="18" charset="0"/>
              <a:cs typeface="Times New Roman" panose="02020603050405020304" pitchFamily="18" charset="0"/>
            </a:endParaRPr>
          </a:p>
          <a:p>
            <a:pPr marL="900113">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Busy </a:t>
            </a:r>
            <a:r>
              <a:rPr lang="en-US" sz="2200" dirty="0">
                <a:latin typeface="Times New Roman" panose="02020603050405020304" pitchFamily="18" charset="0"/>
                <a:cs typeface="Times New Roman" panose="02020603050405020304" pitchFamily="18" charset="0"/>
              </a:rPr>
              <a:t>parents don’t have to arrange for a nanny or baby sitter in order to </a:t>
            </a:r>
            <a:r>
              <a:rPr lang="en-US" sz="2200" dirty="0" smtClean="0">
                <a:latin typeface="Times New Roman" panose="02020603050405020304" pitchFamily="18" charset="0"/>
                <a:cs typeface="Times New Roman" panose="02020603050405020304" pitchFamily="18" charset="0"/>
              </a:rPr>
              <a:t>visit the </a:t>
            </a:r>
            <a:r>
              <a:rPr lang="en-US" sz="2200" dirty="0">
                <a:latin typeface="Times New Roman" panose="02020603050405020304" pitchFamily="18" charset="0"/>
                <a:cs typeface="Times New Roman" panose="02020603050405020304" pitchFamily="18" charset="0"/>
              </a:rPr>
              <a:t>market or go for shopping</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08169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sz="4800" b="1" dirty="0"/>
              <a:t>PLAYERS IN THE </a:t>
            </a:r>
            <a:r>
              <a:rPr lang="en-US" sz="4800" b="1" dirty="0" smtClean="0"/>
              <a:t>GAME </a:t>
            </a:r>
            <a:endParaRPr lang="en-GB" sz="4800" b="1" dirty="0">
              <a:latin typeface="Comic Sans MS" panose="030F0702030302020204" pitchFamily="66" charset="0"/>
            </a:endParaRPr>
          </a:p>
        </p:txBody>
      </p:sp>
      <p:sp>
        <p:nvSpPr>
          <p:cNvPr id="5" name="Rectangle 3"/>
          <p:cNvSpPr txBox="1">
            <a:spLocks noChangeArrowheads="1"/>
          </p:cNvSpPr>
          <p:nvPr/>
        </p:nvSpPr>
        <p:spPr bwMode="auto">
          <a:xfrm>
            <a:off x="457200" y="1484784"/>
            <a:ext cx="822960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200" b="1" dirty="0" smtClean="0">
                <a:latin typeface="Times New Roman" panose="02020603050405020304" pitchFamily="18" charset="0"/>
                <a:cs typeface="Times New Roman" panose="02020603050405020304" pitchFamily="18" charset="0"/>
              </a:rPr>
              <a:t>Seller</a:t>
            </a:r>
            <a:endParaRPr lang="en-US" sz="2200" b="1" dirty="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From the sellers perspective the cost associated with renting a shop is eliminated. </a:t>
            </a:r>
            <a:endParaRPr lang="en-US" sz="2200" dirty="0" smtClean="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For example </a:t>
            </a:r>
            <a:r>
              <a:rPr lang="en-US" sz="2200" dirty="0">
                <a:latin typeface="Times New Roman" panose="02020603050405020304" pitchFamily="18" charset="0"/>
                <a:cs typeface="Times New Roman" panose="02020603050405020304" pitchFamily="18" charset="0"/>
              </a:rPr>
              <a:t>a supermarket can operate on the Web without a physical store or employing a lot </a:t>
            </a:r>
            <a:r>
              <a:rPr lang="en-US" sz="2200" dirty="0" smtClean="0">
                <a:latin typeface="Times New Roman" panose="02020603050405020304" pitchFamily="18" charset="0"/>
                <a:cs typeface="Times New Roman" panose="02020603050405020304" pitchFamily="18" charset="0"/>
              </a:rPr>
              <a:t>of sales </a:t>
            </a:r>
            <a:r>
              <a:rPr lang="en-US" sz="2200" dirty="0">
                <a:latin typeface="Times New Roman" panose="02020603050405020304" pitchFamily="18" charset="0"/>
                <a:cs typeface="Times New Roman" panose="02020603050405020304" pitchFamily="18" charset="0"/>
              </a:rPr>
              <a:t>staff. </a:t>
            </a:r>
            <a:endParaRPr lang="en-US" sz="2200" dirty="0" smtClean="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Traditional </a:t>
            </a:r>
            <a:r>
              <a:rPr lang="en-US" sz="2200" dirty="0">
                <a:latin typeface="Times New Roman" panose="02020603050405020304" pitchFamily="18" charset="0"/>
                <a:cs typeface="Times New Roman" panose="02020603050405020304" pitchFamily="18" charset="0"/>
              </a:rPr>
              <a:t>stores maintain an inventory of goods in their stores and </a:t>
            </a:r>
            <a:r>
              <a:rPr lang="en-US" sz="2200" dirty="0" smtClean="0">
                <a:latin typeface="Times New Roman" panose="02020603050405020304" pitchFamily="18" charset="0"/>
                <a:cs typeface="Times New Roman" panose="02020603050405020304" pitchFamily="18" charset="0"/>
              </a:rPr>
              <a:t>periodically replenish </a:t>
            </a:r>
            <a:r>
              <a:rPr lang="en-US" sz="2200" dirty="0">
                <a:latin typeface="Times New Roman" panose="02020603050405020304" pitchFamily="18" charset="0"/>
                <a:cs typeface="Times New Roman" panose="02020603050405020304" pitchFamily="18" charset="0"/>
              </a:rPr>
              <a:t>this inventory from warehouses. </a:t>
            </a:r>
            <a:endParaRPr lang="en-US" sz="2200" dirty="0" smtClean="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With </a:t>
            </a:r>
            <a:r>
              <a:rPr lang="en-US" sz="2200" dirty="0">
                <a:latin typeface="Times New Roman" panose="02020603050405020304" pitchFamily="18" charset="0"/>
                <a:cs typeface="Times New Roman" panose="02020603050405020304" pitchFamily="18" charset="0"/>
              </a:rPr>
              <a:t>e-commerce, there is no in-store </a:t>
            </a:r>
            <a:r>
              <a:rPr lang="en-US" sz="2200" dirty="0" smtClean="0">
                <a:latin typeface="Times New Roman" panose="02020603050405020304" pitchFamily="18" charset="0"/>
                <a:cs typeface="Times New Roman" panose="02020603050405020304" pitchFamily="18" charset="0"/>
              </a:rPr>
              <a:t>inventory and </a:t>
            </a:r>
            <a:r>
              <a:rPr lang="en-US" sz="2200" dirty="0">
                <a:latin typeface="Times New Roman" panose="02020603050405020304" pitchFamily="18" charset="0"/>
                <a:cs typeface="Times New Roman" panose="02020603050405020304" pitchFamily="18" charset="0"/>
              </a:rPr>
              <a:t>products are shipped directly from warehouse.</a:t>
            </a:r>
            <a:endParaRPr lang="en-US" sz="2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05674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b="1" dirty="0"/>
              <a:t>TYPES OF E-COMMERCE</a:t>
            </a:r>
            <a:r>
              <a:rPr lang="en-US" sz="4800" b="1" dirty="0" smtClean="0"/>
              <a:t> </a:t>
            </a:r>
            <a:endParaRPr lang="en-GB" sz="4800" b="1" dirty="0">
              <a:latin typeface="Comic Sans MS" panose="030F0702030302020204" pitchFamily="66" charset="0"/>
            </a:endParaRPr>
          </a:p>
        </p:txBody>
      </p:sp>
      <p:sp>
        <p:nvSpPr>
          <p:cNvPr id="5" name="Rectangle 3"/>
          <p:cNvSpPr txBox="1">
            <a:spLocks noChangeArrowheads="1"/>
          </p:cNvSpPr>
          <p:nvPr/>
        </p:nvSpPr>
        <p:spPr bwMode="auto">
          <a:xfrm>
            <a:off x="457200" y="1484784"/>
            <a:ext cx="7931224"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2100" dirty="0">
                <a:latin typeface="Times New Roman" panose="02020603050405020304" pitchFamily="18" charset="0"/>
                <a:cs typeface="Times New Roman" panose="02020603050405020304" pitchFamily="18" charset="0"/>
              </a:rPr>
              <a:t>There are three basic types of electronic commerce: business-to-consumer (B2C), </a:t>
            </a:r>
            <a:r>
              <a:rPr lang="en-US" sz="2100" dirty="0" smtClean="0">
                <a:latin typeface="Times New Roman" panose="02020603050405020304" pitchFamily="18" charset="0"/>
                <a:cs typeface="Times New Roman" panose="02020603050405020304" pitchFamily="18" charset="0"/>
              </a:rPr>
              <a:t>consumer-to-consumer </a:t>
            </a:r>
            <a:r>
              <a:rPr lang="en-US" sz="2100" dirty="0">
                <a:latin typeface="Times New Roman" panose="02020603050405020304" pitchFamily="18" charset="0"/>
                <a:cs typeface="Times New Roman" panose="02020603050405020304" pitchFamily="18" charset="0"/>
              </a:rPr>
              <a:t>(C2C), business-to-business (B2B).</a:t>
            </a:r>
          </a:p>
          <a:p>
            <a:r>
              <a:rPr lang="en-US" sz="3000" b="1" dirty="0" smtClean="0">
                <a:latin typeface="Times New Roman" panose="02020603050405020304" pitchFamily="18" charset="0"/>
                <a:cs typeface="Times New Roman" panose="02020603050405020304" pitchFamily="18" charset="0"/>
              </a:rPr>
              <a:t>Business-to-consumer </a:t>
            </a:r>
            <a:r>
              <a:rPr lang="en-US" sz="3000" b="1" dirty="0">
                <a:latin typeface="Times New Roman" panose="02020603050405020304" pitchFamily="18" charset="0"/>
                <a:cs typeface="Times New Roman" panose="02020603050405020304" pitchFamily="18" charset="0"/>
              </a:rPr>
              <a:t>(B2C)</a:t>
            </a:r>
          </a:p>
          <a:p>
            <a:pPr marL="717550">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B2C e-commerce is the fastest growing type of e-commerce. </a:t>
            </a:r>
            <a:endParaRPr lang="en-US" sz="2100" dirty="0" smtClean="0">
              <a:latin typeface="Times New Roman" panose="02020603050405020304" pitchFamily="18" charset="0"/>
              <a:cs typeface="Times New Roman" panose="02020603050405020304" pitchFamily="18" charset="0"/>
            </a:endParaRPr>
          </a:p>
          <a:p>
            <a:pPr marL="717550">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It </a:t>
            </a:r>
            <a:r>
              <a:rPr lang="en-US" sz="2100" dirty="0">
                <a:latin typeface="Times New Roman" panose="02020603050405020304" pitchFamily="18" charset="0"/>
                <a:cs typeface="Times New Roman" panose="02020603050405020304" pitchFamily="18" charset="0"/>
              </a:rPr>
              <a:t>is used by large corporation</a:t>
            </a:r>
            <a:r>
              <a:rPr lang="en-US" sz="2100" dirty="0" smtClean="0">
                <a:latin typeface="Times New Roman" panose="02020603050405020304" pitchFamily="18" charset="0"/>
                <a:cs typeface="Times New Roman" panose="02020603050405020304" pitchFamily="18" charset="0"/>
              </a:rPr>
              <a:t>, small </a:t>
            </a:r>
            <a:r>
              <a:rPr lang="en-US" sz="2100" dirty="0">
                <a:latin typeface="Times New Roman" panose="02020603050405020304" pitchFamily="18" charset="0"/>
                <a:cs typeface="Times New Roman" panose="02020603050405020304" pitchFamily="18" charset="0"/>
              </a:rPr>
              <a:t>corporations and start-up corporations. </a:t>
            </a:r>
            <a:endParaRPr lang="en-US" sz="2100" dirty="0" smtClean="0">
              <a:latin typeface="Times New Roman" panose="02020603050405020304" pitchFamily="18" charset="0"/>
              <a:cs typeface="Times New Roman" panose="02020603050405020304" pitchFamily="18" charset="0"/>
            </a:endParaRPr>
          </a:p>
          <a:p>
            <a:pPr marL="717550">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This </a:t>
            </a:r>
            <a:r>
              <a:rPr lang="en-US" sz="2100" dirty="0">
                <a:latin typeface="Times New Roman" panose="02020603050405020304" pitchFamily="18" charset="0"/>
                <a:cs typeface="Times New Roman" panose="02020603050405020304" pitchFamily="18" charset="0"/>
              </a:rPr>
              <a:t>involves the sale of a product or service </a:t>
            </a:r>
            <a:r>
              <a:rPr lang="en-US" sz="2100" dirty="0" smtClean="0">
                <a:latin typeface="Times New Roman" panose="02020603050405020304" pitchFamily="18" charset="0"/>
                <a:cs typeface="Times New Roman" panose="02020603050405020304" pitchFamily="18" charset="0"/>
              </a:rPr>
              <a:t>to the </a:t>
            </a:r>
            <a:r>
              <a:rPr lang="en-US" sz="2100" dirty="0">
                <a:latin typeface="Times New Roman" panose="02020603050405020304" pitchFamily="18" charset="0"/>
                <a:cs typeface="Times New Roman" panose="02020603050405020304" pitchFamily="18" charset="0"/>
              </a:rPr>
              <a:t>general public or end-users. </a:t>
            </a:r>
            <a:endParaRPr lang="en-US" sz="2100" dirty="0" smtClean="0">
              <a:latin typeface="Times New Roman" panose="02020603050405020304" pitchFamily="18" charset="0"/>
              <a:cs typeface="Times New Roman" panose="02020603050405020304" pitchFamily="18" charset="0"/>
            </a:endParaRPr>
          </a:p>
          <a:p>
            <a:pPr marL="717550">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Most </a:t>
            </a:r>
            <a:r>
              <a:rPr lang="en-US" sz="2100" dirty="0">
                <a:latin typeface="Times New Roman" panose="02020603050405020304" pitchFamily="18" charset="0"/>
                <a:cs typeface="Times New Roman" panose="02020603050405020304" pitchFamily="18" charset="0"/>
              </a:rPr>
              <a:t>times this arrangement eliminates the middleman </a:t>
            </a:r>
            <a:r>
              <a:rPr lang="en-US" sz="2100" dirty="0" smtClean="0">
                <a:latin typeface="Times New Roman" panose="02020603050405020304" pitchFamily="18" charset="0"/>
                <a:cs typeface="Times New Roman" panose="02020603050405020304" pitchFamily="18" charset="0"/>
              </a:rPr>
              <a:t>by </a:t>
            </a:r>
            <a:r>
              <a:rPr lang="en-US" sz="2100" dirty="0">
                <a:latin typeface="Times New Roman" panose="02020603050405020304" pitchFamily="18" charset="0"/>
                <a:cs typeface="Times New Roman" panose="02020603050405020304" pitchFamily="18" charset="0"/>
              </a:rPr>
              <a:t>allowing the manufacturers to sell directly to customers. </a:t>
            </a:r>
            <a:endParaRPr lang="en-US" sz="2100" dirty="0" smtClean="0">
              <a:latin typeface="Times New Roman" panose="02020603050405020304" pitchFamily="18" charset="0"/>
              <a:cs typeface="Times New Roman" panose="02020603050405020304" pitchFamily="18" charset="0"/>
            </a:endParaRPr>
          </a:p>
          <a:p>
            <a:pPr marL="717550">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Existing </a:t>
            </a:r>
            <a:r>
              <a:rPr lang="en-US" sz="2100" dirty="0">
                <a:latin typeface="Times New Roman" panose="02020603050405020304" pitchFamily="18" charset="0"/>
                <a:cs typeface="Times New Roman" panose="02020603050405020304" pitchFamily="18" charset="0"/>
              </a:rPr>
              <a:t>retailers use B2C </a:t>
            </a:r>
            <a:r>
              <a:rPr lang="en-US" sz="2100" dirty="0" smtClean="0">
                <a:latin typeface="Times New Roman" panose="02020603050405020304" pitchFamily="18" charset="0"/>
                <a:cs typeface="Times New Roman" panose="02020603050405020304" pitchFamily="18" charset="0"/>
              </a:rPr>
              <a:t>ecommerce to </a:t>
            </a:r>
            <a:r>
              <a:rPr lang="en-US" sz="2100" dirty="0">
                <a:latin typeface="Times New Roman" panose="02020603050405020304" pitchFamily="18" charset="0"/>
                <a:cs typeface="Times New Roman" panose="02020603050405020304" pitchFamily="18" charset="0"/>
              </a:rPr>
              <a:t>create a presence on the Web as a means of reaching out to customers. </a:t>
            </a:r>
            <a:endParaRPr lang="en-US" sz="21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01948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b="1" dirty="0"/>
              <a:t>TYPES OF E-COMMERCE</a:t>
            </a:r>
            <a:r>
              <a:rPr lang="en-US" sz="4800" b="1" dirty="0" smtClean="0"/>
              <a:t> </a:t>
            </a:r>
            <a:endParaRPr lang="en-GB" sz="4800" b="1" dirty="0">
              <a:latin typeface="Comic Sans MS" panose="030F0702030302020204" pitchFamily="66" charset="0"/>
            </a:endParaRPr>
          </a:p>
        </p:txBody>
      </p:sp>
      <p:sp>
        <p:nvSpPr>
          <p:cNvPr id="5" name="Rectangle 3"/>
          <p:cNvSpPr txBox="1">
            <a:spLocks noChangeArrowheads="1"/>
          </p:cNvSpPr>
          <p:nvPr/>
        </p:nvSpPr>
        <p:spPr bwMode="auto">
          <a:xfrm>
            <a:off x="457200" y="1484784"/>
            <a:ext cx="7931224"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dirty="0">
                <a:latin typeface="Times New Roman" panose="02020603050405020304" pitchFamily="18" charset="0"/>
                <a:cs typeface="Times New Roman" panose="02020603050405020304" pitchFamily="18" charset="0"/>
              </a:rPr>
              <a:t>The three most widely used B2C applications </a:t>
            </a:r>
            <a:r>
              <a:rPr lang="en-US" sz="2300" dirty="0" smtClean="0">
                <a:latin typeface="Times New Roman" panose="02020603050405020304" pitchFamily="18" charset="0"/>
                <a:cs typeface="Times New Roman" panose="02020603050405020304" pitchFamily="18" charset="0"/>
              </a:rPr>
              <a:t>are: </a:t>
            </a:r>
            <a:endParaRPr lang="en-US" sz="2300" dirty="0">
              <a:latin typeface="Times New Roman" panose="02020603050405020304" pitchFamily="18" charset="0"/>
              <a:cs typeface="Times New Roman" panose="02020603050405020304" pitchFamily="18" charset="0"/>
            </a:endParaRPr>
          </a:p>
          <a:p>
            <a:pPr marL="900113">
              <a:lnSpc>
                <a:spcPct val="200000"/>
              </a:lnSpc>
              <a:buFont typeface="Wingdings" panose="05000000000000000000" pitchFamily="2" charset="2"/>
              <a:buChar char="Ø"/>
              <a:tabLst>
                <a:tab pos="801688" algn="l"/>
              </a:tabLst>
            </a:pPr>
            <a:r>
              <a:rPr lang="en-US" sz="2300" b="1" i="1" dirty="0" smtClean="0">
                <a:latin typeface="Times New Roman" panose="02020603050405020304" pitchFamily="18" charset="0"/>
                <a:cs typeface="Times New Roman" panose="02020603050405020304" pitchFamily="18" charset="0"/>
              </a:rPr>
              <a:t>Online banking</a:t>
            </a:r>
          </a:p>
          <a:p>
            <a:pPr marL="900113">
              <a:lnSpc>
                <a:spcPct val="200000"/>
              </a:lnSpc>
              <a:buFont typeface="Wingdings" panose="05000000000000000000" pitchFamily="2" charset="2"/>
              <a:buChar char="Ø"/>
              <a:tabLst>
                <a:tab pos="801688" algn="l"/>
              </a:tabLst>
            </a:pPr>
            <a:r>
              <a:rPr lang="en-US" sz="2300" b="1" i="1" dirty="0" smtClean="0">
                <a:latin typeface="Times New Roman" panose="02020603050405020304" pitchFamily="18" charset="0"/>
                <a:cs typeface="Times New Roman" panose="02020603050405020304" pitchFamily="18" charset="0"/>
              </a:rPr>
              <a:t>Financial trading</a:t>
            </a:r>
          </a:p>
          <a:p>
            <a:pPr marL="900113">
              <a:lnSpc>
                <a:spcPct val="200000"/>
              </a:lnSpc>
              <a:buFont typeface="Wingdings" panose="05000000000000000000" pitchFamily="2" charset="2"/>
              <a:buChar char="Ø"/>
              <a:tabLst>
                <a:tab pos="801688" algn="l"/>
              </a:tabLst>
            </a:pPr>
            <a:r>
              <a:rPr lang="en-US" sz="2300" b="1" i="1" dirty="0" smtClean="0">
                <a:latin typeface="Times New Roman" panose="02020603050405020304" pitchFamily="18" charset="0"/>
                <a:cs typeface="Times New Roman" panose="02020603050405020304" pitchFamily="18" charset="0"/>
              </a:rPr>
              <a:t>Shopping</a:t>
            </a:r>
            <a:endParaRPr lang="en-US" sz="23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91104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b="1" dirty="0" smtClean="0"/>
              <a:t>TYPES OF E-COMMERCE</a:t>
            </a:r>
            <a:r>
              <a:rPr lang="en-US" sz="4800" b="1" dirty="0" smtClean="0"/>
              <a:t> </a:t>
            </a:r>
            <a:endParaRPr lang="en-GB" sz="4800" b="1" dirty="0">
              <a:latin typeface="Comic Sans MS" panose="030F0702030302020204" pitchFamily="66" charset="0"/>
            </a:endParaRPr>
          </a:p>
        </p:txBody>
      </p:sp>
      <p:sp>
        <p:nvSpPr>
          <p:cNvPr id="5" name="Rectangle 3"/>
          <p:cNvSpPr txBox="1">
            <a:spLocks noChangeArrowheads="1"/>
          </p:cNvSpPr>
          <p:nvPr/>
        </p:nvSpPr>
        <p:spPr bwMode="auto">
          <a:xfrm>
            <a:off x="457200" y="1484784"/>
            <a:ext cx="8363272"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3000" b="1" dirty="0">
                <a:latin typeface="Times New Roman" panose="02020603050405020304" pitchFamily="18" charset="0"/>
                <a:cs typeface="Times New Roman" panose="02020603050405020304" pitchFamily="18" charset="0"/>
              </a:rPr>
              <a:t>Consumer-to-consumer (C2C)</a:t>
            </a:r>
          </a:p>
          <a:p>
            <a:pPr marL="717550">
              <a:lnSpc>
                <a:spcPct val="150000"/>
              </a:lnSpc>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This trading involves individuals selling to individuals, and takes the form of an </a:t>
            </a:r>
            <a:r>
              <a:rPr lang="en-US" sz="2100" dirty="0" smtClean="0">
                <a:latin typeface="Times New Roman" panose="02020603050405020304" pitchFamily="18" charset="0"/>
                <a:cs typeface="Times New Roman" panose="02020603050405020304" pitchFamily="18" charset="0"/>
              </a:rPr>
              <a:t>electronic classified </a:t>
            </a:r>
            <a:r>
              <a:rPr lang="en-US" sz="2100" dirty="0">
                <a:latin typeface="Times New Roman" panose="02020603050405020304" pitchFamily="18" charset="0"/>
                <a:cs typeface="Times New Roman" panose="02020603050405020304" pitchFamily="18" charset="0"/>
              </a:rPr>
              <a:t>advert or an auction (Web Auction). </a:t>
            </a:r>
            <a:endParaRPr lang="en-US" sz="2100" dirty="0" smtClean="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Goods </a:t>
            </a:r>
            <a:r>
              <a:rPr lang="en-US" sz="2100" dirty="0">
                <a:latin typeface="Times New Roman" panose="02020603050405020304" pitchFamily="18" charset="0"/>
                <a:cs typeface="Times New Roman" panose="02020603050405020304" pitchFamily="18" charset="0"/>
              </a:rPr>
              <a:t>are describe and interested </a:t>
            </a:r>
            <a:r>
              <a:rPr lang="en-US" sz="2100" dirty="0" smtClean="0">
                <a:latin typeface="Times New Roman" panose="02020603050405020304" pitchFamily="18" charset="0"/>
                <a:cs typeface="Times New Roman" panose="02020603050405020304" pitchFamily="18" charset="0"/>
              </a:rPr>
              <a:t>buyers contact </a:t>
            </a:r>
            <a:r>
              <a:rPr lang="en-US" sz="2100" dirty="0">
                <a:latin typeface="Times New Roman" panose="02020603050405020304" pitchFamily="18" charset="0"/>
                <a:cs typeface="Times New Roman" panose="02020603050405020304" pitchFamily="18" charset="0"/>
              </a:rPr>
              <a:t>sellers to negotiate prices, and buyers and sellers never meet face-to-face. Sellers </a:t>
            </a:r>
            <a:r>
              <a:rPr lang="en-US" sz="2100" dirty="0" smtClean="0">
                <a:latin typeface="Times New Roman" panose="02020603050405020304" pitchFamily="18" charset="0"/>
                <a:cs typeface="Times New Roman" panose="02020603050405020304" pitchFamily="18" charset="0"/>
              </a:rPr>
              <a:t>post descript </a:t>
            </a:r>
            <a:r>
              <a:rPr lang="en-US" sz="2100" dirty="0">
                <a:latin typeface="Times New Roman" panose="02020603050405020304" pitchFamily="18" charset="0"/>
                <a:cs typeface="Times New Roman" panose="02020603050405020304" pitchFamily="18" charset="0"/>
              </a:rPr>
              <a:t>ion of products at a Web site and buyers submit bids electronically. </a:t>
            </a:r>
            <a:endParaRPr lang="en-US" sz="2100" dirty="0" smtClean="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There </a:t>
            </a:r>
            <a:r>
              <a:rPr lang="en-US" sz="2100" dirty="0">
                <a:latin typeface="Times New Roman" panose="02020603050405020304" pitchFamily="18" charset="0"/>
                <a:cs typeface="Times New Roman" panose="02020603050405020304" pitchFamily="18" charset="0"/>
              </a:rPr>
              <a:t>are </a:t>
            </a:r>
            <a:r>
              <a:rPr lang="en-US" sz="2100" dirty="0" smtClean="0">
                <a:latin typeface="Times New Roman" panose="02020603050405020304" pitchFamily="18" charset="0"/>
                <a:cs typeface="Times New Roman" panose="02020603050405020304" pitchFamily="18" charset="0"/>
              </a:rPr>
              <a:t>two basic </a:t>
            </a:r>
            <a:r>
              <a:rPr lang="en-US" sz="2100" dirty="0">
                <a:latin typeface="Times New Roman" panose="02020603050405020304" pitchFamily="18" charset="0"/>
                <a:cs typeface="Times New Roman" panose="02020603050405020304" pitchFamily="18" charset="0"/>
              </a:rPr>
              <a:t>types of Web auction sites</a:t>
            </a:r>
            <a:r>
              <a:rPr lang="en-US" sz="2100" dirty="0" smtClean="0">
                <a:latin typeface="Times New Roman" panose="02020603050405020304" pitchFamily="18" charset="0"/>
                <a:cs typeface="Times New Roman" panose="02020603050405020304" pitchFamily="18" charset="0"/>
              </a:rPr>
              <a:t>.</a:t>
            </a:r>
          </a:p>
          <a:p>
            <a:pPr marL="1252538" indent="-352425">
              <a:lnSpc>
                <a:spcPct val="150000"/>
              </a:lnSpc>
              <a:buFont typeface="Wingdings" panose="05000000000000000000" pitchFamily="2" charset="2"/>
              <a:buChar char="§"/>
            </a:pPr>
            <a:r>
              <a:rPr lang="en-US" sz="2100" b="1" i="1" dirty="0" smtClean="0">
                <a:latin typeface="Times New Roman" panose="02020603050405020304" pitchFamily="18" charset="0"/>
                <a:cs typeface="Times New Roman" panose="02020603050405020304" pitchFamily="18" charset="0"/>
              </a:rPr>
              <a:t>Auction </a:t>
            </a:r>
            <a:r>
              <a:rPr lang="en-US" sz="2100" b="1" i="1" dirty="0">
                <a:latin typeface="Times New Roman" panose="02020603050405020304" pitchFamily="18" charset="0"/>
                <a:cs typeface="Times New Roman" panose="02020603050405020304" pitchFamily="18" charset="0"/>
              </a:rPr>
              <a:t>house sites</a:t>
            </a:r>
            <a:r>
              <a:rPr lang="en-US" sz="2100" b="1" i="1" dirty="0" smtClean="0">
                <a:latin typeface="Times New Roman" panose="02020603050405020304" pitchFamily="18" charset="0"/>
                <a:cs typeface="Times New Roman" panose="02020603050405020304" pitchFamily="18" charset="0"/>
              </a:rPr>
              <a:t>:</a:t>
            </a:r>
          </a:p>
          <a:p>
            <a:pPr marL="1252538" indent="-352425">
              <a:lnSpc>
                <a:spcPct val="150000"/>
              </a:lnSpc>
              <a:buFont typeface="Wingdings" panose="05000000000000000000" pitchFamily="2" charset="2"/>
              <a:buChar char="§"/>
            </a:pPr>
            <a:r>
              <a:rPr lang="en-US" sz="2100" b="1" i="1" dirty="0">
                <a:latin typeface="Times New Roman" panose="02020603050405020304" pitchFamily="18" charset="0"/>
                <a:cs typeface="Times New Roman" panose="02020603050405020304" pitchFamily="18" charset="0"/>
              </a:rPr>
              <a:t>Person-to-person auction sites</a:t>
            </a:r>
            <a:endParaRPr lang="en-US" sz="21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78632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b="1" dirty="0" smtClean="0"/>
              <a:t>TYPES OF E-COMMERCE</a:t>
            </a:r>
            <a:r>
              <a:rPr lang="en-US" sz="4800" b="1" dirty="0" smtClean="0"/>
              <a:t> </a:t>
            </a:r>
            <a:endParaRPr lang="en-GB" sz="48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3000" b="1" dirty="0">
                <a:latin typeface="Times New Roman" panose="02020603050405020304" pitchFamily="18" charset="0"/>
                <a:cs typeface="Times New Roman" panose="02020603050405020304" pitchFamily="18" charset="0"/>
              </a:rPr>
              <a:t>Business-to-business (B2B)</a:t>
            </a:r>
          </a:p>
          <a:p>
            <a:pPr>
              <a:lnSpc>
                <a:spcPct val="150000"/>
              </a:lnSpc>
            </a:pPr>
            <a:r>
              <a:rPr lang="en-US" sz="2100" dirty="0">
                <a:latin typeface="Times New Roman" panose="02020603050405020304" pitchFamily="18" charset="0"/>
                <a:cs typeface="Times New Roman" panose="02020603050405020304" pitchFamily="18" charset="0"/>
              </a:rPr>
              <a:t>B2B involves the sale of a service or product from one business to another.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This </a:t>
            </a:r>
            <a:r>
              <a:rPr lang="en-US" sz="2100" dirty="0">
                <a:latin typeface="Times New Roman" panose="02020603050405020304" pitchFamily="18" charset="0"/>
                <a:cs typeface="Times New Roman" panose="02020603050405020304" pitchFamily="18" charset="0"/>
              </a:rPr>
              <a:t>is typically </a:t>
            </a:r>
            <a:r>
              <a:rPr lang="en-US" sz="2100" dirty="0" smtClean="0">
                <a:latin typeface="Times New Roman" panose="02020603050405020304" pitchFamily="18" charset="0"/>
                <a:cs typeface="Times New Roman" panose="02020603050405020304" pitchFamily="18" charset="0"/>
              </a:rPr>
              <a:t>a manufacturer’s </a:t>
            </a:r>
            <a:r>
              <a:rPr lang="en-US" sz="2100" dirty="0">
                <a:latin typeface="Times New Roman" panose="02020603050405020304" pitchFamily="18" charset="0"/>
                <a:cs typeface="Times New Roman" panose="02020603050405020304" pitchFamily="18" charset="0"/>
              </a:rPr>
              <a:t>supplier relationship. </a:t>
            </a:r>
            <a:endParaRPr lang="en-US" sz="2100" dirty="0" smtClean="0">
              <a:latin typeface="Times New Roman" panose="02020603050405020304" pitchFamily="18" charset="0"/>
              <a:cs typeface="Times New Roman" panose="02020603050405020304" pitchFamily="18" charset="0"/>
            </a:endParaRPr>
          </a:p>
          <a:p>
            <a:pPr marL="365125" indent="0">
              <a:lnSpc>
                <a:spcPct val="150000"/>
              </a:lnSpc>
              <a:buNone/>
              <a:tabLst>
                <a:tab pos="266700" algn="l"/>
              </a:tabLst>
            </a:pPr>
            <a:r>
              <a:rPr lang="en-US" sz="2100" dirty="0" smtClean="0">
                <a:latin typeface="Times New Roman" panose="02020603050405020304" pitchFamily="18" charset="0"/>
                <a:cs typeface="Times New Roman" panose="02020603050405020304" pitchFamily="18" charset="0"/>
              </a:rPr>
              <a:t>For </a:t>
            </a:r>
            <a:r>
              <a:rPr lang="en-US" sz="2100" dirty="0">
                <a:latin typeface="Times New Roman" panose="02020603050405020304" pitchFamily="18" charset="0"/>
                <a:cs typeface="Times New Roman" panose="02020603050405020304" pitchFamily="18" charset="0"/>
              </a:rPr>
              <a:t>example, a furniture manufacturer requiring </a:t>
            </a:r>
            <a:r>
              <a:rPr lang="en-US" sz="2100" dirty="0" smtClean="0">
                <a:latin typeface="Times New Roman" panose="02020603050405020304" pitchFamily="18" charset="0"/>
                <a:cs typeface="Times New Roman" panose="02020603050405020304" pitchFamily="18" charset="0"/>
              </a:rPr>
              <a:t>raw materials </a:t>
            </a:r>
            <a:r>
              <a:rPr lang="en-US" sz="2100" dirty="0">
                <a:latin typeface="Times New Roman" panose="02020603050405020304" pitchFamily="18" charset="0"/>
                <a:cs typeface="Times New Roman" panose="02020603050405020304" pitchFamily="18" charset="0"/>
              </a:rPr>
              <a:t>such as wood, paint, and varnish.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In </a:t>
            </a:r>
            <a:r>
              <a:rPr lang="en-US" sz="2100" dirty="0">
                <a:latin typeface="Times New Roman" panose="02020603050405020304" pitchFamily="18" charset="0"/>
                <a:cs typeface="Times New Roman" panose="02020603050405020304" pitchFamily="18" charset="0"/>
              </a:rPr>
              <a:t>B2B e-commerce manufacturers place an </a:t>
            </a:r>
            <a:r>
              <a:rPr lang="en-US" sz="2100" dirty="0" smtClean="0">
                <a:latin typeface="Times New Roman" panose="02020603050405020304" pitchFamily="18" charset="0"/>
                <a:cs typeface="Times New Roman" panose="02020603050405020304" pitchFamily="18" charset="0"/>
              </a:rPr>
              <a:t>order electronically </a:t>
            </a:r>
            <a:r>
              <a:rPr lang="en-US" sz="2100" dirty="0">
                <a:latin typeface="Times New Roman" panose="02020603050405020304" pitchFamily="18" charset="0"/>
                <a:cs typeface="Times New Roman" panose="02020603050405020304" pitchFamily="18" charset="0"/>
              </a:rPr>
              <a:t>with suppliers and many times payment is made electronically.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The most popular </a:t>
            </a:r>
            <a:r>
              <a:rPr lang="en-US" sz="2100" dirty="0">
                <a:latin typeface="Times New Roman" panose="02020603050405020304" pitchFamily="18" charset="0"/>
                <a:cs typeface="Times New Roman" panose="02020603050405020304" pitchFamily="18" charset="0"/>
              </a:rPr>
              <a:t>B2B e-commerce is for automobile parts, electronics including computers and </a:t>
            </a:r>
            <a:r>
              <a:rPr lang="en-US" sz="2100" dirty="0" smtClean="0">
                <a:latin typeface="Times New Roman" panose="02020603050405020304" pitchFamily="18" charset="0"/>
                <a:cs typeface="Times New Roman" panose="02020603050405020304" pitchFamily="18" charset="0"/>
              </a:rPr>
              <a:t>health care</a:t>
            </a:r>
            <a:r>
              <a:rPr lang="en-US" sz="2100" dirty="0">
                <a:latin typeface="Times New Roman" panose="02020603050405020304" pitchFamily="18" charset="0"/>
                <a:cs typeface="Times New Roman" panose="02020603050405020304" pitchFamily="18" charset="0"/>
              </a:rPr>
              <a:t>.</a:t>
            </a:r>
            <a:endParaRPr lang="en-US" sz="21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13213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b="1" dirty="0"/>
              <a:t>BENEFITS OF E-COMMERCE</a:t>
            </a:r>
            <a:endParaRPr lang="en-GB" sz="4800" b="1" dirty="0">
              <a:latin typeface="Comic Sans MS" panose="030F0702030302020204" pitchFamily="66" charset="0"/>
            </a:endParaRPr>
          </a:p>
        </p:txBody>
      </p:sp>
      <p:sp>
        <p:nvSpPr>
          <p:cNvPr id="5" name="Rectangle 3"/>
          <p:cNvSpPr txBox="1">
            <a:spLocks noChangeArrowheads="1"/>
          </p:cNvSpPr>
          <p:nvPr/>
        </p:nvSpPr>
        <p:spPr bwMode="auto">
          <a:xfrm>
            <a:off x="457200" y="1412776"/>
            <a:ext cx="8363272" cy="544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b="1" dirty="0" smtClean="0">
                <a:latin typeface="Times New Roman" panose="02020603050405020304" pitchFamily="18" charset="0"/>
                <a:cs typeface="Times New Roman" panose="02020603050405020304" pitchFamily="18" charset="0"/>
              </a:rPr>
              <a:t>Geographic </a:t>
            </a:r>
            <a:r>
              <a:rPr lang="en-US" sz="2100" b="1" dirty="0">
                <a:latin typeface="Times New Roman" panose="02020603050405020304" pitchFamily="18" charset="0"/>
                <a:cs typeface="Times New Roman" panose="02020603050405020304" pitchFamily="18" charset="0"/>
              </a:rPr>
              <a:t>Reach: </a:t>
            </a:r>
            <a:r>
              <a:rPr lang="en-US" sz="2100" dirty="0">
                <a:latin typeface="Times New Roman" panose="02020603050405020304" pitchFamily="18" charset="0"/>
                <a:cs typeface="Times New Roman" panose="02020603050405020304" pitchFamily="18" charset="0"/>
              </a:rPr>
              <a:t>geographical distance does not create a barrier to reaching </a:t>
            </a:r>
            <a:r>
              <a:rPr lang="en-US" sz="2100" dirty="0" smtClean="0">
                <a:latin typeface="Times New Roman" panose="02020603050405020304" pitchFamily="18" charset="0"/>
                <a:cs typeface="Times New Roman" panose="02020603050405020304" pitchFamily="18" charset="0"/>
              </a:rPr>
              <a:t>and serving </a:t>
            </a:r>
            <a:r>
              <a:rPr lang="en-US" sz="2100" dirty="0">
                <a:latin typeface="Times New Roman" panose="02020603050405020304" pitchFamily="18" charset="0"/>
                <a:cs typeface="Times New Roman" panose="02020603050405020304" pitchFamily="18" charset="0"/>
              </a:rPr>
              <a:t>customers electronically or for interacting with suppliers.</a:t>
            </a:r>
          </a:p>
          <a:p>
            <a:pPr>
              <a:lnSpc>
                <a:spcPct val="150000"/>
              </a:lnSpc>
            </a:pPr>
            <a:r>
              <a:rPr lang="en-US" sz="2100" b="1" dirty="0" smtClean="0">
                <a:latin typeface="Times New Roman" panose="02020603050405020304" pitchFamily="18" charset="0"/>
                <a:cs typeface="Times New Roman" panose="02020603050405020304" pitchFamily="18" charset="0"/>
              </a:rPr>
              <a:t>Speed</a:t>
            </a: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near instant exchange of information means the interaction between buyer </a:t>
            </a:r>
            <a:r>
              <a:rPr lang="en-US" sz="2100" dirty="0" smtClean="0">
                <a:latin typeface="Times New Roman" panose="02020603050405020304" pitchFamily="18" charset="0"/>
                <a:cs typeface="Times New Roman" panose="02020603050405020304" pitchFamily="18" charset="0"/>
              </a:rPr>
              <a:t>and seller </a:t>
            </a:r>
            <a:r>
              <a:rPr lang="en-US" sz="2100" dirty="0">
                <a:latin typeface="Times New Roman" panose="02020603050405020304" pitchFamily="18" charset="0"/>
                <a:cs typeface="Times New Roman" panose="02020603050405020304" pitchFamily="18" charset="0"/>
              </a:rPr>
              <a:t>takes place at rapid speed.</a:t>
            </a:r>
          </a:p>
          <a:p>
            <a:pPr>
              <a:lnSpc>
                <a:spcPct val="150000"/>
              </a:lnSpc>
            </a:pPr>
            <a:r>
              <a:rPr lang="en-US" sz="2100" b="1" dirty="0" smtClean="0">
                <a:latin typeface="Times New Roman" panose="02020603050405020304" pitchFamily="18" charset="0"/>
                <a:cs typeface="Times New Roman" panose="02020603050405020304" pitchFamily="18" charset="0"/>
              </a:rPr>
              <a:t>Productivity</a:t>
            </a: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individuals are more productive when they can do more work in </a:t>
            </a:r>
            <a:r>
              <a:rPr lang="en-US" sz="2100" dirty="0" smtClean="0">
                <a:latin typeface="Times New Roman" panose="02020603050405020304" pitchFamily="18" charset="0"/>
                <a:cs typeface="Times New Roman" panose="02020603050405020304" pitchFamily="18" charset="0"/>
              </a:rPr>
              <a:t>a segment </a:t>
            </a:r>
            <a:r>
              <a:rPr lang="en-US" sz="2100" dirty="0">
                <a:latin typeface="Times New Roman" panose="02020603050405020304" pitchFamily="18" charset="0"/>
                <a:cs typeface="Times New Roman" panose="02020603050405020304" pitchFamily="18" charset="0"/>
              </a:rPr>
              <a:t>of time. Spending less time getting information means more time </a:t>
            </a:r>
            <a:r>
              <a:rPr lang="en-US" sz="2100" dirty="0" smtClean="0">
                <a:latin typeface="Times New Roman" panose="02020603050405020304" pitchFamily="18" charset="0"/>
                <a:cs typeface="Times New Roman" panose="02020603050405020304" pitchFamily="18" charset="0"/>
              </a:rPr>
              <a:t>available for </a:t>
            </a:r>
            <a:r>
              <a:rPr lang="en-US" sz="2100" dirty="0">
                <a:latin typeface="Times New Roman" panose="02020603050405020304" pitchFamily="18" charset="0"/>
                <a:cs typeface="Times New Roman" panose="02020603050405020304" pitchFamily="18" charset="0"/>
              </a:rPr>
              <a:t>its use, therein producing greater efficiency.</a:t>
            </a:r>
          </a:p>
          <a:p>
            <a:pPr>
              <a:lnSpc>
                <a:spcPct val="150000"/>
              </a:lnSpc>
            </a:pPr>
            <a:r>
              <a:rPr lang="en-US" sz="2100" b="1" dirty="0" smtClean="0">
                <a:latin typeface="Times New Roman" panose="02020603050405020304" pitchFamily="18" charset="0"/>
                <a:cs typeface="Times New Roman" panose="02020603050405020304" pitchFamily="18" charset="0"/>
              </a:rPr>
              <a:t>Information </a:t>
            </a:r>
            <a:r>
              <a:rPr lang="en-US" sz="2100" b="1" dirty="0">
                <a:latin typeface="Times New Roman" panose="02020603050405020304" pitchFamily="18" charset="0"/>
                <a:cs typeface="Times New Roman" panose="02020603050405020304" pitchFamily="18" charset="0"/>
              </a:rPr>
              <a:t>Sharing</a:t>
            </a:r>
            <a:r>
              <a:rPr lang="en-US" sz="2100" dirty="0">
                <a:latin typeface="Times New Roman" panose="02020603050405020304" pitchFamily="18" charset="0"/>
                <a:cs typeface="Times New Roman" panose="02020603050405020304" pitchFamily="18" charset="0"/>
              </a:rPr>
              <a:t>: virtually any form of information- text, graphics, audio, </a:t>
            </a:r>
            <a:r>
              <a:rPr lang="en-US" sz="2100" dirty="0" smtClean="0">
                <a:latin typeface="Times New Roman" panose="02020603050405020304" pitchFamily="18" charset="0"/>
                <a:cs typeface="Times New Roman" panose="02020603050405020304" pitchFamily="18" charset="0"/>
              </a:rPr>
              <a:t>video or </a:t>
            </a:r>
            <a:r>
              <a:rPr lang="en-US" sz="2100" dirty="0">
                <a:latin typeface="Times New Roman" panose="02020603050405020304" pitchFamily="18" charset="0"/>
                <a:cs typeface="Times New Roman" panose="02020603050405020304" pitchFamily="18" charset="0"/>
              </a:rPr>
              <a:t>animation- can be transmitted to recipients location on the network</a:t>
            </a:r>
            <a:r>
              <a:rPr lang="en-US" sz="2100" dirty="0" smtClean="0">
                <a:latin typeface="Times New Roman" panose="02020603050405020304" pitchFamily="18" charset="0"/>
                <a:cs typeface="Times New Roman" panose="02020603050405020304" pitchFamily="18" charset="0"/>
              </a:rPr>
              <a:t>.</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53312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b="1" dirty="0"/>
              <a:t>BENEFITS OF E-COMMERCE</a:t>
            </a:r>
            <a:endParaRPr lang="en-GB" sz="4800" b="1" dirty="0">
              <a:latin typeface="Comic Sans MS" panose="030F0702030302020204" pitchFamily="66" charset="0"/>
            </a:endParaRPr>
          </a:p>
        </p:txBody>
      </p:sp>
      <p:sp>
        <p:nvSpPr>
          <p:cNvPr id="5" name="Rectangle 3"/>
          <p:cNvSpPr txBox="1">
            <a:spLocks noChangeArrowheads="1"/>
          </p:cNvSpPr>
          <p:nvPr/>
        </p:nvSpPr>
        <p:spPr bwMode="auto">
          <a:xfrm>
            <a:off x="457200" y="1412776"/>
            <a:ext cx="8363272" cy="544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b="1" dirty="0" smtClean="0">
                <a:latin typeface="Times New Roman" panose="02020603050405020304" pitchFamily="18" charset="0"/>
                <a:cs typeface="Times New Roman" panose="02020603050405020304" pitchFamily="18" charset="0"/>
              </a:rPr>
              <a:t>New </a:t>
            </a:r>
            <a:r>
              <a:rPr lang="en-US" sz="2100" b="1" dirty="0">
                <a:latin typeface="Times New Roman" panose="02020603050405020304" pitchFamily="18" charset="0"/>
                <a:cs typeface="Times New Roman" panose="02020603050405020304" pitchFamily="18" charset="0"/>
              </a:rPr>
              <a:t>Features: </a:t>
            </a:r>
            <a:r>
              <a:rPr lang="en-US" sz="2100" dirty="0">
                <a:latin typeface="Times New Roman" panose="02020603050405020304" pitchFamily="18" charset="0"/>
                <a:cs typeface="Times New Roman" panose="02020603050405020304" pitchFamily="18" charset="0"/>
              </a:rPr>
              <a:t>new features can be added to product and services offered </a:t>
            </a:r>
            <a:r>
              <a:rPr lang="en-US" sz="2100" dirty="0" smtClean="0">
                <a:latin typeface="Times New Roman" panose="02020603050405020304" pitchFamily="18" charset="0"/>
                <a:cs typeface="Times New Roman" panose="02020603050405020304" pitchFamily="18" charset="0"/>
              </a:rPr>
              <a:t>over communications </a:t>
            </a:r>
            <a:r>
              <a:rPr lang="en-US" sz="2100" dirty="0">
                <a:latin typeface="Times New Roman" panose="02020603050405020304" pitchFamily="18" charset="0"/>
                <a:cs typeface="Times New Roman" panose="02020603050405020304" pitchFamily="18" charset="0"/>
              </a:rPr>
              <a:t>network, including personalized, automatic notification of </a:t>
            </a:r>
            <a:r>
              <a:rPr lang="en-US" sz="2100" dirty="0" smtClean="0">
                <a:latin typeface="Times New Roman" panose="02020603050405020304" pitchFamily="18" charset="0"/>
                <a:cs typeface="Times New Roman" panose="02020603050405020304" pitchFamily="18" charset="0"/>
              </a:rPr>
              <a:t>activities and </a:t>
            </a:r>
            <a:r>
              <a:rPr lang="en-US" sz="2100" dirty="0">
                <a:latin typeface="Times New Roman" panose="02020603050405020304" pitchFamily="18" charset="0"/>
                <a:cs typeface="Times New Roman" panose="02020603050405020304" pitchFamily="18" charset="0"/>
              </a:rPr>
              <a:t>instant delivery.</a:t>
            </a:r>
          </a:p>
          <a:p>
            <a:pPr>
              <a:lnSpc>
                <a:spcPct val="150000"/>
              </a:lnSpc>
            </a:pPr>
            <a:r>
              <a:rPr lang="en-US" sz="2100" b="1" dirty="0" smtClean="0">
                <a:latin typeface="Times New Roman" panose="02020603050405020304" pitchFamily="18" charset="0"/>
                <a:cs typeface="Times New Roman" panose="02020603050405020304" pitchFamily="18" charset="0"/>
              </a:rPr>
              <a:t>Lower </a:t>
            </a:r>
            <a:r>
              <a:rPr lang="en-US" sz="2100" b="1" dirty="0">
                <a:latin typeface="Times New Roman" panose="02020603050405020304" pitchFamily="18" charset="0"/>
                <a:cs typeface="Times New Roman" panose="02020603050405020304" pitchFamily="18" charset="0"/>
              </a:rPr>
              <a:t>Costs: </a:t>
            </a:r>
            <a:r>
              <a:rPr lang="en-US" sz="2100" dirty="0">
                <a:latin typeface="Times New Roman" panose="02020603050405020304" pitchFamily="18" charset="0"/>
                <a:cs typeface="Times New Roman" panose="02020603050405020304" pitchFamily="18" charset="0"/>
              </a:rPr>
              <a:t>the cost of business is reduced when companies and individuals can </a:t>
            </a:r>
            <a:r>
              <a:rPr lang="en-US" sz="2100" dirty="0" smtClean="0">
                <a:latin typeface="Times New Roman" panose="02020603050405020304" pitchFamily="18" charset="0"/>
                <a:cs typeface="Times New Roman" panose="02020603050405020304" pitchFamily="18" charset="0"/>
              </a:rPr>
              <a:t>be reached </a:t>
            </a:r>
            <a:r>
              <a:rPr lang="en-US" sz="2100" dirty="0">
                <a:latin typeface="Times New Roman" panose="02020603050405020304" pitchFamily="18" charset="0"/>
                <a:cs typeface="Times New Roman" panose="02020603050405020304" pitchFamily="18" charset="0"/>
              </a:rPr>
              <a:t>quickly and without respect to </a:t>
            </a:r>
            <a:r>
              <a:rPr lang="en-US" sz="2100" dirty="0" smtClean="0">
                <a:latin typeface="Times New Roman" panose="02020603050405020304" pitchFamily="18" charset="0"/>
                <a:cs typeface="Times New Roman" panose="02020603050405020304" pitchFamily="18" charset="0"/>
              </a:rPr>
              <a:t> geographical </a:t>
            </a:r>
            <a:r>
              <a:rPr lang="en-US" sz="2100" dirty="0">
                <a:latin typeface="Times New Roman" panose="02020603050405020304" pitchFamily="18" charset="0"/>
                <a:cs typeface="Times New Roman" panose="02020603050405020304" pitchFamily="18" charset="0"/>
              </a:rPr>
              <a:t>distance, while </a:t>
            </a:r>
            <a:r>
              <a:rPr lang="en-US" sz="2100" dirty="0" smtClean="0">
                <a:latin typeface="Times New Roman" panose="02020603050405020304" pitchFamily="18" charset="0"/>
                <a:cs typeface="Times New Roman" panose="02020603050405020304" pitchFamily="18" charset="0"/>
              </a:rPr>
              <a:t>improved efficiencies </a:t>
            </a:r>
            <a:r>
              <a:rPr lang="en-US" sz="2100" dirty="0">
                <a:latin typeface="Times New Roman" panose="02020603050405020304" pitchFamily="18" charset="0"/>
                <a:cs typeface="Times New Roman" panose="02020603050405020304" pitchFamily="18" charset="0"/>
              </a:rPr>
              <a:t>results form electronic information exchange.</a:t>
            </a:r>
          </a:p>
          <a:p>
            <a:pPr>
              <a:lnSpc>
                <a:spcPct val="150000"/>
              </a:lnSpc>
            </a:pPr>
            <a:r>
              <a:rPr lang="en-US" sz="2100" b="1" dirty="0" smtClean="0">
                <a:latin typeface="Times New Roman" panose="02020603050405020304" pitchFamily="18" charset="0"/>
                <a:cs typeface="Times New Roman" panose="02020603050405020304" pitchFamily="18" charset="0"/>
              </a:rPr>
              <a:t>Competitive </a:t>
            </a:r>
            <a:r>
              <a:rPr lang="en-US" sz="2100" b="1" dirty="0">
                <a:latin typeface="Times New Roman" panose="02020603050405020304" pitchFamily="18" charset="0"/>
                <a:cs typeface="Times New Roman" panose="02020603050405020304" pitchFamily="18" charset="0"/>
              </a:rPr>
              <a:t>Advantage: </a:t>
            </a:r>
            <a:r>
              <a:rPr lang="en-US" sz="2100" dirty="0">
                <a:latin typeface="Times New Roman" panose="02020603050405020304" pitchFamily="18" charset="0"/>
                <a:cs typeface="Times New Roman" panose="02020603050405020304" pitchFamily="18" charset="0"/>
              </a:rPr>
              <a:t>those companies that develop and implement an </a:t>
            </a:r>
            <a:r>
              <a:rPr lang="en-US" sz="2100" dirty="0" smtClean="0">
                <a:latin typeface="Times New Roman" panose="02020603050405020304" pitchFamily="18" charset="0"/>
                <a:cs typeface="Times New Roman" panose="02020603050405020304" pitchFamily="18" charset="0"/>
              </a:rPr>
              <a:t>effective electronic </a:t>
            </a:r>
            <a:r>
              <a:rPr lang="en-US" sz="2100" dirty="0">
                <a:latin typeface="Times New Roman" panose="02020603050405020304" pitchFamily="18" charset="0"/>
                <a:cs typeface="Times New Roman" panose="02020603050405020304" pitchFamily="18" charset="0"/>
              </a:rPr>
              <a:t>commerce strategy have business advantages over others in their </a:t>
            </a:r>
            <a:r>
              <a:rPr lang="en-US" sz="2100" dirty="0" smtClean="0">
                <a:latin typeface="Times New Roman" panose="02020603050405020304" pitchFamily="18" charset="0"/>
                <a:cs typeface="Times New Roman" panose="02020603050405020304" pitchFamily="18" charset="0"/>
              </a:rPr>
              <a:t>industry that </a:t>
            </a:r>
            <a:r>
              <a:rPr lang="en-US" sz="2100" dirty="0">
                <a:latin typeface="Times New Roman" panose="02020603050405020304" pitchFamily="18" charset="0"/>
                <a:cs typeface="Times New Roman" panose="02020603050405020304" pitchFamily="18" charset="0"/>
              </a:rPr>
              <a:t>can not over similar products, services, or operating capability.</a:t>
            </a:r>
            <a:endParaRPr lang="en-US" sz="21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08675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b="1" dirty="0"/>
              <a:t>MODE OF PAYMENT IN E-COMMERCE</a:t>
            </a:r>
            <a:endParaRPr lang="en-US" sz="5400" b="1" dirty="0"/>
          </a:p>
        </p:txBody>
      </p:sp>
      <p:sp>
        <p:nvSpPr>
          <p:cNvPr id="5" name="Rectangle 3"/>
          <p:cNvSpPr txBox="1">
            <a:spLocks noChangeArrowheads="1"/>
          </p:cNvSpPr>
          <p:nvPr/>
        </p:nvSpPr>
        <p:spPr bwMode="auto">
          <a:xfrm>
            <a:off x="467544" y="1484784"/>
            <a:ext cx="828092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100" dirty="0">
                <a:latin typeface="Times New Roman" panose="02020603050405020304" pitchFamily="18" charset="0"/>
                <a:cs typeface="Times New Roman" panose="02020603050405020304" pitchFamily="18" charset="0"/>
              </a:rPr>
              <a:t>The single greatest challenge for e-commerce is the development of fast, secure, and </a:t>
            </a:r>
            <a:r>
              <a:rPr lang="en-US" sz="2100" dirty="0" smtClean="0">
                <a:latin typeface="Times New Roman" panose="02020603050405020304" pitchFamily="18" charset="0"/>
                <a:cs typeface="Times New Roman" panose="02020603050405020304" pitchFamily="18" charset="0"/>
              </a:rPr>
              <a:t>reliable payment </a:t>
            </a:r>
            <a:r>
              <a:rPr lang="en-US" sz="2100" dirty="0">
                <a:latin typeface="Times New Roman" panose="02020603050405020304" pitchFamily="18" charset="0"/>
                <a:cs typeface="Times New Roman" panose="02020603050405020304" pitchFamily="18" charset="0"/>
              </a:rPr>
              <a:t>method for purchased goods. </a:t>
            </a:r>
            <a:endParaRPr lang="en-US" sz="2100" dirty="0" smtClean="0">
              <a:latin typeface="Times New Roman" panose="02020603050405020304" pitchFamily="18" charset="0"/>
              <a:cs typeface="Times New Roman" panose="02020603050405020304" pitchFamily="18" charset="0"/>
            </a:endParaRPr>
          </a:p>
          <a:p>
            <a:pPr algn="just">
              <a:lnSpc>
                <a:spcPct val="150000"/>
              </a:lnSpc>
            </a:pPr>
            <a:r>
              <a:rPr lang="en-US" sz="2100" dirty="0" smtClean="0">
                <a:latin typeface="Times New Roman" panose="02020603050405020304" pitchFamily="18" charset="0"/>
                <a:cs typeface="Times New Roman" panose="02020603050405020304" pitchFamily="18" charset="0"/>
              </a:rPr>
              <a:t>The </a:t>
            </a:r>
            <a:r>
              <a:rPr lang="en-US" sz="2100" dirty="0">
                <a:latin typeface="Times New Roman" panose="02020603050405020304" pitchFamily="18" charset="0"/>
                <a:cs typeface="Times New Roman" panose="02020603050405020304" pitchFamily="18" charset="0"/>
              </a:rPr>
              <a:t>three basic payment options </a:t>
            </a:r>
            <a:r>
              <a:rPr lang="en-US" sz="2100" dirty="0" smtClean="0">
                <a:latin typeface="Times New Roman" panose="02020603050405020304" pitchFamily="18" charset="0"/>
                <a:cs typeface="Times New Roman" panose="02020603050405020304" pitchFamily="18" charset="0"/>
              </a:rPr>
              <a:t>are: </a:t>
            </a:r>
          </a:p>
          <a:p>
            <a:pPr marL="900113" algn="just">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check</a:t>
            </a:r>
            <a:r>
              <a:rPr lang="en-US" sz="2100" dirty="0">
                <a:latin typeface="Times New Roman" panose="02020603050405020304" pitchFamily="18" charset="0"/>
                <a:cs typeface="Times New Roman" panose="02020603050405020304" pitchFamily="18" charset="0"/>
              </a:rPr>
              <a:t>, </a:t>
            </a:r>
            <a:endParaRPr lang="en-US" sz="2100" dirty="0" smtClean="0">
              <a:latin typeface="Times New Roman" panose="02020603050405020304" pitchFamily="18" charset="0"/>
              <a:cs typeface="Times New Roman" panose="02020603050405020304" pitchFamily="18" charset="0"/>
            </a:endParaRPr>
          </a:p>
          <a:p>
            <a:pPr marL="900113" algn="just">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credit </a:t>
            </a:r>
            <a:r>
              <a:rPr lang="en-US" sz="2100" dirty="0">
                <a:latin typeface="Times New Roman" panose="02020603050405020304" pitchFamily="18" charset="0"/>
                <a:cs typeface="Times New Roman" panose="02020603050405020304" pitchFamily="18" charset="0"/>
              </a:rPr>
              <a:t>card</a:t>
            </a:r>
            <a:r>
              <a:rPr lang="en-US" sz="2100" dirty="0" smtClean="0">
                <a:latin typeface="Times New Roman" panose="02020603050405020304" pitchFamily="18" charset="0"/>
                <a:cs typeface="Times New Roman" panose="02020603050405020304" pitchFamily="18" charset="0"/>
              </a:rPr>
              <a:t>, and </a:t>
            </a:r>
          </a:p>
          <a:p>
            <a:pPr marL="900113" algn="just">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electronic </a:t>
            </a:r>
            <a:r>
              <a:rPr lang="en-US" sz="2100" dirty="0">
                <a:latin typeface="Times New Roman" panose="02020603050405020304" pitchFamily="18" charset="0"/>
                <a:cs typeface="Times New Roman" panose="02020603050405020304" pitchFamily="18" charset="0"/>
              </a:rPr>
              <a:t>cash.</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57615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5400" b="1" dirty="0"/>
              <a:t>CONCLUSION</a:t>
            </a:r>
          </a:p>
        </p:txBody>
      </p:sp>
      <p:sp>
        <p:nvSpPr>
          <p:cNvPr id="5" name="Rectangle 3"/>
          <p:cNvSpPr txBox="1">
            <a:spLocks noChangeArrowheads="1"/>
          </p:cNvSpPr>
          <p:nvPr/>
        </p:nvSpPr>
        <p:spPr bwMode="auto">
          <a:xfrm>
            <a:off x="467544" y="1484784"/>
            <a:ext cx="828092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200" dirty="0">
                <a:latin typeface="Times New Roman" panose="02020603050405020304" pitchFamily="18" charset="0"/>
                <a:cs typeface="Times New Roman" panose="02020603050405020304" pitchFamily="18" charset="0"/>
              </a:rPr>
              <a:t>We should note that while there are numerous advantages to e-commerce, there </a:t>
            </a:r>
            <a:r>
              <a:rPr lang="en-US" sz="2200" dirty="0" smtClean="0">
                <a:latin typeface="Times New Roman" panose="02020603050405020304" pitchFamily="18" charset="0"/>
                <a:cs typeface="Times New Roman" panose="02020603050405020304" pitchFamily="18" charset="0"/>
              </a:rPr>
              <a:t>are disadvantages </a:t>
            </a:r>
            <a:r>
              <a:rPr lang="en-US" sz="2200" dirty="0">
                <a:latin typeface="Times New Roman" panose="02020603050405020304" pitchFamily="18" charset="0"/>
                <a:cs typeface="Times New Roman" panose="02020603050405020304" pitchFamily="18" charset="0"/>
              </a:rPr>
              <a:t>as well, and just like any other type of commerce, e-commerce involves </a:t>
            </a:r>
            <a:r>
              <a:rPr lang="en-US" sz="2200" dirty="0" smtClean="0">
                <a:latin typeface="Times New Roman" panose="02020603050405020304" pitchFamily="18" charset="0"/>
                <a:cs typeface="Times New Roman" panose="02020603050405020304" pitchFamily="18" charset="0"/>
              </a:rPr>
              <a:t>two parties</a:t>
            </a: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businesses </a:t>
            </a:r>
            <a:r>
              <a:rPr lang="en-US" sz="2200" dirty="0">
                <a:latin typeface="Times New Roman" panose="02020603050405020304" pitchFamily="18" charset="0"/>
                <a:cs typeface="Times New Roman" panose="02020603050405020304" pitchFamily="18" charset="0"/>
              </a:rPr>
              <a:t>and consumers.</a:t>
            </a:r>
          </a:p>
          <a:p>
            <a:pPr algn="just">
              <a:lnSpc>
                <a:spcPct val="200000"/>
              </a:lnSpc>
            </a:pPr>
            <a:r>
              <a:rPr lang="en-US" sz="2200" dirty="0">
                <a:latin typeface="Times New Roman" panose="02020603050405020304" pitchFamily="18" charset="0"/>
                <a:cs typeface="Times New Roman" panose="02020603050405020304" pitchFamily="18" charset="0"/>
              </a:rPr>
              <a:t>Some of these disadvantages include the inability to provide immediate delivery to goods, </a:t>
            </a:r>
            <a:r>
              <a:rPr lang="en-US" sz="2200" dirty="0" smtClean="0">
                <a:latin typeface="Times New Roman" panose="02020603050405020304" pitchFamily="18" charset="0"/>
                <a:cs typeface="Times New Roman" panose="02020603050405020304" pitchFamily="18" charset="0"/>
              </a:rPr>
              <a:t>the inability </a:t>
            </a:r>
            <a:r>
              <a:rPr lang="en-US" sz="2200" dirty="0">
                <a:latin typeface="Times New Roman" panose="02020603050405020304" pitchFamily="18" charset="0"/>
                <a:cs typeface="Times New Roman" panose="02020603050405020304" pitchFamily="18" charset="0"/>
              </a:rPr>
              <a:t>to sample </a:t>
            </a:r>
            <a:r>
              <a:rPr lang="en-US" sz="2200" dirty="0" smtClean="0">
                <a:latin typeface="Times New Roman" panose="02020603050405020304" pitchFamily="18" charset="0"/>
                <a:cs typeface="Times New Roman" panose="02020603050405020304" pitchFamily="18" charset="0"/>
              </a:rPr>
              <a:t>goods </a:t>
            </a:r>
            <a:r>
              <a:rPr lang="en-US" sz="2200" dirty="0">
                <a:latin typeface="Times New Roman" panose="02020603050405020304" pitchFamily="18" charset="0"/>
                <a:cs typeface="Times New Roman" panose="02020603050405020304" pitchFamily="18" charset="0"/>
              </a:rPr>
              <a:t>before purchasing, and the issues relating to security of </a:t>
            </a:r>
            <a:r>
              <a:rPr lang="en-US" sz="2200" dirty="0" smtClean="0">
                <a:latin typeface="Times New Roman" panose="02020603050405020304" pitchFamily="18" charset="0"/>
                <a:cs typeface="Times New Roman" panose="02020603050405020304" pitchFamily="18" charset="0"/>
              </a:rPr>
              <a:t>online payment</a:t>
            </a:r>
            <a:r>
              <a:rPr lang="en-US" sz="2200" dirty="0">
                <a:latin typeface="Times New Roman" panose="02020603050405020304" pitchFamily="18" charset="0"/>
                <a:cs typeface="Times New Roman" panose="02020603050405020304" pitchFamily="18" charset="0"/>
              </a:rPr>
              <a:t>.</a:t>
            </a:r>
            <a:endParaRPr lang="en-US" sz="2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60339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8800" b="1" dirty="0"/>
              <a:t>SUMMARY</a:t>
            </a:r>
          </a:p>
        </p:txBody>
      </p:sp>
      <p:sp>
        <p:nvSpPr>
          <p:cNvPr id="5" name="Rectangle 3"/>
          <p:cNvSpPr txBox="1">
            <a:spLocks noChangeArrowheads="1"/>
          </p:cNvSpPr>
          <p:nvPr/>
        </p:nvSpPr>
        <p:spPr bwMode="auto">
          <a:xfrm>
            <a:off x="467544" y="1484784"/>
            <a:ext cx="828092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a:latin typeface="Times New Roman" panose="02020603050405020304" pitchFamily="18" charset="0"/>
                <a:cs typeface="Times New Roman" panose="02020603050405020304" pitchFamily="18" charset="0"/>
              </a:rPr>
              <a:t>In this unit we learnt that:</a:t>
            </a:r>
          </a:p>
          <a:p>
            <a:pPr marL="717550">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There </a:t>
            </a:r>
            <a:r>
              <a:rPr lang="en-US" sz="2100" dirty="0">
                <a:latin typeface="Times New Roman" panose="02020603050405020304" pitchFamily="18" charset="0"/>
                <a:cs typeface="Times New Roman" panose="02020603050405020304" pitchFamily="18" charset="0"/>
              </a:rPr>
              <a:t>are three types of e-commerce namely: business-to-consumer (B2C), </a:t>
            </a:r>
            <a:r>
              <a:rPr lang="en-US" sz="2100" dirty="0" smtClean="0">
                <a:latin typeface="Times New Roman" panose="02020603050405020304" pitchFamily="18" charset="0"/>
                <a:cs typeface="Times New Roman" panose="02020603050405020304" pitchFamily="18" charset="0"/>
              </a:rPr>
              <a:t>consumer-to-consumer </a:t>
            </a:r>
            <a:r>
              <a:rPr lang="en-US" sz="2100" dirty="0">
                <a:latin typeface="Times New Roman" panose="02020603050405020304" pitchFamily="18" charset="0"/>
                <a:cs typeface="Times New Roman" panose="02020603050405020304" pitchFamily="18" charset="0"/>
              </a:rPr>
              <a:t>(C2C), business-to-business (B2B).</a:t>
            </a:r>
          </a:p>
          <a:p>
            <a:pPr marL="717550">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With </a:t>
            </a:r>
            <a:r>
              <a:rPr lang="en-US" sz="2100" dirty="0">
                <a:latin typeface="Times New Roman" panose="02020603050405020304" pitchFamily="18" charset="0"/>
                <a:cs typeface="Times New Roman" panose="02020603050405020304" pitchFamily="18" charset="0"/>
              </a:rPr>
              <a:t>e-commerce, there is no in-store inventory and products are shipped </a:t>
            </a:r>
            <a:r>
              <a:rPr lang="en-US" sz="2100" dirty="0" smtClean="0">
                <a:latin typeface="Times New Roman" panose="02020603050405020304" pitchFamily="18" charset="0"/>
                <a:cs typeface="Times New Roman" panose="02020603050405020304" pitchFamily="18" charset="0"/>
              </a:rPr>
              <a:t>directly from </a:t>
            </a:r>
            <a:r>
              <a:rPr lang="en-US" sz="2100" dirty="0">
                <a:latin typeface="Times New Roman" panose="02020603050405020304" pitchFamily="18" charset="0"/>
                <a:cs typeface="Times New Roman" panose="02020603050405020304" pitchFamily="18" charset="0"/>
              </a:rPr>
              <a:t>warehouse.</a:t>
            </a:r>
          </a:p>
          <a:p>
            <a:pPr marL="717550">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Electronic </a:t>
            </a:r>
            <a:r>
              <a:rPr lang="en-US" sz="2100" dirty="0">
                <a:latin typeface="Times New Roman" panose="02020603050405020304" pitchFamily="18" charset="0"/>
                <a:cs typeface="Times New Roman" panose="02020603050405020304" pitchFamily="18" charset="0"/>
              </a:rPr>
              <a:t>Commerce (e-commerce)is the use of communication networks, </a:t>
            </a:r>
            <a:r>
              <a:rPr lang="en-US" sz="2100" dirty="0" smtClean="0">
                <a:latin typeface="Times New Roman" panose="02020603050405020304" pitchFamily="18" charset="0"/>
                <a:cs typeface="Times New Roman" panose="02020603050405020304" pitchFamily="18" charset="0"/>
              </a:rPr>
              <a:t>including the </a:t>
            </a:r>
            <a:r>
              <a:rPr lang="en-US" sz="2100" dirty="0">
                <a:latin typeface="Times New Roman" panose="02020603050405020304" pitchFamily="18" charset="0"/>
                <a:cs typeface="Times New Roman" panose="02020603050405020304" pitchFamily="18" charset="0"/>
              </a:rPr>
              <a:t>public Internet, to conduct commercial transactions between businesses or </a:t>
            </a:r>
            <a:r>
              <a:rPr lang="en-US" sz="2100" dirty="0" smtClean="0">
                <a:latin typeface="Times New Roman" panose="02020603050405020304" pitchFamily="18" charset="0"/>
                <a:cs typeface="Times New Roman" panose="02020603050405020304" pitchFamily="18" charset="0"/>
              </a:rPr>
              <a:t>with consumers</a:t>
            </a:r>
            <a:r>
              <a:rPr lang="en-US" sz="2100" dirty="0">
                <a:latin typeface="Times New Roman" panose="02020603050405020304" pitchFamily="18" charset="0"/>
                <a:cs typeface="Times New Roman" panose="02020603050405020304" pitchFamily="18" charset="0"/>
              </a:rPr>
              <a:t>.</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823350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1_MIT809-Topic1</Template>
  <TotalTime>5023</TotalTime>
  <Words>1722</Words>
  <Application>Microsoft Office PowerPoint</Application>
  <PresentationFormat>On-screen Show (4:3)</PresentationFormat>
  <Paragraphs>173</Paragraphs>
  <Slides>25</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ＭＳ Ｐゴシック</vt:lpstr>
      <vt:lpstr>ＭＳ Ｐゴシック</vt:lpstr>
      <vt:lpstr>Arial</vt:lpstr>
      <vt:lpstr>Comic Sans MS</vt:lpstr>
      <vt:lpstr>Garamond</vt:lpstr>
      <vt:lpstr>Times New Roman</vt:lpstr>
      <vt:lpstr>Verdana</vt:lpstr>
      <vt:lpstr>Wingdings</vt:lpstr>
      <vt:lpstr>Level</vt:lpstr>
      <vt:lpstr>PowerPoint Presentation</vt:lpstr>
      <vt:lpstr>PowerPoint Presentation</vt:lpstr>
      <vt:lpstr>Course Schedule </vt:lpstr>
      <vt:lpstr>Learning Outcomes</vt:lpstr>
      <vt:lpstr>Course Contents</vt:lpstr>
      <vt:lpstr>Course Module</vt:lpstr>
      <vt:lpstr>Course Outline</vt:lpstr>
      <vt:lpstr>Books and References</vt:lpstr>
      <vt:lpstr>Pre-Requisite </vt:lpstr>
      <vt:lpstr>Course Evaluation</vt:lpstr>
      <vt:lpstr>PowerPoint Presentation</vt:lpstr>
      <vt:lpstr>Presentation Outline  </vt:lpstr>
      <vt:lpstr>OBJECTIVES</vt:lpstr>
      <vt:lpstr>Introduction </vt:lpstr>
      <vt:lpstr>PLAYERS IN THE GAME </vt:lpstr>
      <vt:lpstr>PLAYERS IN THE GAME </vt:lpstr>
      <vt:lpstr>TYPES OF E-COMMERCE </vt:lpstr>
      <vt:lpstr>TYPES OF E-COMMERCE </vt:lpstr>
      <vt:lpstr>TYPES OF E-COMMERCE </vt:lpstr>
      <vt:lpstr>TYPES OF E-COMMERCE </vt:lpstr>
      <vt:lpstr>BENEFITS OF E-COMMERCE</vt:lpstr>
      <vt:lpstr>BENEFITS OF E-COMMERCE</vt:lpstr>
      <vt:lpstr>MODE OF PAYMENT IN E-COMMERCE</vt:lpstr>
      <vt:lpstr>CONCLUSION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CISE 301</dc:subject>
  <dc:creator>Administrator</dc:creator>
  <cp:lastModifiedBy>Administrator</cp:lastModifiedBy>
  <cp:revision>599</cp:revision>
  <dcterms:created xsi:type="dcterms:W3CDTF">2022-01-09T18:11:19Z</dcterms:created>
  <dcterms:modified xsi:type="dcterms:W3CDTF">2026-02-02T09:19:14Z</dcterms:modified>
</cp:coreProperties>
</file>