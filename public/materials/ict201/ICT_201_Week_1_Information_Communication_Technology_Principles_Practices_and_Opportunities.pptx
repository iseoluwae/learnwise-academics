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9"/>
  </p:notesMasterIdLst>
  <p:handoutMasterIdLst>
    <p:handoutMasterId r:id="rId40"/>
  </p:handoutMasterIdLst>
  <p:sldIdLst>
    <p:sldId id="256" r:id="rId2"/>
    <p:sldId id="526" r:id="rId3"/>
    <p:sldId id="527" r:id="rId4"/>
    <p:sldId id="879" r:id="rId5"/>
    <p:sldId id="519" r:id="rId6"/>
    <p:sldId id="878" r:id="rId7"/>
    <p:sldId id="915" r:id="rId8"/>
    <p:sldId id="880" r:id="rId9"/>
    <p:sldId id="514" r:id="rId10"/>
    <p:sldId id="565" r:id="rId11"/>
    <p:sldId id="911" r:id="rId12"/>
    <p:sldId id="838" r:id="rId13"/>
    <p:sldId id="916" r:id="rId14"/>
    <p:sldId id="917" r:id="rId15"/>
    <p:sldId id="918" r:id="rId16"/>
    <p:sldId id="919" r:id="rId17"/>
    <p:sldId id="920" r:id="rId18"/>
    <p:sldId id="921" r:id="rId19"/>
    <p:sldId id="922" r:id="rId20"/>
    <p:sldId id="923" r:id="rId21"/>
    <p:sldId id="924" r:id="rId22"/>
    <p:sldId id="925" r:id="rId23"/>
    <p:sldId id="926" r:id="rId24"/>
    <p:sldId id="927" r:id="rId25"/>
    <p:sldId id="928" r:id="rId26"/>
    <p:sldId id="929" r:id="rId27"/>
    <p:sldId id="930" r:id="rId28"/>
    <p:sldId id="931" r:id="rId29"/>
    <p:sldId id="932" r:id="rId30"/>
    <p:sldId id="933" r:id="rId31"/>
    <p:sldId id="934" r:id="rId32"/>
    <p:sldId id="939" r:id="rId33"/>
    <p:sldId id="935" r:id="rId34"/>
    <p:sldId id="936" r:id="rId35"/>
    <p:sldId id="937" r:id="rId36"/>
    <p:sldId id="938" r:id="rId37"/>
    <p:sldId id="940" r:id="rId38"/>
  </p:sldIdLst>
  <p:sldSz cx="9144000" cy="6858000" type="screen4x3"/>
  <p:notesSz cx="7315200" cy="9601200"/>
  <p:custDataLst>
    <p:tags r:id="rId41"/>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7" d="100"/>
          <a:sy n="67" d="100"/>
        </p:scale>
        <p:origin x="125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11/24/2025</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11/24/2025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11/24/2025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11/24/2025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11/24/2025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11/24/2025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11/24/2025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11/24/2025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11/24/2025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11/24/2025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11/24/2025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11/24/2025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11/24/2025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11/24/2025</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and World Wide Web</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1</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4077072"/>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000" b="1" dirty="0">
                <a:latin typeface="Comic Sans MS" panose="030F0702030302020204" pitchFamily="66" charset="0"/>
              </a:rPr>
              <a:t>INFORMATION COMMUNICATION TECHNOLOGY: </a:t>
            </a:r>
          </a:p>
          <a:p>
            <a:pPr marL="14288">
              <a:lnSpc>
                <a:spcPct val="150000"/>
              </a:lnSpc>
            </a:pPr>
            <a:r>
              <a:rPr lang="en-US" sz="3000" b="1" dirty="0">
                <a:latin typeface="Comic Sans MS" panose="030F0702030302020204" pitchFamily="66" charset="0"/>
              </a:rPr>
              <a:t>PRINCIPLES, PRACTICES, AND OPPORTUNITIES.</a:t>
            </a:r>
          </a:p>
        </p:txBody>
      </p:sp>
    </p:spTree>
    <p:extLst>
      <p:ext uri="{BB962C8B-B14F-4D97-AF65-F5344CB8AC3E}">
        <p14:creationId xmlns:p14="http://schemas.microsoft.com/office/powerpoint/2010/main" val="3219171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546448"/>
            <a:ext cx="8075240" cy="332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buFont typeface="Wingdings" panose="05000000000000000000" pitchFamily="2" charset="2"/>
              <a:buChar char="Ø"/>
            </a:pPr>
            <a:r>
              <a:rPr lang="en-US" sz="1900" b="1" kern="0" dirty="0"/>
              <a:t>INFORMATION AND COMMUNICATION TECHNOLOGY</a:t>
            </a:r>
          </a:p>
          <a:p>
            <a:pPr>
              <a:buFont typeface="Wingdings" panose="05000000000000000000" pitchFamily="2" charset="2"/>
              <a:buChar char="Ø"/>
            </a:pPr>
            <a:endParaRPr lang="en-US" sz="1900" b="1" kern="0" dirty="0"/>
          </a:p>
          <a:p>
            <a:pPr>
              <a:buFont typeface="Wingdings" panose="05000000000000000000" pitchFamily="2" charset="2"/>
              <a:buChar char="Ø"/>
            </a:pPr>
            <a:r>
              <a:rPr lang="en-US" sz="1900" b="1" kern="0" dirty="0"/>
              <a:t>CONCEPT OF INFORMATION AND COMMUNICATION TECHNOLOGIES (ICT)</a:t>
            </a:r>
          </a:p>
          <a:p>
            <a:pPr>
              <a:buFont typeface="Wingdings" panose="05000000000000000000" pitchFamily="2" charset="2"/>
              <a:buChar char="Ø"/>
            </a:pPr>
            <a:endParaRPr lang="en-US" sz="1900" b="1" kern="0" dirty="0"/>
          </a:p>
          <a:p>
            <a:pPr>
              <a:buFont typeface="Wingdings" panose="05000000000000000000" pitchFamily="2" charset="2"/>
              <a:buChar char="Ø"/>
            </a:pPr>
            <a:r>
              <a:rPr lang="en-US" sz="1900" b="1" kern="0" dirty="0"/>
              <a:t>THE PRINCIPLES OF INFORMATION TECHNOLOGY</a:t>
            </a:r>
          </a:p>
          <a:p>
            <a:pPr>
              <a:buFont typeface="Wingdings" panose="05000000000000000000" pitchFamily="2" charset="2"/>
              <a:buChar char="Ø"/>
            </a:pPr>
            <a:endParaRPr lang="en-US" sz="1900" b="1" kern="0" dirty="0"/>
          </a:p>
          <a:p>
            <a:pPr>
              <a:buFont typeface="Wingdings" panose="05000000000000000000" pitchFamily="2" charset="2"/>
              <a:buChar char="Ø"/>
            </a:pPr>
            <a:r>
              <a:rPr lang="en-US" sz="1900" b="1" kern="0" dirty="0"/>
              <a:t>THE OPPORTUNITIES OF INFORMATION TECHNOLOGY</a:t>
            </a:r>
          </a:p>
        </p:txBody>
      </p:sp>
    </p:spTree>
    <p:extLst>
      <p:ext uri="{BB962C8B-B14F-4D97-AF65-F5344CB8AC3E}">
        <p14:creationId xmlns:p14="http://schemas.microsoft.com/office/powerpoint/2010/main" val="170576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3200" b="1" kern="0" dirty="0"/>
              <a:t>INFORMATION AND COMMUNICATION TECHNOLOGY</a:t>
            </a:r>
          </a:p>
        </p:txBody>
      </p:sp>
      <p:sp>
        <p:nvSpPr>
          <p:cNvPr id="5" name="Rectangle 3"/>
          <p:cNvSpPr txBox="1">
            <a:spLocks noChangeArrowheads="1"/>
          </p:cNvSpPr>
          <p:nvPr/>
        </p:nvSpPr>
        <p:spPr bwMode="auto">
          <a:xfrm>
            <a:off x="457200" y="1546447"/>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900" b="0" i="0" u="none" strike="noStrike" baseline="0" dirty="0">
                <a:latin typeface="Times New Roman" panose="02020603050405020304" pitchFamily="18" charset="0"/>
              </a:rPr>
              <a:t>Information and communication technologies (ICT) is an umbrella term that covers all advanced technologies in manipulating and communicating </a:t>
            </a:r>
            <a:r>
              <a:rPr lang="en-US" sz="1900" b="1" i="1" u="sng" strike="noStrike" baseline="0" dirty="0">
                <a:latin typeface="Times New Roman" panose="02020603050405020304" pitchFamily="18" charset="0"/>
              </a:rPr>
              <a:t>Information</a:t>
            </a:r>
            <a:r>
              <a:rPr lang="en-US" sz="1900" b="1" i="1" u="none" strike="noStrike" baseline="0" dirty="0">
                <a:latin typeface="Times New Roman" panose="02020603050405020304" pitchFamily="18" charset="0"/>
              </a:rPr>
              <a:t>. </a:t>
            </a:r>
          </a:p>
          <a:p>
            <a:pPr algn="just">
              <a:lnSpc>
                <a:spcPct val="150000"/>
              </a:lnSpc>
            </a:pPr>
            <a:r>
              <a:rPr lang="en-US" sz="1900" b="0" i="0" u="none" strike="noStrike" baseline="0" dirty="0">
                <a:latin typeface="Times New Roman" panose="02020603050405020304" pitchFamily="18" charset="0"/>
              </a:rPr>
              <a:t>The term is sometimes used in preference to </a:t>
            </a:r>
            <a:r>
              <a:rPr lang="en-US" sz="1900" b="1" i="1" u="sng" strike="noStrike" baseline="0" dirty="0">
                <a:latin typeface="Times New Roman" panose="02020603050405020304" pitchFamily="18" charset="0"/>
              </a:rPr>
              <a:t>Information Technology</a:t>
            </a:r>
            <a:r>
              <a:rPr lang="en-US" sz="1900" b="1" i="1" u="none" strike="noStrike" baseline="0" dirty="0">
                <a:latin typeface="Times New Roman" panose="02020603050405020304" pitchFamily="18" charset="0"/>
              </a:rPr>
              <a:t> </a:t>
            </a:r>
            <a:r>
              <a:rPr lang="en-US" sz="1900" b="0" i="0" u="none" strike="noStrike" baseline="0" dirty="0">
                <a:latin typeface="Times New Roman" panose="02020603050405020304" pitchFamily="18" charset="0"/>
              </a:rPr>
              <a:t>(</a:t>
            </a:r>
            <a:r>
              <a:rPr lang="en-US" sz="1900" b="1" i="0" u="none" strike="noStrike" baseline="0" dirty="0">
                <a:latin typeface="Times New Roman" panose="02020603050405020304" pitchFamily="18" charset="0"/>
              </a:rPr>
              <a:t>IT</a:t>
            </a:r>
            <a:r>
              <a:rPr lang="en-US" sz="1900" b="0" i="0" u="none" strike="noStrike" baseline="0" dirty="0">
                <a:latin typeface="Times New Roman" panose="02020603050405020304" pitchFamily="18" charset="0"/>
              </a:rPr>
              <a:t>) or </a:t>
            </a:r>
            <a:r>
              <a:rPr lang="en-US" sz="1900" b="1" i="0" u="none" strike="noStrike" baseline="0" dirty="0">
                <a:latin typeface="Times New Roman" panose="02020603050405020304" pitchFamily="18" charset="0"/>
              </a:rPr>
              <a:t>"</a:t>
            </a:r>
            <a:r>
              <a:rPr lang="en-US" sz="1900" b="1" i="1" u="sng" strike="noStrike" baseline="0" dirty="0">
                <a:latin typeface="Times New Roman" panose="02020603050405020304" pitchFamily="18" charset="0"/>
              </a:rPr>
              <a:t>InfoTech</a:t>
            </a:r>
            <a:r>
              <a:rPr lang="en-US" sz="1900" b="1" i="0" u="none" strike="noStrike" baseline="0" dirty="0">
                <a:latin typeface="Times New Roman" panose="02020603050405020304" pitchFamily="18" charset="0"/>
              </a:rPr>
              <a:t>". </a:t>
            </a:r>
          </a:p>
          <a:p>
            <a:pPr algn="just">
              <a:lnSpc>
                <a:spcPct val="150000"/>
              </a:lnSpc>
            </a:pPr>
            <a:r>
              <a:rPr lang="en-US" sz="1900" b="0" i="0" u="none" strike="noStrike" baseline="0" dirty="0">
                <a:latin typeface="Times New Roman" panose="02020603050405020304" pitchFamily="18" charset="0"/>
              </a:rPr>
              <a:t>It is sometimes said to have been coined by Jim </a:t>
            </a:r>
            <a:r>
              <a:rPr lang="en-US" sz="1900" b="0" i="0" u="none" strike="noStrike" baseline="0" dirty="0" err="1">
                <a:latin typeface="Times New Roman" panose="02020603050405020304" pitchFamily="18" charset="0"/>
              </a:rPr>
              <a:t>Domsic</a:t>
            </a:r>
            <a:r>
              <a:rPr lang="en-US" sz="1900" b="0" i="0" u="none" strike="noStrike" baseline="0" dirty="0">
                <a:latin typeface="Times New Roman" panose="02020603050405020304" pitchFamily="18" charset="0"/>
              </a:rPr>
              <a:t> of Michigan in November 1981, to modernize the outdated phrase </a:t>
            </a:r>
            <a:r>
              <a:rPr lang="en-US" sz="1900" b="1" i="1" u="none" strike="noStrike" baseline="0" dirty="0">
                <a:latin typeface="Times New Roman" panose="02020603050405020304" pitchFamily="18" charset="0"/>
              </a:rPr>
              <a:t>"data processing".</a:t>
            </a:r>
          </a:p>
          <a:p>
            <a:pPr algn="just">
              <a:lnSpc>
                <a:spcPct val="150000"/>
              </a:lnSpc>
            </a:pPr>
            <a:r>
              <a:rPr lang="en-US" sz="1900" b="0" i="0" u="none" strike="noStrike" baseline="0" dirty="0">
                <a:latin typeface="Times New Roman" panose="02020603050405020304" pitchFamily="18" charset="0"/>
              </a:rPr>
              <a:t>Information Technology means the processing and distribution of data using computer hardware and software, telecommunications, and digital electronics. </a:t>
            </a:r>
          </a:p>
          <a:p>
            <a:pPr algn="just">
              <a:lnSpc>
                <a:spcPct val="150000"/>
              </a:lnSpc>
            </a:pPr>
            <a:r>
              <a:rPr lang="en-US" sz="1900" b="0" i="0" u="none" strike="noStrike" baseline="0" dirty="0">
                <a:latin typeface="Times New Roman" panose="02020603050405020304" pitchFamily="18" charset="0"/>
              </a:rPr>
              <a:t>This unit will give us a background view on Information Communications Technology (ICT).</a:t>
            </a:r>
            <a:endParaRPr lang="en-US" sz="1900" b="1" kern="0" dirty="0"/>
          </a:p>
        </p:txBody>
      </p:sp>
    </p:spTree>
    <p:extLst>
      <p:ext uri="{BB962C8B-B14F-4D97-AF65-F5344CB8AC3E}">
        <p14:creationId xmlns:p14="http://schemas.microsoft.com/office/powerpoint/2010/main" val="4108579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2800" b="1" kern="0" dirty="0"/>
              <a:t>CONCEPT OF INFORMATION AND COMMUNICATION TECHNOLOGIES (ICT)</a:t>
            </a:r>
          </a:p>
        </p:txBody>
      </p:sp>
      <p:sp>
        <p:nvSpPr>
          <p:cNvPr id="5" name="Rectangle 3"/>
          <p:cNvSpPr txBox="1">
            <a:spLocks noChangeArrowheads="1"/>
          </p:cNvSpPr>
          <p:nvPr/>
        </p:nvSpPr>
        <p:spPr bwMode="auto">
          <a:xfrm>
            <a:off x="457200" y="1484784"/>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400" b="0" i="0" u="none" strike="noStrike" baseline="0" dirty="0">
                <a:latin typeface="Times New Roman" panose="02020603050405020304" pitchFamily="18" charset="0"/>
              </a:rPr>
              <a:t>Focusing on the three words behind </a:t>
            </a:r>
            <a:r>
              <a:rPr lang="en-US" sz="2400" b="1" i="0" u="none" strike="noStrike" baseline="0" dirty="0">
                <a:latin typeface="Times New Roman" panose="02020603050405020304" pitchFamily="18" charset="0"/>
              </a:rPr>
              <a:t>ICT:</a:t>
            </a:r>
          </a:p>
          <a:p>
            <a:pPr marL="900113" algn="just">
              <a:lnSpc>
                <a:spcPct val="150000"/>
              </a:lnSpc>
              <a:buFont typeface="Wingdings" panose="05000000000000000000" pitchFamily="2" charset="2"/>
              <a:buChar char="Ø"/>
            </a:pPr>
            <a:r>
              <a:rPr lang="en-US" sz="2400" b="1" i="0" u="none" strike="noStrike" baseline="0" dirty="0">
                <a:latin typeface="Times New Roman" panose="02020603050405020304" pitchFamily="18" charset="0"/>
              </a:rPr>
              <a:t>INFORMATION</a:t>
            </a:r>
          </a:p>
          <a:p>
            <a:pPr marL="900113" algn="just">
              <a:lnSpc>
                <a:spcPct val="150000"/>
              </a:lnSpc>
              <a:buFont typeface="Wingdings" panose="05000000000000000000" pitchFamily="2" charset="2"/>
              <a:buChar char="Ø"/>
            </a:pPr>
            <a:r>
              <a:rPr lang="en-US" sz="2400" b="1" i="0" u="none" strike="noStrike" baseline="0" dirty="0">
                <a:latin typeface="Times New Roman" panose="02020603050405020304" pitchFamily="18" charset="0"/>
              </a:rPr>
              <a:t>COMMUNICATIONS</a:t>
            </a:r>
          </a:p>
          <a:p>
            <a:pPr marL="900113" algn="just">
              <a:lnSpc>
                <a:spcPct val="150000"/>
              </a:lnSpc>
              <a:buFont typeface="Wingdings" panose="05000000000000000000" pitchFamily="2" charset="2"/>
              <a:buChar char="Ø"/>
            </a:pPr>
            <a:r>
              <a:rPr lang="en-US" sz="2400" b="1" i="0" u="none" strike="noStrike" baseline="0" dirty="0">
                <a:latin typeface="Times New Roman" panose="02020603050405020304" pitchFamily="18" charset="0"/>
              </a:rPr>
              <a:t>TECHNOLOGY</a:t>
            </a:r>
          </a:p>
          <a:p>
            <a:pPr algn="just">
              <a:lnSpc>
                <a:spcPct val="150000"/>
              </a:lnSpc>
            </a:pPr>
            <a:r>
              <a:rPr lang="en-US" sz="2400" b="0" i="0" u="none" strike="noStrike" baseline="0" dirty="0">
                <a:latin typeface="Times New Roman" panose="02020603050405020304" pitchFamily="18" charset="0"/>
              </a:rPr>
              <a:t>We can deduce that ICT is concerned with the storage, retrieval, manipulation, transmission or receipt of digital data. Importantly, it is also concerned with the way these different uses can work with each other in business.</a:t>
            </a:r>
            <a:endParaRPr lang="en-US" sz="2400" b="1" kern="0" dirty="0"/>
          </a:p>
        </p:txBody>
      </p:sp>
    </p:spTree>
    <p:extLst>
      <p:ext uri="{BB962C8B-B14F-4D97-AF65-F5344CB8AC3E}">
        <p14:creationId xmlns:p14="http://schemas.microsoft.com/office/powerpoint/2010/main" val="30489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2800" b="1" kern="0" dirty="0"/>
              <a:t>CONCEPT OF INFORMATION AND COMMUNICATION TECHNOLOGIES (ICT)</a:t>
            </a:r>
          </a:p>
        </p:txBody>
      </p:sp>
      <p:sp>
        <p:nvSpPr>
          <p:cNvPr id="5" name="Rectangle 3"/>
          <p:cNvSpPr txBox="1">
            <a:spLocks noChangeArrowheads="1"/>
          </p:cNvSpPr>
          <p:nvPr/>
        </p:nvSpPr>
        <p:spPr bwMode="auto">
          <a:xfrm>
            <a:off x="457200"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r>
              <a:rPr lang="en-US" sz="2000" b="0" i="0" u="none" strike="noStrike" baseline="0" dirty="0">
                <a:latin typeface="Times New Roman" panose="02020603050405020304" pitchFamily="18" charset="0"/>
              </a:rPr>
              <a:t>The </a:t>
            </a:r>
            <a:r>
              <a:rPr lang="en-US" sz="2000" b="1" i="0" u="none" strike="noStrike" baseline="0" dirty="0">
                <a:latin typeface="Times New Roman" panose="02020603050405020304" pitchFamily="18" charset="0"/>
              </a:rPr>
              <a:t>nature of information (the "I" in ICT) </a:t>
            </a:r>
            <a:r>
              <a:rPr lang="en-US" sz="2000" b="0" i="0" u="none" strike="noStrike" baseline="0" dirty="0">
                <a:latin typeface="Times New Roman" panose="02020603050405020304" pitchFamily="18" charset="0"/>
              </a:rPr>
              <a:t>covers areas such as the meaning and value of information; how information is controlled;</a:t>
            </a:r>
          </a:p>
          <a:p>
            <a:pPr marL="1057275" algn="just">
              <a:buFont typeface="Wingdings" panose="05000000000000000000" pitchFamily="2" charset="2"/>
              <a:buChar char="Ø"/>
            </a:pPr>
            <a:r>
              <a:rPr lang="en-US" sz="2000" b="1" i="0" u="none" strike="noStrike" baseline="0" dirty="0">
                <a:latin typeface="Times New Roman" panose="02020603050405020304" pitchFamily="18" charset="0"/>
              </a:rPr>
              <a:t>Management of information </a:t>
            </a:r>
            <a:r>
              <a:rPr lang="en-US" sz="2000" b="0" i="0" u="none" strike="noStrike" baseline="0" dirty="0">
                <a:latin typeface="Times New Roman" panose="02020603050405020304" pitchFamily="18" charset="0"/>
              </a:rPr>
              <a:t>- this covers how data is captured, verified and stored for effective use; the manipulation, processing and distribution of information; keeping information secure; networks design to share information.</a:t>
            </a:r>
          </a:p>
          <a:p>
            <a:pPr marL="1057275" algn="just">
              <a:buFont typeface="Wingdings" panose="05000000000000000000" pitchFamily="2" charset="2"/>
              <a:buChar char="Ø"/>
            </a:pPr>
            <a:r>
              <a:rPr lang="en-US" sz="2000" b="1" i="0" u="none" strike="noStrike" baseline="0" dirty="0">
                <a:latin typeface="Times New Roman" panose="02020603050405020304" pitchFamily="18" charset="0"/>
              </a:rPr>
              <a:t>Information systems strategy </a:t>
            </a:r>
            <a:r>
              <a:rPr lang="en-US" sz="2000" b="0" i="0" u="none" strike="noStrike" baseline="0" dirty="0">
                <a:latin typeface="Times New Roman" panose="02020603050405020304" pitchFamily="18" charset="0"/>
              </a:rPr>
              <a:t>- this considers how ICT can be used within a business or organization as part of achieving goals and objectives.</a:t>
            </a:r>
          </a:p>
          <a:p>
            <a:pPr algn="just"/>
            <a:r>
              <a:rPr lang="en-US" sz="2000" b="0" i="0" u="none" strike="noStrike" baseline="0" dirty="0">
                <a:latin typeface="Times New Roman" panose="02020603050405020304" pitchFamily="18" charset="0"/>
              </a:rPr>
              <a:t>The </a:t>
            </a:r>
            <a:r>
              <a:rPr lang="en-US" sz="2000" b="1" i="0" u="none" strike="noStrike" baseline="0" dirty="0">
                <a:latin typeface="Times New Roman" panose="02020603050405020304" pitchFamily="18" charset="0"/>
              </a:rPr>
              <a:t>C part of ICT </a:t>
            </a:r>
            <a:r>
              <a:rPr lang="en-US" sz="2000" b="0" i="0" u="none" strike="noStrike" baseline="0" dirty="0">
                <a:latin typeface="Times New Roman" panose="02020603050405020304" pitchFamily="18" charset="0"/>
              </a:rPr>
              <a:t>refers to the communication of data by electronic means, usually over some distance. </a:t>
            </a:r>
          </a:p>
          <a:p>
            <a:pPr marL="357188" indent="0" algn="just">
              <a:buNone/>
            </a:pPr>
            <a:r>
              <a:rPr lang="en-US" sz="2000" b="0" i="0" u="none" strike="noStrike" baseline="0" dirty="0">
                <a:latin typeface="Times New Roman" panose="02020603050405020304" pitchFamily="18" charset="0"/>
              </a:rPr>
              <a:t>This is often achieved via networks of sending and receiving equipment, wires and satellite links.</a:t>
            </a:r>
          </a:p>
          <a:p>
            <a:pPr algn="just"/>
            <a:r>
              <a:rPr lang="en-US" sz="2000" b="0" i="0" u="none" strike="noStrike" baseline="0" dirty="0">
                <a:latin typeface="Times New Roman" panose="02020603050405020304" pitchFamily="18" charset="0"/>
              </a:rPr>
              <a:t>The </a:t>
            </a:r>
            <a:r>
              <a:rPr lang="en-US" sz="2000" b="1" i="0" u="none" strike="noStrike" baseline="0" dirty="0">
                <a:latin typeface="Times New Roman" panose="02020603050405020304" pitchFamily="18" charset="0"/>
              </a:rPr>
              <a:t>T part of ICT </a:t>
            </a:r>
            <a:r>
              <a:rPr lang="en-US" sz="2000" b="0" i="0" u="none" strike="noStrike" baseline="0" dirty="0">
                <a:latin typeface="Times New Roman" panose="02020603050405020304" pitchFamily="18" charset="0"/>
              </a:rPr>
              <a:t>refers to the more recent, and fast-growing range of digital technologies which allow people and organizations to communicate and share information digitally</a:t>
            </a:r>
            <a:endParaRPr lang="en-US" sz="20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550766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2800" b="1" kern="0" dirty="0"/>
              <a:t>CONCEPT OF INFORMATION AND COMMUNICATION TECHNOLOGIES (ICT)</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r>
              <a:rPr lang="en-US" sz="2000" b="0" i="0" u="none" strike="noStrike" baseline="0" dirty="0">
                <a:latin typeface="Times New Roman" panose="02020603050405020304" pitchFamily="18" charset="0"/>
              </a:rPr>
              <a:t>ICT three main components are</a:t>
            </a:r>
          </a:p>
          <a:p>
            <a:pPr marL="714375" algn="just">
              <a:buFont typeface="Wingdings" panose="05000000000000000000" pitchFamily="2" charset="2"/>
              <a:buChar char="Ø"/>
            </a:pPr>
            <a:r>
              <a:rPr lang="en-US" sz="2000" b="1" i="0" u="none" strike="noStrike" baseline="0" dirty="0">
                <a:latin typeface="Times New Roman" panose="02020603050405020304" pitchFamily="18" charset="0"/>
              </a:rPr>
              <a:t>Computers</a:t>
            </a:r>
            <a:r>
              <a:rPr lang="en-US" sz="2000" b="0" i="0" u="none" strike="noStrike" baseline="0" dirty="0">
                <a:latin typeface="Times New Roman" panose="02020603050405020304" pitchFamily="18" charset="0"/>
              </a:rPr>
              <a:t>; used to process data into information,</a:t>
            </a:r>
          </a:p>
          <a:p>
            <a:pPr marL="714375" algn="just">
              <a:buFont typeface="Wingdings" panose="05000000000000000000" pitchFamily="2" charset="2"/>
              <a:buChar char="Ø"/>
            </a:pPr>
            <a:r>
              <a:rPr lang="en-US" sz="2000" b="1" i="0" u="none" strike="noStrike" baseline="0" dirty="0">
                <a:latin typeface="Times New Roman" panose="02020603050405020304" pitchFamily="18" charset="0"/>
              </a:rPr>
              <a:t>Communications</a:t>
            </a:r>
            <a:r>
              <a:rPr lang="en-US" sz="2000" b="0" i="0" u="none" strike="noStrike" baseline="0" dirty="0">
                <a:latin typeface="Times New Roman" panose="02020603050405020304" pitchFamily="18" charset="0"/>
              </a:rPr>
              <a:t> networks; transmission of information,</a:t>
            </a:r>
          </a:p>
          <a:p>
            <a:pPr marL="714375" algn="just">
              <a:buFont typeface="Wingdings" panose="05000000000000000000" pitchFamily="2" charset="2"/>
              <a:buChar char="Ø"/>
            </a:pPr>
            <a:r>
              <a:rPr lang="en-US" sz="2000" b="1" i="0" u="none" strike="noStrike" baseline="0" dirty="0">
                <a:latin typeface="Times New Roman" panose="02020603050405020304" pitchFamily="18" charset="0"/>
              </a:rPr>
              <a:t>Know-how</a:t>
            </a:r>
            <a:r>
              <a:rPr lang="en-US" sz="2000" b="0" i="0" u="none" strike="noStrike" baseline="0" dirty="0">
                <a:latin typeface="Times New Roman" panose="02020603050405020304" pitchFamily="18" charset="0"/>
              </a:rPr>
              <a:t>; the technology used for the transmission</a:t>
            </a:r>
          </a:p>
        </p:txBody>
      </p:sp>
      <p:pic>
        <p:nvPicPr>
          <p:cNvPr id="6" name="Picture 5">
            <a:extLst>
              <a:ext uri="{FF2B5EF4-FFF2-40B4-BE49-F238E27FC236}">
                <a16:creationId xmlns:a16="http://schemas.microsoft.com/office/drawing/2014/main" id="{11347ED8-9CB1-487A-AE4D-8F4D238A76F4}"/>
              </a:ext>
            </a:extLst>
          </p:cNvPr>
          <p:cNvPicPr>
            <a:picLocks noChangeAspect="1"/>
          </p:cNvPicPr>
          <p:nvPr/>
        </p:nvPicPr>
        <p:blipFill>
          <a:blip r:embed="rId2"/>
          <a:stretch>
            <a:fillRect/>
          </a:stretch>
        </p:blipFill>
        <p:spPr>
          <a:xfrm>
            <a:off x="899592" y="3010968"/>
            <a:ext cx="7128792" cy="3730400"/>
          </a:xfrm>
          <a:prstGeom prst="rect">
            <a:avLst/>
          </a:prstGeom>
        </p:spPr>
      </p:pic>
    </p:spTree>
    <p:extLst>
      <p:ext uri="{BB962C8B-B14F-4D97-AF65-F5344CB8AC3E}">
        <p14:creationId xmlns:p14="http://schemas.microsoft.com/office/powerpoint/2010/main" val="1705199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8000" b="1" kern="0" dirty="0"/>
              <a:t>COMPUTERS</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0" i="0" u="none" strike="noStrike" baseline="0" dirty="0">
                <a:latin typeface="Times New Roman" panose="02020603050405020304" pitchFamily="18" charset="0"/>
              </a:rPr>
              <a:t>A computer is an electronic system that can be instructed to accept, process, store, and present data and information. </a:t>
            </a:r>
          </a:p>
          <a:p>
            <a:pPr algn="just">
              <a:lnSpc>
                <a:spcPct val="150000"/>
              </a:lnSpc>
            </a:pPr>
            <a:r>
              <a:rPr lang="en-US" sz="2000" b="0" i="0" u="none" strike="noStrike" baseline="0" dirty="0">
                <a:latin typeface="Times New Roman" panose="02020603050405020304" pitchFamily="18" charset="0"/>
              </a:rPr>
              <a:t>It is made up of two component parts: hardware and software.</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Hardware: </a:t>
            </a:r>
            <a:r>
              <a:rPr lang="en-US" sz="2000" b="0" i="0" u="none" strike="noStrike" baseline="0" dirty="0">
                <a:latin typeface="Times New Roman" panose="02020603050405020304" pitchFamily="18" charset="0"/>
              </a:rPr>
              <a:t>The computer and its associated equipment.</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Software: </a:t>
            </a:r>
            <a:r>
              <a:rPr lang="en-US" sz="2000" b="0" i="0" u="none" strike="noStrike" baseline="0" dirty="0">
                <a:latin typeface="Times New Roman" panose="02020603050405020304" pitchFamily="18" charset="0"/>
              </a:rPr>
              <a:t>The general term for a set of instructions that controls a computer or a communications network.</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Program: </a:t>
            </a:r>
            <a:r>
              <a:rPr lang="en-US" sz="2000" b="0" i="0" u="none" strike="noStrike" baseline="0" dirty="0">
                <a:latin typeface="Times New Roman" panose="02020603050405020304" pitchFamily="18" charset="0"/>
              </a:rPr>
              <a:t>A set of instructions that directs a computer to perform certain tasks and produce certain results.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System:</a:t>
            </a:r>
            <a:r>
              <a:rPr lang="en-US" sz="2000" b="0" i="0" u="none" strike="noStrike" baseline="0" dirty="0">
                <a:latin typeface="Times New Roman" panose="02020603050405020304" pitchFamily="18" charset="0"/>
              </a:rPr>
              <a:t> A set of components that interact to accomplish a purpose.</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Data: </a:t>
            </a:r>
            <a:r>
              <a:rPr lang="en-US" sz="2000" b="0" i="0" u="none" strike="noStrike" baseline="0" dirty="0">
                <a:latin typeface="Times New Roman" panose="02020603050405020304" pitchFamily="18" charset="0"/>
              </a:rPr>
              <a:t>Raw facts, figures, and details.</a:t>
            </a:r>
          </a:p>
        </p:txBody>
      </p:sp>
    </p:spTree>
    <p:extLst>
      <p:ext uri="{BB962C8B-B14F-4D97-AF65-F5344CB8AC3E}">
        <p14:creationId xmlns:p14="http://schemas.microsoft.com/office/powerpoint/2010/main" val="1335643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r>
              <a:rPr lang="en-US" sz="8000" b="1" kern="0" dirty="0"/>
              <a:t>COMPUTERS</a:t>
            </a:r>
          </a:p>
        </p:txBody>
      </p:sp>
      <p:sp>
        <p:nvSpPr>
          <p:cNvPr id="5" name="Rectangle 3"/>
          <p:cNvSpPr txBox="1">
            <a:spLocks noChangeArrowheads="1"/>
          </p:cNvSpPr>
          <p:nvPr/>
        </p:nvSpPr>
        <p:spPr bwMode="auto">
          <a:xfrm>
            <a:off x="429244" y="1412776"/>
            <a:ext cx="8535243" cy="544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Information:</a:t>
            </a:r>
            <a:r>
              <a:rPr lang="en-US" sz="2000" b="0" i="0" u="none" strike="noStrike" baseline="0" dirty="0">
                <a:latin typeface="Times New Roman" panose="02020603050405020304" pitchFamily="18" charset="0"/>
              </a:rPr>
              <a:t> An organized, meaningful, and useful interpretation of data.</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Knowledge:</a:t>
            </a:r>
            <a:r>
              <a:rPr lang="en-US" sz="2000" b="0" i="0" u="none" strike="noStrike" baseline="0" dirty="0">
                <a:latin typeface="Times New Roman" panose="02020603050405020304" pitchFamily="18" charset="0"/>
              </a:rPr>
              <a:t> An awareness and understanding of a set of information and how that information can be put to the best use.</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Information System: </a:t>
            </a:r>
            <a:r>
              <a:rPr lang="en-US" sz="2000" b="0" i="0" u="none" strike="noStrike" baseline="0" dirty="0">
                <a:latin typeface="Times New Roman" panose="02020603050405020304" pitchFamily="18" charset="0"/>
              </a:rPr>
              <a:t>A business information system designed to produce the information needed for successful management of a structured problem, process, department, or business.</a:t>
            </a:r>
          </a:p>
          <a:p>
            <a:pPr algn="just">
              <a:lnSpc>
                <a:spcPct val="150000"/>
              </a:lnSpc>
            </a:pPr>
            <a:r>
              <a:rPr lang="en-US" sz="2000" b="0" i="0" u="none" strike="noStrike" baseline="0" dirty="0">
                <a:latin typeface="Times New Roman" panose="02020603050405020304" pitchFamily="18" charset="0"/>
              </a:rPr>
              <a:t>Computers come in four sizes:</a:t>
            </a:r>
          </a:p>
          <a:p>
            <a:pPr marL="714375"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Microcomputers</a:t>
            </a:r>
          </a:p>
          <a:p>
            <a:pPr marL="714375"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Midrange computers </a:t>
            </a:r>
          </a:p>
          <a:p>
            <a:pPr marL="714375"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Mainframes</a:t>
            </a:r>
          </a:p>
          <a:p>
            <a:pPr marL="714375"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Supercomputers</a:t>
            </a:r>
          </a:p>
        </p:txBody>
      </p:sp>
    </p:spTree>
    <p:extLst>
      <p:ext uri="{BB962C8B-B14F-4D97-AF65-F5344CB8AC3E}">
        <p14:creationId xmlns:p14="http://schemas.microsoft.com/office/powerpoint/2010/main" val="1427544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417638"/>
          </a:xfrm>
        </p:spPr>
        <p:txBody>
          <a:bodyPr>
            <a:noAutofit/>
          </a:bodyPr>
          <a:lstStyle/>
          <a:p>
            <a:pPr algn="ctr"/>
            <a:r>
              <a:rPr lang="en-US" b="1" kern="0" dirty="0"/>
              <a:t>COMMUNICATIONS NETWORKS</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b="1" u="none" strike="noStrike" baseline="0" dirty="0">
                <a:latin typeface="Times New Roman" panose="02020603050405020304" pitchFamily="18" charset="0"/>
              </a:rPr>
              <a:t>Communications Network </a:t>
            </a:r>
            <a:r>
              <a:rPr lang="en-US" sz="2000" b="0" i="0" u="none" strike="noStrike" baseline="0" dirty="0">
                <a:latin typeface="Times New Roman" panose="02020603050405020304" pitchFamily="18" charset="0"/>
              </a:rPr>
              <a:t>can be defined as a set of locations, or nodes, consisting of hardware, programs, and information linked together as a system that transmits and receives data and information.</a:t>
            </a:r>
          </a:p>
          <a:p>
            <a:pPr marL="714375" algn="just">
              <a:lnSpc>
                <a:spcPct val="200000"/>
              </a:lnSpc>
              <a:buFont typeface="Wingdings" panose="05000000000000000000" pitchFamily="2" charset="2"/>
              <a:buChar char="Ø"/>
            </a:pPr>
            <a:r>
              <a:rPr lang="en-US" sz="2000" b="1" i="0" u="none" strike="noStrike" baseline="0" dirty="0">
                <a:latin typeface="Times New Roman" panose="02020603050405020304" pitchFamily="18" charset="0"/>
              </a:rPr>
              <a:t>Communication:</a:t>
            </a:r>
            <a:r>
              <a:rPr lang="en-US" sz="2000" b="0" i="0" u="none" strike="noStrike" baseline="0" dirty="0">
                <a:latin typeface="Times New Roman" panose="02020603050405020304" pitchFamily="18" charset="0"/>
              </a:rPr>
              <a:t> The sending and receiving of data and information over a communications </a:t>
            </a:r>
            <a:r>
              <a:rPr lang="en-US" sz="2000" b="1" u="sng" strike="noStrike" baseline="0" dirty="0">
                <a:latin typeface="Times New Roman" panose="02020603050405020304" pitchFamily="18" charset="0"/>
              </a:rPr>
              <a:t>network</a:t>
            </a:r>
            <a:r>
              <a:rPr lang="en-US" sz="2000" b="0" i="0" u="none" strike="noStrike" baseline="0" dirty="0">
                <a:latin typeface="Times New Roman" panose="02020603050405020304" pitchFamily="18" charset="0"/>
              </a:rPr>
              <a:t>.</a:t>
            </a:r>
          </a:p>
          <a:p>
            <a:pPr marL="714375" algn="just">
              <a:lnSpc>
                <a:spcPct val="200000"/>
              </a:lnSpc>
              <a:buFont typeface="Wingdings" panose="05000000000000000000" pitchFamily="2" charset="2"/>
              <a:buChar char="Ø"/>
            </a:pPr>
            <a:r>
              <a:rPr lang="en-US" sz="2000" b="1" i="0" u="none" strike="noStrike" baseline="0" dirty="0">
                <a:latin typeface="Times New Roman" panose="02020603050405020304" pitchFamily="18" charset="0"/>
              </a:rPr>
              <a:t>Data Communication: </a:t>
            </a:r>
            <a:r>
              <a:rPr lang="en-US" sz="2000" b="0" i="0" u="none" strike="noStrike" baseline="0" dirty="0">
                <a:latin typeface="Times New Roman" panose="02020603050405020304" pitchFamily="18" charset="0"/>
              </a:rPr>
              <a:t>The transmission of data and information through a communications </a:t>
            </a:r>
            <a:r>
              <a:rPr lang="en-US" sz="2000" b="1" i="0" u="sng" strike="noStrike" baseline="0" dirty="0">
                <a:latin typeface="Times New Roman" panose="02020603050405020304" pitchFamily="18" charset="0"/>
              </a:rPr>
              <a:t>medium</a:t>
            </a:r>
            <a:r>
              <a:rPr lang="en-US" sz="2000" b="0" i="0" u="none" strike="noStrike" baseline="0" dirty="0">
                <a:latin typeface="Times New Roman" panose="02020603050405020304" pitchFamily="18" charset="0"/>
              </a:rPr>
              <a:t>.</a:t>
            </a:r>
          </a:p>
        </p:txBody>
      </p:sp>
    </p:spTree>
    <p:extLst>
      <p:ext uri="{BB962C8B-B14F-4D97-AF65-F5344CB8AC3E}">
        <p14:creationId xmlns:p14="http://schemas.microsoft.com/office/powerpoint/2010/main" val="2910271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8800" b="1" dirty="0"/>
              <a:t>KNOW-HOW</a:t>
            </a:r>
            <a:endParaRPr lang="en-US" sz="88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100" b="1" i="0" u="none" strike="noStrike" baseline="0" dirty="0">
                <a:latin typeface="Times New Roman" panose="02020603050405020304" pitchFamily="18" charset="0"/>
              </a:rPr>
              <a:t>Know-how</a:t>
            </a:r>
            <a:r>
              <a:rPr lang="en-US" sz="2100" b="0" i="0" u="none" strike="noStrike" baseline="0" dirty="0">
                <a:latin typeface="Times New Roman" panose="02020603050405020304" pitchFamily="18" charset="0"/>
              </a:rPr>
              <a:t> is the capability to do something well. Information technology know-how consists of:</a:t>
            </a:r>
          </a:p>
          <a:p>
            <a:pPr marL="714375" algn="just">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Familiarity with the tools of IT; including the </a:t>
            </a:r>
            <a:r>
              <a:rPr lang="en-US" sz="2100" b="1" i="0" u="sng" strike="noStrike" baseline="0" dirty="0">
                <a:latin typeface="Times New Roman" panose="02020603050405020304" pitchFamily="18" charset="0"/>
              </a:rPr>
              <a:t>Internet</a:t>
            </a:r>
          </a:p>
          <a:p>
            <a:pPr marL="714375" algn="just">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Possession of the </a:t>
            </a:r>
            <a:r>
              <a:rPr lang="en-US" sz="2100" b="1" i="0" u="sng" strike="noStrike" baseline="0" dirty="0">
                <a:latin typeface="Times New Roman" panose="02020603050405020304" pitchFamily="18" charset="0"/>
              </a:rPr>
              <a:t>skills</a:t>
            </a:r>
            <a:r>
              <a:rPr lang="en-US" sz="2100" b="0" i="0" u="none" strike="noStrike" baseline="0" dirty="0">
                <a:latin typeface="Times New Roman" panose="02020603050405020304" pitchFamily="18" charset="0"/>
              </a:rPr>
              <a:t> needed to use these tools</a:t>
            </a:r>
          </a:p>
          <a:p>
            <a:pPr marL="714375" algn="just">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An understanding of when to use IT to solve a problem or create an opportunity</a:t>
            </a:r>
          </a:p>
        </p:txBody>
      </p:sp>
    </p:spTree>
    <p:extLst>
      <p:ext uri="{BB962C8B-B14F-4D97-AF65-F5344CB8AC3E}">
        <p14:creationId xmlns:p14="http://schemas.microsoft.com/office/powerpoint/2010/main" val="1837749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PRINCIPLES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100" b="0" i="0" u="none" strike="noStrike" baseline="0" dirty="0">
                <a:latin typeface="Times New Roman" panose="02020603050405020304" pitchFamily="18" charset="0"/>
              </a:rPr>
              <a:t>A principle is a fundamental </a:t>
            </a:r>
            <a:r>
              <a:rPr lang="en-US" sz="2100" b="1" i="1" u="none" strike="noStrike" baseline="0" dirty="0">
                <a:latin typeface="Times New Roman" panose="02020603050405020304" pitchFamily="18" charset="0"/>
              </a:rPr>
              <a:t>rule, guideline, or motivating idea </a:t>
            </a:r>
            <a:r>
              <a:rPr lang="en-US" sz="2100" b="0" i="0" u="none" strike="noStrike" baseline="0" dirty="0">
                <a:latin typeface="Times New Roman" panose="02020603050405020304" pitchFamily="18" charset="0"/>
              </a:rPr>
              <a:t>that, when applied to a situation, produces a desired result. </a:t>
            </a:r>
          </a:p>
          <a:p>
            <a:pPr algn="just">
              <a:lnSpc>
                <a:spcPct val="200000"/>
              </a:lnSpc>
            </a:pPr>
            <a:r>
              <a:rPr lang="en-US" sz="2100" b="0" i="0" u="none" strike="noStrike" baseline="0" dirty="0">
                <a:latin typeface="Times New Roman" panose="02020603050405020304" pitchFamily="18" charset="0"/>
              </a:rPr>
              <a:t>ICT’s great usefulness is an aid in solving problems, unlocking creativity, and making people more effective than they would be if they did not apply ICT to their activities.</a:t>
            </a:r>
          </a:p>
        </p:txBody>
      </p:sp>
    </p:spTree>
    <p:extLst>
      <p:ext uri="{BB962C8B-B14F-4D97-AF65-F5344CB8AC3E}">
        <p14:creationId xmlns:p14="http://schemas.microsoft.com/office/powerpoint/2010/main" val="4194246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FUNCTIONS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0" i="0" u="none" strike="noStrike" baseline="0" dirty="0">
                <a:latin typeface="Times New Roman" panose="02020603050405020304" pitchFamily="18" charset="0"/>
              </a:rPr>
              <a:t>Information Technology is made up of nine (9) major functions, namely;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Capture,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Verifying,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Processing/Manipulation,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Storage,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Retrieval,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Data Update,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Reproducing,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Transmit/Communication, and </a:t>
            </a:r>
          </a:p>
          <a:p>
            <a:pPr marL="900113" indent="-357188" algn="just">
              <a:lnSpc>
                <a:spcPct val="150000"/>
              </a:lnSpc>
              <a:buFont typeface="+mj-lt"/>
              <a:buAutoNum type="arabicPeriod"/>
            </a:pPr>
            <a:r>
              <a:rPr lang="en-US" sz="2000" b="0" i="0" u="none" strike="noStrike" baseline="0" dirty="0">
                <a:latin typeface="Times New Roman" panose="02020603050405020304" pitchFamily="18" charset="0"/>
              </a:rPr>
              <a:t>Generation.</a:t>
            </a:r>
          </a:p>
        </p:txBody>
      </p:sp>
    </p:spTree>
    <p:extLst>
      <p:ext uri="{BB962C8B-B14F-4D97-AF65-F5344CB8AC3E}">
        <p14:creationId xmlns:p14="http://schemas.microsoft.com/office/powerpoint/2010/main" val="497209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FUNCTIONS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357188" indent="-357188" algn="just">
              <a:lnSpc>
                <a:spcPct val="150000"/>
              </a:lnSpc>
              <a:buFont typeface="+mj-lt"/>
              <a:buAutoNum type="arabicPeriod"/>
            </a:pPr>
            <a:r>
              <a:rPr lang="en-US" sz="2000" b="1" i="0" u="none" strike="noStrike" baseline="0" dirty="0">
                <a:latin typeface="Times New Roman" panose="02020603050405020304" pitchFamily="18" charset="0"/>
              </a:rPr>
              <a:t>Capture:</a:t>
            </a:r>
            <a:r>
              <a:rPr lang="en-US" sz="2000" b="0" i="0" u="none" strike="noStrike" baseline="0" dirty="0">
                <a:latin typeface="Times New Roman" panose="02020603050405020304" pitchFamily="18" charset="0"/>
              </a:rPr>
              <a:t> The process of compiling detailed records of activities. This could be by recording of data from an event or occurrence, in some form such as sales slips, personnel forms, purchase orders, meters, course registration forms, etc.</a:t>
            </a:r>
          </a:p>
          <a:p>
            <a:pPr marL="357188" indent="-357188" algn="just">
              <a:lnSpc>
                <a:spcPct val="150000"/>
              </a:lnSpc>
              <a:buFont typeface="+mj-lt"/>
              <a:buAutoNum type="arabicPeriod"/>
            </a:pPr>
            <a:r>
              <a:rPr lang="en-US" sz="2000" b="1" i="0" u="none" strike="noStrike" baseline="0" dirty="0">
                <a:latin typeface="Times New Roman" panose="02020603050405020304" pitchFamily="18" charset="0"/>
              </a:rPr>
              <a:t>Verifying:</a:t>
            </a:r>
            <a:r>
              <a:rPr lang="en-US" sz="2000" b="0" i="0" u="none" strike="noStrike" baseline="0" dirty="0">
                <a:latin typeface="Times New Roman" panose="02020603050405020304" pitchFamily="18" charset="0"/>
              </a:rPr>
              <a:t> Is the operation for checking or validating of data to ensure it was captured and recorded correctly.</a:t>
            </a:r>
          </a:p>
          <a:p>
            <a:pPr marL="357188" indent="-357188" algn="just">
              <a:lnSpc>
                <a:spcPct val="150000"/>
              </a:lnSpc>
              <a:buFont typeface="+mj-lt"/>
              <a:buAutoNum type="arabicPeriod"/>
            </a:pPr>
            <a:r>
              <a:rPr lang="en-US" sz="2000" b="1" i="0" u="none" strike="noStrike" baseline="0" dirty="0">
                <a:latin typeface="Times New Roman" panose="02020603050405020304" pitchFamily="18" charset="0"/>
              </a:rPr>
              <a:t>Processing/Manipulation:</a:t>
            </a:r>
            <a:r>
              <a:rPr lang="en-US" sz="2000" b="0" i="0" u="none" strike="noStrike" baseline="0" dirty="0">
                <a:latin typeface="Times New Roman" panose="02020603050405020304" pitchFamily="18" charset="0"/>
              </a:rPr>
              <a:t> The process of converting, analyzing, computing, and synthesizing all forms of data or information.</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Classifying:</a:t>
            </a:r>
            <a:r>
              <a:rPr lang="en-US" sz="2000" b="0" i="0" u="none" strike="noStrike" baseline="0" dirty="0">
                <a:latin typeface="Times New Roman" panose="02020603050405020304" pitchFamily="18" charset="0"/>
              </a:rPr>
              <a:t> Is the operation for placing data elements into specific categories such as size, type, customer, etc.</a:t>
            </a:r>
          </a:p>
        </p:txBody>
      </p:sp>
    </p:spTree>
    <p:extLst>
      <p:ext uri="{BB962C8B-B14F-4D97-AF65-F5344CB8AC3E}">
        <p14:creationId xmlns:p14="http://schemas.microsoft.com/office/powerpoint/2010/main" val="4156582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FUNCTIONS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Arranging (Sorting):</a:t>
            </a:r>
            <a:r>
              <a:rPr lang="en-US" sz="2000" b="0" i="0" u="none" strike="noStrike" baseline="0" dirty="0">
                <a:latin typeface="Times New Roman" panose="02020603050405020304" pitchFamily="18" charset="0"/>
              </a:rPr>
              <a:t> This is placing data elements in a specified or predefined sequence.</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Calculating:</a:t>
            </a:r>
            <a:r>
              <a:rPr lang="en-US" sz="2000" b="0" i="0" u="none" strike="noStrike" baseline="0" dirty="0">
                <a:latin typeface="Times New Roman" panose="02020603050405020304" pitchFamily="18" charset="0"/>
              </a:rPr>
              <a:t> This entails the arithmetic and /or logical manipulation of data e.g. computations to derive employee’s pay, customer’s bills etc.</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Summarizing:</a:t>
            </a:r>
            <a:r>
              <a:rPr lang="en-US" sz="2000" b="0" i="0" u="none" strike="noStrike" baseline="0" dirty="0">
                <a:latin typeface="Times New Roman" panose="02020603050405020304" pitchFamily="18" charset="0"/>
              </a:rPr>
              <a:t> Reducing data in logical sense. For example the school principal may only be interested in the total amount of the development levies collected out of the total school fees.</a:t>
            </a:r>
          </a:p>
          <a:p>
            <a:pPr marL="457200" indent="-457200" algn="just">
              <a:lnSpc>
                <a:spcPct val="150000"/>
              </a:lnSpc>
              <a:buFont typeface="+mj-lt"/>
              <a:buAutoNum type="arabicPeriod" startAt="4"/>
            </a:pPr>
            <a:r>
              <a:rPr lang="en-US" sz="2000" b="1" i="0" u="none" strike="noStrike" baseline="0" dirty="0">
                <a:latin typeface="Times New Roman" panose="02020603050405020304" pitchFamily="18" charset="0"/>
              </a:rPr>
              <a:t>Storage:</a:t>
            </a:r>
            <a:r>
              <a:rPr lang="en-US" sz="2000" b="0" i="0" u="none" strike="noStrike" baseline="0" dirty="0">
                <a:latin typeface="Times New Roman" panose="02020603050405020304" pitchFamily="18" charset="0"/>
              </a:rPr>
              <a:t> This entails placing data onto some storage media such as magnetic disk, </a:t>
            </a:r>
            <a:r>
              <a:rPr lang="en-US" sz="2000" b="0" i="0" u="none" strike="noStrike" baseline="0" dirty="0" err="1">
                <a:latin typeface="Times New Roman" panose="02020603050405020304" pitchFamily="18" charset="0"/>
              </a:rPr>
              <a:t>etc</a:t>
            </a:r>
            <a:r>
              <a:rPr lang="en-US" sz="2000" b="0" i="0" u="none" strike="noStrike" baseline="0" dirty="0">
                <a:latin typeface="Times New Roman" panose="02020603050405020304" pitchFamily="18" charset="0"/>
              </a:rPr>
              <a:t> where it can be retrieved when needed.</a:t>
            </a:r>
          </a:p>
        </p:txBody>
      </p:sp>
    </p:spTree>
    <p:extLst>
      <p:ext uri="{BB962C8B-B14F-4D97-AF65-F5344CB8AC3E}">
        <p14:creationId xmlns:p14="http://schemas.microsoft.com/office/powerpoint/2010/main" val="337273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FUNCTIONS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457200" indent="-457200" algn="just">
              <a:lnSpc>
                <a:spcPct val="150000"/>
              </a:lnSpc>
              <a:buFont typeface="+mj-lt"/>
              <a:buAutoNum type="arabicPeriod" startAt="4"/>
            </a:pPr>
            <a:r>
              <a:rPr lang="en-US" sz="2000" b="1" i="0" u="none" strike="noStrike" baseline="0" dirty="0">
                <a:latin typeface="Times New Roman" panose="02020603050405020304" pitchFamily="18" charset="0"/>
              </a:rPr>
              <a:t>Retrieval:</a:t>
            </a:r>
            <a:r>
              <a:rPr lang="en-US" sz="2000" b="0" i="0" u="none" strike="noStrike" baseline="0" dirty="0">
                <a:latin typeface="Times New Roman" panose="02020603050405020304" pitchFamily="18" charset="0"/>
              </a:rPr>
              <a:t> this entails searching out and gaining access to specific data elements from the medium where it was stored for further processing or for transmission to another user.</a:t>
            </a:r>
          </a:p>
          <a:p>
            <a:pPr marL="457200" indent="-457200" algn="just">
              <a:lnSpc>
                <a:spcPct val="150000"/>
              </a:lnSpc>
              <a:buFont typeface="+mj-lt"/>
              <a:buAutoNum type="arabicPeriod" startAt="4"/>
            </a:pPr>
            <a:r>
              <a:rPr lang="en-US" sz="2000" b="1" i="0" u="none" strike="noStrike" baseline="0" dirty="0">
                <a:latin typeface="Times New Roman" panose="02020603050405020304" pitchFamily="18" charset="0"/>
              </a:rPr>
              <a:t>Data Update:</a:t>
            </a:r>
            <a:r>
              <a:rPr lang="en-US" sz="2000" b="0" i="0" u="none" strike="noStrike" baseline="0" dirty="0">
                <a:latin typeface="Times New Roman" panose="02020603050405020304" pitchFamily="18" charset="0"/>
              </a:rPr>
              <a:t> This involves making changes to the stored data. Such changes may be to insert new records or modify some data items of the existing record. However, this is usually the exclusive preserve of a class of authorized data users</a:t>
            </a:r>
          </a:p>
          <a:p>
            <a:pPr marL="457200" indent="-457200" algn="just">
              <a:lnSpc>
                <a:spcPct val="150000"/>
              </a:lnSpc>
              <a:buFont typeface="+mj-lt"/>
              <a:buAutoNum type="arabicPeriod" startAt="4"/>
            </a:pPr>
            <a:r>
              <a:rPr lang="en-US" sz="2000" b="1" i="0" u="none" strike="noStrike" baseline="0" dirty="0">
                <a:latin typeface="Times New Roman" panose="02020603050405020304" pitchFamily="18" charset="0"/>
              </a:rPr>
              <a:t>Reproducing:</a:t>
            </a:r>
            <a:r>
              <a:rPr lang="en-US" sz="2000" b="0" i="0" u="none" strike="noStrike" baseline="0" dirty="0">
                <a:latin typeface="Times New Roman" panose="02020603050405020304" pitchFamily="18" charset="0"/>
              </a:rPr>
              <a:t> This entails duplicating data from one medium to another or into another position in the same medium. Example a file of data stored on a magnetic disk may be reproduced onto another disk or onto a magnetic tape for further processing or for security reasons.</a:t>
            </a:r>
          </a:p>
        </p:txBody>
      </p:sp>
    </p:spTree>
    <p:extLst>
      <p:ext uri="{BB962C8B-B14F-4D97-AF65-F5344CB8AC3E}">
        <p14:creationId xmlns:p14="http://schemas.microsoft.com/office/powerpoint/2010/main" val="959094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FUNCTIONS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457200" indent="-457200" algn="just">
              <a:lnSpc>
                <a:spcPct val="150000"/>
              </a:lnSpc>
              <a:buFont typeface="+mj-lt"/>
              <a:buAutoNum type="arabicPeriod" startAt="4"/>
            </a:pPr>
            <a:r>
              <a:rPr lang="en-US" sz="2000" b="1" i="0" u="none" strike="noStrike" baseline="0" dirty="0">
                <a:latin typeface="Times New Roman" panose="02020603050405020304" pitchFamily="18" charset="0"/>
              </a:rPr>
              <a:t>Transmission/Communication:</a:t>
            </a:r>
            <a:r>
              <a:rPr lang="en-US" sz="2000" b="0" i="0" u="none" strike="noStrike" baseline="0" dirty="0">
                <a:latin typeface="Times New Roman" panose="02020603050405020304" pitchFamily="18" charset="0"/>
              </a:rPr>
              <a:t> The computer process of distributing information over a communications network. This entails transfer of data from one place to another e.g. data can be transferred from a device to a user in form of a report or a display on the screen of a computer controlled terminal.</a:t>
            </a:r>
          </a:p>
          <a:p>
            <a:pPr marL="714375" indent="-357188"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Electronic Mail, or E-Mail</a:t>
            </a:r>
          </a:p>
          <a:p>
            <a:pPr marL="714375" indent="-357188" algn="just">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Voice Messaging, or Voice Mail</a:t>
            </a:r>
          </a:p>
          <a:p>
            <a:pPr marL="457200" indent="-457200" algn="just">
              <a:lnSpc>
                <a:spcPct val="150000"/>
              </a:lnSpc>
              <a:buFont typeface="+mj-lt"/>
              <a:buAutoNum type="arabicPeriod" startAt="9"/>
            </a:pPr>
            <a:r>
              <a:rPr lang="en-US" sz="2000" b="1" i="0" u="none" strike="noStrike" baseline="0" dirty="0">
                <a:latin typeface="Times New Roman" panose="02020603050405020304" pitchFamily="18" charset="0"/>
              </a:rPr>
              <a:t>Generation:</a:t>
            </a:r>
            <a:r>
              <a:rPr lang="en-US" sz="2000" b="0" i="0" u="none" strike="noStrike" baseline="0" dirty="0">
                <a:latin typeface="Times New Roman" panose="02020603050405020304" pitchFamily="18" charset="0"/>
              </a:rPr>
              <a:t> The process of organizing information into a useful form, whether as numbers, text, sound, or visual image.</a:t>
            </a:r>
          </a:p>
        </p:txBody>
      </p:sp>
    </p:spTree>
    <p:extLst>
      <p:ext uri="{BB962C8B-B14F-4D97-AF65-F5344CB8AC3E}">
        <p14:creationId xmlns:p14="http://schemas.microsoft.com/office/powerpoint/2010/main" val="1800210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BENEFITS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0" i="0" u="none" strike="noStrike" baseline="0" dirty="0">
                <a:latin typeface="Times New Roman" panose="02020603050405020304" pitchFamily="18" charset="0"/>
              </a:rPr>
              <a:t>The benefits of ICT are Information processing speed, consistency, accuracy and reliability as illustrated in the diagram bellow.</a:t>
            </a:r>
          </a:p>
        </p:txBody>
      </p:sp>
      <p:pic>
        <p:nvPicPr>
          <p:cNvPr id="6" name="Picture 5">
            <a:extLst>
              <a:ext uri="{FF2B5EF4-FFF2-40B4-BE49-F238E27FC236}">
                <a16:creationId xmlns:a16="http://schemas.microsoft.com/office/drawing/2014/main" id="{4681D2D9-152B-4D59-AA7B-6E71DBFA4CFA}"/>
              </a:ext>
            </a:extLst>
          </p:cNvPr>
          <p:cNvPicPr>
            <a:picLocks noChangeAspect="1"/>
          </p:cNvPicPr>
          <p:nvPr/>
        </p:nvPicPr>
        <p:blipFill>
          <a:blip r:embed="rId2"/>
          <a:stretch>
            <a:fillRect/>
          </a:stretch>
        </p:blipFill>
        <p:spPr>
          <a:xfrm>
            <a:off x="639516" y="2455633"/>
            <a:ext cx="8047284" cy="4445230"/>
          </a:xfrm>
          <a:prstGeom prst="rect">
            <a:avLst/>
          </a:prstGeom>
        </p:spPr>
      </p:pic>
    </p:spTree>
    <p:extLst>
      <p:ext uri="{BB962C8B-B14F-4D97-AF65-F5344CB8AC3E}">
        <p14:creationId xmlns:p14="http://schemas.microsoft.com/office/powerpoint/2010/main" val="2326548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OPPORTUNITIES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200" b="0" i="0" u="none" strike="noStrike" baseline="0" dirty="0">
                <a:latin typeface="Times New Roman" panose="02020603050405020304" pitchFamily="18" charset="0"/>
              </a:rPr>
              <a:t>Helping People</a:t>
            </a:r>
          </a:p>
          <a:p>
            <a:pPr algn="just">
              <a:lnSpc>
                <a:spcPct val="150000"/>
              </a:lnSpc>
            </a:pPr>
            <a:r>
              <a:rPr lang="en-US" sz="2200" b="0" i="0" u="none" strike="noStrike" baseline="0" dirty="0">
                <a:latin typeface="Times New Roman" panose="02020603050405020304" pitchFamily="18" charset="0"/>
              </a:rPr>
              <a:t>Solving Problems</a:t>
            </a:r>
          </a:p>
          <a:p>
            <a:pPr marL="714375" algn="just">
              <a:lnSpc>
                <a:spcPct val="150000"/>
              </a:lnSpc>
              <a:buFont typeface="Wingdings" panose="05000000000000000000" pitchFamily="2" charset="2"/>
              <a:buChar char="Ø"/>
            </a:pPr>
            <a:r>
              <a:rPr lang="en-US" sz="2200" b="1" i="0" u="none" strike="noStrike" baseline="0" dirty="0">
                <a:latin typeface="Times New Roman" panose="02020603050405020304" pitchFamily="18" charset="0"/>
              </a:rPr>
              <a:t>Problem: </a:t>
            </a:r>
            <a:r>
              <a:rPr lang="en-US" sz="2200" b="0" i="0" u="none" strike="noStrike" baseline="0" dirty="0">
                <a:latin typeface="Times New Roman" panose="02020603050405020304" pitchFamily="18" charset="0"/>
              </a:rPr>
              <a:t>A perceived difference between an existing condition and a desired condition.</a:t>
            </a:r>
          </a:p>
          <a:p>
            <a:pPr marL="714375" algn="just">
              <a:lnSpc>
                <a:spcPct val="150000"/>
              </a:lnSpc>
              <a:buFont typeface="Wingdings" panose="05000000000000000000" pitchFamily="2" charset="2"/>
              <a:buChar char="Ø"/>
            </a:pPr>
            <a:r>
              <a:rPr lang="en-US" sz="2200" b="1" i="0" u="none" strike="noStrike" baseline="0" dirty="0">
                <a:latin typeface="Times New Roman" panose="02020603050405020304" pitchFamily="18" charset="0"/>
              </a:rPr>
              <a:t>Problem Solving: </a:t>
            </a:r>
            <a:r>
              <a:rPr lang="en-US" sz="2200" b="0" i="0" u="none" strike="noStrike" baseline="0" dirty="0">
                <a:latin typeface="Times New Roman" panose="02020603050405020304" pitchFamily="18" charset="0"/>
              </a:rPr>
              <a:t>The process of recognizing a problem, identifying alternatives for solving it, and successfully implementing the chosen solution.</a:t>
            </a:r>
          </a:p>
        </p:txBody>
      </p:sp>
    </p:spTree>
    <p:extLst>
      <p:ext uri="{BB962C8B-B14F-4D97-AF65-F5344CB8AC3E}">
        <p14:creationId xmlns:p14="http://schemas.microsoft.com/office/powerpoint/2010/main" val="1293706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3600" b="1" dirty="0"/>
              <a:t>OPPORTUNITIES OF INFORMATION TECHNOLOGY</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150000"/>
              </a:lnSpc>
              <a:buNone/>
            </a:pPr>
            <a:r>
              <a:rPr lang="en-US" sz="2200" b="0" i="0" u="none" strike="noStrike" baseline="0" dirty="0">
                <a:latin typeface="Times New Roman" panose="02020603050405020304" pitchFamily="18" charset="0"/>
              </a:rPr>
              <a:t>Information technology is all around us, improving our lives especially in areas such as:</a:t>
            </a:r>
          </a:p>
          <a:p>
            <a:pPr algn="just">
              <a:lnSpc>
                <a:spcPct val="150000"/>
              </a:lnSpc>
            </a:pPr>
            <a:r>
              <a:rPr lang="en-US" sz="2200" b="1" i="0" u="none" strike="noStrike" baseline="0" dirty="0">
                <a:latin typeface="Times New Roman" panose="02020603050405020304" pitchFamily="18" charset="0"/>
              </a:rPr>
              <a:t>Media</a:t>
            </a:r>
          </a:p>
          <a:p>
            <a:pPr marL="714375" algn="just">
              <a:lnSpc>
                <a:spcPct val="150000"/>
              </a:lnSpc>
              <a:buFont typeface="Wingdings" panose="05000000000000000000" pitchFamily="2" charset="2"/>
              <a:buChar char="Ø"/>
            </a:pPr>
            <a:r>
              <a:rPr lang="en-US" sz="2200" b="0" i="0" u="none" strike="noStrike" baseline="0" dirty="0">
                <a:latin typeface="Times New Roman" panose="02020603050405020304" pitchFamily="18" charset="0"/>
              </a:rPr>
              <a:t>Print (Newspaper, Magazines, Posters and Billboard)</a:t>
            </a:r>
          </a:p>
          <a:p>
            <a:pPr marL="714375" algn="just">
              <a:lnSpc>
                <a:spcPct val="150000"/>
              </a:lnSpc>
              <a:buFont typeface="Wingdings" panose="05000000000000000000" pitchFamily="2" charset="2"/>
              <a:buChar char="Ø"/>
            </a:pPr>
            <a:r>
              <a:rPr lang="en-US" sz="2200" b="0" i="0" u="none" strike="noStrike" baseline="0" dirty="0">
                <a:latin typeface="Times New Roman" panose="02020603050405020304" pitchFamily="18" charset="0"/>
              </a:rPr>
              <a:t>Electronic (Television, Radio and Internet)</a:t>
            </a:r>
          </a:p>
          <a:p>
            <a:pPr algn="just">
              <a:lnSpc>
                <a:spcPct val="150000"/>
              </a:lnSpc>
            </a:pPr>
            <a:r>
              <a:rPr lang="en-US" sz="2200" b="0" i="0" u="none" strike="noStrike" baseline="0" dirty="0">
                <a:latin typeface="Times New Roman" panose="02020603050405020304" pitchFamily="18" charset="0"/>
              </a:rPr>
              <a:t>Education, Training, Entertainment, Shipping, Paperwork, </a:t>
            </a:r>
          </a:p>
          <a:p>
            <a:pPr algn="just">
              <a:lnSpc>
                <a:spcPct val="150000"/>
              </a:lnSpc>
            </a:pPr>
            <a:r>
              <a:rPr lang="en-US" sz="2200" b="0" i="0" u="none" strike="noStrike" baseline="0" dirty="0">
                <a:latin typeface="Times New Roman" panose="02020603050405020304" pitchFamily="18" charset="0"/>
              </a:rPr>
              <a:t>Money and Investments, Agriculture, Taxation and Accounting, Health and Medicine, Manufacturing, Journalism, Energy, and Sports.</a:t>
            </a:r>
          </a:p>
        </p:txBody>
      </p:sp>
    </p:spTree>
    <p:extLst>
      <p:ext uri="{BB962C8B-B14F-4D97-AF65-F5344CB8AC3E}">
        <p14:creationId xmlns:p14="http://schemas.microsoft.com/office/powerpoint/2010/main" val="3085109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8000" b="1" dirty="0"/>
              <a:t>CONCLUSION</a:t>
            </a:r>
            <a:endParaRPr lang="en-US" sz="80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100" b="0" i="0" u="none" strike="noStrike" baseline="0" dirty="0">
                <a:latin typeface="Times New Roman" panose="02020603050405020304" pitchFamily="18" charset="0"/>
              </a:rPr>
              <a:t>Organizations today now require tools that will enable them to get relevant information easily and on time. </a:t>
            </a:r>
          </a:p>
          <a:p>
            <a:pPr marL="0" indent="0" algn="just">
              <a:lnSpc>
                <a:spcPct val="200000"/>
              </a:lnSpc>
              <a:buNone/>
            </a:pPr>
            <a:r>
              <a:rPr lang="en-US" sz="2100" b="0" i="0" u="none" strike="noStrike" baseline="0" dirty="0">
                <a:latin typeface="Times New Roman" panose="02020603050405020304" pitchFamily="18" charset="0"/>
              </a:rPr>
              <a:t>The responsibilities of using Information and Communication Technology (ICT) is to get people informed, make proper use of the technology and protect the information against unauthorized access by hackers and unethical users.</a:t>
            </a:r>
          </a:p>
        </p:txBody>
      </p:sp>
    </p:spTree>
    <p:extLst>
      <p:ext uri="{BB962C8B-B14F-4D97-AF65-F5344CB8AC3E}">
        <p14:creationId xmlns:p14="http://schemas.microsoft.com/office/powerpoint/2010/main" val="2680933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8000" b="1" dirty="0"/>
              <a:t>SUMMARY</a:t>
            </a:r>
            <a:endParaRPr lang="en-US" sz="80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000" b="0" i="0" u="none" strike="noStrike" baseline="0" dirty="0">
                <a:latin typeface="Times New Roman" panose="02020603050405020304" pitchFamily="18" charset="0"/>
              </a:rPr>
              <a:t>The concepts, methods and applications involved in ICT are constantly evolving on an almost daily basis. A good way to think about ICT is to;</a:t>
            </a:r>
          </a:p>
          <a:p>
            <a:pPr marL="714375" algn="just">
              <a:lnSpc>
                <a:spcPct val="200000"/>
              </a:lnSpc>
              <a:buFont typeface="Wingdings" panose="05000000000000000000" pitchFamily="2" charset="2"/>
              <a:buChar char="Ø"/>
            </a:pPr>
            <a:r>
              <a:rPr lang="en-US" sz="2000" b="0" i="0" u="none" strike="noStrike" baseline="0" dirty="0">
                <a:latin typeface="Times New Roman" panose="02020603050405020304" pitchFamily="18" charset="0"/>
              </a:rPr>
              <a:t>Consider all the uses of digital technology that already exist to help  individuals, businesses and organizations use information,</a:t>
            </a:r>
          </a:p>
          <a:p>
            <a:pPr marL="714375" algn="just">
              <a:lnSpc>
                <a:spcPct val="200000"/>
              </a:lnSpc>
              <a:buFont typeface="Wingdings" panose="05000000000000000000" pitchFamily="2" charset="2"/>
              <a:buChar char="Ø"/>
            </a:pPr>
            <a:r>
              <a:rPr lang="en-US" sz="2000" b="0" i="0" u="none" strike="noStrike" baseline="0" dirty="0">
                <a:latin typeface="Times New Roman" panose="02020603050405020304" pitchFamily="18" charset="0"/>
              </a:rPr>
              <a:t>Know the technique used to store, retrieve, manipulate, transmit or receive information electronically in a digital form,</a:t>
            </a:r>
          </a:p>
          <a:p>
            <a:pPr marL="714375" algn="just">
              <a:lnSpc>
                <a:spcPct val="200000"/>
              </a:lnSpc>
              <a:buFont typeface="Wingdings" panose="05000000000000000000" pitchFamily="2" charset="2"/>
              <a:buChar char="Ø"/>
            </a:pPr>
            <a:r>
              <a:rPr lang="en-US" sz="2000" b="0" i="0" u="none" strike="noStrike" baseline="0" dirty="0">
                <a:latin typeface="Times New Roman" panose="02020603050405020304" pitchFamily="18" charset="0"/>
              </a:rPr>
              <a:t>Believe information and communication technology (ICT) has truly turned the world into a global village.</a:t>
            </a:r>
          </a:p>
        </p:txBody>
      </p:sp>
    </p:spTree>
    <p:extLst>
      <p:ext uri="{BB962C8B-B14F-4D97-AF65-F5344CB8AC3E}">
        <p14:creationId xmlns:p14="http://schemas.microsoft.com/office/powerpoint/2010/main" val="4120495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1"/>
            <a:ext cx="8229600" cy="1301007"/>
          </a:xfrm>
        </p:spPr>
        <p:txBody>
          <a:bodyPr>
            <a:noAutofit/>
          </a:bodyPr>
          <a:lstStyle/>
          <a:p>
            <a:pPr algn="ctr"/>
            <a:r>
              <a:rPr lang="en-US" sz="8000" b="1" kern="0" dirty="0"/>
              <a:t>Exercise </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Explain the term “Information”</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List the Classification of Information</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Mention any five ways by which information can be transmitted.</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Name the three stages of information evolution.</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Enumerate the Evolution of the Information Age</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List the Characteristics of the Information Age</a:t>
            </a:r>
          </a:p>
          <a:p>
            <a:pPr algn="just">
              <a:lnSpc>
                <a:spcPct val="200000"/>
              </a:lnSpc>
              <a:buFont typeface="Wingdings" panose="05000000000000000000" pitchFamily="2" charset="2"/>
              <a:buChar char="q"/>
            </a:pPr>
            <a:r>
              <a:rPr lang="en-US" sz="2000" b="0" i="0" u="none" strike="noStrike" baseline="0" dirty="0">
                <a:latin typeface="Times New Roman" panose="02020603050405020304" pitchFamily="18" charset="0"/>
              </a:rPr>
              <a:t>Why do we need computers to process data into information?</a:t>
            </a:r>
          </a:p>
        </p:txBody>
      </p:sp>
    </p:spTree>
    <p:extLst>
      <p:ext uri="{BB962C8B-B14F-4D97-AF65-F5344CB8AC3E}">
        <p14:creationId xmlns:p14="http://schemas.microsoft.com/office/powerpoint/2010/main" val="4056681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2</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3212976"/>
            <a:ext cx="82296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5400" dirty="0">
                <a:latin typeface="Comic Sans MS" panose="030F0702030302020204" pitchFamily="66" charset="0"/>
              </a:rPr>
              <a:t>ESSENTIALS OF COMPUTING</a:t>
            </a:r>
          </a:p>
        </p:txBody>
      </p:sp>
    </p:spTree>
    <p:extLst>
      <p:ext uri="{BB962C8B-B14F-4D97-AF65-F5344CB8AC3E}">
        <p14:creationId xmlns:p14="http://schemas.microsoft.com/office/powerpoint/2010/main" val="3884675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546447"/>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Ø"/>
            </a:pPr>
            <a:r>
              <a:rPr lang="en-US" sz="2000" b="1" kern="0" dirty="0"/>
              <a:t>COMPUTER AND COMPUTER SYSTEM</a:t>
            </a:r>
          </a:p>
          <a:p>
            <a:pPr>
              <a:lnSpc>
                <a:spcPct val="200000"/>
              </a:lnSpc>
              <a:buFont typeface="Wingdings" panose="05000000000000000000" pitchFamily="2" charset="2"/>
              <a:buChar char="Ø"/>
            </a:pPr>
            <a:r>
              <a:rPr lang="en-US" sz="2000" b="1" kern="0" dirty="0"/>
              <a:t>FOUR CATEGORIES OF HARDWARE</a:t>
            </a:r>
          </a:p>
          <a:p>
            <a:pPr>
              <a:lnSpc>
                <a:spcPct val="200000"/>
              </a:lnSpc>
              <a:buFont typeface="Wingdings" panose="05000000000000000000" pitchFamily="2" charset="2"/>
              <a:buChar char="Ø"/>
            </a:pPr>
            <a:r>
              <a:rPr lang="en-US" sz="2000" b="1" kern="0" dirty="0"/>
              <a:t>RELATIONSHIP BETWEEN HARDWARE AND SOFTWARE.</a:t>
            </a:r>
          </a:p>
          <a:p>
            <a:pPr>
              <a:lnSpc>
                <a:spcPct val="200000"/>
              </a:lnSpc>
              <a:buFont typeface="Wingdings" panose="05000000000000000000" pitchFamily="2" charset="2"/>
              <a:buChar char="Ø"/>
            </a:pPr>
            <a:r>
              <a:rPr lang="en-US" sz="2000" b="1" kern="0" dirty="0"/>
              <a:t>USERS OF INFORMATION TECHNOLOGY AND IT PROFESSIONALS.</a:t>
            </a:r>
          </a:p>
        </p:txBody>
      </p:sp>
    </p:spTree>
    <p:extLst>
      <p:ext uri="{BB962C8B-B14F-4D97-AF65-F5344CB8AC3E}">
        <p14:creationId xmlns:p14="http://schemas.microsoft.com/office/powerpoint/2010/main" val="72497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nSpc>
                <a:spcPct val="200000"/>
              </a:lnSpc>
            </a:pPr>
            <a:r>
              <a:rPr lang="en-US" sz="3200" b="1" kern="0" dirty="0"/>
              <a:t>COMPUTER AND COMPUTER SYSTEM</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b="1" i="0" u="none" strike="noStrike" baseline="0">
                <a:latin typeface="Times New Roman" panose="02020603050405020304" pitchFamily="18" charset="0"/>
              </a:rPr>
              <a:t>Computer</a:t>
            </a:r>
            <a:r>
              <a:rPr lang="en-US" b="1" i="0" u="none" strike="noStrike" baseline="0" dirty="0">
                <a:latin typeface="Times New Roman" panose="02020603050405020304" pitchFamily="18" charset="0"/>
              </a:rPr>
              <a:t>:</a:t>
            </a:r>
            <a:r>
              <a:rPr lang="en-US" i="0" u="none" strike="noStrike" baseline="0" dirty="0">
                <a:latin typeface="Times New Roman" panose="02020603050405020304" pitchFamily="18" charset="0"/>
              </a:rPr>
              <a:t> </a:t>
            </a:r>
          </a:p>
          <a:p>
            <a:pPr marL="0" indent="0" algn="just">
              <a:lnSpc>
                <a:spcPct val="200000"/>
              </a:lnSpc>
              <a:buNone/>
            </a:pPr>
            <a:r>
              <a:rPr lang="en-US" sz="2200" i="0" u="none" strike="noStrike" baseline="0" dirty="0">
                <a:latin typeface="Times New Roman" panose="02020603050405020304" pitchFamily="18" charset="0"/>
              </a:rPr>
              <a:t>An electronic system that can be instructed to accept data as an input, process it and gives a result as an output, and in turn stores the data for retrieval in the long run is a computer</a:t>
            </a:r>
          </a:p>
        </p:txBody>
      </p:sp>
    </p:spTree>
    <p:extLst>
      <p:ext uri="{BB962C8B-B14F-4D97-AF65-F5344CB8AC3E}">
        <p14:creationId xmlns:p14="http://schemas.microsoft.com/office/powerpoint/2010/main" val="2971968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nSpc>
                <a:spcPct val="200000"/>
              </a:lnSpc>
            </a:pPr>
            <a:r>
              <a:rPr lang="en-US" sz="3200" b="1" kern="0" dirty="0"/>
              <a:t>COMPUTER AND COMPUTER SYSTEM</a:t>
            </a:r>
          </a:p>
        </p:txBody>
      </p:sp>
      <p:sp>
        <p:nvSpPr>
          <p:cNvPr id="5" name="Rectangle 3"/>
          <p:cNvSpPr txBox="1">
            <a:spLocks noChangeArrowheads="1"/>
          </p:cNvSpPr>
          <p:nvPr/>
        </p:nvSpPr>
        <p:spPr bwMode="auto">
          <a:xfrm>
            <a:off x="429245"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1" i="0" u="none" strike="noStrike" baseline="0" dirty="0">
                <a:latin typeface="Times New Roman" panose="02020603050405020304" pitchFamily="18" charset="0"/>
              </a:rPr>
              <a:t>Computer System: </a:t>
            </a:r>
          </a:p>
          <a:p>
            <a:pPr marL="0" indent="0" algn="just">
              <a:lnSpc>
                <a:spcPct val="150000"/>
              </a:lnSpc>
              <a:buNone/>
            </a:pPr>
            <a:r>
              <a:rPr lang="en-US" sz="2000" i="0" u="none" strike="noStrike" baseline="0" dirty="0">
                <a:latin typeface="Times New Roman" panose="02020603050405020304" pitchFamily="18" charset="0"/>
              </a:rPr>
              <a:t>The computer system is made up of two components parts (Hardware and Software). These components integrate and interrelate. They do this independently by interacting together to perform the basic operations of the computer system. </a:t>
            </a:r>
          </a:p>
          <a:p>
            <a:pPr marL="0" indent="0" algn="just">
              <a:lnSpc>
                <a:spcPct val="150000"/>
              </a:lnSpc>
              <a:buNone/>
            </a:pPr>
            <a:r>
              <a:rPr lang="en-US" sz="2000" i="0" u="none" strike="noStrike" baseline="0" dirty="0">
                <a:latin typeface="Times New Roman" panose="02020603050405020304" pitchFamily="18" charset="0"/>
              </a:rPr>
              <a:t>These </a:t>
            </a:r>
            <a:r>
              <a:rPr lang="en-US" sz="2000" b="1" i="0" u="none" strike="noStrike" baseline="0" dirty="0">
                <a:latin typeface="Times New Roman" panose="02020603050405020304" pitchFamily="18" charset="0"/>
              </a:rPr>
              <a:t>components are linked together via cords and interface connectors, except for the user who is the people ware</a:t>
            </a:r>
            <a:r>
              <a:rPr lang="en-US" sz="2000" i="0" u="none" strike="noStrike" baseline="0" dirty="0">
                <a:latin typeface="Times New Roman" panose="02020603050405020304" pitchFamily="18" charset="0"/>
              </a:rPr>
              <a:t>, the processes (procedures), and information (processed data).</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Hardware</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Software (Programs)</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Information</a:t>
            </a:r>
          </a:p>
        </p:txBody>
      </p:sp>
      <p:sp>
        <p:nvSpPr>
          <p:cNvPr id="4" name="Rectangle 3">
            <a:extLst>
              <a:ext uri="{FF2B5EF4-FFF2-40B4-BE49-F238E27FC236}">
                <a16:creationId xmlns:a16="http://schemas.microsoft.com/office/drawing/2014/main" id="{3A3A7F4B-5022-4A04-AB9F-EB7BCCD04A94}"/>
              </a:ext>
            </a:extLst>
          </p:cNvPr>
          <p:cNvSpPr txBox="1">
            <a:spLocks noChangeArrowheads="1"/>
          </p:cNvSpPr>
          <p:nvPr/>
        </p:nvSpPr>
        <p:spPr bwMode="auto">
          <a:xfrm>
            <a:off x="4067944" y="5373216"/>
            <a:ext cx="4588940" cy="148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People (People Ware)</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Procedures</a:t>
            </a:r>
          </a:p>
        </p:txBody>
      </p:sp>
    </p:spTree>
    <p:extLst>
      <p:ext uri="{BB962C8B-B14F-4D97-AF65-F5344CB8AC3E}">
        <p14:creationId xmlns:p14="http://schemas.microsoft.com/office/powerpoint/2010/main" val="2706673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3778"/>
            <a:ext cx="8229600" cy="1228998"/>
          </a:xfrm>
        </p:spPr>
        <p:txBody>
          <a:bodyPr>
            <a:noAutofit/>
          </a:bodyPr>
          <a:lstStyle/>
          <a:p>
            <a:pPr algn="ctr">
              <a:lnSpc>
                <a:spcPct val="150000"/>
              </a:lnSpc>
            </a:pPr>
            <a:r>
              <a:rPr lang="en-US" sz="3200" b="1" kern="0" dirty="0"/>
              <a:t>FIVE COMPONENTS OF </a:t>
            </a:r>
            <a:br>
              <a:rPr lang="en-US" sz="3200" b="1" kern="0" dirty="0"/>
            </a:br>
            <a:r>
              <a:rPr lang="en-US" sz="3200" b="1" kern="0" dirty="0"/>
              <a:t>A COMPUTER SYSTEM</a:t>
            </a:r>
          </a:p>
        </p:txBody>
      </p:sp>
      <p:pic>
        <p:nvPicPr>
          <p:cNvPr id="3" name="Picture 2">
            <a:extLst>
              <a:ext uri="{FF2B5EF4-FFF2-40B4-BE49-F238E27FC236}">
                <a16:creationId xmlns:a16="http://schemas.microsoft.com/office/drawing/2014/main" id="{75A0B6EA-E9BE-4CD8-BF8C-2DAC603D1A85}"/>
              </a:ext>
            </a:extLst>
          </p:cNvPr>
          <p:cNvPicPr>
            <a:picLocks noChangeAspect="1"/>
          </p:cNvPicPr>
          <p:nvPr/>
        </p:nvPicPr>
        <p:blipFill>
          <a:blip r:embed="rId2"/>
          <a:stretch>
            <a:fillRect/>
          </a:stretch>
        </p:blipFill>
        <p:spPr>
          <a:xfrm>
            <a:off x="539552" y="1484784"/>
            <a:ext cx="7920880" cy="5189438"/>
          </a:xfrm>
          <a:prstGeom prst="rect">
            <a:avLst/>
          </a:prstGeom>
        </p:spPr>
      </p:pic>
    </p:spTree>
    <p:extLst>
      <p:ext uri="{BB962C8B-B14F-4D97-AF65-F5344CB8AC3E}">
        <p14:creationId xmlns:p14="http://schemas.microsoft.com/office/powerpoint/2010/main" val="1729265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3143</TotalTime>
  <Words>2555</Words>
  <Application>Microsoft Office PowerPoint</Application>
  <PresentationFormat>On-screen Show (4:3)</PresentationFormat>
  <Paragraphs>236</Paragraphs>
  <Slides>37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INFORMATION AND COMMUNICATION TECHNOLOGY</vt:lpstr>
      <vt:lpstr>CONCEPT OF INFORMATION AND COMMUNICATION TECHNOLOGIES (ICT)</vt:lpstr>
      <vt:lpstr>CONCEPT OF INFORMATION AND COMMUNICATION TECHNOLOGIES (ICT)</vt:lpstr>
      <vt:lpstr>CONCEPT OF INFORMATION AND COMMUNICATION TECHNOLOGIES (ICT)</vt:lpstr>
      <vt:lpstr>COMPUTERS</vt:lpstr>
      <vt:lpstr>COMPUTERS</vt:lpstr>
      <vt:lpstr>COMMUNICATIONS NETWORKS</vt:lpstr>
      <vt:lpstr>KNOW-HOW</vt:lpstr>
      <vt:lpstr>PRINCIPLES OF INFORMATION TECHNOLOGY</vt:lpstr>
      <vt:lpstr>FUNCTIONS OF INFORMATION TECHNOLOGY</vt:lpstr>
      <vt:lpstr>FUNCTIONS OF INFORMATION TECHNOLOGY</vt:lpstr>
      <vt:lpstr>FUNCTIONS OF INFORMATION TECHNOLOGY</vt:lpstr>
      <vt:lpstr>FUNCTIONS OF INFORMATION TECHNOLOGY</vt:lpstr>
      <vt:lpstr>FUNCTIONS OF INFORMATION TECHNOLOGY</vt:lpstr>
      <vt:lpstr>BENEFITS OF INFORMATION TECHNOLOGY</vt:lpstr>
      <vt:lpstr>OPPORTUNITIES OF INFORMATION TECHNOLOGY</vt:lpstr>
      <vt:lpstr>OPPORTUNITIES OF INFORMATION TECHNOLOGY</vt:lpstr>
      <vt:lpstr>CONCLUSION</vt:lpstr>
      <vt:lpstr>SUMMARY</vt:lpstr>
      <vt:lpstr>Exercise </vt:lpstr>
      <vt:lpstr>PowerPoint Presentation</vt:lpstr>
      <vt:lpstr>Presentation Outline  </vt:lpstr>
      <vt:lpstr>COMPUTER AND COMPUTER SYSTEM</vt:lpstr>
      <vt:lpstr>COMPUTER AND COMPUTER SYSTEM</vt:lpstr>
      <vt:lpstr>FIVE COMPONENTS OF  A COMPUTER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375</cp:revision>
  <dcterms:created xsi:type="dcterms:W3CDTF">2022-01-09T18:11:19Z</dcterms:created>
  <dcterms:modified xsi:type="dcterms:W3CDTF">2025-11-24T08:42:47Z</dcterms:modified>
</cp:coreProperties>
</file>