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Lst>
  <p:notesMasterIdLst>
    <p:notesMasterId r:id="rId89"/>
  </p:notesMasterIdLst>
  <p:handoutMasterIdLst>
    <p:handoutMasterId r:id="rId90"/>
  </p:handoutMasterIdLst>
  <p:sldIdLst>
    <p:sldId id="256" r:id="rId2"/>
    <p:sldId id="526" r:id="rId3"/>
    <p:sldId id="527" r:id="rId4"/>
    <p:sldId id="879" r:id="rId5"/>
    <p:sldId id="519" r:id="rId6"/>
    <p:sldId id="878" r:id="rId7"/>
    <p:sldId id="915" r:id="rId8"/>
    <p:sldId id="880" r:id="rId9"/>
    <p:sldId id="514" r:id="rId10"/>
    <p:sldId id="565" r:id="rId11"/>
    <p:sldId id="1116" r:id="rId12"/>
    <p:sldId id="1117" r:id="rId13"/>
    <p:sldId id="1118" r:id="rId14"/>
    <p:sldId id="1119" r:id="rId15"/>
    <p:sldId id="1120" r:id="rId16"/>
    <p:sldId id="1121" r:id="rId17"/>
    <p:sldId id="1123" r:id="rId18"/>
    <p:sldId id="1124" r:id="rId19"/>
    <p:sldId id="1125" r:id="rId20"/>
    <p:sldId id="1122" r:id="rId21"/>
    <p:sldId id="1126" r:id="rId22"/>
    <p:sldId id="1127" r:id="rId23"/>
    <p:sldId id="1128" r:id="rId24"/>
    <p:sldId id="1129" r:id="rId25"/>
    <p:sldId id="1130" r:id="rId26"/>
    <p:sldId id="1131" r:id="rId27"/>
    <p:sldId id="1132" r:id="rId28"/>
    <p:sldId id="1133" r:id="rId29"/>
    <p:sldId id="1134" r:id="rId30"/>
    <p:sldId id="1135" r:id="rId31"/>
    <p:sldId id="1136" r:id="rId32"/>
    <p:sldId id="1137" r:id="rId33"/>
    <p:sldId id="1138" r:id="rId34"/>
    <p:sldId id="1139" r:id="rId35"/>
    <p:sldId id="1140" r:id="rId36"/>
    <p:sldId id="1141" r:id="rId37"/>
    <p:sldId id="1142" r:id="rId38"/>
    <p:sldId id="1143" r:id="rId39"/>
    <p:sldId id="1144" r:id="rId40"/>
    <p:sldId id="1145" r:id="rId41"/>
    <p:sldId id="1146" r:id="rId42"/>
    <p:sldId id="1147" r:id="rId43"/>
    <p:sldId id="1148" r:id="rId44"/>
    <p:sldId id="1149" r:id="rId45"/>
    <p:sldId id="1150" r:id="rId46"/>
    <p:sldId id="1151" r:id="rId47"/>
    <p:sldId id="1152" r:id="rId48"/>
    <p:sldId id="1153" r:id="rId49"/>
    <p:sldId id="1154" r:id="rId50"/>
    <p:sldId id="1155" r:id="rId51"/>
    <p:sldId id="1157" r:id="rId52"/>
    <p:sldId id="1156" r:id="rId53"/>
    <p:sldId id="1158" r:id="rId54"/>
    <p:sldId id="1159" r:id="rId55"/>
    <p:sldId id="1160" r:id="rId56"/>
    <p:sldId id="1161" r:id="rId57"/>
    <p:sldId id="1162" r:id="rId58"/>
    <p:sldId id="1163" r:id="rId59"/>
    <p:sldId id="1164" r:id="rId60"/>
    <p:sldId id="1166" r:id="rId61"/>
    <p:sldId id="1167" r:id="rId62"/>
    <p:sldId id="1165" r:id="rId63"/>
    <p:sldId id="1168" r:id="rId64"/>
    <p:sldId id="1169" r:id="rId65"/>
    <p:sldId id="1170" r:id="rId66"/>
    <p:sldId id="1171" r:id="rId67"/>
    <p:sldId id="1172" r:id="rId68"/>
    <p:sldId id="1173" r:id="rId69"/>
    <p:sldId id="1174" r:id="rId70"/>
    <p:sldId id="1175" r:id="rId71"/>
    <p:sldId id="1176" r:id="rId72"/>
    <p:sldId id="1177" r:id="rId73"/>
    <p:sldId id="1178" r:id="rId74"/>
    <p:sldId id="1179" r:id="rId75"/>
    <p:sldId id="1180" r:id="rId76"/>
    <p:sldId id="1182" r:id="rId77"/>
    <p:sldId id="1183" r:id="rId78"/>
    <p:sldId id="1184" r:id="rId79"/>
    <p:sldId id="1185" r:id="rId80"/>
    <p:sldId id="1186" r:id="rId81"/>
    <p:sldId id="1187" r:id="rId82"/>
    <p:sldId id="1188" r:id="rId83"/>
    <p:sldId id="1189" r:id="rId84"/>
    <p:sldId id="1190" r:id="rId85"/>
    <p:sldId id="1191" r:id="rId86"/>
    <p:sldId id="1192" r:id="rId87"/>
    <p:sldId id="1193" r:id="rId88"/>
  </p:sldIdLst>
  <p:sldSz cx="9144000" cy="6858000" type="screen4x3"/>
  <p:notesSz cx="7315200" cy="9601200"/>
  <p:custDataLst>
    <p:tags r:id="rId91"/>
  </p:custDataLst>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Verdana" panose="020B060403050404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66" autoAdjust="0"/>
    <p:restoredTop sz="94660"/>
  </p:normalViewPr>
  <p:slideViewPr>
    <p:cSldViewPr>
      <p:cViewPr varScale="1">
        <p:scale>
          <a:sx n="68" d="100"/>
          <a:sy n="68" d="100"/>
        </p:scale>
        <p:origin x="1224"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574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notesMaster" Target="notesMasters/notes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handoutMaster" Target="handoutMasters/handoutMaster1.xml"/><Relationship Id="rId95" Type="http://schemas.openxmlformats.org/officeDocument/2006/relationships/tableStyles" Target="tableStyle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presProps" Target="pres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7827" name="Rectangle 3"/>
          <p:cNvSpPr>
            <a:spLocks noGrp="1" noChangeArrowheads="1"/>
          </p:cNvSpPr>
          <p:nvPr>
            <p:ph type="dt" sz="quarter" idx="1"/>
          </p:nvPr>
        </p:nvSpPr>
        <p:spPr bwMode="auto">
          <a:xfrm>
            <a:off x="4143375"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algn="r" defTabSz="915988" eaLnBrk="1" hangingPunct="1">
              <a:defRPr sz="1200">
                <a:latin typeface="Arial" charset="0"/>
                <a:cs typeface="Arial" charset="0"/>
              </a:defRPr>
            </a:lvl1pPr>
          </a:lstStyle>
          <a:p>
            <a:pPr>
              <a:defRPr/>
            </a:pPr>
            <a:endParaRPr lang="en-US"/>
          </a:p>
        </p:txBody>
      </p:sp>
      <p:sp>
        <p:nvSpPr>
          <p:cNvPr id="77828" name="Rectangle 4"/>
          <p:cNvSpPr>
            <a:spLocks noGrp="1" noChangeArrowheads="1"/>
          </p:cNvSpPr>
          <p:nvPr>
            <p:ph type="ftr" sz="quarter" idx="2"/>
          </p:nvPr>
        </p:nvSpPr>
        <p:spPr bwMode="auto">
          <a:xfrm>
            <a:off x="0"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7829" name="Rectangle 5"/>
          <p:cNvSpPr>
            <a:spLocks noGrp="1" noChangeArrowheads="1"/>
          </p:cNvSpPr>
          <p:nvPr>
            <p:ph type="sldNum" sz="quarter" idx="3"/>
          </p:nvPr>
        </p:nvSpPr>
        <p:spPr bwMode="auto">
          <a:xfrm>
            <a:off x="4143375"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algn="r" defTabSz="915988" eaLnBrk="1" hangingPunct="1">
              <a:defRPr sz="1200">
                <a:latin typeface="Arial" panose="020B0604020202020204" pitchFamily="34" charset="0"/>
              </a:defRPr>
            </a:lvl1pPr>
          </a:lstStyle>
          <a:p>
            <a:pPr>
              <a:defRPr/>
            </a:pPr>
            <a:fld id="{52ED81C8-EB9E-43D7-BE83-0805E619C0C7}" type="slidenum">
              <a:rPr lang="ar-SA" altLang="en-US"/>
              <a:pPr>
                <a:defRPr/>
              </a:pPr>
              <a:t>‹#›</a:t>
            </a:fld>
            <a:endParaRPr lang="en-US" altLang="en-US"/>
          </a:p>
        </p:txBody>
      </p:sp>
    </p:spTree>
    <p:extLst>
      <p:ext uri="{BB962C8B-B14F-4D97-AF65-F5344CB8AC3E}">
        <p14:creationId xmlns:p14="http://schemas.microsoft.com/office/powerpoint/2010/main" val="34095013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778"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5779" name="Rectangle 3"/>
          <p:cNvSpPr>
            <a:spLocks noGrp="1" noChangeArrowheads="1"/>
          </p:cNvSpPr>
          <p:nvPr>
            <p:ph type="dt" idx="1"/>
          </p:nvPr>
        </p:nvSpPr>
        <p:spPr bwMode="auto">
          <a:xfrm>
            <a:off x="4143375" y="0"/>
            <a:ext cx="3170238" cy="479425"/>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lvl1pPr algn="r" defTabSz="915988" eaLnBrk="1" hangingPunct="1">
              <a:defRPr sz="1200">
                <a:latin typeface="Arial" charset="0"/>
                <a:cs typeface="Arial"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81" name="Rectangle 5"/>
          <p:cNvSpPr>
            <a:spLocks noGrp="1" noChangeArrowheads="1"/>
          </p:cNvSpPr>
          <p:nvPr>
            <p:ph type="body" sz="quarter" idx="3"/>
          </p:nvPr>
        </p:nvSpPr>
        <p:spPr bwMode="auto">
          <a:xfrm>
            <a:off x="731838" y="4560888"/>
            <a:ext cx="5851525" cy="4319587"/>
          </a:xfrm>
          <a:prstGeom prst="rect">
            <a:avLst/>
          </a:prstGeom>
          <a:noFill/>
          <a:ln w="9525">
            <a:noFill/>
            <a:miter lim="800000"/>
            <a:headEnd/>
            <a:tailEnd/>
          </a:ln>
          <a:effectLst/>
        </p:spPr>
        <p:txBody>
          <a:bodyPr vert="horz" wrap="square" lIns="91577" tIns="45789" rIns="91577" bIns="4578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5782" name="Rectangle 6"/>
          <p:cNvSpPr>
            <a:spLocks noGrp="1" noChangeArrowheads="1"/>
          </p:cNvSpPr>
          <p:nvPr>
            <p:ph type="ftr" sz="quarter" idx="4"/>
          </p:nvPr>
        </p:nvSpPr>
        <p:spPr bwMode="auto">
          <a:xfrm>
            <a:off x="0"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defTabSz="915988" eaLnBrk="1" hangingPunct="1">
              <a:defRPr sz="1200">
                <a:latin typeface="Arial" charset="0"/>
                <a:cs typeface="Arial" charset="0"/>
              </a:defRPr>
            </a:lvl1pPr>
          </a:lstStyle>
          <a:p>
            <a:pPr>
              <a:defRPr/>
            </a:pPr>
            <a:endParaRPr lang="en-US"/>
          </a:p>
        </p:txBody>
      </p:sp>
      <p:sp>
        <p:nvSpPr>
          <p:cNvPr id="75783" name="Rectangle 7"/>
          <p:cNvSpPr>
            <a:spLocks noGrp="1" noChangeArrowheads="1"/>
          </p:cNvSpPr>
          <p:nvPr>
            <p:ph type="sldNum" sz="quarter" idx="5"/>
          </p:nvPr>
        </p:nvSpPr>
        <p:spPr bwMode="auto">
          <a:xfrm>
            <a:off x="4143375" y="9120188"/>
            <a:ext cx="3170238" cy="479425"/>
          </a:xfrm>
          <a:prstGeom prst="rect">
            <a:avLst/>
          </a:prstGeom>
          <a:noFill/>
          <a:ln w="9525">
            <a:noFill/>
            <a:miter lim="800000"/>
            <a:headEnd/>
            <a:tailEnd/>
          </a:ln>
          <a:effectLst/>
        </p:spPr>
        <p:txBody>
          <a:bodyPr vert="horz" wrap="square" lIns="91577" tIns="45789" rIns="91577" bIns="45789" numCol="1" anchor="b" anchorCtr="0" compatLnSpc="1">
            <a:prstTxWarp prst="textNoShape">
              <a:avLst/>
            </a:prstTxWarp>
          </a:bodyPr>
          <a:lstStyle>
            <a:lvl1pPr algn="r" defTabSz="915988" eaLnBrk="1" hangingPunct="1">
              <a:defRPr sz="1200">
                <a:latin typeface="Arial" panose="020B0604020202020204" pitchFamily="34" charset="0"/>
              </a:defRPr>
            </a:lvl1pPr>
          </a:lstStyle>
          <a:p>
            <a:pPr>
              <a:defRPr/>
            </a:pPr>
            <a:fld id="{894A09FF-A2DA-476C-B039-18DBC396A5DF}" type="slidenum">
              <a:rPr lang="ar-SA" altLang="en-US"/>
              <a:pPr>
                <a:defRPr/>
              </a:pPr>
              <a:t>‹#›</a:t>
            </a:fld>
            <a:endParaRPr lang="en-US" altLang="en-US"/>
          </a:p>
        </p:txBody>
      </p:sp>
    </p:spTree>
    <p:extLst>
      <p:ext uri="{BB962C8B-B14F-4D97-AF65-F5344CB8AC3E}">
        <p14:creationId xmlns:p14="http://schemas.microsoft.com/office/powerpoint/2010/main" val="428091695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9E4F96F-EA92-4835-ABB1-6A078B9D0977}" type="slidenum">
              <a:rPr lang="ar-SA" altLang="en-US" smtClean="0"/>
              <a:pPr>
                <a:spcBef>
                  <a:spcPct val="0"/>
                </a:spcBef>
              </a:pPr>
              <a:t>1</a:t>
            </a:fld>
            <a:endParaRPr lang="en-US" altLang="en-US"/>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017151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9E4F96F-EA92-4835-ABB1-6A078B9D0977}" type="slidenum">
              <a:rPr lang="ar-SA" altLang="en-US" smtClean="0"/>
              <a:pPr>
                <a:spcBef>
                  <a:spcPct val="0"/>
                </a:spcBef>
              </a:pPr>
              <a:t>2</a:t>
            </a:fld>
            <a:endParaRPr lang="en-US" altLang="en-US"/>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92471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3</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195374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4</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66515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5</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51584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6</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219579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7</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974472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8</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10711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9</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365239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59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159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159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159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159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905EEAC-7806-42D2-8FA3-1076C0BD9C50}" type="slidenum">
              <a:rPr lang="ar-SA" altLang="en-US" smtClean="0"/>
              <a:pPr>
                <a:spcBef>
                  <a:spcPct val="0"/>
                </a:spcBef>
              </a:pPr>
              <a:t>10</a:t>
            </a:fld>
            <a:endParaRPr lang="en-US" altLang="en-US"/>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55594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7"/>
          <p:cNvGrpSpPr>
            <a:grpSpLocks/>
          </p:cNvGrpSpPr>
          <p:nvPr/>
        </p:nvGrpSpPr>
        <p:grpSpPr bwMode="auto">
          <a:xfrm>
            <a:off x="228600" y="2889250"/>
            <a:ext cx="8610600" cy="201613"/>
            <a:chOff x="144" y="1680"/>
            <a:chExt cx="5424" cy="144"/>
          </a:xfrm>
        </p:grpSpPr>
        <p:sp>
          <p:nvSpPr>
            <p:cNvPr id="5" name="Rectangle 8"/>
            <p:cNvSpPr>
              <a:spLocks noChangeArrowheads="1"/>
            </p:cNvSpPr>
            <p:nvPr userDrawn="1"/>
          </p:nvSpPr>
          <p:spPr bwMode="auto">
            <a:xfrm>
              <a:off x="144" y="1680"/>
              <a:ext cx="1808" cy="14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a:p>
          </p:txBody>
        </p:sp>
        <p:sp>
          <p:nvSpPr>
            <p:cNvPr id="6" name="Rectangle 9"/>
            <p:cNvSpPr>
              <a:spLocks noChangeArrowheads="1"/>
            </p:cNvSpPr>
            <p:nvPr userDrawn="1"/>
          </p:nvSpPr>
          <p:spPr bwMode="auto">
            <a:xfrm>
              <a:off x="1952" y="1680"/>
              <a:ext cx="1808" cy="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a:p>
          </p:txBody>
        </p:sp>
        <p:sp>
          <p:nvSpPr>
            <p:cNvPr id="7" name="Rectangle 10"/>
            <p:cNvSpPr>
              <a:spLocks noChangeArrowheads="1"/>
            </p:cNvSpPr>
            <p:nvPr userDrawn="1"/>
          </p:nvSpPr>
          <p:spPr bwMode="auto">
            <a:xfrm>
              <a:off x="3760" y="1680"/>
              <a:ext cx="1808" cy="144"/>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eaLnBrk="1" hangingPunct="1">
                <a:defRPr/>
              </a:pPr>
              <a:endParaRPr lang="en-US" altLang="en-US"/>
            </a:p>
          </p:txBody>
        </p:sp>
      </p:grpSp>
      <p:sp>
        <p:nvSpPr>
          <p:cNvPr id="97282" name="Rectangle 2"/>
          <p:cNvSpPr>
            <a:spLocks noGrp="1" noChangeArrowheads="1"/>
          </p:cNvSpPr>
          <p:nvPr>
            <p:ph type="ctrTitle"/>
          </p:nvPr>
        </p:nvSpPr>
        <p:spPr>
          <a:xfrm>
            <a:off x="685800" y="685800"/>
            <a:ext cx="7772400" cy="2127250"/>
          </a:xfrm>
        </p:spPr>
        <p:txBody>
          <a:bodyPr/>
          <a:lstStyle>
            <a:lvl1pPr algn="ctr">
              <a:defRPr sz="5800"/>
            </a:lvl1pPr>
          </a:lstStyle>
          <a:p>
            <a:r>
              <a:rPr lang="en-US"/>
              <a:t>Click to edit Master title style</a:t>
            </a:r>
          </a:p>
        </p:txBody>
      </p:sp>
      <p:sp>
        <p:nvSpPr>
          <p:cNvPr id="97283" name="Rectangle 3"/>
          <p:cNvSpPr>
            <a:spLocks noGrp="1" noChangeArrowheads="1"/>
          </p:cNvSpPr>
          <p:nvPr>
            <p:ph type="subTitle" idx="1"/>
          </p:nvPr>
        </p:nvSpPr>
        <p:spPr>
          <a:xfrm>
            <a:off x="1371600" y="3270250"/>
            <a:ext cx="6400800" cy="2209800"/>
          </a:xfrm>
        </p:spPr>
        <p:txBody>
          <a:bodyPr/>
          <a:lstStyle>
            <a:lvl1pPr marL="0" indent="0" algn="ctr">
              <a:buFont typeface="Wingdings" pitchFamily="2" charset="2"/>
              <a:buNone/>
              <a:defRPr sz="3000"/>
            </a:lvl1pPr>
          </a:lstStyle>
          <a:p>
            <a:r>
              <a:rPr lang="en-US"/>
              <a:t>Click to edit Master subtitle style</a:t>
            </a:r>
          </a:p>
        </p:txBody>
      </p:sp>
      <p:sp>
        <p:nvSpPr>
          <p:cNvPr id="8" name="Rectangle 4"/>
          <p:cNvSpPr>
            <a:spLocks noGrp="1" noChangeArrowheads="1"/>
          </p:cNvSpPr>
          <p:nvPr>
            <p:ph type="dt" sz="half" idx="10"/>
          </p:nvPr>
        </p:nvSpPr>
        <p:spPr/>
        <p:txBody>
          <a:bodyPr/>
          <a:lstStyle>
            <a:lvl1pPr>
              <a:defRPr/>
            </a:lvl1pPr>
          </a:lstStyle>
          <a:p>
            <a:pPr>
              <a:defRPr/>
            </a:pPr>
            <a:fld id="{7A6A57B4-2DBC-4857-ABD2-C4E1F5AD309D}" type="datetime1">
              <a:rPr lang="en-US"/>
              <a:pPr>
                <a:defRPr/>
              </a:pPr>
              <a:t>2/5/2026</a:t>
            </a:fld>
            <a:endParaRPr lang="en-US"/>
          </a:p>
        </p:txBody>
      </p:sp>
      <p:sp>
        <p:nvSpPr>
          <p:cNvPr id="9" name="Rectangle 5"/>
          <p:cNvSpPr>
            <a:spLocks noGrp="1" noChangeArrowheads="1"/>
          </p:cNvSpPr>
          <p:nvPr>
            <p:ph type="ftr" sz="quarter" idx="11"/>
          </p:nvPr>
        </p:nvSpPr>
        <p:spPr/>
        <p:txBody>
          <a:bodyPr/>
          <a:lstStyle>
            <a:lvl1pPr>
              <a:defRPr/>
            </a:lvl1pPr>
          </a:lstStyle>
          <a:p>
            <a:pPr>
              <a:defRPr/>
            </a:pPr>
            <a:endParaRPr lang="en-US"/>
          </a:p>
        </p:txBody>
      </p:sp>
      <p:sp>
        <p:nvSpPr>
          <p:cNvPr id="10" name="Rectangle 6"/>
          <p:cNvSpPr>
            <a:spLocks noGrp="1" noChangeArrowheads="1"/>
          </p:cNvSpPr>
          <p:nvPr>
            <p:ph type="sldNum" sz="quarter" idx="12"/>
          </p:nvPr>
        </p:nvSpPr>
        <p:spPr/>
        <p:txBody>
          <a:bodyPr/>
          <a:lstStyle>
            <a:lvl1pPr>
              <a:defRPr/>
            </a:lvl1pPr>
          </a:lstStyle>
          <a:p>
            <a:pPr>
              <a:defRPr/>
            </a:pPr>
            <a:fld id="{5101CF6D-3A52-48B7-8F5A-BDD857CE30CD}" type="slidenum">
              <a:rPr lang="ar-SA" altLang="en-US"/>
              <a:pPr>
                <a:defRPr/>
              </a:pPr>
              <a:t>‹#›</a:t>
            </a:fld>
            <a:endParaRPr lang="en-US" altLang="en-US"/>
          </a:p>
        </p:txBody>
      </p:sp>
    </p:spTree>
    <p:extLst>
      <p:ext uri="{BB962C8B-B14F-4D97-AF65-F5344CB8AC3E}">
        <p14:creationId xmlns:p14="http://schemas.microsoft.com/office/powerpoint/2010/main" val="2499263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4937C412-EF2B-42E7-B238-285F472DECCC}" type="datetime1">
              <a:rPr lang="en-US"/>
              <a:pPr>
                <a:defRPr/>
              </a:pPr>
              <a:t>2/5/2026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0D1010C-2F64-482A-AC10-0B9E85ACDB7D}" type="slidenum">
              <a:rPr lang="ar-SA" altLang="en-US"/>
              <a:pPr>
                <a:defRPr/>
              </a:pPr>
              <a:t>‹#›</a:t>
            </a:fld>
            <a:endParaRPr lang="en-US" altLang="en-US"/>
          </a:p>
        </p:txBody>
      </p:sp>
    </p:spTree>
    <p:extLst>
      <p:ext uri="{BB962C8B-B14F-4D97-AF65-F5344CB8AC3E}">
        <p14:creationId xmlns:p14="http://schemas.microsoft.com/office/powerpoint/2010/main" val="19165912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29C7A87A-2E13-4674-9FBB-5EF41D8D942C}" type="datetime1">
              <a:rPr lang="en-US"/>
              <a:pPr>
                <a:defRPr/>
              </a:pPr>
              <a:t>2/5/2026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D6D42B3B-252A-4661-ADF9-9BFE76F8F944}" type="slidenum">
              <a:rPr lang="ar-SA" altLang="en-US"/>
              <a:pPr>
                <a:defRPr/>
              </a:pPr>
              <a:t>‹#›</a:t>
            </a:fld>
            <a:endParaRPr lang="en-US" altLang="en-US"/>
          </a:p>
        </p:txBody>
      </p:sp>
    </p:spTree>
    <p:extLst>
      <p:ext uri="{BB962C8B-B14F-4D97-AF65-F5344CB8AC3E}">
        <p14:creationId xmlns:p14="http://schemas.microsoft.com/office/powerpoint/2010/main" val="19262854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fld id="{E609DD42-A4AF-4E69-B741-E80403319C11}" type="datetime1">
              <a:rPr lang="en-US"/>
              <a:pPr>
                <a:defRPr/>
              </a:pPr>
              <a:t>2/5/2026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56AC05BD-71D8-42BD-AF35-ADFEDF91D5D1}" type="slidenum">
              <a:rPr lang="ar-SA" altLang="en-US"/>
              <a:pPr>
                <a:defRPr/>
              </a:pPr>
              <a:t>‹#›</a:t>
            </a:fld>
            <a:endParaRPr lang="en-US" altLang="en-US"/>
          </a:p>
        </p:txBody>
      </p:sp>
    </p:spTree>
    <p:extLst>
      <p:ext uri="{BB962C8B-B14F-4D97-AF65-F5344CB8AC3E}">
        <p14:creationId xmlns:p14="http://schemas.microsoft.com/office/powerpoint/2010/main" val="38085129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fld id="{39B463D3-C53D-4145-B75E-A82AFDA8D032}" type="datetime1">
              <a:rPr lang="en-US"/>
              <a:pPr>
                <a:defRPr/>
              </a:pPr>
              <a:t>2/5/2026</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CB0B3F09-3563-40EF-811B-9A4BE18E0B2F}" type="slidenum">
              <a:rPr lang="ar-SA" altLang="en-US"/>
              <a:pPr>
                <a:defRPr/>
              </a:pPr>
              <a:t>‹#›</a:t>
            </a:fld>
            <a:endParaRPr lang="en-US" altLang="en-US"/>
          </a:p>
        </p:txBody>
      </p:sp>
    </p:spTree>
    <p:extLst>
      <p:ext uri="{BB962C8B-B14F-4D97-AF65-F5344CB8AC3E}">
        <p14:creationId xmlns:p14="http://schemas.microsoft.com/office/powerpoint/2010/main" val="22577102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fld id="{0D8AB667-4595-4177-8504-FB627296AB33}" type="datetime1">
              <a:rPr lang="en-US"/>
              <a:pPr>
                <a:defRPr/>
              </a:pPr>
              <a:t>2/5/2026</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DE15D301-F532-4E8E-A495-065FC6D461A7}" type="slidenum">
              <a:rPr lang="ar-SA" altLang="en-US"/>
              <a:pPr>
                <a:defRPr/>
              </a:pPr>
              <a:t>‹#›</a:t>
            </a:fld>
            <a:endParaRPr lang="en-US" altLang="en-US"/>
          </a:p>
        </p:txBody>
      </p:sp>
    </p:spTree>
    <p:extLst>
      <p:ext uri="{BB962C8B-B14F-4D97-AF65-F5344CB8AC3E}">
        <p14:creationId xmlns:p14="http://schemas.microsoft.com/office/powerpoint/2010/main" val="2762779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88FF0628-67F2-4EF4-86D3-324F007F14B0}" type="datetime1">
              <a:rPr lang="en-US"/>
              <a:pPr>
                <a:defRPr/>
              </a:pPr>
              <a:t>2/5/2026</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1C79993A-9EAE-42CD-B8A8-EEF40C1E0D51}" type="slidenum">
              <a:rPr lang="ar-SA" altLang="en-US"/>
              <a:pPr>
                <a:defRPr/>
              </a:pPr>
              <a:t>‹#›</a:t>
            </a:fld>
            <a:endParaRPr lang="en-US" altLang="en-US"/>
          </a:p>
        </p:txBody>
      </p:sp>
    </p:spTree>
    <p:extLst>
      <p:ext uri="{BB962C8B-B14F-4D97-AF65-F5344CB8AC3E}">
        <p14:creationId xmlns:p14="http://schemas.microsoft.com/office/powerpoint/2010/main" val="2230988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29DC5F05-ED40-454D-95C8-3453B7E7BB5B}" type="datetime1">
              <a:rPr lang="en-US"/>
              <a:pPr>
                <a:defRPr/>
              </a:pPr>
              <a:t>2/5/2026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EFAFEAF1-3044-4204-8B6F-F53936E6E60A}" type="slidenum">
              <a:rPr lang="ar-SA" altLang="en-US"/>
              <a:pPr>
                <a:defRPr/>
              </a:pPr>
              <a:t>‹#›</a:t>
            </a:fld>
            <a:endParaRPr lang="en-US" altLang="en-US"/>
          </a:p>
        </p:txBody>
      </p:sp>
    </p:spTree>
    <p:extLst>
      <p:ext uri="{BB962C8B-B14F-4D97-AF65-F5344CB8AC3E}">
        <p14:creationId xmlns:p14="http://schemas.microsoft.com/office/powerpoint/2010/main" val="21393609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4A92DFE8-9BCF-414E-AED7-5563BFB4AA38}" type="datetime1">
              <a:rPr lang="en-US"/>
              <a:pPr>
                <a:defRPr/>
              </a:pPr>
              <a:t>2/5/2026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4139072-BCFF-4B00-ACD4-6DF1BA958382}" type="slidenum">
              <a:rPr lang="ar-SA" altLang="en-US"/>
              <a:pPr>
                <a:defRPr/>
              </a:pPr>
              <a:t>‹#›</a:t>
            </a:fld>
            <a:endParaRPr lang="en-US" altLang="en-US"/>
          </a:p>
        </p:txBody>
      </p:sp>
    </p:spTree>
    <p:extLst>
      <p:ext uri="{BB962C8B-B14F-4D97-AF65-F5344CB8AC3E}">
        <p14:creationId xmlns:p14="http://schemas.microsoft.com/office/powerpoint/2010/main" val="42452236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15348B16-74D5-4854-8AB8-9D4A4DF3A19A}" type="datetime1">
              <a:rPr lang="en-US"/>
              <a:pPr>
                <a:defRPr/>
              </a:pPr>
              <a:t>2/5/2026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542C787-322D-45BF-A103-35EE7773702D}" type="slidenum">
              <a:rPr lang="ar-SA" altLang="en-US"/>
              <a:pPr>
                <a:defRPr/>
              </a:pPr>
              <a:t>‹#›</a:t>
            </a:fld>
            <a:endParaRPr lang="en-US" altLang="en-US"/>
          </a:p>
        </p:txBody>
      </p:sp>
    </p:spTree>
    <p:extLst>
      <p:ext uri="{BB962C8B-B14F-4D97-AF65-F5344CB8AC3E}">
        <p14:creationId xmlns:p14="http://schemas.microsoft.com/office/powerpoint/2010/main" val="4079385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fld id="{C553E0A1-5428-499E-A086-042824C3739D}" type="datetime1">
              <a:rPr lang="en-US"/>
              <a:pPr>
                <a:defRPr/>
              </a:pPr>
              <a:t>2/5/2026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D5820A5-4DC5-43F5-9BA2-B42E567F43C3}" type="slidenum">
              <a:rPr lang="ar-SA" altLang="en-US"/>
              <a:pPr>
                <a:defRPr/>
              </a:pPr>
              <a:t>‹#›</a:t>
            </a:fld>
            <a:endParaRPr lang="en-US" altLang="en-US"/>
          </a:p>
        </p:txBody>
      </p:sp>
    </p:spTree>
    <p:extLst>
      <p:ext uri="{BB962C8B-B14F-4D97-AF65-F5344CB8AC3E}">
        <p14:creationId xmlns:p14="http://schemas.microsoft.com/office/powerpoint/2010/main" val="458318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91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41763"/>
            <a:ext cx="4038600" cy="21891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fld id="{DEEA5EEE-51A1-44A1-9A46-0EBE715EE6EC}" type="datetime1">
              <a:rPr lang="en-US"/>
              <a:pPr>
                <a:defRPr/>
              </a:pPr>
              <a:t>2/5/2026</a:t>
            </a:fld>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69299B50-F463-407A-BCCB-B9D2AD4327B7}" type="slidenum">
              <a:rPr lang="ar-SA" altLang="en-US"/>
              <a:pPr>
                <a:defRPr/>
              </a:pPr>
              <a:t>‹#›</a:t>
            </a:fld>
            <a:endParaRPr lang="en-US" altLang="en-US"/>
          </a:p>
        </p:txBody>
      </p:sp>
    </p:spTree>
    <p:extLst>
      <p:ext uri="{BB962C8B-B14F-4D97-AF65-F5344CB8AC3E}">
        <p14:creationId xmlns:p14="http://schemas.microsoft.com/office/powerpoint/2010/main" val="21372168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307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4038600" cy="218916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941763"/>
            <a:ext cx="4038600" cy="218916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dt" sz="half" idx="10"/>
          </p:nvPr>
        </p:nvSpPr>
        <p:spPr>
          <a:ln/>
        </p:spPr>
        <p:txBody>
          <a:bodyPr/>
          <a:lstStyle>
            <a:lvl1pPr>
              <a:defRPr/>
            </a:lvl1pPr>
          </a:lstStyle>
          <a:p>
            <a:pPr>
              <a:defRPr/>
            </a:pPr>
            <a:fld id="{6EE95FA3-5977-4F81-8E44-468604C95138}" type="datetime1">
              <a:rPr lang="en-US"/>
              <a:pPr>
                <a:defRPr/>
              </a:pPr>
              <a:t>2/5/2026</a:t>
            </a:fld>
            <a:endParaRPr lang="en-US"/>
          </a:p>
        </p:txBody>
      </p:sp>
      <p:sp>
        <p:nvSpPr>
          <p:cNvPr id="7" name="Rectangle 5"/>
          <p:cNvSpPr>
            <a:spLocks noGrp="1" noChangeArrowheads="1"/>
          </p:cNvSpPr>
          <p:nvPr>
            <p:ph type="ftr" sz="quarter" idx="11"/>
          </p:nvPr>
        </p:nvSpPr>
        <p:spPr>
          <a:ln/>
        </p:spPr>
        <p:txBody>
          <a:bodyPr/>
          <a:lstStyle>
            <a:lvl1pPr>
              <a:defRPr/>
            </a:lvl1pPr>
          </a:lstStyle>
          <a:p>
            <a:pPr>
              <a:defRPr/>
            </a:pPr>
            <a:endParaRPr lang="en-US"/>
          </a:p>
        </p:txBody>
      </p:sp>
      <p:sp>
        <p:nvSpPr>
          <p:cNvPr id="8" name="Rectangle 6"/>
          <p:cNvSpPr>
            <a:spLocks noGrp="1" noChangeArrowheads="1"/>
          </p:cNvSpPr>
          <p:nvPr>
            <p:ph type="sldNum" sz="quarter" idx="12"/>
          </p:nvPr>
        </p:nvSpPr>
        <p:spPr>
          <a:ln/>
        </p:spPr>
        <p:txBody>
          <a:bodyPr/>
          <a:lstStyle>
            <a:lvl1pPr>
              <a:defRPr/>
            </a:lvl1pPr>
          </a:lstStyle>
          <a:p>
            <a:pPr>
              <a:defRPr/>
            </a:pPr>
            <a:fld id="{A25454AC-C24E-455A-B2FE-658E4A7B77BA}" type="slidenum">
              <a:rPr lang="ar-SA" altLang="en-US"/>
              <a:pPr>
                <a:defRPr/>
              </a:pPr>
              <a:t>‹#›</a:t>
            </a:fld>
            <a:endParaRPr lang="en-US" altLang="en-US"/>
          </a:p>
        </p:txBody>
      </p:sp>
    </p:spTree>
    <p:extLst>
      <p:ext uri="{BB962C8B-B14F-4D97-AF65-F5344CB8AC3E}">
        <p14:creationId xmlns:p14="http://schemas.microsoft.com/office/powerpoint/2010/main" val="26897016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96260" name="Rectangle 4"/>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cs typeface="Arial" charset="0"/>
              </a:defRPr>
            </a:lvl1pPr>
          </a:lstStyle>
          <a:p>
            <a:pPr>
              <a:defRPr/>
            </a:pPr>
            <a:fld id="{97F3FF16-A966-4720-B871-21D0EBD4D873}" type="datetime1">
              <a:rPr lang="en-US"/>
              <a:pPr>
                <a:defRPr/>
              </a:pPr>
              <a:t>2/5/2026</a:t>
            </a:fld>
            <a:endParaRPr lang="en-US"/>
          </a:p>
        </p:txBody>
      </p:sp>
      <p:sp>
        <p:nvSpPr>
          <p:cNvPr id="96261"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cs typeface="Arial" charset="0"/>
              </a:defRPr>
            </a:lvl1pPr>
          </a:lstStyle>
          <a:p>
            <a:pPr>
              <a:defRPr/>
            </a:pPr>
            <a:endParaRPr lang="en-US"/>
          </a:p>
        </p:txBody>
      </p:sp>
      <p:sp>
        <p:nvSpPr>
          <p:cNvPr id="96262" name="Rectangle 6"/>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vl1pPr>
          </a:lstStyle>
          <a:p>
            <a:pPr>
              <a:defRPr/>
            </a:pPr>
            <a:fld id="{AA6F67FD-1207-490D-809C-65CC19F8E7B4}" type="slidenum">
              <a:rPr lang="ar-SA" altLang="en-US"/>
              <a:pPr>
                <a:defRPr/>
              </a:pPr>
              <a:t>‹#›</a:t>
            </a:fld>
            <a:endParaRPr lang="en-US" altLang="en-US"/>
          </a:p>
        </p:txBody>
      </p:sp>
      <p:sp>
        <p:nvSpPr>
          <p:cNvPr id="1031" name="Rectangle 7"/>
          <p:cNvSpPr>
            <a:spLocks noChangeArrowheads="1"/>
          </p:cNvSpPr>
          <p:nvPr/>
        </p:nvSpPr>
        <p:spPr bwMode="auto">
          <a:xfrm>
            <a:off x="0" y="0"/>
            <a:ext cx="22860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
        <p:nvSpPr>
          <p:cNvPr id="1032" name="Line 8"/>
          <p:cNvSpPr>
            <a:spLocks noChangeShapeType="1"/>
          </p:cNvSpPr>
          <p:nvPr/>
        </p:nvSpPr>
        <p:spPr bwMode="auto">
          <a:xfrm>
            <a:off x="457200" y="1447800"/>
            <a:ext cx="8077200" cy="0"/>
          </a:xfrm>
          <a:prstGeom prst="line">
            <a:avLst/>
          </a:prstGeom>
          <a:noFill/>
          <a:ln w="19050">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3" name="Rectangle 9"/>
          <p:cNvSpPr>
            <a:spLocks noChangeArrowheads="1"/>
          </p:cNvSpPr>
          <p:nvPr/>
        </p:nvSpPr>
        <p:spPr bwMode="auto">
          <a:xfrm>
            <a:off x="0" y="2286000"/>
            <a:ext cx="22860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
        <p:nvSpPr>
          <p:cNvPr id="1034" name="Rectangle 10"/>
          <p:cNvSpPr>
            <a:spLocks noChangeArrowheads="1"/>
          </p:cNvSpPr>
          <p:nvPr/>
        </p:nvSpPr>
        <p:spPr bwMode="auto">
          <a:xfrm>
            <a:off x="0" y="4572000"/>
            <a:ext cx="228600" cy="22860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Verdana" panose="020B0604030504040204" pitchFamily="34" charset="0"/>
                <a:cs typeface="Arial" panose="020B0604020202020204" pitchFamily="34" charset="0"/>
              </a:defRPr>
            </a:lvl1pPr>
            <a:lvl2pPr marL="742950" indent="-285750" eaLnBrk="0" hangingPunct="0">
              <a:defRPr>
                <a:solidFill>
                  <a:schemeClr val="tx1"/>
                </a:solidFill>
                <a:latin typeface="Verdana" panose="020B0604030504040204" pitchFamily="34" charset="0"/>
                <a:cs typeface="Arial" panose="020B0604020202020204" pitchFamily="34" charset="0"/>
              </a:defRPr>
            </a:lvl2pPr>
            <a:lvl3pPr marL="1143000" indent="-228600" eaLnBrk="0" hangingPunct="0">
              <a:defRPr>
                <a:solidFill>
                  <a:schemeClr val="tx1"/>
                </a:solidFill>
                <a:latin typeface="Verdana" panose="020B0604030504040204" pitchFamily="34" charset="0"/>
                <a:cs typeface="Arial" panose="020B0604020202020204" pitchFamily="34" charset="0"/>
              </a:defRPr>
            </a:lvl3pPr>
            <a:lvl4pPr marL="1600200" indent="-228600" eaLnBrk="0" hangingPunct="0">
              <a:defRPr>
                <a:solidFill>
                  <a:schemeClr val="tx1"/>
                </a:solidFill>
                <a:latin typeface="Verdana" panose="020B0604030504040204" pitchFamily="34" charset="0"/>
                <a:cs typeface="Arial" panose="020B0604020202020204" pitchFamily="34" charset="0"/>
              </a:defRPr>
            </a:lvl4pPr>
            <a:lvl5pPr marL="2057400" indent="-228600" eaLnBrk="0" hangingPunct="0">
              <a:defRPr>
                <a:solidFill>
                  <a:schemeClr val="tx1"/>
                </a:solidFill>
                <a:latin typeface="Verdana" panose="020B060403050404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Verdana" panose="020B0604030504040204" pitchFamily="34" charset="0"/>
                <a:cs typeface="Arial" panose="020B0604020202020204" pitchFamily="34" charset="0"/>
              </a:defRPr>
            </a:lvl9pPr>
          </a:lstStyle>
          <a:p>
            <a:pPr algn="ctr" eaLnBrk="1" hangingPunct="1">
              <a:defRPr/>
            </a:pPr>
            <a:endParaRPr lang="en-US" altLang="en-US" sz="2400">
              <a:latin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804"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 id="2147483803" r:id="rId13"/>
  </p:sldLayoutIdLst>
  <p:hf hdr="0" ftr="0" dt="0"/>
  <p:txStyles>
    <p:titleStyle>
      <a:lvl1pPr algn="l" rtl="0" eaLnBrk="1" fontAlgn="base" hangingPunct="1">
        <a:spcBef>
          <a:spcPct val="0"/>
        </a:spcBef>
        <a:spcAft>
          <a:spcPct val="0"/>
        </a:spcAft>
        <a:defRPr sz="44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p:titleStyle>
    <p:body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
          <p:cNvSpPr txBox="1">
            <a:spLocks noChangeArrowheads="1"/>
          </p:cNvSpPr>
          <p:nvPr/>
        </p:nvSpPr>
        <p:spPr bwMode="auto">
          <a:xfrm>
            <a:off x="214064" y="116632"/>
            <a:ext cx="8534400" cy="2664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1" fontAlgn="base" hangingPunct="1">
              <a:spcBef>
                <a:spcPct val="20000"/>
              </a:spcBef>
              <a:spcAft>
                <a:spcPct val="0"/>
              </a:spcAft>
              <a:buClr>
                <a:schemeClr val="bg2"/>
              </a:buClr>
              <a:buSzPct val="75000"/>
              <a:buFont typeface="Wingdings" pitchFamily="2" charset="2"/>
              <a:buNone/>
              <a:defRPr sz="30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GB" altLang="en-US" sz="5400" b="1" kern="0" dirty="0">
                <a:solidFill>
                  <a:schemeClr val="tx2"/>
                </a:solidFill>
                <a:latin typeface="Garamond" panose="02020404030301010803" pitchFamily="18" charset="0"/>
              </a:rPr>
              <a:t>ICT 201: </a:t>
            </a:r>
          </a:p>
          <a:p>
            <a:r>
              <a:rPr lang="en-US" altLang="en-US" sz="3600" b="1" kern="0" dirty="0">
                <a:solidFill>
                  <a:schemeClr val="tx2"/>
                </a:solidFill>
                <a:latin typeface="Garamond" panose="02020404030301010803" pitchFamily="18" charset="0"/>
              </a:rPr>
              <a:t>INTRODUCTION TO INFORMATION AND COMMUNICATION TECHNOLOGY</a:t>
            </a:r>
            <a:r>
              <a:rPr lang="en-US" altLang="en-US" sz="7200" b="1" kern="0" dirty="0">
                <a:solidFill>
                  <a:schemeClr val="tx2"/>
                </a:solidFill>
                <a:latin typeface="Garamond" panose="02020404030301010803" pitchFamily="18" charset="0"/>
              </a:rPr>
              <a:t/>
            </a:r>
            <a:br>
              <a:rPr lang="en-US" altLang="en-US" sz="7200" b="1" kern="0" dirty="0">
                <a:solidFill>
                  <a:schemeClr val="tx2"/>
                </a:solidFill>
                <a:latin typeface="Garamond" panose="02020404030301010803" pitchFamily="18" charset="0"/>
              </a:rPr>
            </a:br>
            <a:endParaRPr lang="en-US" altLang="en-US" sz="7200" b="1" kern="0" dirty="0">
              <a:latin typeface="Comic Sans MS" panose="030F0702030302020204" pitchFamily="66" charset="0"/>
              <a:ea typeface="MS PGothic" panose="020B0600070205080204" pitchFamily="34" charset="-128"/>
            </a:endParaRPr>
          </a:p>
          <a:p>
            <a:endParaRPr lang="en-US" altLang="en-US" sz="2700" kern="0" dirty="0">
              <a:latin typeface="Comic Sans MS" panose="030F0702030302020204" pitchFamily="66" charset="0"/>
              <a:ea typeface="MS PGothic" panose="020B0600070205080204" pitchFamily="34" charset="-128"/>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
          <p:cNvSpPr txBox="1">
            <a:spLocks noChangeArrowheads="1"/>
          </p:cNvSpPr>
          <p:nvPr/>
        </p:nvSpPr>
        <p:spPr bwMode="auto">
          <a:xfrm>
            <a:off x="214064" y="1844824"/>
            <a:ext cx="8534400" cy="936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1" fontAlgn="base" hangingPunct="1">
              <a:spcBef>
                <a:spcPct val="20000"/>
              </a:spcBef>
              <a:spcAft>
                <a:spcPct val="0"/>
              </a:spcAft>
              <a:buClr>
                <a:schemeClr val="bg2"/>
              </a:buClr>
              <a:buSzPct val="75000"/>
              <a:buFont typeface="Wingdings" pitchFamily="2" charset="2"/>
              <a:buNone/>
              <a:defRPr sz="30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GB" altLang="en-US" sz="7000" b="1" kern="0" dirty="0">
                <a:solidFill>
                  <a:schemeClr val="tx2"/>
                </a:solidFill>
                <a:latin typeface="Garamond" panose="02020404030301010803" pitchFamily="18" charset="0"/>
              </a:rPr>
              <a:t>Lecturers/Instructors </a:t>
            </a:r>
            <a:endParaRPr lang="en-US" sz="7000" kern="0" dirty="0"/>
          </a:p>
        </p:txBody>
      </p:sp>
      <p:sp>
        <p:nvSpPr>
          <p:cNvPr id="4" name="Rectangle 10"/>
          <p:cNvSpPr>
            <a:spLocks noGrp="1" noChangeArrowheads="1"/>
          </p:cNvSpPr>
          <p:nvPr>
            <p:ph type="subTitle" idx="1"/>
          </p:nvPr>
        </p:nvSpPr>
        <p:spPr>
          <a:xfrm>
            <a:off x="251520" y="3192016"/>
            <a:ext cx="8659688" cy="3549352"/>
          </a:xfrm>
          <a:noFill/>
        </p:spPr>
        <p:txBody>
          <a:bodyPr/>
          <a:lstStyle/>
          <a:p>
            <a:r>
              <a:rPr lang="en-US" altLang="en-US" sz="4500" dirty="0">
                <a:latin typeface="Comic Sans MS" panose="030F0702030302020204" pitchFamily="66" charset="0"/>
              </a:rPr>
              <a:t>Dr. S. </a:t>
            </a:r>
            <a:r>
              <a:rPr lang="en-US" altLang="en-US" sz="4500" dirty="0" err="1">
                <a:latin typeface="Comic Sans MS" panose="030F0702030302020204" pitchFamily="66" charset="0"/>
              </a:rPr>
              <a:t>Akinboro</a:t>
            </a:r>
            <a:endParaRPr lang="en-US" altLang="en-US" sz="4500" dirty="0">
              <a:latin typeface="Comic Sans MS" panose="030F0702030302020204" pitchFamily="66" charset="0"/>
            </a:endParaRPr>
          </a:p>
          <a:p>
            <a:r>
              <a:rPr lang="en-US" altLang="en-US" sz="4500" dirty="0">
                <a:latin typeface="Comic Sans MS" panose="030F0702030302020204" pitchFamily="66" charset="0"/>
              </a:rPr>
              <a:t>Dr. </a:t>
            </a:r>
            <a:r>
              <a:rPr lang="en-US" altLang="en-US" sz="4500" dirty="0" err="1">
                <a:latin typeface="Comic Sans MS" panose="030F0702030302020204" pitchFamily="66" charset="0"/>
              </a:rPr>
              <a:t>Ufuoma</a:t>
            </a:r>
            <a:r>
              <a:rPr lang="en-US" altLang="en-US" sz="4500" dirty="0">
                <a:latin typeface="Comic Sans MS" panose="030F0702030302020204" pitchFamily="66" charset="0"/>
              </a:rPr>
              <a:t> C. </a:t>
            </a:r>
            <a:r>
              <a:rPr lang="en-US" altLang="en-US" sz="4500" dirty="0" err="1">
                <a:latin typeface="Comic Sans MS" panose="030F0702030302020204" pitchFamily="66" charset="0"/>
              </a:rPr>
              <a:t>Ogude</a:t>
            </a:r>
            <a:endParaRPr lang="en-US" altLang="en-US" sz="4500" dirty="0">
              <a:latin typeface="Comic Sans MS" panose="030F0702030302020204" pitchFamily="66" charset="0"/>
            </a:endParaRPr>
          </a:p>
          <a:p>
            <a:r>
              <a:rPr lang="en-GB" altLang="en-US" sz="4500" dirty="0">
                <a:latin typeface="Comic Sans MS" panose="030F0702030302020204" pitchFamily="66" charset="0"/>
                <a:ea typeface="MS PGothic" panose="020B0600070205080204" pitchFamily="34" charset="-128"/>
              </a:rPr>
              <a:t>0803 820 7103</a:t>
            </a:r>
            <a:endParaRPr lang="en-US" altLang="en-US" sz="4500" dirty="0">
              <a:latin typeface="Comic Sans MS" panose="030F0702030302020204" pitchFamily="66" charset="0"/>
              <a:ea typeface="MS PGothic" panose="020B0600070205080204" pitchFamily="34" charset="-128"/>
            </a:endParaRPr>
          </a:p>
          <a:p>
            <a:r>
              <a:rPr lang="en-US" sz="2200" dirty="0">
                <a:latin typeface="Comic Sans MS" panose="030F0702030302020204" pitchFamily="66" charset="0"/>
              </a:rPr>
              <a:t>	</a:t>
            </a:r>
          </a:p>
          <a:p>
            <a:pPr eaLnBrk="1" hangingPunct="1"/>
            <a:endParaRPr lang="en-US" altLang="en-US" sz="2700" dirty="0">
              <a:latin typeface="Comic Sans MS" panose="030F0702030302020204" pitchFamily="66" charset="0"/>
              <a:ea typeface="MS PGothic" panose="020B0600070205080204" pitchFamily="34" charset="-128"/>
            </a:endParaRPr>
          </a:p>
        </p:txBody>
      </p:sp>
    </p:spTree>
    <p:extLst>
      <p:ext uri="{BB962C8B-B14F-4D97-AF65-F5344CB8AC3E}">
        <p14:creationId xmlns:p14="http://schemas.microsoft.com/office/powerpoint/2010/main" val="333800113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Schedule</a:t>
            </a:r>
            <a:r>
              <a:rPr lang="en-US" sz="6600" b="1" dirty="0"/>
              <a:t> </a:t>
            </a:r>
            <a:endParaRPr lang="en-US" sz="6600" dirty="0"/>
          </a:p>
        </p:txBody>
      </p:sp>
      <p:sp>
        <p:nvSpPr>
          <p:cNvPr id="4" name="Rectangle 3"/>
          <p:cNvSpPr/>
          <p:nvPr/>
        </p:nvSpPr>
        <p:spPr>
          <a:xfrm>
            <a:off x="457200" y="1492181"/>
            <a:ext cx="8075240" cy="5681235"/>
          </a:xfrm>
          <a:prstGeom prst="rect">
            <a:avLst/>
          </a:prstGeom>
        </p:spPr>
        <p:txBody>
          <a:bodyPr wrap="square">
            <a:spAutoFit/>
          </a:bodyPr>
          <a:lstStyle/>
          <a:p>
            <a:pPr marL="355600" indent="-355600">
              <a:buFont typeface="Wingdings" panose="05000000000000000000" pitchFamily="2" charset="2"/>
              <a:buChar char="§"/>
            </a:pPr>
            <a:r>
              <a:rPr lang="en-GB" sz="1700" b="1" kern="0" dirty="0">
                <a:latin typeface="Comic Sans MS" panose="030F0702030302020204" pitchFamily="66" charset="0"/>
              </a:rPr>
              <a:t>Lecture Schedule:</a:t>
            </a:r>
          </a:p>
          <a:p>
            <a:pPr marL="1077913" lvl="1" indent="-354013">
              <a:lnSpc>
                <a:spcPct val="150000"/>
              </a:lnSpc>
              <a:buFont typeface="Wingdings" panose="05000000000000000000" pitchFamily="2" charset="2"/>
              <a:buChar char="Ø"/>
            </a:pPr>
            <a:r>
              <a:rPr lang="en-GB" sz="1700" b="1" kern="0" dirty="0">
                <a:latin typeface="Comic Sans MS" panose="030F0702030302020204" pitchFamily="66" charset="0"/>
              </a:rPr>
              <a:t>Mondays: </a:t>
            </a:r>
            <a:r>
              <a:rPr lang="en-GB" sz="1700" kern="0" dirty="0">
                <a:latin typeface="Comic Sans MS" panose="030F0702030302020204" pitchFamily="66" charset="0"/>
              </a:rPr>
              <a:t>8:00am - 10:00am</a:t>
            </a:r>
          </a:p>
          <a:p>
            <a:pPr marL="1077913" lvl="1" indent="-354013">
              <a:lnSpc>
                <a:spcPct val="150000"/>
              </a:lnSpc>
              <a:buFont typeface="Wingdings" panose="05000000000000000000" pitchFamily="2" charset="2"/>
              <a:buChar char="Ø"/>
            </a:pPr>
            <a:r>
              <a:rPr lang="en-GB" sz="1700" b="1" kern="0" dirty="0">
                <a:latin typeface="Comic Sans MS" panose="030F0702030302020204" pitchFamily="66" charset="0"/>
              </a:rPr>
              <a:t>Class Venue:</a:t>
            </a:r>
            <a:r>
              <a:rPr lang="en-GB" sz="1700" kern="0" dirty="0">
                <a:latin typeface="Comic Sans MS" panose="030F0702030302020204" pitchFamily="66" charset="0"/>
              </a:rPr>
              <a:t> Physical (Room S006) and Virtual </a:t>
            </a:r>
          </a:p>
          <a:p>
            <a:pPr marL="1077913" lvl="1" indent="-354013">
              <a:lnSpc>
                <a:spcPct val="150000"/>
              </a:lnSpc>
              <a:buFont typeface="Wingdings" panose="05000000000000000000" pitchFamily="2" charset="2"/>
              <a:buChar char="Ø"/>
            </a:pPr>
            <a:r>
              <a:rPr lang="en-GB" sz="1700" kern="0" dirty="0">
                <a:latin typeface="Comic Sans MS" panose="030F0702030302020204" pitchFamily="66" charset="0"/>
              </a:rPr>
              <a:t>Please attend your lectures. Attendance is mandatory</a:t>
            </a:r>
          </a:p>
          <a:p>
            <a:pPr marL="357188" lvl="1" indent="-357188">
              <a:buFont typeface="Wingdings" panose="05000000000000000000" pitchFamily="2" charset="2"/>
              <a:buChar char="§"/>
            </a:pPr>
            <a:r>
              <a:rPr lang="en-US" sz="1700" b="1" kern="0" dirty="0">
                <a:latin typeface="Comic Sans MS" panose="030F0702030302020204" pitchFamily="66" charset="0"/>
              </a:rPr>
              <a:t>Classroom Policy</a:t>
            </a:r>
          </a:p>
          <a:p>
            <a:pPr marL="1077913" lvl="1" indent="-354013">
              <a:lnSpc>
                <a:spcPct val="150000"/>
              </a:lnSpc>
              <a:buFont typeface="Wingdings" panose="05000000000000000000" pitchFamily="2" charset="2"/>
              <a:buChar char="Ø"/>
            </a:pPr>
            <a:r>
              <a:rPr lang="en-US" sz="1700" kern="0" dirty="0">
                <a:latin typeface="Comic Sans MS" panose="030F0702030302020204" pitchFamily="66" charset="0"/>
              </a:rPr>
              <a:t>Review recommended material before coming to class</a:t>
            </a:r>
          </a:p>
          <a:p>
            <a:pPr marL="1077913" lvl="1" indent="-354013">
              <a:lnSpc>
                <a:spcPct val="150000"/>
              </a:lnSpc>
              <a:buFont typeface="Wingdings" panose="05000000000000000000" pitchFamily="2" charset="2"/>
              <a:buChar char="Ø"/>
            </a:pPr>
            <a:r>
              <a:rPr lang="en-US" sz="1700" kern="0" dirty="0">
                <a:latin typeface="Comic Sans MS" panose="030F0702030302020204" pitchFamily="66" charset="0"/>
              </a:rPr>
              <a:t>Must be on time</a:t>
            </a:r>
          </a:p>
          <a:p>
            <a:pPr marL="1077913" lvl="1" indent="-354013">
              <a:lnSpc>
                <a:spcPct val="150000"/>
              </a:lnSpc>
              <a:buFont typeface="Wingdings" panose="05000000000000000000" pitchFamily="2" charset="2"/>
              <a:buChar char="Ø"/>
            </a:pPr>
            <a:r>
              <a:rPr lang="en-US" sz="1700" kern="0" dirty="0">
                <a:latin typeface="Comic Sans MS" panose="030F0702030302020204" pitchFamily="66" charset="0"/>
              </a:rPr>
              <a:t>Turn off cell phones</a:t>
            </a:r>
            <a:endParaRPr lang="en-GB" sz="1700" kern="0" dirty="0">
              <a:latin typeface="Comic Sans MS" panose="030F0702030302020204" pitchFamily="66" charset="0"/>
            </a:endParaRPr>
          </a:p>
          <a:p>
            <a:pPr marL="357188" indent="-357188" eaLnBrk="1" hangingPunct="1">
              <a:buFont typeface="Wingdings" panose="05000000000000000000" pitchFamily="2" charset="2"/>
              <a:buChar char="§"/>
              <a:tabLst>
                <a:tab pos="271463" algn="l"/>
              </a:tabLst>
              <a:defRPr/>
            </a:pPr>
            <a:r>
              <a:rPr lang="en-US" sz="1700" b="1" dirty="0">
                <a:latin typeface="Comic Sans MS" pitchFamily="66" charset="0"/>
                <a:ea typeface="ＭＳ Ｐゴシック" pitchFamily="34" charset="-128"/>
              </a:rPr>
              <a:t>Expectations  </a:t>
            </a:r>
          </a:p>
          <a:p>
            <a:pPr marL="1071563" indent="-357188">
              <a:lnSpc>
                <a:spcPct val="150000"/>
              </a:lnSpc>
              <a:buFont typeface="Wingdings" panose="05000000000000000000" pitchFamily="2" charset="2"/>
              <a:buChar char="Ø"/>
              <a:defRPr/>
            </a:pPr>
            <a:r>
              <a:rPr lang="en-US" sz="1700" dirty="0">
                <a:latin typeface="Comic Sans MS" panose="030F0702030302020204" pitchFamily="66" charset="0"/>
              </a:rPr>
              <a:t>Read assigned readings</a:t>
            </a:r>
          </a:p>
          <a:p>
            <a:pPr marL="1071563" indent="-357188">
              <a:lnSpc>
                <a:spcPct val="150000"/>
              </a:lnSpc>
              <a:buFont typeface="Wingdings" panose="05000000000000000000" pitchFamily="2" charset="2"/>
              <a:buChar char="Ø"/>
              <a:defRPr/>
            </a:pPr>
            <a:r>
              <a:rPr lang="en-US" sz="1700" dirty="0">
                <a:latin typeface="Comic Sans MS" panose="030F0702030302020204" pitchFamily="66" charset="0"/>
              </a:rPr>
              <a:t>Attend lectures and participate in discussions</a:t>
            </a:r>
          </a:p>
          <a:p>
            <a:pPr marL="1071563" indent="-357188">
              <a:lnSpc>
                <a:spcPct val="150000"/>
              </a:lnSpc>
              <a:buFont typeface="Wingdings" panose="05000000000000000000" pitchFamily="2" charset="2"/>
              <a:buChar char="Ø"/>
              <a:defRPr/>
            </a:pPr>
            <a:r>
              <a:rPr lang="en-GB" sz="1700" dirty="0">
                <a:latin typeface="Comic Sans MS" panose="030F0702030302020204" pitchFamily="66" charset="0"/>
              </a:rPr>
              <a:t>Bring your ideas and concerns to class</a:t>
            </a:r>
          </a:p>
          <a:p>
            <a:pPr marL="1071563" indent="-357188">
              <a:lnSpc>
                <a:spcPct val="150000"/>
              </a:lnSpc>
              <a:buFont typeface="Wingdings" panose="05000000000000000000" pitchFamily="2" charset="2"/>
              <a:buChar char="Ø"/>
              <a:defRPr/>
            </a:pPr>
            <a:r>
              <a:rPr lang="en-GB" sz="1700" dirty="0">
                <a:latin typeface="Comic Sans MS" panose="030F0702030302020204" pitchFamily="66" charset="0"/>
              </a:rPr>
              <a:t>Work effectively in a group setting</a:t>
            </a:r>
          </a:p>
          <a:p>
            <a:pPr marL="1071563" indent="-357188">
              <a:lnSpc>
                <a:spcPct val="150000"/>
              </a:lnSpc>
              <a:buFont typeface="Wingdings" panose="05000000000000000000" pitchFamily="2" charset="2"/>
              <a:buChar char="Ø"/>
              <a:defRPr/>
            </a:pPr>
            <a:r>
              <a:rPr lang="en-GB" sz="1700" dirty="0">
                <a:latin typeface="Comic Sans MS" panose="030F0702030302020204" pitchFamily="66" charset="0"/>
              </a:rPr>
              <a:t>Learn how to use the tools and understand your project very well when necessary </a:t>
            </a:r>
            <a:endParaRPr lang="en-US" sz="1700" dirty="0">
              <a:solidFill>
                <a:srgbClr val="663300"/>
              </a:solidFill>
              <a:latin typeface="Comic Sans MS" pitchFamily="66" charset="0"/>
              <a:ea typeface="ＭＳ Ｐゴシック" pitchFamily="34" charset="-128"/>
            </a:endParaRPr>
          </a:p>
        </p:txBody>
      </p:sp>
    </p:spTree>
    <p:extLst>
      <p:ext uri="{BB962C8B-B14F-4D97-AF65-F5344CB8AC3E}">
        <p14:creationId xmlns:p14="http://schemas.microsoft.com/office/powerpoint/2010/main" val="172251892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7000" b="1" dirty="0"/>
              <a:t>Learning Outcomes</a:t>
            </a:r>
            <a:endParaRPr lang="en-US" sz="7000" dirty="0"/>
          </a:p>
        </p:txBody>
      </p:sp>
      <p:sp>
        <p:nvSpPr>
          <p:cNvPr id="4" name="Rectangle 3"/>
          <p:cNvSpPr/>
          <p:nvPr/>
        </p:nvSpPr>
        <p:spPr>
          <a:xfrm>
            <a:off x="457200" y="1484784"/>
            <a:ext cx="8229600" cy="4657942"/>
          </a:xfrm>
          <a:prstGeom prst="rect">
            <a:avLst/>
          </a:prstGeom>
        </p:spPr>
        <p:txBody>
          <a:bodyPr wrap="square">
            <a:spAutoFit/>
          </a:bodyPr>
          <a:lstStyle/>
          <a:p>
            <a:pPr algn="just">
              <a:lnSpc>
                <a:spcPct val="150000"/>
              </a:lnSpc>
            </a:pPr>
            <a:r>
              <a:rPr lang="en-US" sz="2000" dirty="0">
                <a:latin typeface="Comic Sans MS" panose="030F0702030302020204" pitchFamily="66" charset="0"/>
              </a:rPr>
              <a:t>At the end of the course, students should be able to:</a:t>
            </a:r>
          </a:p>
          <a:p>
            <a:pPr marL="714375" indent="-357188" algn="just">
              <a:lnSpc>
                <a:spcPct val="150000"/>
              </a:lnSpc>
            </a:pPr>
            <a:r>
              <a:rPr lang="en-US" sz="2000" dirty="0">
                <a:latin typeface="Comic Sans MS" panose="030F0702030302020204" pitchFamily="66" charset="0"/>
              </a:rPr>
              <a:t>1. Identify components of the computer and know-how the components communicate;</a:t>
            </a:r>
          </a:p>
          <a:p>
            <a:pPr marL="714375" indent="-357188" algn="just">
              <a:lnSpc>
                <a:spcPct val="150000"/>
              </a:lnSpc>
            </a:pPr>
            <a:r>
              <a:rPr lang="en-US" sz="2000" dirty="0">
                <a:latin typeface="Comic Sans MS" panose="030F0702030302020204" pitchFamily="66" charset="0"/>
              </a:rPr>
              <a:t>2. Know the concept of data transfer and memory types and management;</a:t>
            </a:r>
          </a:p>
          <a:p>
            <a:pPr marL="714375" indent="-357188" algn="just">
              <a:lnSpc>
                <a:spcPct val="150000"/>
              </a:lnSpc>
            </a:pPr>
            <a:r>
              <a:rPr lang="en-US" sz="2000" dirty="0">
                <a:latin typeface="Comic Sans MS" panose="030F0702030302020204" pitchFamily="66" charset="0"/>
              </a:rPr>
              <a:t>3. Be comfortable with graphics processing;</a:t>
            </a:r>
          </a:p>
          <a:p>
            <a:pPr marL="714375" indent="-357188" algn="just">
              <a:lnSpc>
                <a:spcPct val="150000"/>
              </a:lnSpc>
            </a:pPr>
            <a:r>
              <a:rPr lang="en-US" sz="2000" dirty="0">
                <a:latin typeface="Comic Sans MS" panose="030F0702030302020204" pitchFamily="66" charset="0"/>
              </a:rPr>
              <a:t>4. Identify and be able to use different communication ports;</a:t>
            </a:r>
          </a:p>
          <a:p>
            <a:pPr marL="714375" indent="-357188" algn="just">
              <a:lnSpc>
                <a:spcPct val="150000"/>
              </a:lnSpc>
            </a:pPr>
            <a:r>
              <a:rPr lang="en-US" sz="2000" dirty="0">
                <a:latin typeface="Comic Sans MS" panose="030F0702030302020204" pitchFamily="66" charset="0"/>
              </a:rPr>
              <a:t>5. Know the software types;</a:t>
            </a:r>
          </a:p>
          <a:p>
            <a:pPr marL="714375" indent="-357188" algn="just">
              <a:lnSpc>
                <a:spcPct val="150000"/>
              </a:lnSpc>
            </a:pPr>
            <a:r>
              <a:rPr lang="en-US" sz="2000" dirty="0">
                <a:latin typeface="Comic Sans MS" panose="030F0702030302020204" pitchFamily="66" charset="0"/>
              </a:rPr>
              <a:t>6. State different computer network topologies and their sizes; </a:t>
            </a:r>
          </a:p>
          <a:p>
            <a:pPr marL="714375" indent="-357188" algn="just">
              <a:lnSpc>
                <a:spcPct val="150000"/>
              </a:lnSpc>
            </a:pPr>
            <a:r>
              <a:rPr lang="en-US" sz="2000" dirty="0">
                <a:latin typeface="Comic Sans MS" panose="030F0702030302020204" pitchFamily="66" charset="0"/>
              </a:rPr>
              <a:t>7. Be able to use office applications and the internet.</a:t>
            </a:r>
          </a:p>
        </p:txBody>
      </p:sp>
    </p:spTree>
    <p:extLst>
      <p:ext uri="{BB962C8B-B14F-4D97-AF65-F5344CB8AC3E}">
        <p14:creationId xmlns:p14="http://schemas.microsoft.com/office/powerpoint/2010/main" val="304336450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a:xfrm>
            <a:off x="457200" y="404664"/>
            <a:ext cx="8229600" cy="1012974"/>
          </a:xfrm>
        </p:spPr>
        <p:txBody>
          <a:bodyPr/>
          <a:lstStyle/>
          <a:p>
            <a:pPr algn="ctr"/>
            <a:r>
              <a:rPr lang="en-US" sz="8000" b="1" dirty="0"/>
              <a:t>Course Contents</a:t>
            </a:r>
            <a:endParaRPr lang="en-US" sz="8000" dirty="0"/>
          </a:p>
        </p:txBody>
      </p:sp>
      <p:sp>
        <p:nvSpPr>
          <p:cNvPr id="4" name="Rectangle 3"/>
          <p:cNvSpPr/>
          <p:nvPr/>
        </p:nvSpPr>
        <p:spPr>
          <a:xfrm>
            <a:off x="539552" y="1340768"/>
            <a:ext cx="7920880" cy="5551713"/>
          </a:xfrm>
          <a:prstGeom prst="rect">
            <a:avLst/>
          </a:prstGeom>
        </p:spPr>
        <p:txBody>
          <a:bodyPr wrap="square">
            <a:spAutoFit/>
          </a:bodyPr>
          <a:lstStyle/>
          <a:p>
            <a:pPr algn="just">
              <a:lnSpc>
                <a:spcPct val="200000"/>
              </a:lnSpc>
            </a:pPr>
            <a:r>
              <a:rPr lang="en-US" dirty="0">
                <a:latin typeface="Comic Sans MS" panose="030F0702030302020204" pitchFamily="66" charset="0"/>
              </a:rPr>
              <a:t>Basic principle of computers. Computer "backbone".  Data transmission. Random Access Memory. Permanent Memory. Graphic processing. Communication Ports. Input and Output Devices. Software types. Accessibility options. Computer types. Portable digital devices. Network Types. Internet. Instant messaging. Voice over Internet Protocol. Really Simple Syndication. Network communication. Internet data transfer. Data rate units. Internet access. Virtual (online) communities. Computer in the workplace. Office Applications (word processing, spreadsheets, presentation, etc.). Other well-known applications. Telecommuting (telework).</a:t>
            </a:r>
          </a:p>
        </p:txBody>
      </p:sp>
    </p:spTree>
    <p:extLst>
      <p:ext uri="{BB962C8B-B14F-4D97-AF65-F5344CB8AC3E}">
        <p14:creationId xmlns:p14="http://schemas.microsoft.com/office/powerpoint/2010/main" val="34421755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Module</a:t>
            </a:r>
            <a:endParaRPr lang="en-US" sz="8000" dirty="0"/>
          </a:p>
        </p:txBody>
      </p:sp>
      <p:sp>
        <p:nvSpPr>
          <p:cNvPr id="4" name="Rectangle 3"/>
          <p:cNvSpPr/>
          <p:nvPr/>
        </p:nvSpPr>
        <p:spPr>
          <a:xfrm>
            <a:off x="457200" y="1484784"/>
            <a:ext cx="8003232" cy="5047536"/>
          </a:xfrm>
          <a:prstGeom prst="rect">
            <a:avLst/>
          </a:prstGeom>
        </p:spPr>
        <p:txBody>
          <a:bodyPr wrap="square">
            <a:spAutoFit/>
          </a:bodyPr>
          <a:lstStyle/>
          <a:p>
            <a:pPr marL="342900" indent="-342900" algn="just">
              <a:buFont typeface="Wingdings" panose="05000000000000000000" pitchFamily="2" charset="2"/>
              <a:buChar char="Ø"/>
            </a:pPr>
            <a:r>
              <a:rPr lang="en-US" sz="1700" b="1" dirty="0">
                <a:latin typeface="Comic Sans MS" panose="030F0702030302020204" pitchFamily="66" charset="0"/>
              </a:rPr>
              <a:t>Module 1 Introduction to Information Communication Technology</a:t>
            </a:r>
          </a:p>
          <a:p>
            <a:pPr marL="714375" indent="-342900" algn="just">
              <a:buFont typeface="Wingdings" panose="05000000000000000000" pitchFamily="2" charset="2"/>
              <a:buChar char="§"/>
            </a:pPr>
            <a:r>
              <a:rPr lang="en-US" sz="1600" dirty="0">
                <a:latin typeface="Comic Sans MS" panose="030F0702030302020204" pitchFamily="66" charset="0"/>
              </a:rPr>
              <a:t>Unit 1: Information Communication Technology: Principles, Practices, and Opportunities.</a:t>
            </a:r>
          </a:p>
          <a:p>
            <a:pPr marL="714375" indent="-342900" algn="just">
              <a:buFont typeface="Wingdings" panose="05000000000000000000" pitchFamily="2" charset="2"/>
              <a:buChar char="§"/>
            </a:pPr>
            <a:r>
              <a:rPr lang="en-US" sz="1600" dirty="0">
                <a:latin typeface="Comic Sans MS" panose="030F0702030302020204" pitchFamily="66" charset="0"/>
              </a:rPr>
              <a:t>Unit 2: Essentials of Computing</a:t>
            </a:r>
          </a:p>
          <a:p>
            <a:pPr marL="714375" indent="-342900" algn="just">
              <a:buFont typeface="Wingdings" panose="05000000000000000000" pitchFamily="2" charset="2"/>
              <a:buChar char="§"/>
            </a:pPr>
            <a:r>
              <a:rPr lang="en-US" sz="1600" dirty="0">
                <a:latin typeface="Comic Sans MS" panose="030F0702030302020204" pitchFamily="66" charset="0"/>
              </a:rPr>
              <a:t>Unit 3: The System Unit and the Central Processing Unit</a:t>
            </a:r>
          </a:p>
          <a:p>
            <a:pPr marL="714375" indent="-342900" algn="just">
              <a:buFont typeface="Wingdings" panose="05000000000000000000" pitchFamily="2" charset="2"/>
              <a:buChar char="§"/>
            </a:pPr>
            <a:r>
              <a:rPr lang="en-US" sz="1600" dirty="0">
                <a:latin typeface="Comic Sans MS" panose="030F0702030302020204" pitchFamily="66" charset="0"/>
              </a:rPr>
              <a:t>Unit 4: Input Devices, Output Devices and Storage Devices and Memory</a:t>
            </a:r>
          </a:p>
          <a:p>
            <a:pPr marL="714375" indent="-342900" algn="just">
              <a:buFont typeface="Wingdings" panose="05000000000000000000" pitchFamily="2" charset="2"/>
              <a:buChar char="§"/>
            </a:pPr>
            <a:endParaRPr lang="en-US" sz="1600" dirty="0">
              <a:latin typeface="Comic Sans MS" panose="030F0702030302020204" pitchFamily="66" charset="0"/>
            </a:endParaRPr>
          </a:p>
          <a:p>
            <a:pPr marL="342900" indent="-342900" algn="just">
              <a:buFont typeface="Wingdings" panose="05000000000000000000" pitchFamily="2" charset="2"/>
              <a:buChar char="Ø"/>
            </a:pPr>
            <a:r>
              <a:rPr lang="en-US" sz="1700" b="1" dirty="0">
                <a:latin typeface="Comic Sans MS" panose="030F0702030302020204" pitchFamily="66" charset="0"/>
              </a:rPr>
              <a:t>Module 2 Computer Networks, Distributed Networks and the Internet</a:t>
            </a:r>
          </a:p>
          <a:p>
            <a:pPr marL="714375" indent="-342900" algn="just">
              <a:buFont typeface="Wingdings" panose="05000000000000000000" pitchFamily="2" charset="2"/>
              <a:buChar char="§"/>
            </a:pPr>
            <a:r>
              <a:rPr lang="en-US" sz="1600" dirty="0">
                <a:latin typeface="Comic Sans MS" panose="030F0702030302020204" pitchFamily="66" charset="0"/>
              </a:rPr>
              <a:t>Unit 5: Computer Networks, Networking Technologies and Communications Networks</a:t>
            </a:r>
          </a:p>
          <a:p>
            <a:pPr marL="714375" indent="-342900" algn="just">
              <a:buFont typeface="Wingdings" panose="05000000000000000000" pitchFamily="2" charset="2"/>
              <a:buChar char="§"/>
            </a:pPr>
            <a:r>
              <a:rPr lang="en-US" sz="1600" dirty="0">
                <a:latin typeface="Comic Sans MS" panose="030F0702030302020204" pitchFamily="66" charset="0"/>
              </a:rPr>
              <a:t>Unit 6: Enterprise and Wireless Communications Networks</a:t>
            </a:r>
          </a:p>
          <a:p>
            <a:pPr marL="714375" indent="-342900" algn="just">
              <a:buFont typeface="Wingdings" panose="05000000000000000000" pitchFamily="2" charset="2"/>
              <a:buChar char="§"/>
            </a:pPr>
            <a:r>
              <a:rPr lang="en-US" sz="1600" dirty="0">
                <a:latin typeface="Comic Sans MS" panose="030F0702030302020204" pitchFamily="66" charset="0"/>
              </a:rPr>
              <a:t>Unit 7: Essentials of the Internet and World Wide Web</a:t>
            </a:r>
          </a:p>
          <a:p>
            <a:pPr marL="714375" indent="-342900" algn="just">
              <a:buFont typeface="Wingdings" panose="05000000000000000000" pitchFamily="2" charset="2"/>
              <a:buChar char="§"/>
            </a:pPr>
            <a:r>
              <a:rPr lang="en-US" sz="1600" dirty="0">
                <a:latin typeface="Comic Sans MS" panose="030F0702030302020204" pitchFamily="66" charset="0"/>
              </a:rPr>
              <a:t>Unit 8: Electronic Commerce and Electronic Business</a:t>
            </a:r>
          </a:p>
          <a:p>
            <a:pPr marL="714375" indent="-342900" algn="just">
              <a:buFont typeface="Wingdings" panose="05000000000000000000" pitchFamily="2" charset="2"/>
              <a:buChar char="§"/>
            </a:pPr>
            <a:r>
              <a:rPr lang="en-US" sz="1600" dirty="0">
                <a:latin typeface="Comic Sans MS" panose="030F0702030302020204" pitchFamily="66" charset="0"/>
              </a:rPr>
              <a:t>Unit 9: Launching Information Technology Applications Projects</a:t>
            </a:r>
          </a:p>
          <a:p>
            <a:pPr marL="342900" indent="-342900" algn="just">
              <a:buFont typeface="Wingdings" panose="05000000000000000000" pitchFamily="2" charset="2"/>
              <a:buChar char="Ø"/>
            </a:pPr>
            <a:endParaRPr lang="en-US" sz="1600" dirty="0">
              <a:latin typeface="Comic Sans MS" panose="030F0702030302020204" pitchFamily="66" charset="0"/>
            </a:endParaRPr>
          </a:p>
          <a:p>
            <a:pPr marL="342900" indent="-342900" algn="just">
              <a:buFont typeface="Wingdings" panose="05000000000000000000" pitchFamily="2" charset="2"/>
              <a:buChar char="Ø"/>
            </a:pPr>
            <a:r>
              <a:rPr lang="en-US" sz="1700" b="1" dirty="0">
                <a:latin typeface="Comic Sans MS" panose="030F0702030302020204" pitchFamily="66" charset="0"/>
              </a:rPr>
              <a:t>Module 3 Managing Information and Communication Technology Applications in the Enterprise.</a:t>
            </a:r>
          </a:p>
          <a:p>
            <a:pPr marL="714375" indent="-342900" algn="just">
              <a:buFont typeface="Wingdings" panose="05000000000000000000" pitchFamily="2" charset="2"/>
              <a:buChar char="§"/>
            </a:pPr>
            <a:r>
              <a:rPr lang="en-US" sz="1600" dirty="0">
                <a:latin typeface="Comic Sans MS" panose="030F0702030302020204" pitchFamily="66" charset="0"/>
              </a:rPr>
              <a:t>Unit 10: Creating Enterprise Applications and Project Management</a:t>
            </a:r>
          </a:p>
          <a:p>
            <a:pPr marL="714375" indent="-342900" algn="just">
              <a:buFont typeface="Wingdings" panose="05000000000000000000" pitchFamily="2" charset="2"/>
              <a:buChar char="§"/>
            </a:pPr>
            <a:r>
              <a:rPr lang="en-US" sz="1600" dirty="0">
                <a:latin typeface="Comic Sans MS" panose="030F0702030302020204" pitchFamily="66" charset="0"/>
              </a:rPr>
              <a:t>Unit 11: Web Based Application and Information Systems in the Enterprise</a:t>
            </a:r>
          </a:p>
          <a:p>
            <a:pPr marL="714375" indent="-342900" algn="just">
              <a:buFont typeface="Wingdings" panose="05000000000000000000" pitchFamily="2" charset="2"/>
              <a:buChar char="§"/>
            </a:pPr>
            <a:r>
              <a:rPr lang="en-US" sz="1600" dirty="0">
                <a:latin typeface="Comic Sans MS" panose="030F0702030302020204" pitchFamily="66" charset="0"/>
              </a:rPr>
              <a:t>Unit 12: Issues in Information Technology and Careers in ICT</a:t>
            </a:r>
            <a:endParaRPr lang="en-US" sz="1600" b="1" dirty="0">
              <a:latin typeface="Comic Sans MS" panose="030F0702030302020204" pitchFamily="66" charset="0"/>
            </a:endParaRPr>
          </a:p>
        </p:txBody>
      </p:sp>
    </p:spTree>
    <p:extLst>
      <p:ext uri="{BB962C8B-B14F-4D97-AF65-F5344CB8AC3E}">
        <p14:creationId xmlns:p14="http://schemas.microsoft.com/office/powerpoint/2010/main" val="312477454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Outline</a:t>
            </a:r>
            <a:endParaRPr lang="en-US" sz="8000" dirty="0"/>
          </a:p>
        </p:txBody>
      </p:sp>
      <p:sp>
        <p:nvSpPr>
          <p:cNvPr id="4" name="Rectangle 3"/>
          <p:cNvSpPr/>
          <p:nvPr/>
        </p:nvSpPr>
        <p:spPr>
          <a:xfrm>
            <a:off x="457200" y="1493585"/>
            <a:ext cx="8229600" cy="5247783"/>
          </a:xfrm>
          <a:prstGeom prst="rect">
            <a:avLst/>
          </a:prstGeom>
        </p:spPr>
        <p:txBody>
          <a:bodyPr wrap="square">
            <a:spAutoFit/>
          </a:bodyPr>
          <a:lstStyle/>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 Information Communication Technology: Principles, Practices, and Opportunities.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2: Essentials of Computing</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3: The System Unit and the Central Processing Unit</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4: Input Devices, Output Devices and Storage Devices and Memory</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5: Computer Networks, Networking Technologies and Communications Networks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6: Enterprise and Wireless Communications Networks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7: Essentials of the Internet </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8: Electronic Commerce and Electronic Business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9: Launching Information Technology Applications Projects</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10: Creating Enterprise Applications and Project Management</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11: Web Based Application and Information Systems in the Enterprise</a:t>
            </a:r>
          </a:p>
          <a:p>
            <a:pPr marL="357188" indent="-342900">
              <a:lnSpc>
                <a:spcPct val="150000"/>
              </a:lnSpc>
              <a:buFont typeface="Wingdings" panose="05000000000000000000" pitchFamily="2" charset="2"/>
              <a:buChar char="Ø"/>
            </a:pPr>
            <a:r>
              <a:rPr lang="en-US" sz="1500" dirty="0">
                <a:latin typeface="Comic Sans MS" panose="030F0702030302020204" pitchFamily="66" charset="0"/>
              </a:rPr>
              <a:t>Week 12: Issues in Information Technology and Careers in ICT</a:t>
            </a:r>
          </a:p>
          <a:p>
            <a:pPr marL="342900" indent="-342900">
              <a:lnSpc>
                <a:spcPct val="150000"/>
              </a:lnSpc>
              <a:buFont typeface="Wingdings" panose="05000000000000000000" pitchFamily="2" charset="2"/>
              <a:buChar char="Ø"/>
            </a:pPr>
            <a:r>
              <a:rPr lang="en-US" sz="1500" b="1" dirty="0">
                <a:latin typeface="Comic Sans MS" panose="030F0702030302020204" pitchFamily="66" charset="0"/>
              </a:rPr>
              <a:t>Week 13: Continuous Assessment</a:t>
            </a:r>
          </a:p>
          <a:p>
            <a:pPr marL="342900" indent="-342900">
              <a:lnSpc>
                <a:spcPct val="150000"/>
              </a:lnSpc>
              <a:buFont typeface="Wingdings" panose="05000000000000000000" pitchFamily="2" charset="2"/>
              <a:buChar char="Ø"/>
            </a:pPr>
            <a:r>
              <a:rPr lang="en-US" sz="1500" b="1" dirty="0">
                <a:latin typeface="Comic Sans MS" panose="030F0702030302020204" pitchFamily="66" charset="0"/>
              </a:rPr>
              <a:t>Week 14: Examination   </a:t>
            </a:r>
          </a:p>
        </p:txBody>
      </p:sp>
    </p:spTree>
    <p:extLst>
      <p:ext uri="{BB962C8B-B14F-4D97-AF65-F5344CB8AC3E}">
        <p14:creationId xmlns:p14="http://schemas.microsoft.com/office/powerpoint/2010/main" val="25253207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6600" b="1" dirty="0"/>
              <a:t>Books and References</a:t>
            </a:r>
            <a:endParaRPr lang="en-US" sz="6600" dirty="0"/>
          </a:p>
        </p:txBody>
      </p:sp>
      <p:sp>
        <p:nvSpPr>
          <p:cNvPr id="4" name="Rectangle 3"/>
          <p:cNvSpPr/>
          <p:nvPr/>
        </p:nvSpPr>
        <p:spPr>
          <a:xfrm>
            <a:off x="457199" y="1538010"/>
            <a:ext cx="8043863" cy="4555286"/>
          </a:xfrm>
          <a:prstGeom prst="rect">
            <a:avLst/>
          </a:prstGeom>
        </p:spPr>
        <p:txBody>
          <a:bodyPr wrap="square">
            <a:spAutoFit/>
          </a:bodyPr>
          <a:lstStyle/>
          <a:p>
            <a:pPr marL="536575" indent="-361950" algn="just">
              <a:lnSpc>
                <a:spcPct val="150000"/>
              </a:lnSpc>
              <a:buFont typeface="Wingdings" pitchFamily="2" charset="2"/>
              <a:buChar char="§"/>
              <a:defRPr/>
            </a:pPr>
            <a:r>
              <a:rPr lang="en-US" sz="1500" dirty="0">
                <a:latin typeface="Comic Sans MS" panose="030F0702030302020204" pitchFamily="66" charset="0"/>
              </a:rPr>
              <a:t>Use and Effects By: Harry </a:t>
            </a:r>
            <a:r>
              <a:rPr lang="en-US" sz="1500" dirty="0" err="1">
                <a:latin typeface="Comic Sans MS" panose="030F0702030302020204" pitchFamily="66" charset="0"/>
              </a:rPr>
              <a:t>Bouwman</a:t>
            </a:r>
            <a:r>
              <a:rPr lang="en-US" sz="1500" dirty="0">
                <a:latin typeface="Comic Sans MS" panose="030F0702030302020204" pitchFamily="66" charset="0"/>
              </a:rPr>
              <a:t>, Bart van den </a:t>
            </a:r>
            <a:r>
              <a:rPr lang="en-US" sz="1500" dirty="0" err="1">
                <a:latin typeface="Comic Sans MS" panose="030F0702030302020204" pitchFamily="66" charset="0"/>
              </a:rPr>
              <a:t>Hooff</a:t>
            </a:r>
            <a:r>
              <a:rPr lang="en-US" sz="1500" dirty="0">
                <a:latin typeface="Comic Sans MS" panose="030F0702030302020204" pitchFamily="66" charset="0"/>
              </a:rPr>
              <a:t>, </a:t>
            </a:r>
            <a:r>
              <a:rPr lang="en-US" sz="1500" dirty="0" err="1">
                <a:latin typeface="Comic Sans MS" panose="030F0702030302020204" pitchFamily="66" charset="0"/>
              </a:rPr>
              <a:t>Lidwien</a:t>
            </a:r>
            <a:r>
              <a:rPr lang="en-US" sz="1500" dirty="0">
                <a:latin typeface="Comic Sans MS" panose="030F0702030302020204" pitchFamily="66" charset="0"/>
              </a:rPr>
              <a:t> van de </a:t>
            </a:r>
            <a:r>
              <a:rPr lang="en-US" sz="1500" dirty="0" err="1">
                <a:latin typeface="Comic Sans MS" panose="030F0702030302020204" pitchFamily="66" charset="0"/>
              </a:rPr>
              <a:t>Wijngaert</a:t>
            </a:r>
            <a:r>
              <a:rPr lang="en-US" sz="1500" dirty="0">
                <a:latin typeface="Comic Sans MS" panose="030F0702030302020204" pitchFamily="66" charset="0"/>
              </a:rPr>
              <a:t> &amp; Jan van Dijk, Publisher: SAGE Publications Ltd, Publication year: 2005, Online pub date: June 19, 2012</a:t>
            </a:r>
          </a:p>
          <a:p>
            <a:pPr marL="536575" indent="-361950" algn="just">
              <a:lnSpc>
                <a:spcPct val="150000"/>
              </a:lnSpc>
              <a:buFont typeface="Wingdings" pitchFamily="2" charset="2"/>
              <a:buChar char="§"/>
              <a:defRPr/>
            </a:pPr>
            <a:r>
              <a:rPr lang="en-US" sz="1500" dirty="0">
                <a:latin typeface="Comic Sans MS" panose="030F0702030302020204" pitchFamily="66" charset="0"/>
              </a:rPr>
              <a:t>Discovering Computers. Living in a Digital World. FUNDAMENTALS, 2011 EDITION. Gary B. Shelly. Misty E. </a:t>
            </a:r>
            <a:r>
              <a:rPr lang="en-US" sz="1500" dirty="0" err="1">
                <a:latin typeface="Comic Sans MS" panose="030F0702030302020204" pitchFamily="66" charset="0"/>
              </a:rPr>
              <a:t>Vermaat</a:t>
            </a:r>
            <a:r>
              <a:rPr lang="en-US" sz="1500" dirty="0">
                <a:latin typeface="Comic Sans MS" panose="030F0702030302020204" pitchFamily="66" charset="0"/>
              </a:rPr>
              <a:t>. Shelly Cashman</a:t>
            </a:r>
          </a:p>
          <a:p>
            <a:pPr marL="536575" indent="-361950" algn="just">
              <a:lnSpc>
                <a:spcPct val="150000"/>
              </a:lnSpc>
              <a:buFont typeface="Wingdings" pitchFamily="2" charset="2"/>
              <a:buChar char="§"/>
              <a:defRPr/>
            </a:pPr>
            <a:r>
              <a:rPr lang="en-US" sz="1500" dirty="0">
                <a:latin typeface="Comic Sans MS" panose="030F0702030302020204" pitchFamily="66" charset="0"/>
              </a:rPr>
              <a:t>Charles S. Parker, Understanding Computers: Today and Tomorrow, Course Technology, 25 Thomson Place, Boston, Massachusetts 02210, USA</a:t>
            </a:r>
          </a:p>
          <a:p>
            <a:pPr marL="536575" indent="-361950" algn="just">
              <a:lnSpc>
                <a:spcPct val="150000"/>
              </a:lnSpc>
              <a:buFont typeface="Wingdings" pitchFamily="2" charset="2"/>
              <a:buChar char="§"/>
              <a:defRPr/>
            </a:pPr>
            <a:r>
              <a:rPr lang="en-US" sz="1500" dirty="0" err="1">
                <a:latin typeface="Comic Sans MS" panose="030F0702030302020204" pitchFamily="66" charset="0"/>
              </a:rPr>
              <a:t>Livesley</a:t>
            </a:r>
            <a:r>
              <a:rPr lang="en-US" sz="1500" dirty="0">
                <a:latin typeface="Comic Sans MS" panose="030F0702030302020204" pitchFamily="66" charset="0"/>
              </a:rPr>
              <a:t>, Robert Kenneth. An introduction to automatic digital computers. Cambridge University Press, 2017.</a:t>
            </a:r>
          </a:p>
          <a:p>
            <a:pPr marL="536575" indent="-361950" algn="just">
              <a:lnSpc>
                <a:spcPct val="150000"/>
              </a:lnSpc>
              <a:buFont typeface="Wingdings" pitchFamily="2" charset="2"/>
              <a:buChar char="§"/>
              <a:defRPr/>
            </a:pPr>
            <a:r>
              <a:rPr lang="en-US" sz="1500" dirty="0" err="1">
                <a:latin typeface="Comic Sans MS" panose="030F0702030302020204" pitchFamily="66" charset="0"/>
              </a:rPr>
              <a:t>Zawacki</a:t>
            </a:r>
            <a:r>
              <a:rPr lang="en-US" sz="1500" dirty="0">
                <a:latin typeface="Comic Sans MS" panose="030F0702030302020204" pitchFamily="66" charset="0"/>
              </a:rPr>
              <a:t>-Richter, Olaf, and Colin </a:t>
            </a:r>
            <a:r>
              <a:rPr lang="en-US" sz="1500" dirty="0" err="1">
                <a:latin typeface="Comic Sans MS" panose="030F0702030302020204" pitchFamily="66" charset="0"/>
              </a:rPr>
              <a:t>Latchem</a:t>
            </a:r>
            <a:r>
              <a:rPr lang="en-US" sz="1500" dirty="0">
                <a:latin typeface="Comic Sans MS" panose="030F0702030302020204" pitchFamily="66" charset="0"/>
              </a:rPr>
              <a:t>. "Exploring four decades of research in Computers &amp; Education." Computers &amp; Education 122 (2018): 136-152.</a:t>
            </a:r>
          </a:p>
          <a:p>
            <a:pPr marL="536575" indent="-361950" algn="just">
              <a:lnSpc>
                <a:spcPct val="150000"/>
              </a:lnSpc>
              <a:buFont typeface="Wingdings" pitchFamily="2" charset="2"/>
              <a:buChar char="§"/>
              <a:defRPr/>
            </a:pPr>
            <a:r>
              <a:rPr lang="en-US" sz="1500" dirty="0">
                <a:latin typeface="Comic Sans MS" panose="030F0702030302020204" pitchFamily="66" charset="0"/>
              </a:rPr>
              <a:t>Sinha, Pradeep K., and </a:t>
            </a:r>
            <a:r>
              <a:rPr lang="en-US" sz="1500" dirty="0" err="1">
                <a:latin typeface="Comic Sans MS" panose="030F0702030302020204" pitchFamily="66" charset="0"/>
              </a:rPr>
              <a:t>Priti</a:t>
            </a:r>
            <a:r>
              <a:rPr lang="en-US" sz="1500" dirty="0">
                <a:latin typeface="Comic Sans MS" panose="030F0702030302020204" pitchFamily="66" charset="0"/>
              </a:rPr>
              <a:t> Sinha. Computer fundamentals. BPB publications, 2010. </a:t>
            </a:r>
          </a:p>
          <a:p>
            <a:pPr marL="536575" indent="-361950" algn="just">
              <a:lnSpc>
                <a:spcPct val="150000"/>
              </a:lnSpc>
              <a:buFont typeface="Wingdings" pitchFamily="2" charset="2"/>
              <a:buChar char="§"/>
              <a:defRPr/>
            </a:pPr>
            <a:r>
              <a:rPr lang="en-US" sz="1500" dirty="0">
                <a:latin typeface="Comic Sans MS" panose="030F0702030302020204" pitchFamily="66" charset="0"/>
              </a:rPr>
              <a:t>Goel, Anita. Computer fundamentals. Pearson Education India, 2010.</a:t>
            </a:r>
            <a:endParaRPr lang="en-US" sz="1500" dirty="0">
              <a:latin typeface="Comic Sans MS" pitchFamily="66" charset="0"/>
              <a:ea typeface="ＭＳ Ｐゴシック" pitchFamily="34" charset="-128"/>
            </a:endParaRPr>
          </a:p>
        </p:txBody>
      </p:sp>
    </p:spTree>
    <p:extLst>
      <p:ext uri="{BB962C8B-B14F-4D97-AF65-F5344CB8AC3E}">
        <p14:creationId xmlns:p14="http://schemas.microsoft.com/office/powerpoint/2010/main" val="34148405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altLang="en-US" sz="9600" b="1" dirty="0"/>
              <a:t>Pre-Requisite</a:t>
            </a:r>
            <a:r>
              <a:rPr lang="en-US" altLang="en-US" sz="6600" b="1" dirty="0"/>
              <a:t> </a:t>
            </a:r>
            <a:endParaRPr lang="en-US" altLang="en-US" sz="6600" dirty="0"/>
          </a:p>
        </p:txBody>
      </p:sp>
      <p:pic>
        <p:nvPicPr>
          <p:cNvPr id="5" name="Picture 4"/>
          <p:cNvPicPr>
            <a:picLocks noChangeAspect="1"/>
          </p:cNvPicPr>
          <p:nvPr/>
        </p:nvPicPr>
        <p:blipFill>
          <a:blip r:embed="rId3"/>
          <a:stretch>
            <a:fillRect/>
          </a:stretch>
        </p:blipFill>
        <p:spPr>
          <a:xfrm>
            <a:off x="1259632" y="1499249"/>
            <a:ext cx="6624736" cy="5080937"/>
          </a:xfrm>
          <a:prstGeom prst="rect">
            <a:avLst/>
          </a:prstGeom>
        </p:spPr>
      </p:pic>
    </p:spTree>
    <p:extLst>
      <p:ext uri="{BB962C8B-B14F-4D97-AF65-F5344CB8AC3E}">
        <p14:creationId xmlns:p14="http://schemas.microsoft.com/office/powerpoint/2010/main" val="14429000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pPr algn="ctr"/>
            <a:r>
              <a:rPr lang="en-US" sz="8000" b="1" dirty="0"/>
              <a:t>Course Evaluation</a:t>
            </a:r>
            <a:endParaRPr lang="en-US" altLang="en-US" sz="8000" dirty="0"/>
          </a:p>
        </p:txBody>
      </p:sp>
      <p:sp>
        <p:nvSpPr>
          <p:cNvPr id="4" name="Rectangle 3"/>
          <p:cNvSpPr/>
          <p:nvPr/>
        </p:nvSpPr>
        <p:spPr>
          <a:xfrm>
            <a:off x="457200" y="1484784"/>
            <a:ext cx="8229600" cy="3447098"/>
          </a:xfrm>
          <a:prstGeom prst="rect">
            <a:avLst/>
          </a:prstGeom>
        </p:spPr>
        <p:txBody>
          <a:bodyPr wrap="square">
            <a:spAutoFit/>
          </a:bodyPr>
          <a:lstStyle/>
          <a:p>
            <a:pPr>
              <a:defRPr/>
            </a:pPr>
            <a:endParaRPr lang="en-US" b="1" dirty="0">
              <a:latin typeface="Comic Sans MS" pitchFamily="66" charset="0"/>
            </a:endParaRPr>
          </a:p>
          <a:p>
            <a:pPr>
              <a:buFont typeface="Wingdings" pitchFamily="2" charset="2"/>
              <a:buChar char="Ø"/>
              <a:defRPr/>
            </a:pPr>
            <a:r>
              <a:rPr lang="en-US" sz="4000" b="1" dirty="0">
                <a:latin typeface="Comic Sans MS" pitchFamily="66" charset="0"/>
              </a:rPr>
              <a:t>Final Examination: 70%</a:t>
            </a:r>
          </a:p>
          <a:p>
            <a:pPr lvl="2">
              <a:defRPr/>
            </a:pPr>
            <a:endParaRPr lang="en-US" sz="4000" dirty="0">
              <a:latin typeface="Comic Sans MS" pitchFamily="66" charset="0"/>
            </a:endParaRPr>
          </a:p>
          <a:p>
            <a:pPr>
              <a:buFont typeface="Wingdings" pitchFamily="2" charset="2"/>
              <a:buChar char="Ø"/>
              <a:defRPr/>
            </a:pPr>
            <a:r>
              <a:rPr lang="en-US" sz="4000" b="1" dirty="0">
                <a:latin typeface="Comic Sans MS" pitchFamily="66" charset="0"/>
              </a:rPr>
              <a:t>Continuous Assessment: 30% </a:t>
            </a:r>
          </a:p>
          <a:p>
            <a:pPr marL="1139825" lvl="3" indent="-346075">
              <a:buFont typeface="Wingdings" panose="05000000000000000000" pitchFamily="2" charset="2"/>
              <a:buChar char="§"/>
              <a:defRPr/>
            </a:pPr>
            <a:r>
              <a:rPr lang="en-US" sz="4000" dirty="0">
                <a:latin typeface="Comic Sans MS" pitchFamily="66" charset="0"/>
              </a:rPr>
              <a:t>Written test</a:t>
            </a:r>
          </a:p>
          <a:p>
            <a:pPr marL="1139825" lvl="3" indent="-346075">
              <a:buFont typeface="Wingdings" panose="05000000000000000000" pitchFamily="2" charset="2"/>
              <a:buChar char="§"/>
              <a:defRPr/>
            </a:pPr>
            <a:r>
              <a:rPr lang="en-US" sz="4000" dirty="0">
                <a:latin typeface="Comic Sans MS" pitchFamily="66" charset="0"/>
              </a:rPr>
              <a:t>Assignments/Project</a:t>
            </a:r>
          </a:p>
        </p:txBody>
      </p:sp>
    </p:spTree>
    <p:extLst>
      <p:ext uri="{BB962C8B-B14F-4D97-AF65-F5344CB8AC3E}">
        <p14:creationId xmlns:p14="http://schemas.microsoft.com/office/powerpoint/2010/main" val="295483083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374848" y="1052736"/>
            <a:ext cx="8229600"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r>
              <a:rPr lang="en-US" sz="8800" b="1" kern="0" dirty="0"/>
              <a:t>Week </a:t>
            </a:r>
            <a:r>
              <a:rPr lang="en-US" sz="8800" b="1" kern="0" dirty="0" smtClean="0"/>
              <a:t>11</a:t>
            </a:r>
            <a:endParaRPr lang="en-US" altLang="en-US" sz="8800" kern="0" dirty="0"/>
          </a:p>
        </p:txBody>
      </p:sp>
      <p:sp>
        <p:nvSpPr>
          <p:cNvPr id="3" name="Rectangle 2">
            <a:extLst>
              <a:ext uri="{FF2B5EF4-FFF2-40B4-BE49-F238E27FC236}">
                <a16:creationId xmlns:a16="http://schemas.microsoft.com/office/drawing/2014/main" id="{C43AEFA3-0843-4CFF-AA77-BB416BFA9B54}"/>
              </a:ext>
            </a:extLst>
          </p:cNvPr>
          <p:cNvSpPr txBox="1">
            <a:spLocks noChangeArrowheads="1"/>
          </p:cNvSpPr>
          <p:nvPr/>
        </p:nvSpPr>
        <p:spPr bwMode="auto">
          <a:xfrm>
            <a:off x="374848" y="3212976"/>
            <a:ext cx="8382000" cy="1584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pPr marL="14288">
              <a:lnSpc>
                <a:spcPct val="150000"/>
              </a:lnSpc>
            </a:pPr>
            <a:r>
              <a:rPr lang="en-US" sz="2800" b="1" dirty="0" smtClean="0">
                <a:latin typeface="Times New Roman" panose="02020603050405020304" pitchFamily="18" charset="0"/>
                <a:cs typeface="Times New Roman" panose="02020603050405020304" pitchFamily="18" charset="0"/>
              </a:rPr>
              <a:t>WEB BASED APPLICATION AND INFORMATION SYSTEMS IN THE ENTERPRISE</a:t>
            </a:r>
            <a:endParaRPr lang="en-US"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510613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488975"/>
            <a:ext cx="8229600" cy="1139825"/>
          </a:xfrm>
        </p:spPr>
        <p:txBody>
          <a:bodyPr>
            <a:noAutofit/>
          </a:bodyPr>
          <a:lstStyle/>
          <a:p>
            <a:pPr algn="ctr">
              <a:defRPr/>
            </a:pPr>
            <a:r>
              <a:rPr lang="en-US" sz="6000" b="1" dirty="0">
                <a:latin typeface="Comic Sans MS" panose="030F0702030302020204" pitchFamily="66" charset="0"/>
              </a:rPr>
              <a:t>Presentation Outline</a:t>
            </a:r>
            <a:r>
              <a:rPr lang="en-GB" sz="6000" b="1" dirty="0">
                <a:latin typeface="Comic Sans MS" panose="030F0702030302020204" pitchFamily="66" charset="0"/>
              </a:rPr>
              <a:t>  </a:t>
            </a:r>
          </a:p>
        </p:txBody>
      </p:sp>
      <p:sp>
        <p:nvSpPr>
          <p:cNvPr id="5" name="Rectangle 3"/>
          <p:cNvSpPr txBox="1">
            <a:spLocks noChangeArrowheads="1"/>
          </p:cNvSpPr>
          <p:nvPr/>
        </p:nvSpPr>
        <p:spPr bwMode="auto">
          <a:xfrm>
            <a:off x="611560" y="1484784"/>
            <a:ext cx="7776864" cy="4889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buFont typeface="Wingdings" panose="05000000000000000000" pitchFamily="2" charset="2"/>
              <a:buChar char="q"/>
            </a:pPr>
            <a:r>
              <a:rPr lang="en-US" sz="2000" b="1" dirty="0"/>
              <a:t>How Web-Based Application Work</a:t>
            </a:r>
          </a:p>
          <a:p>
            <a:pPr>
              <a:lnSpc>
                <a:spcPct val="200000"/>
              </a:lnSpc>
              <a:buFont typeface="Wingdings" panose="05000000000000000000" pitchFamily="2" charset="2"/>
              <a:buChar char="q"/>
            </a:pPr>
            <a:r>
              <a:rPr lang="en-US" sz="2000" b="1" dirty="0"/>
              <a:t>Procedures of Using Web-Based Application</a:t>
            </a:r>
          </a:p>
          <a:p>
            <a:pPr>
              <a:lnSpc>
                <a:spcPct val="200000"/>
              </a:lnSpc>
              <a:buFont typeface="Wingdings" panose="05000000000000000000" pitchFamily="2" charset="2"/>
              <a:buChar char="q"/>
            </a:pPr>
            <a:r>
              <a:rPr lang="en-US" sz="2000" b="1" dirty="0"/>
              <a:t>Forces behind Web-Enabled </a:t>
            </a:r>
            <a:r>
              <a:rPr lang="en-US" sz="2000" b="1" dirty="0" smtClean="0"/>
              <a:t>Systems</a:t>
            </a:r>
            <a:endParaRPr lang="en-US" sz="2000" b="1" dirty="0"/>
          </a:p>
        </p:txBody>
      </p:sp>
    </p:spTree>
    <p:extLst>
      <p:ext uri="{BB962C8B-B14F-4D97-AF65-F5344CB8AC3E}">
        <p14:creationId xmlns:p14="http://schemas.microsoft.com/office/powerpoint/2010/main" val="181855445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r>
              <a:rPr lang="en-US" sz="4000" b="1" dirty="0"/>
              <a:t>APPLICATION SERVICE PROVIDER (ASPS)</a:t>
            </a:r>
          </a:p>
        </p:txBody>
      </p:sp>
      <p:sp>
        <p:nvSpPr>
          <p:cNvPr id="5" name="Rectangle 3"/>
          <p:cNvSpPr txBox="1">
            <a:spLocks noChangeArrowheads="1"/>
          </p:cNvSpPr>
          <p:nvPr/>
        </p:nvSpPr>
        <p:spPr bwMode="auto">
          <a:xfrm>
            <a:off x="467544" y="1440160"/>
            <a:ext cx="8147248" cy="458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100" dirty="0" smtClean="0">
                <a:latin typeface="Times New Roman" panose="02020603050405020304" pitchFamily="18" charset="0"/>
                <a:cs typeface="Times New Roman" panose="02020603050405020304" pitchFamily="18" charset="0"/>
              </a:rPr>
              <a:t>Special </a:t>
            </a:r>
            <a:r>
              <a:rPr lang="en-US" sz="2100" dirty="0">
                <a:latin typeface="Times New Roman" panose="02020603050405020304" pitchFamily="18" charset="0"/>
                <a:cs typeface="Times New Roman" panose="02020603050405020304" pitchFamily="18" charset="0"/>
              </a:rPr>
              <a:t>web sites, called Application Service Providers (ASPs), allow access to </a:t>
            </a:r>
            <a:r>
              <a:rPr lang="en-US" sz="2100" dirty="0" smtClean="0">
                <a:latin typeface="Times New Roman" panose="02020603050405020304" pitchFamily="18" charset="0"/>
                <a:cs typeface="Times New Roman" panose="02020603050405020304" pitchFamily="18" charset="0"/>
              </a:rPr>
              <a:t>their application </a:t>
            </a:r>
            <a:r>
              <a:rPr lang="en-US" sz="2100" dirty="0">
                <a:latin typeface="Times New Roman" panose="02020603050405020304" pitchFamily="18" charset="0"/>
                <a:cs typeface="Times New Roman" panose="02020603050405020304" pitchFamily="18" charset="0"/>
              </a:rPr>
              <a:t>programs. </a:t>
            </a:r>
            <a:endParaRPr lang="en-US" sz="2100" dirty="0" smtClean="0">
              <a:latin typeface="Times New Roman" panose="02020603050405020304" pitchFamily="18" charset="0"/>
              <a:cs typeface="Times New Roman" panose="02020603050405020304" pitchFamily="18" charset="0"/>
            </a:endParaRPr>
          </a:p>
          <a:p>
            <a:pPr>
              <a:lnSpc>
                <a:spcPct val="150000"/>
              </a:lnSpc>
            </a:pPr>
            <a:r>
              <a:rPr lang="en-US" sz="2100" dirty="0" smtClean="0">
                <a:latin typeface="Times New Roman" panose="02020603050405020304" pitchFamily="18" charset="0"/>
                <a:cs typeface="Times New Roman" panose="02020603050405020304" pitchFamily="18" charset="0"/>
              </a:rPr>
              <a:t>To </a:t>
            </a:r>
            <a:r>
              <a:rPr lang="en-US" sz="2100" dirty="0">
                <a:latin typeface="Times New Roman" panose="02020603050405020304" pitchFamily="18" charset="0"/>
                <a:cs typeface="Times New Roman" panose="02020603050405020304" pitchFamily="18" charset="0"/>
              </a:rPr>
              <a:t>use one of these Web-based applications, you would connect to </a:t>
            </a:r>
            <a:r>
              <a:rPr lang="en-US" sz="2100" dirty="0" smtClean="0">
                <a:latin typeface="Times New Roman" panose="02020603050405020304" pitchFamily="18" charset="0"/>
                <a:cs typeface="Times New Roman" panose="02020603050405020304" pitchFamily="18" charset="0"/>
              </a:rPr>
              <a:t>the ASP</a:t>
            </a:r>
            <a:r>
              <a:rPr lang="en-US" sz="2100" dirty="0">
                <a:latin typeface="Times New Roman" panose="02020603050405020304" pitchFamily="18" charset="0"/>
                <a:cs typeface="Times New Roman" panose="02020603050405020304" pitchFamily="18" charset="0"/>
              </a:rPr>
              <a:t>, copy the application program to your computer system’s memory, and then run </a:t>
            </a:r>
            <a:r>
              <a:rPr lang="en-US" sz="2100" dirty="0" smtClean="0">
                <a:latin typeface="Times New Roman" panose="02020603050405020304" pitchFamily="18" charset="0"/>
                <a:cs typeface="Times New Roman" panose="02020603050405020304" pitchFamily="18" charset="0"/>
              </a:rPr>
              <a:t>the application</a:t>
            </a:r>
            <a:r>
              <a:rPr lang="en-US" sz="2100" dirty="0">
                <a:latin typeface="Times New Roman" panose="02020603050405020304" pitchFamily="18" charset="0"/>
                <a:cs typeface="Times New Roman" panose="02020603050405020304" pitchFamily="18" charset="0"/>
              </a:rPr>
              <a:t>. </a:t>
            </a:r>
            <a:endParaRPr lang="en-US" sz="2100" dirty="0" smtClean="0">
              <a:latin typeface="Times New Roman" panose="02020603050405020304" pitchFamily="18" charset="0"/>
              <a:cs typeface="Times New Roman" panose="02020603050405020304" pitchFamily="18" charset="0"/>
            </a:endParaRPr>
          </a:p>
          <a:p>
            <a:pPr>
              <a:lnSpc>
                <a:spcPct val="150000"/>
              </a:lnSpc>
            </a:pPr>
            <a:r>
              <a:rPr lang="en-US" sz="2100" dirty="0" smtClean="0">
                <a:latin typeface="Times New Roman" panose="02020603050405020304" pitchFamily="18" charset="0"/>
                <a:cs typeface="Times New Roman" panose="02020603050405020304" pitchFamily="18" charset="0"/>
              </a:rPr>
              <a:t>Most </a:t>
            </a:r>
            <a:r>
              <a:rPr lang="en-US" sz="2100" dirty="0">
                <a:latin typeface="Times New Roman" panose="02020603050405020304" pitchFamily="18" charset="0"/>
                <a:cs typeface="Times New Roman" panose="02020603050405020304" pitchFamily="18" charset="0"/>
              </a:rPr>
              <a:t>ASPs provide access to a wide range of application programs and charge </a:t>
            </a:r>
            <a:r>
              <a:rPr lang="en-US" sz="2100" dirty="0" smtClean="0">
                <a:latin typeface="Times New Roman" panose="02020603050405020304" pitchFamily="18" charset="0"/>
                <a:cs typeface="Times New Roman" panose="02020603050405020304" pitchFamily="18" charset="0"/>
              </a:rPr>
              <a:t>a fee </a:t>
            </a:r>
            <a:r>
              <a:rPr lang="en-US" sz="2100" dirty="0">
                <a:latin typeface="Times New Roman" panose="02020603050405020304" pitchFamily="18" charset="0"/>
                <a:cs typeface="Times New Roman" panose="02020603050405020304" pitchFamily="18" charset="0"/>
              </a:rPr>
              <a:t>for their services</a:t>
            </a:r>
            <a:endParaRPr lang="en-US" sz="21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266413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r>
              <a:rPr lang="en-US" sz="4000" b="1" dirty="0"/>
              <a:t>HOW WEB-BASED APPLICATION WORK</a:t>
            </a:r>
          </a:p>
        </p:txBody>
      </p:sp>
      <p:sp>
        <p:nvSpPr>
          <p:cNvPr id="5" name="Rectangle 3"/>
          <p:cNvSpPr txBox="1">
            <a:spLocks noChangeArrowheads="1"/>
          </p:cNvSpPr>
          <p:nvPr/>
        </p:nvSpPr>
        <p:spPr bwMode="auto">
          <a:xfrm>
            <a:off x="467544" y="1440160"/>
            <a:ext cx="8147248" cy="458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b="1" dirty="0" smtClean="0">
                <a:latin typeface="Times New Roman" panose="02020603050405020304" pitchFamily="18" charset="0"/>
                <a:cs typeface="Times New Roman" panose="02020603050405020304" pitchFamily="18" charset="0"/>
              </a:rPr>
              <a:t>Step </a:t>
            </a:r>
            <a:r>
              <a:rPr lang="en-US" b="1" dirty="0">
                <a:latin typeface="Times New Roman" panose="02020603050405020304" pitchFamily="18" charset="0"/>
                <a:cs typeface="Times New Roman" panose="02020603050405020304" pitchFamily="18" charset="0"/>
              </a:rPr>
              <a:t>1: </a:t>
            </a:r>
            <a:r>
              <a:rPr lang="en-US" b="1" dirty="0" smtClean="0">
                <a:latin typeface="Times New Roman" panose="02020603050405020304" pitchFamily="18" charset="0"/>
                <a:cs typeface="Times New Roman" panose="02020603050405020304" pitchFamily="18" charset="0"/>
              </a:rPr>
              <a:t>Connect</a:t>
            </a:r>
          </a:p>
          <a:p>
            <a:pPr>
              <a:lnSpc>
                <a:spcPct val="200000"/>
              </a:lnSpc>
            </a:pPr>
            <a:r>
              <a:rPr lang="en-US" b="1" dirty="0">
                <a:latin typeface="Times New Roman" panose="02020603050405020304" pitchFamily="18" charset="0"/>
                <a:cs typeface="Times New Roman" panose="02020603050405020304" pitchFamily="18" charset="0"/>
              </a:rPr>
              <a:t>Step 2: </a:t>
            </a:r>
            <a:r>
              <a:rPr lang="en-US" b="1" dirty="0" smtClean="0">
                <a:latin typeface="Times New Roman" panose="02020603050405020304" pitchFamily="18" charset="0"/>
                <a:cs typeface="Times New Roman" panose="02020603050405020304" pitchFamily="18" charset="0"/>
              </a:rPr>
              <a:t>Download</a:t>
            </a:r>
          </a:p>
          <a:p>
            <a:pPr>
              <a:lnSpc>
                <a:spcPct val="200000"/>
              </a:lnSpc>
            </a:pPr>
            <a:r>
              <a:rPr lang="en-US" b="1" dirty="0">
                <a:latin typeface="Times New Roman" panose="02020603050405020304" pitchFamily="18" charset="0"/>
                <a:cs typeface="Times New Roman" panose="02020603050405020304" pitchFamily="18" charset="0"/>
              </a:rPr>
              <a:t>Step 3: </a:t>
            </a:r>
            <a:r>
              <a:rPr lang="en-US" b="1" dirty="0" smtClean="0">
                <a:latin typeface="Times New Roman" panose="02020603050405020304" pitchFamily="18" charset="0"/>
                <a:cs typeface="Times New Roman" panose="02020603050405020304" pitchFamily="18" charset="0"/>
              </a:rPr>
              <a:t>Run</a:t>
            </a:r>
          </a:p>
          <a:p>
            <a:pPr>
              <a:lnSpc>
                <a:spcPct val="200000"/>
              </a:lnSpc>
            </a:pPr>
            <a:r>
              <a:rPr lang="en-US" b="1" dirty="0">
                <a:latin typeface="Times New Roman" panose="02020603050405020304" pitchFamily="18" charset="0"/>
                <a:cs typeface="Times New Roman" panose="02020603050405020304" pitchFamily="18" charset="0"/>
              </a:rPr>
              <a:t>Step 4: Save and </a:t>
            </a:r>
            <a:r>
              <a:rPr lang="en-US" b="1" dirty="0" smtClean="0">
                <a:latin typeface="Times New Roman" panose="02020603050405020304" pitchFamily="18" charset="0"/>
                <a:cs typeface="Times New Roman" panose="02020603050405020304" pitchFamily="18" charset="0"/>
              </a:rPr>
              <a:t>Exit</a:t>
            </a:r>
          </a:p>
          <a:p>
            <a:pPr>
              <a:lnSpc>
                <a:spcPct val="200000"/>
              </a:lnSpc>
            </a:pPr>
            <a:r>
              <a:rPr lang="en-US" b="1" dirty="0">
                <a:latin typeface="Times New Roman" panose="02020603050405020304" pitchFamily="18" charset="0"/>
                <a:cs typeface="Times New Roman" panose="02020603050405020304" pitchFamily="18" charset="0"/>
              </a:rPr>
              <a:t>Step 5: Remove Application</a:t>
            </a:r>
            <a:endParaRPr lang="en-US" sz="21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321506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r>
              <a:rPr lang="en-US" sz="8800" b="1" dirty="0"/>
              <a:t>Step 1: Connect</a:t>
            </a:r>
          </a:p>
        </p:txBody>
      </p:sp>
      <p:sp>
        <p:nvSpPr>
          <p:cNvPr id="5" name="Rectangle 3"/>
          <p:cNvSpPr txBox="1">
            <a:spLocks noChangeArrowheads="1"/>
          </p:cNvSpPr>
          <p:nvPr/>
        </p:nvSpPr>
        <p:spPr bwMode="auto">
          <a:xfrm>
            <a:off x="467544" y="1440160"/>
            <a:ext cx="8147248" cy="458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300" dirty="0" smtClean="0">
                <a:latin typeface="Times New Roman" panose="02020603050405020304" pitchFamily="18" charset="0"/>
                <a:cs typeface="Times New Roman" panose="02020603050405020304" pitchFamily="18" charset="0"/>
              </a:rPr>
              <a:t>The </a:t>
            </a:r>
            <a:r>
              <a:rPr lang="en-US" sz="2300" dirty="0">
                <a:latin typeface="Times New Roman" panose="02020603050405020304" pitchFamily="18" charset="0"/>
                <a:cs typeface="Times New Roman" panose="02020603050405020304" pitchFamily="18" charset="0"/>
              </a:rPr>
              <a:t>user connects to a Web-site known as application service provider (ASPs). </a:t>
            </a:r>
            <a:endParaRPr lang="en-US" sz="2300" dirty="0" smtClean="0">
              <a:latin typeface="Times New Roman" panose="02020603050405020304" pitchFamily="18" charset="0"/>
              <a:cs typeface="Times New Roman" panose="02020603050405020304" pitchFamily="18" charset="0"/>
            </a:endParaRPr>
          </a:p>
          <a:p>
            <a:pPr>
              <a:lnSpc>
                <a:spcPct val="150000"/>
              </a:lnSpc>
            </a:pPr>
            <a:r>
              <a:rPr lang="en-US" sz="2300" dirty="0" smtClean="0">
                <a:latin typeface="Times New Roman" panose="02020603050405020304" pitchFamily="18" charset="0"/>
                <a:cs typeface="Times New Roman" panose="02020603050405020304" pitchFamily="18" charset="0"/>
              </a:rPr>
              <a:t>While some ASPs </a:t>
            </a:r>
            <a:r>
              <a:rPr lang="en-US" sz="2300" dirty="0">
                <a:latin typeface="Times New Roman" panose="02020603050405020304" pitchFamily="18" charset="0"/>
                <a:cs typeface="Times New Roman" panose="02020603050405020304" pitchFamily="18" charset="0"/>
              </a:rPr>
              <a:t>are free, most charge a fee to access and to use their applications. </a:t>
            </a:r>
            <a:endParaRPr lang="en-US" sz="2300" dirty="0" smtClean="0">
              <a:latin typeface="Times New Roman" panose="02020603050405020304" pitchFamily="18" charset="0"/>
              <a:cs typeface="Times New Roman" panose="02020603050405020304" pitchFamily="18" charset="0"/>
            </a:endParaRPr>
          </a:p>
          <a:p>
            <a:pPr>
              <a:lnSpc>
                <a:spcPct val="150000"/>
              </a:lnSpc>
            </a:pPr>
            <a:r>
              <a:rPr lang="en-US" sz="2300" dirty="0" smtClean="0">
                <a:latin typeface="Times New Roman" panose="02020603050405020304" pitchFamily="18" charset="0"/>
                <a:cs typeface="Times New Roman" panose="02020603050405020304" pitchFamily="18" charset="0"/>
              </a:rPr>
              <a:t>These applications may </a:t>
            </a:r>
            <a:r>
              <a:rPr lang="en-US" sz="2300" dirty="0">
                <a:latin typeface="Times New Roman" panose="02020603050405020304" pitchFamily="18" charset="0"/>
                <a:cs typeface="Times New Roman" panose="02020603050405020304" pitchFamily="18" charset="0"/>
              </a:rPr>
              <a:t>be general purpose application such as Microsoft Office applications or specialized</a:t>
            </a:r>
          </a:p>
          <a:p>
            <a:pPr>
              <a:lnSpc>
                <a:spcPct val="150000"/>
              </a:lnSpc>
            </a:pPr>
            <a:r>
              <a:rPr lang="en-US" sz="2300" dirty="0">
                <a:latin typeface="Times New Roman" panose="02020603050405020304" pitchFamily="18" charset="0"/>
                <a:cs typeface="Times New Roman" panose="02020603050405020304" pitchFamily="18" charset="0"/>
              </a:rPr>
              <a:t>applications such as Web authoring programs. </a:t>
            </a:r>
            <a:endParaRPr lang="en-US" sz="2300" dirty="0" smtClean="0">
              <a:latin typeface="Times New Roman" panose="02020603050405020304" pitchFamily="18" charset="0"/>
              <a:cs typeface="Times New Roman" panose="02020603050405020304" pitchFamily="18" charset="0"/>
            </a:endParaRPr>
          </a:p>
          <a:p>
            <a:pPr>
              <a:lnSpc>
                <a:spcPct val="150000"/>
              </a:lnSpc>
            </a:pPr>
            <a:r>
              <a:rPr lang="en-US" sz="2300" dirty="0" smtClean="0">
                <a:latin typeface="Times New Roman" panose="02020603050405020304" pitchFamily="18" charset="0"/>
                <a:cs typeface="Times New Roman" panose="02020603050405020304" pitchFamily="18" charset="0"/>
              </a:rPr>
              <a:t>The </a:t>
            </a:r>
            <a:r>
              <a:rPr lang="en-US" sz="2300" dirty="0">
                <a:latin typeface="Times New Roman" panose="02020603050405020304" pitchFamily="18" charset="0"/>
                <a:cs typeface="Times New Roman" panose="02020603050405020304" pitchFamily="18" charset="0"/>
              </a:rPr>
              <a:t>user then requests a specific application </a:t>
            </a:r>
            <a:r>
              <a:rPr lang="en-US" sz="2300" dirty="0" smtClean="0">
                <a:latin typeface="Times New Roman" panose="02020603050405020304" pitchFamily="18" charset="0"/>
                <a:cs typeface="Times New Roman" panose="02020603050405020304" pitchFamily="18" charset="0"/>
              </a:rPr>
              <a:t>to use</a:t>
            </a:r>
            <a:r>
              <a:rPr lang="en-US" sz="2300" dirty="0">
                <a:latin typeface="Times New Roman" panose="02020603050405020304" pitchFamily="18" charset="0"/>
                <a:cs typeface="Times New Roman" panose="02020603050405020304" pitchFamily="18" charset="0"/>
              </a:rPr>
              <a:t>.</a:t>
            </a:r>
            <a:endParaRPr lang="en-US" sz="23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219107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r>
              <a:rPr lang="en-US" sz="8000" b="1" dirty="0">
                <a:latin typeface="Times New Roman" panose="02020603050405020304" pitchFamily="18" charset="0"/>
                <a:cs typeface="Times New Roman" panose="02020603050405020304" pitchFamily="18" charset="0"/>
              </a:rPr>
              <a:t>Step 2: Download</a:t>
            </a:r>
          </a:p>
        </p:txBody>
      </p:sp>
      <p:sp>
        <p:nvSpPr>
          <p:cNvPr id="5" name="Rectangle 3"/>
          <p:cNvSpPr txBox="1">
            <a:spLocks noChangeArrowheads="1"/>
          </p:cNvSpPr>
          <p:nvPr/>
        </p:nvSpPr>
        <p:spPr bwMode="auto">
          <a:xfrm>
            <a:off x="467544" y="1440160"/>
            <a:ext cx="8147248" cy="458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2300" dirty="0" smtClean="0">
                <a:latin typeface="Times New Roman" panose="02020603050405020304" pitchFamily="18" charset="0"/>
                <a:cs typeface="Times New Roman" panose="02020603050405020304" pitchFamily="18" charset="0"/>
              </a:rPr>
              <a:t>The </a:t>
            </a:r>
            <a:r>
              <a:rPr lang="en-US" sz="2300" dirty="0">
                <a:latin typeface="Times New Roman" panose="02020603050405020304" pitchFamily="18" charset="0"/>
                <a:cs typeface="Times New Roman" panose="02020603050405020304" pitchFamily="18" charset="0"/>
              </a:rPr>
              <a:t>Application Service Provider (ASP) downloads or sends a copy of all or part of </a:t>
            </a:r>
            <a:r>
              <a:rPr lang="en-US" sz="2300" dirty="0" smtClean="0">
                <a:latin typeface="Times New Roman" panose="02020603050405020304" pitchFamily="18" charset="0"/>
                <a:cs typeface="Times New Roman" panose="02020603050405020304" pitchFamily="18" charset="0"/>
              </a:rPr>
              <a:t>the requested </a:t>
            </a:r>
            <a:r>
              <a:rPr lang="en-US" sz="2300" dirty="0">
                <a:latin typeface="Times New Roman" panose="02020603050405020304" pitchFamily="18" charset="0"/>
                <a:cs typeface="Times New Roman" panose="02020603050405020304" pitchFamily="18" charset="0"/>
              </a:rPr>
              <a:t>application to the user. </a:t>
            </a:r>
            <a:endParaRPr lang="en-US" sz="2300" dirty="0" smtClean="0">
              <a:latin typeface="Times New Roman" panose="02020603050405020304" pitchFamily="18" charset="0"/>
              <a:cs typeface="Times New Roman" panose="02020603050405020304" pitchFamily="18" charset="0"/>
            </a:endParaRPr>
          </a:p>
          <a:p>
            <a:pPr>
              <a:lnSpc>
                <a:spcPct val="200000"/>
              </a:lnSpc>
            </a:pPr>
            <a:r>
              <a:rPr lang="en-US" sz="2300" dirty="0" smtClean="0">
                <a:latin typeface="Times New Roman" panose="02020603050405020304" pitchFamily="18" charset="0"/>
                <a:cs typeface="Times New Roman" panose="02020603050405020304" pitchFamily="18" charset="0"/>
              </a:rPr>
              <a:t>This </a:t>
            </a:r>
            <a:r>
              <a:rPr lang="en-US" sz="2300" dirty="0">
                <a:latin typeface="Times New Roman" panose="02020603050405020304" pitchFamily="18" charset="0"/>
                <a:cs typeface="Times New Roman" panose="02020603050405020304" pitchFamily="18" charset="0"/>
              </a:rPr>
              <a:t>copy is stored unto the user’s hard disk drive and </a:t>
            </a:r>
            <a:r>
              <a:rPr lang="en-US" sz="2300" dirty="0" smtClean="0">
                <a:latin typeface="Times New Roman" panose="02020603050405020304" pitchFamily="18" charset="0"/>
                <a:cs typeface="Times New Roman" panose="02020603050405020304" pitchFamily="18" charset="0"/>
              </a:rPr>
              <a:t>is ready </a:t>
            </a:r>
            <a:r>
              <a:rPr lang="en-US" sz="2300" dirty="0">
                <a:latin typeface="Times New Roman" panose="02020603050405020304" pitchFamily="18" charset="0"/>
                <a:cs typeface="Times New Roman" panose="02020603050405020304" pitchFamily="18" charset="0"/>
              </a:rPr>
              <a:t>to be run. </a:t>
            </a:r>
            <a:endParaRPr lang="en-US" sz="2300" dirty="0" smtClean="0">
              <a:latin typeface="Times New Roman" panose="02020603050405020304" pitchFamily="18" charset="0"/>
              <a:cs typeface="Times New Roman" panose="02020603050405020304" pitchFamily="18" charset="0"/>
            </a:endParaRPr>
          </a:p>
          <a:p>
            <a:pPr>
              <a:lnSpc>
                <a:spcPct val="200000"/>
              </a:lnSpc>
            </a:pPr>
            <a:r>
              <a:rPr lang="en-US" sz="2300" dirty="0" smtClean="0">
                <a:latin typeface="Times New Roman" panose="02020603050405020304" pitchFamily="18" charset="0"/>
                <a:cs typeface="Times New Roman" panose="02020603050405020304" pitchFamily="18" charset="0"/>
              </a:rPr>
              <a:t>The </a:t>
            </a:r>
            <a:r>
              <a:rPr lang="en-US" sz="2300" dirty="0">
                <a:latin typeface="Times New Roman" panose="02020603050405020304" pitchFamily="18" charset="0"/>
                <a:cs typeface="Times New Roman" panose="02020603050405020304" pitchFamily="18" charset="0"/>
              </a:rPr>
              <a:t>copy will remain their either for a specific period of time or until </a:t>
            </a:r>
            <a:r>
              <a:rPr lang="en-US" sz="2300" dirty="0" smtClean="0">
                <a:latin typeface="Times New Roman" panose="02020603050405020304" pitchFamily="18" charset="0"/>
                <a:cs typeface="Times New Roman" panose="02020603050405020304" pitchFamily="18" charset="0"/>
              </a:rPr>
              <a:t>the user </a:t>
            </a:r>
            <a:r>
              <a:rPr lang="en-US" sz="2300" dirty="0">
                <a:latin typeface="Times New Roman" panose="02020603050405020304" pitchFamily="18" charset="0"/>
                <a:cs typeface="Times New Roman" panose="02020603050405020304" pitchFamily="18" charset="0"/>
              </a:rPr>
              <a:t>runs and then exits the program</a:t>
            </a:r>
            <a:r>
              <a:rPr lang="en-US" sz="2300" dirty="0" smtClean="0">
                <a:latin typeface="Times New Roman" panose="02020603050405020304" pitchFamily="18" charset="0"/>
                <a:cs typeface="Times New Roman" panose="02020603050405020304" pitchFamily="18" charset="0"/>
              </a:rPr>
              <a:t>.</a:t>
            </a:r>
            <a:endParaRPr lang="en-US"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495858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lnSpc>
                <a:spcPct val="150000"/>
              </a:lnSpc>
            </a:pPr>
            <a:r>
              <a:rPr lang="en-US" sz="8000" b="1" dirty="0">
                <a:latin typeface="Times New Roman" panose="02020603050405020304" pitchFamily="18" charset="0"/>
                <a:cs typeface="Times New Roman" panose="02020603050405020304" pitchFamily="18" charset="0"/>
              </a:rPr>
              <a:t>Step 3: Run</a:t>
            </a:r>
          </a:p>
        </p:txBody>
      </p:sp>
      <p:sp>
        <p:nvSpPr>
          <p:cNvPr id="5" name="Rectangle 3"/>
          <p:cNvSpPr txBox="1">
            <a:spLocks noChangeArrowheads="1"/>
          </p:cNvSpPr>
          <p:nvPr/>
        </p:nvSpPr>
        <p:spPr bwMode="auto">
          <a:xfrm>
            <a:off x="467544" y="1440160"/>
            <a:ext cx="8147248" cy="458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50000"/>
              </a:lnSpc>
            </a:pPr>
            <a:r>
              <a:rPr lang="en-US" sz="2300" dirty="0" smtClean="0">
                <a:latin typeface="Times New Roman" panose="02020603050405020304" pitchFamily="18" charset="0"/>
                <a:cs typeface="Times New Roman" panose="02020603050405020304" pitchFamily="18" charset="0"/>
              </a:rPr>
              <a:t>The </a:t>
            </a:r>
            <a:r>
              <a:rPr lang="en-US" sz="2300" dirty="0">
                <a:latin typeface="Times New Roman" panose="02020603050405020304" pitchFamily="18" charset="0"/>
                <a:cs typeface="Times New Roman" panose="02020603050405020304" pitchFamily="18" charset="0"/>
              </a:rPr>
              <a:t>user runs the application form his hard disk drive. </a:t>
            </a:r>
            <a:endParaRPr lang="en-US" sz="2300" dirty="0" smtClean="0">
              <a:latin typeface="Times New Roman" panose="02020603050405020304" pitchFamily="18" charset="0"/>
              <a:cs typeface="Times New Roman" panose="02020603050405020304" pitchFamily="18" charset="0"/>
            </a:endParaRPr>
          </a:p>
          <a:p>
            <a:pPr>
              <a:lnSpc>
                <a:spcPct val="250000"/>
              </a:lnSpc>
            </a:pPr>
            <a:r>
              <a:rPr lang="en-US" sz="2300" dirty="0" smtClean="0">
                <a:latin typeface="Times New Roman" panose="02020603050405020304" pitchFamily="18" charset="0"/>
                <a:cs typeface="Times New Roman" panose="02020603050405020304" pitchFamily="18" charset="0"/>
              </a:rPr>
              <a:t>For </a:t>
            </a:r>
            <a:r>
              <a:rPr lang="en-US" sz="2300" dirty="0">
                <a:latin typeface="Times New Roman" panose="02020603050405020304" pitchFamily="18" charset="0"/>
                <a:cs typeface="Times New Roman" panose="02020603050405020304" pitchFamily="18" charset="0"/>
              </a:rPr>
              <a:t>example a user might </a:t>
            </a:r>
            <a:r>
              <a:rPr lang="en-US" sz="2300" dirty="0" smtClean="0">
                <a:latin typeface="Times New Roman" panose="02020603050405020304" pitchFamily="18" charset="0"/>
                <a:cs typeface="Times New Roman" panose="02020603050405020304" pitchFamily="18" charset="0"/>
              </a:rPr>
              <a:t>download Microsoft </a:t>
            </a:r>
            <a:r>
              <a:rPr lang="en-US" sz="2300" dirty="0">
                <a:latin typeface="Times New Roman" panose="02020603050405020304" pitchFamily="18" charset="0"/>
                <a:cs typeface="Times New Roman" panose="02020603050405020304" pitchFamily="18" charset="0"/>
              </a:rPr>
              <a:t>Word document and use it to create a document</a:t>
            </a:r>
            <a:r>
              <a:rPr lang="en-US" sz="2300" dirty="0" smtClean="0">
                <a:latin typeface="Times New Roman" panose="02020603050405020304" pitchFamily="18" charset="0"/>
                <a:cs typeface="Times New Roman" panose="02020603050405020304" pitchFamily="18" charset="0"/>
              </a:rPr>
              <a:t>.</a:t>
            </a:r>
            <a:endParaRPr lang="en-US"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4797101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lnSpc>
                <a:spcPct val="150000"/>
              </a:lnSpc>
            </a:pPr>
            <a:r>
              <a:rPr lang="en-US" sz="6600" b="1" dirty="0">
                <a:latin typeface="Times New Roman" panose="02020603050405020304" pitchFamily="18" charset="0"/>
                <a:cs typeface="Times New Roman" panose="02020603050405020304" pitchFamily="18" charset="0"/>
              </a:rPr>
              <a:t>Step 4: Save and Exit</a:t>
            </a:r>
          </a:p>
        </p:txBody>
      </p:sp>
      <p:sp>
        <p:nvSpPr>
          <p:cNvPr id="5" name="Rectangle 3"/>
          <p:cNvSpPr txBox="1">
            <a:spLocks noChangeArrowheads="1"/>
          </p:cNvSpPr>
          <p:nvPr/>
        </p:nvSpPr>
        <p:spPr bwMode="auto">
          <a:xfrm>
            <a:off x="467544" y="1440160"/>
            <a:ext cx="8147248" cy="458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50000"/>
              </a:lnSpc>
            </a:pPr>
            <a:r>
              <a:rPr lang="en-US" sz="2300" dirty="0" smtClean="0">
                <a:latin typeface="Times New Roman" panose="02020603050405020304" pitchFamily="18" charset="0"/>
                <a:cs typeface="Times New Roman" panose="02020603050405020304" pitchFamily="18" charset="0"/>
              </a:rPr>
              <a:t>When </a:t>
            </a:r>
            <a:r>
              <a:rPr lang="en-US" sz="2300" dirty="0">
                <a:latin typeface="Times New Roman" panose="02020603050405020304" pitchFamily="18" charset="0"/>
                <a:cs typeface="Times New Roman" panose="02020603050405020304" pitchFamily="18" charset="0"/>
              </a:rPr>
              <a:t>the user has completed work with the application, the created files can be saved on </a:t>
            </a:r>
            <a:r>
              <a:rPr lang="en-US" sz="2300" dirty="0" smtClean="0">
                <a:latin typeface="Times New Roman" panose="02020603050405020304" pitchFamily="18" charset="0"/>
                <a:cs typeface="Times New Roman" panose="02020603050405020304" pitchFamily="18" charset="0"/>
              </a:rPr>
              <a:t>the user’s </a:t>
            </a:r>
            <a:r>
              <a:rPr lang="en-US" sz="2300" dirty="0">
                <a:latin typeface="Times New Roman" panose="02020603050405020304" pitchFamily="18" charset="0"/>
                <a:cs typeface="Times New Roman" panose="02020603050405020304" pitchFamily="18" charset="0"/>
              </a:rPr>
              <a:t>computer system and/or at the ASP. </a:t>
            </a:r>
            <a:endParaRPr lang="en-US" sz="2300" dirty="0" smtClean="0">
              <a:latin typeface="Times New Roman" panose="02020603050405020304" pitchFamily="18" charset="0"/>
              <a:cs typeface="Times New Roman" panose="02020603050405020304" pitchFamily="18" charset="0"/>
            </a:endParaRPr>
          </a:p>
          <a:p>
            <a:pPr>
              <a:lnSpc>
                <a:spcPct val="250000"/>
              </a:lnSpc>
            </a:pPr>
            <a:r>
              <a:rPr lang="en-US" sz="2300" dirty="0" smtClean="0">
                <a:latin typeface="Times New Roman" panose="02020603050405020304" pitchFamily="18" charset="0"/>
                <a:cs typeface="Times New Roman" panose="02020603050405020304" pitchFamily="18" charset="0"/>
              </a:rPr>
              <a:t>The </a:t>
            </a:r>
            <a:r>
              <a:rPr lang="en-US" sz="2300" dirty="0">
                <a:latin typeface="Times New Roman" panose="02020603050405020304" pitchFamily="18" charset="0"/>
                <a:cs typeface="Times New Roman" panose="02020603050405020304" pitchFamily="18" charset="0"/>
              </a:rPr>
              <a:t>user then exits the application program</a:t>
            </a:r>
            <a:r>
              <a:rPr lang="en-US" sz="2300" dirty="0" smtClean="0">
                <a:latin typeface="Times New Roman" panose="02020603050405020304" pitchFamily="18" charset="0"/>
                <a:cs typeface="Times New Roman" panose="02020603050405020304" pitchFamily="18" charset="0"/>
              </a:rPr>
              <a:t>.</a:t>
            </a:r>
            <a:endParaRPr lang="en-US"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454508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lnSpc>
                <a:spcPct val="150000"/>
              </a:lnSpc>
            </a:pPr>
            <a:r>
              <a:rPr lang="en-US" sz="4800" b="1" dirty="0">
                <a:latin typeface="Times New Roman" panose="02020603050405020304" pitchFamily="18" charset="0"/>
                <a:cs typeface="Times New Roman" panose="02020603050405020304" pitchFamily="18" charset="0"/>
              </a:rPr>
              <a:t>Step 5: Remove Application</a:t>
            </a:r>
          </a:p>
        </p:txBody>
      </p:sp>
      <p:sp>
        <p:nvSpPr>
          <p:cNvPr id="5" name="Rectangle 3"/>
          <p:cNvSpPr txBox="1">
            <a:spLocks noChangeArrowheads="1"/>
          </p:cNvSpPr>
          <p:nvPr/>
        </p:nvSpPr>
        <p:spPr bwMode="auto">
          <a:xfrm>
            <a:off x="467544" y="1440160"/>
            <a:ext cx="8147248" cy="458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50000"/>
              </a:lnSpc>
            </a:pPr>
            <a:r>
              <a:rPr lang="en-US" sz="2300" dirty="0" smtClean="0">
                <a:latin typeface="Times New Roman" panose="02020603050405020304" pitchFamily="18" charset="0"/>
                <a:cs typeface="Times New Roman" panose="02020603050405020304" pitchFamily="18" charset="0"/>
              </a:rPr>
              <a:t>Once </a:t>
            </a:r>
            <a:r>
              <a:rPr lang="en-US" sz="2300" dirty="0">
                <a:latin typeface="Times New Roman" panose="02020603050405020304" pitchFamily="18" charset="0"/>
                <a:cs typeface="Times New Roman" panose="02020603050405020304" pitchFamily="18" charset="0"/>
              </a:rPr>
              <a:t>the user has exited the program, the program is automatically erased from his/her </a:t>
            </a:r>
            <a:r>
              <a:rPr lang="en-US" sz="2300" dirty="0" smtClean="0">
                <a:latin typeface="Times New Roman" panose="02020603050405020304" pitchFamily="18" charset="0"/>
                <a:cs typeface="Times New Roman" panose="02020603050405020304" pitchFamily="18" charset="0"/>
              </a:rPr>
              <a:t>hard disk </a:t>
            </a:r>
            <a:r>
              <a:rPr lang="en-US" sz="2300" dirty="0">
                <a:latin typeface="Times New Roman" panose="02020603050405020304" pitchFamily="18" charset="0"/>
                <a:cs typeface="Times New Roman" panose="02020603050405020304" pitchFamily="18" charset="0"/>
              </a:rPr>
              <a:t>and is not available to be run again. </a:t>
            </a:r>
            <a:endParaRPr lang="en-US" sz="2300" dirty="0" smtClean="0">
              <a:latin typeface="Times New Roman" panose="02020603050405020304" pitchFamily="18" charset="0"/>
              <a:cs typeface="Times New Roman" panose="02020603050405020304" pitchFamily="18" charset="0"/>
            </a:endParaRPr>
          </a:p>
          <a:p>
            <a:pPr>
              <a:lnSpc>
                <a:spcPct val="250000"/>
              </a:lnSpc>
            </a:pPr>
            <a:r>
              <a:rPr lang="en-US" sz="2300" dirty="0" smtClean="0">
                <a:latin typeface="Times New Roman" panose="02020603050405020304" pitchFamily="18" charset="0"/>
                <a:cs typeface="Times New Roman" panose="02020603050405020304" pitchFamily="18" charset="0"/>
              </a:rPr>
              <a:t>If </a:t>
            </a:r>
            <a:r>
              <a:rPr lang="en-US" sz="2300" dirty="0">
                <a:latin typeface="Times New Roman" panose="02020603050405020304" pitchFamily="18" charset="0"/>
                <a:cs typeface="Times New Roman" panose="02020603050405020304" pitchFamily="18" charset="0"/>
              </a:rPr>
              <a:t>the user wants to run the program again </a:t>
            </a:r>
            <a:r>
              <a:rPr lang="en-US" sz="2300" dirty="0" smtClean="0">
                <a:latin typeface="Times New Roman" panose="02020603050405020304" pitchFamily="18" charset="0"/>
                <a:cs typeface="Times New Roman" panose="02020603050405020304" pitchFamily="18" charset="0"/>
              </a:rPr>
              <a:t>he/she must </a:t>
            </a:r>
            <a:r>
              <a:rPr lang="en-US" sz="2300" dirty="0">
                <a:latin typeface="Times New Roman" panose="02020603050405020304" pitchFamily="18" charset="0"/>
                <a:cs typeface="Times New Roman" panose="02020603050405020304" pitchFamily="18" charset="0"/>
              </a:rPr>
              <a:t>start again with </a:t>
            </a:r>
            <a:r>
              <a:rPr lang="en-US" sz="2300" b="1" dirty="0">
                <a:latin typeface="Times New Roman" panose="02020603050405020304" pitchFamily="18" charset="0"/>
                <a:cs typeface="Times New Roman" panose="02020603050405020304" pitchFamily="18" charset="0"/>
              </a:rPr>
              <a:t>step 1</a:t>
            </a:r>
            <a:r>
              <a:rPr lang="en-US" sz="2300" dirty="0" smtClean="0">
                <a:latin typeface="Times New Roman" panose="02020603050405020304" pitchFamily="18" charset="0"/>
                <a:cs typeface="Times New Roman" panose="02020603050405020304" pitchFamily="18" charset="0"/>
              </a:rPr>
              <a:t>.</a:t>
            </a:r>
            <a:endParaRPr lang="en-US"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3568921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r>
              <a:rPr lang="en-US" b="1" dirty="0"/>
              <a:t>PROCEDURES OF USING WEB-BASED APPLICATION</a:t>
            </a:r>
            <a:endParaRPr lang="en-US" sz="8800" b="1" dirty="0"/>
          </a:p>
        </p:txBody>
      </p:sp>
      <p:sp>
        <p:nvSpPr>
          <p:cNvPr id="5" name="Rectangle 3"/>
          <p:cNvSpPr txBox="1">
            <a:spLocks noChangeArrowheads="1"/>
          </p:cNvSpPr>
          <p:nvPr/>
        </p:nvSpPr>
        <p:spPr bwMode="auto">
          <a:xfrm>
            <a:off x="467544" y="1440160"/>
            <a:ext cx="8147248" cy="458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2300" b="1" i="1" dirty="0">
                <a:latin typeface="Times New Roman" panose="02020603050405020304" pitchFamily="18" charset="0"/>
                <a:cs typeface="Times New Roman" panose="02020603050405020304" pitchFamily="18" charset="0"/>
              </a:rPr>
              <a:t>Registration: </a:t>
            </a:r>
            <a:endParaRPr lang="en-US" sz="2300" b="1" i="1" dirty="0" smtClean="0">
              <a:latin typeface="Times New Roman" panose="02020603050405020304" pitchFamily="18" charset="0"/>
              <a:cs typeface="Times New Roman" panose="02020603050405020304" pitchFamily="18" charset="0"/>
            </a:endParaRPr>
          </a:p>
          <a:p>
            <a:pPr marL="900113">
              <a:lnSpc>
                <a:spcPct val="200000"/>
              </a:lnSpc>
              <a:buFont typeface="Wingdings" panose="05000000000000000000" pitchFamily="2" charset="2"/>
              <a:buChar char="Ø"/>
            </a:pPr>
            <a:r>
              <a:rPr lang="en-US" sz="2300" dirty="0" smtClean="0">
                <a:latin typeface="Times New Roman" panose="02020603050405020304" pitchFamily="18" charset="0"/>
                <a:cs typeface="Times New Roman" panose="02020603050405020304" pitchFamily="18" charset="0"/>
              </a:rPr>
              <a:t>Several </a:t>
            </a:r>
            <a:r>
              <a:rPr lang="en-US" sz="2300" dirty="0">
                <a:latin typeface="Times New Roman" panose="02020603050405020304" pitchFamily="18" charset="0"/>
                <a:cs typeface="Times New Roman" panose="02020603050405020304" pitchFamily="18" charset="0"/>
              </a:rPr>
              <a:t>ASP sites exist on the Web and some of their services are free. </a:t>
            </a:r>
            <a:endParaRPr lang="en-US" sz="2300" dirty="0" smtClean="0">
              <a:latin typeface="Times New Roman" panose="02020603050405020304" pitchFamily="18" charset="0"/>
              <a:cs typeface="Times New Roman" panose="02020603050405020304" pitchFamily="18" charset="0"/>
            </a:endParaRPr>
          </a:p>
          <a:p>
            <a:pPr marL="900113">
              <a:lnSpc>
                <a:spcPct val="200000"/>
              </a:lnSpc>
              <a:buFont typeface="Wingdings" panose="05000000000000000000" pitchFamily="2" charset="2"/>
              <a:buChar char="Ø"/>
            </a:pPr>
            <a:r>
              <a:rPr lang="en-US" sz="2300" dirty="0" smtClean="0">
                <a:latin typeface="Times New Roman" panose="02020603050405020304" pitchFamily="18" charset="0"/>
                <a:cs typeface="Times New Roman" panose="02020603050405020304" pitchFamily="18" charset="0"/>
              </a:rPr>
              <a:t>One of the </a:t>
            </a:r>
            <a:r>
              <a:rPr lang="en-US" sz="2300" dirty="0">
                <a:latin typeface="Times New Roman" panose="02020603050405020304" pitchFamily="18" charset="0"/>
                <a:cs typeface="Times New Roman" panose="02020603050405020304" pitchFamily="18" charset="0"/>
              </a:rPr>
              <a:t>best known site is </a:t>
            </a:r>
            <a:r>
              <a:rPr lang="en-US" sz="2300" dirty="0" err="1">
                <a:latin typeface="Times New Roman" panose="02020603050405020304" pitchFamily="18" charset="0"/>
                <a:cs typeface="Times New Roman" panose="02020603050405020304" pitchFamily="18" charset="0"/>
              </a:rPr>
              <a:t>WebOS</a:t>
            </a:r>
            <a:r>
              <a:rPr lang="en-US" sz="2300" dirty="0">
                <a:latin typeface="Times New Roman" panose="02020603050405020304" pitchFamily="18" charset="0"/>
                <a:cs typeface="Times New Roman" panose="02020603050405020304" pitchFamily="18" charset="0"/>
              </a:rPr>
              <a:t>. </a:t>
            </a:r>
            <a:endParaRPr lang="en-US" sz="2300" dirty="0" smtClean="0">
              <a:latin typeface="Times New Roman" panose="02020603050405020304" pitchFamily="18" charset="0"/>
              <a:cs typeface="Times New Roman" panose="02020603050405020304" pitchFamily="18" charset="0"/>
            </a:endParaRPr>
          </a:p>
          <a:p>
            <a:pPr marL="900113">
              <a:lnSpc>
                <a:spcPct val="200000"/>
              </a:lnSpc>
              <a:buFont typeface="Wingdings" panose="05000000000000000000" pitchFamily="2" charset="2"/>
              <a:buChar char="Ø"/>
            </a:pPr>
            <a:r>
              <a:rPr lang="en-US" sz="2300" dirty="0" smtClean="0">
                <a:latin typeface="Times New Roman" panose="02020603050405020304" pitchFamily="18" charset="0"/>
                <a:cs typeface="Times New Roman" panose="02020603050405020304" pitchFamily="18" charset="0"/>
              </a:rPr>
              <a:t>Their </a:t>
            </a:r>
            <a:r>
              <a:rPr lang="en-US" sz="2300" dirty="0">
                <a:latin typeface="Times New Roman" panose="02020603050405020304" pitchFamily="18" charset="0"/>
                <a:cs typeface="Times New Roman" panose="02020603050405020304" pitchFamily="18" charset="0"/>
              </a:rPr>
              <a:t>only requirement is that you register for their services</a:t>
            </a:r>
            <a:r>
              <a:rPr lang="en-US" sz="2300" dirty="0" smtClean="0">
                <a:latin typeface="Times New Roman" panose="02020603050405020304" pitchFamily="18" charset="0"/>
                <a:cs typeface="Times New Roman" panose="02020603050405020304" pitchFamily="18" charset="0"/>
              </a:rPr>
              <a:t>.</a:t>
            </a:r>
            <a:endParaRPr lang="en-US"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6834355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r>
              <a:rPr lang="en-US" b="1" dirty="0"/>
              <a:t>PROCEDURES OF USING WEB-BASED APPLICATION</a:t>
            </a:r>
            <a:endParaRPr lang="en-US" sz="8800" b="1" dirty="0"/>
          </a:p>
        </p:txBody>
      </p:sp>
      <p:sp>
        <p:nvSpPr>
          <p:cNvPr id="5" name="Rectangle 3"/>
          <p:cNvSpPr txBox="1">
            <a:spLocks noChangeArrowheads="1"/>
          </p:cNvSpPr>
          <p:nvPr/>
        </p:nvSpPr>
        <p:spPr bwMode="auto">
          <a:xfrm>
            <a:off x="467544" y="1440160"/>
            <a:ext cx="8147248" cy="52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2300" b="1" i="1" dirty="0" smtClean="0">
                <a:latin typeface="Times New Roman" panose="02020603050405020304" pitchFamily="18" charset="0"/>
                <a:cs typeface="Times New Roman" panose="02020603050405020304" pitchFamily="18" charset="0"/>
              </a:rPr>
              <a:t>Accessing </a:t>
            </a:r>
            <a:r>
              <a:rPr lang="en-US" sz="2300" b="1" i="1" dirty="0">
                <a:latin typeface="Times New Roman" panose="02020603050405020304" pitchFamily="18" charset="0"/>
                <a:cs typeface="Times New Roman" panose="02020603050405020304" pitchFamily="18" charset="0"/>
              </a:rPr>
              <a:t>Applications: </a:t>
            </a:r>
            <a:endParaRPr lang="en-US" sz="2300" b="1" i="1" dirty="0" smtClean="0">
              <a:latin typeface="Times New Roman" panose="02020603050405020304" pitchFamily="18" charset="0"/>
              <a:cs typeface="Times New Roman" panose="02020603050405020304" pitchFamily="18" charset="0"/>
            </a:endParaRPr>
          </a:p>
          <a:p>
            <a:pPr marL="900113">
              <a:lnSpc>
                <a:spcPct val="200000"/>
              </a:lnSpc>
              <a:buFont typeface="Wingdings" panose="05000000000000000000" pitchFamily="2" charset="2"/>
              <a:buChar char="Ø"/>
            </a:pPr>
            <a:r>
              <a:rPr lang="en-US" sz="2300" dirty="0" smtClean="0">
                <a:latin typeface="Times New Roman" panose="02020603050405020304" pitchFamily="18" charset="0"/>
                <a:cs typeface="Times New Roman" panose="02020603050405020304" pitchFamily="18" charset="0"/>
              </a:rPr>
              <a:t>Each </a:t>
            </a:r>
            <a:r>
              <a:rPr lang="en-US" sz="2300" dirty="0">
                <a:latin typeface="Times New Roman" panose="02020603050405020304" pitchFamily="18" charset="0"/>
                <a:cs typeface="Times New Roman" panose="02020603050405020304" pitchFamily="18" charset="0"/>
              </a:rPr>
              <a:t>time you connect to the </a:t>
            </a:r>
            <a:r>
              <a:rPr lang="en-US" sz="2300" dirty="0" err="1">
                <a:latin typeface="Times New Roman" panose="02020603050405020304" pitchFamily="18" charset="0"/>
                <a:cs typeface="Times New Roman" panose="02020603050405020304" pitchFamily="18" charset="0"/>
              </a:rPr>
              <a:t>WebOS</a:t>
            </a:r>
            <a:r>
              <a:rPr lang="en-US" sz="2300" dirty="0">
                <a:latin typeface="Times New Roman" panose="02020603050405020304" pitchFamily="18" charset="0"/>
                <a:cs typeface="Times New Roman" panose="02020603050405020304" pitchFamily="18" charset="0"/>
              </a:rPr>
              <a:t> site and log in, your </a:t>
            </a:r>
            <a:r>
              <a:rPr lang="en-US" sz="2300" dirty="0" err="1" smtClean="0">
                <a:latin typeface="Times New Roman" panose="02020603050405020304" pitchFamily="18" charset="0"/>
                <a:cs typeface="Times New Roman" panose="02020603050405020304" pitchFamily="18" charset="0"/>
              </a:rPr>
              <a:t>Webbased</a:t>
            </a:r>
            <a:r>
              <a:rPr lang="en-US" sz="2300" dirty="0" smtClean="0">
                <a:latin typeface="Times New Roman" panose="02020603050405020304" pitchFamily="18" charset="0"/>
                <a:cs typeface="Times New Roman" panose="02020603050405020304" pitchFamily="18" charset="0"/>
              </a:rPr>
              <a:t> desktop </a:t>
            </a:r>
            <a:r>
              <a:rPr lang="en-US" sz="2300" dirty="0">
                <a:latin typeface="Times New Roman" panose="02020603050405020304" pitchFamily="18" charset="0"/>
                <a:cs typeface="Times New Roman" panose="02020603050405020304" pitchFamily="18" charset="0"/>
              </a:rPr>
              <a:t>will appear. </a:t>
            </a:r>
            <a:endParaRPr lang="en-US" sz="2300" dirty="0" smtClean="0">
              <a:latin typeface="Times New Roman" panose="02020603050405020304" pitchFamily="18" charset="0"/>
              <a:cs typeface="Times New Roman" panose="02020603050405020304" pitchFamily="18" charset="0"/>
            </a:endParaRPr>
          </a:p>
          <a:p>
            <a:pPr marL="900113">
              <a:lnSpc>
                <a:spcPct val="200000"/>
              </a:lnSpc>
              <a:buFont typeface="Wingdings" panose="05000000000000000000" pitchFamily="2" charset="2"/>
              <a:buChar char="Ø"/>
            </a:pPr>
            <a:r>
              <a:rPr lang="en-US" sz="2300" dirty="0" smtClean="0">
                <a:latin typeface="Times New Roman" panose="02020603050405020304" pitchFamily="18" charset="0"/>
                <a:cs typeface="Times New Roman" panose="02020603050405020304" pitchFamily="18" charset="0"/>
              </a:rPr>
              <a:t>It </a:t>
            </a:r>
            <a:r>
              <a:rPr lang="en-US" sz="2300" dirty="0">
                <a:latin typeface="Times New Roman" panose="02020603050405020304" pitchFamily="18" charset="0"/>
                <a:cs typeface="Times New Roman" panose="02020603050405020304" pitchFamily="18" charset="0"/>
              </a:rPr>
              <a:t>will display numerous icons that can be used to access </a:t>
            </a:r>
            <a:r>
              <a:rPr lang="en-US" sz="2300" dirty="0" err="1" smtClean="0">
                <a:latin typeface="Times New Roman" panose="02020603050405020304" pitchFamily="18" charset="0"/>
                <a:cs typeface="Times New Roman" panose="02020603050405020304" pitchFamily="18" charset="0"/>
              </a:rPr>
              <a:t>Webbased</a:t>
            </a:r>
            <a:r>
              <a:rPr lang="en-US" sz="2300" dirty="0" smtClean="0">
                <a:latin typeface="Times New Roman" panose="02020603050405020304" pitchFamily="18" charset="0"/>
                <a:cs typeface="Times New Roman" panose="02020603050405020304" pitchFamily="18" charset="0"/>
              </a:rPr>
              <a:t> applications</a:t>
            </a:r>
            <a:r>
              <a:rPr lang="en-US" sz="2300" dirty="0">
                <a:latin typeface="Times New Roman" panose="02020603050405020304" pitchFamily="18" charset="0"/>
                <a:cs typeface="Times New Roman" panose="02020603050405020304" pitchFamily="18" charset="0"/>
              </a:rPr>
              <a:t>. </a:t>
            </a:r>
            <a:endParaRPr lang="en-US" sz="2300" dirty="0" smtClean="0">
              <a:latin typeface="Times New Roman" panose="02020603050405020304" pitchFamily="18" charset="0"/>
              <a:cs typeface="Times New Roman" panose="02020603050405020304" pitchFamily="18" charset="0"/>
            </a:endParaRPr>
          </a:p>
          <a:p>
            <a:pPr marL="900113">
              <a:lnSpc>
                <a:spcPct val="200000"/>
              </a:lnSpc>
              <a:buFont typeface="Wingdings" panose="05000000000000000000" pitchFamily="2" charset="2"/>
              <a:buChar char="Ø"/>
            </a:pPr>
            <a:r>
              <a:rPr lang="en-US" sz="2300" dirty="0" smtClean="0">
                <a:latin typeface="Times New Roman" panose="02020603050405020304" pitchFamily="18" charset="0"/>
                <a:cs typeface="Times New Roman" panose="02020603050405020304" pitchFamily="18" charset="0"/>
              </a:rPr>
              <a:t>These </a:t>
            </a:r>
            <a:r>
              <a:rPr lang="en-US" sz="2300" dirty="0">
                <a:latin typeface="Times New Roman" panose="02020603050405020304" pitchFamily="18" charset="0"/>
                <a:cs typeface="Times New Roman" panose="02020603050405020304" pitchFamily="18" charset="0"/>
              </a:rPr>
              <a:t>include notes, personal information manager, calendar, and </a:t>
            </a:r>
            <a:r>
              <a:rPr lang="en-US" sz="2300" dirty="0" smtClean="0">
                <a:latin typeface="Times New Roman" panose="02020603050405020304" pitchFamily="18" charset="0"/>
                <a:cs typeface="Times New Roman" panose="02020603050405020304" pitchFamily="18" charset="0"/>
              </a:rPr>
              <a:t>a variety </a:t>
            </a:r>
            <a:r>
              <a:rPr lang="en-US" sz="2300" dirty="0">
                <a:latin typeface="Times New Roman" panose="02020603050405020304" pitchFamily="18" charset="0"/>
                <a:cs typeface="Times New Roman" panose="02020603050405020304" pitchFamily="18" charset="0"/>
              </a:rPr>
              <a:t>of games</a:t>
            </a:r>
            <a:r>
              <a:rPr lang="en-US" sz="2300" dirty="0" smtClean="0">
                <a:latin typeface="Times New Roman" panose="02020603050405020304" pitchFamily="18" charset="0"/>
                <a:cs typeface="Times New Roman" panose="02020603050405020304" pitchFamily="18" charset="0"/>
              </a:rPr>
              <a:t>.</a:t>
            </a:r>
            <a:endParaRPr lang="en-US"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7732476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r>
              <a:rPr lang="en-US" b="1" dirty="0"/>
              <a:t>PROCEDURES OF USING WEB-BASED APPLICATION</a:t>
            </a:r>
            <a:endParaRPr lang="en-US" sz="8800" b="1" dirty="0"/>
          </a:p>
        </p:txBody>
      </p:sp>
      <p:sp>
        <p:nvSpPr>
          <p:cNvPr id="5" name="Rectangle 3"/>
          <p:cNvSpPr txBox="1">
            <a:spLocks noChangeArrowheads="1"/>
          </p:cNvSpPr>
          <p:nvPr/>
        </p:nvSpPr>
        <p:spPr bwMode="auto">
          <a:xfrm>
            <a:off x="467544" y="1440160"/>
            <a:ext cx="8147248" cy="52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2300" b="1" i="1" dirty="0" smtClean="0">
                <a:latin typeface="Times New Roman" panose="02020603050405020304" pitchFamily="18" charset="0"/>
                <a:cs typeface="Times New Roman" panose="02020603050405020304" pitchFamily="18" charset="0"/>
              </a:rPr>
              <a:t>Web-Based </a:t>
            </a:r>
            <a:r>
              <a:rPr lang="en-US" sz="2300" b="1" i="1" dirty="0">
                <a:latin typeface="Times New Roman" panose="02020603050405020304" pitchFamily="18" charset="0"/>
                <a:cs typeface="Times New Roman" panose="02020603050405020304" pitchFamily="18" charset="0"/>
              </a:rPr>
              <a:t>Desktop: </a:t>
            </a:r>
            <a:endParaRPr lang="en-US" sz="2300" b="1" i="1" dirty="0" smtClean="0">
              <a:latin typeface="Times New Roman" panose="02020603050405020304" pitchFamily="18" charset="0"/>
              <a:cs typeface="Times New Roman" panose="02020603050405020304" pitchFamily="18" charset="0"/>
            </a:endParaRPr>
          </a:p>
          <a:p>
            <a:pPr marL="900113">
              <a:lnSpc>
                <a:spcPct val="200000"/>
              </a:lnSpc>
              <a:buFont typeface="Wingdings" panose="05000000000000000000" pitchFamily="2" charset="2"/>
              <a:buChar char="Ø"/>
            </a:pPr>
            <a:r>
              <a:rPr lang="en-US" sz="2300" dirty="0" smtClean="0">
                <a:latin typeface="Times New Roman" panose="02020603050405020304" pitchFamily="18" charset="0"/>
                <a:cs typeface="Times New Roman" panose="02020603050405020304" pitchFamily="18" charset="0"/>
              </a:rPr>
              <a:t>The </a:t>
            </a:r>
            <a:r>
              <a:rPr lang="en-US" sz="2300" dirty="0">
                <a:latin typeface="Times New Roman" panose="02020603050405020304" pitchFamily="18" charset="0"/>
                <a:cs typeface="Times New Roman" panose="02020603050405020304" pitchFamily="18" charset="0"/>
              </a:rPr>
              <a:t>Web-based desktop looks and operates like the traditional </a:t>
            </a:r>
            <a:r>
              <a:rPr lang="en-US" sz="2300" dirty="0" smtClean="0">
                <a:latin typeface="Times New Roman" panose="02020603050405020304" pitchFamily="18" charset="0"/>
                <a:cs typeface="Times New Roman" panose="02020603050405020304" pitchFamily="18" charset="0"/>
              </a:rPr>
              <a:t>windows desktop</a:t>
            </a:r>
            <a:r>
              <a:rPr lang="en-US" sz="2300" dirty="0">
                <a:latin typeface="Times New Roman" panose="02020603050405020304" pitchFamily="18" charset="0"/>
                <a:cs typeface="Times New Roman" panose="02020603050405020304" pitchFamily="18" charset="0"/>
              </a:rPr>
              <a:t>. </a:t>
            </a:r>
            <a:endParaRPr lang="en-US" sz="2300" dirty="0" smtClean="0">
              <a:latin typeface="Times New Roman" panose="02020603050405020304" pitchFamily="18" charset="0"/>
              <a:cs typeface="Times New Roman" panose="02020603050405020304" pitchFamily="18" charset="0"/>
            </a:endParaRPr>
          </a:p>
          <a:p>
            <a:pPr marL="900113">
              <a:lnSpc>
                <a:spcPct val="200000"/>
              </a:lnSpc>
              <a:buFont typeface="Wingdings" panose="05000000000000000000" pitchFamily="2" charset="2"/>
              <a:buChar char="Ø"/>
            </a:pPr>
            <a:r>
              <a:rPr lang="en-US" sz="2300" dirty="0" smtClean="0">
                <a:latin typeface="Times New Roman" panose="02020603050405020304" pitchFamily="18" charset="0"/>
                <a:cs typeface="Times New Roman" panose="02020603050405020304" pitchFamily="18" charset="0"/>
              </a:rPr>
              <a:t>It </a:t>
            </a:r>
            <a:r>
              <a:rPr lang="en-US" sz="2300" dirty="0">
                <a:latin typeface="Times New Roman" panose="02020603050405020304" pitchFamily="18" charset="0"/>
                <a:cs typeface="Times New Roman" panose="02020603050405020304" pitchFamily="18" charset="0"/>
              </a:rPr>
              <a:t>consist of a variety of icons that are used to load and run applications.</a:t>
            </a:r>
            <a:endParaRPr lang="en-US" sz="23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0998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r>
              <a:rPr lang="en-US" b="1" dirty="0"/>
              <a:t>FORCES BEHIND WEB-ENABLED SYSTEMS</a:t>
            </a:r>
            <a:endParaRPr lang="en-US" sz="8800" b="1" dirty="0"/>
          </a:p>
        </p:txBody>
      </p:sp>
      <p:sp>
        <p:nvSpPr>
          <p:cNvPr id="5" name="Rectangle 3"/>
          <p:cNvSpPr txBox="1">
            <a:spLocks noChangeArrowheads="1"/>
          </p:cNvSpPr>
          <p:nvPr/>
        </p:nvSpPr>
        <p:spPr bwMode="auto">
          <a:xfrm>
            <a:off x="467544" y="1440160"/>
            <a:ext cx="8147248" cy="52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200" i="1" dirty="0">
                <a:latin typeface="Times New Roman" panose="02020603050405020304" pitchFamily="18" charset="0"/>
                <a:cs typeface="Times New Roman" panose="02020603050405020304" pitchFamily="18" charset="0"/>
              </a:rPr>
              <a:t>Web-enablement: </a:t>
            </a:r>
            <a:r>
              <a:rPr lang="en-US" sz="2200" dirty="0">
                <a:latin typeface="Times New Roman" panose="02020603050405020304" pitchFamily="18" charset="0"/>
                <a:cs typeface="Times New Roman" panose="02020603050405020304" pitchFamily="18" charset="0"/>
              </a:rPr>
              <a:t>The tendency of systems developers to incorporate features of the </a:t>
            </a:r>
            <a:r>
              <a:rPr lang="en-US" sz="2200" dirty="0" smtClean="0">
                <a:latin typeface="Times New Roman" panose="02020603050405020304" pitchFamily="18" charset="0"/>
                <a:cs typeface="Times New Roman" panose="02020603050405020304" pitchFamily="18" charset="0"/>
              </a:rPr>
              <a:t>Internet in </a:t>
            </a:r>
            <a:r>
              <a:rPr lang="en-US" sz="2200" dirty="0">
                <a:latin typeface="Times New Roman" panose="02020603050405020304" pitchFamily="18" charset="0"/>
                <a:cs typeface="Times New Roman" panose="02020603050405020304" pitchFamily="18" charset="0"/>
              </a:rPr>
              <a:t>enterprise systems.</a:t>
            </a:r>
          </a:p>
          <a:p>
            <a:pPr marL="900113">
              <a:lnSpc>
                <a:spcPct val="150000"/>
              </a:lnSpc>
            </a:pPr>
            <a:r>
              <a:rPr lang="en-US" sz="2200" b="1" i="1" dirty="0" smtClean="0">
                <a:latin typeface="Times New Roman" panose="02020603050405020304" pitchFamily="18" charset="0"/>
                <a:cs typeface="Times New Roman" panose="02020603050405020304" pitchFamily="18" charset="0"/>
              </a:rPr>
              <a:t>Widespread </a:t>
            </a:r>
            <a:r>
              <a:rPr lang="en-US" sz="2200" b="1" i="1" dirty="0">
                <a:latin typeface="Times New Roman" panose="02020603050405020304" pitchFamily="18" charset="0"/>
                <a:cs typeface="Times New Roman" panose="02020603050405020304" pitchFamily="18" charset="0"/>
              </a:rPr>
              <a:t>Use of Browsers</a:t>
            </a:r>
          </a:p>
          <a:p>
            <a:pPr marL="1252538">
              <a:lnSpc>
                <a:spcPct val="150000"/>
              </a:lnSpc>
              <a:buFont typeface="Wingdings" panose="05000000000000000000" pitchFamily="2" charset="2"/>
              <a:buChar char="Ø"/>
            </a:pPr>
            <a:r>
              <a:rPr lang="en-US" sz="2200" dirty="0" smtClean="0">
                <a:latin typeface="Times New Roman" panose="02020603050405020304" pitchFamily="18" charset="0"/>
                <a:cs typeface="Times New Roman" panose="02020603050405020304" pitchFamily="18" charset="0"/>
              </a:rPr>
              <a:t>New </a:t>
            </a:r>
            <a:r>
              <a:rPr lang="en-US" sz="2200" dirty="0">
                <a:latin typeface="Times New Roman" panose="02020603050405020304" pitchFamily="18" charset="0"/>
                <a:cs typeface="Times New Roman" panose="02020603050405020304" pitchFamily="18" charset="0"/>
              </a:rPr>
              <a:t>computers shipped with Web browsers</a:t>
            </a:r>
          </a:p>
          <a:p>
            <a:pPr marL="1252538">
              <a:lnSpc>
                <a:spcPct val="150000"/>
              </a:lnSpc>
              <a:buFont typeface="Wingdings" panose="05000000000000000000" pitchFamily="2" charset="2"/>
              <a:buChar char="Ø"/>
            </a:pPr>
            <a:r>
              <a:rPr lang="en-US" sz="2200" dirty="0" smtClean="0">
                <a:latin typeface="Times New Roman" panose="02020603050405020304" pitchFamily="18" charset="0"/>
                <a:cs typeface="Times New Roman" panose="02020603050405020304" pitchFamily="18" charset="0"/>
              </a:rPr>
              <a:t>Large </a:t>
            </a:r>
            <a:r>
              <a:rPr lang="en-US" sz="2200" dirty="0">
                <a:latin typeface="Times New Roman" panose="02020603050405020304" pitchFamily="18" charset="0"/>
                <a:cs typeface="Times New Roman" panose="02020603050405020304" pitchFamily="18" charset="0"/>
              </a:rPr>
              <a:t>installed base of browser users</a:t>
            </a:r>
          </a:p>
          <a:p>
            <a:pPr marL="1252538">
              <a:lnSpc>
                <a:spcPct val="150000"/>
              </a:lnSpc>
              <a:buFont typeface="Wingdings" panose="05000000000000000000" pitchFamily="2" charset="2"/>
              <a:buChar char="Ø"/>
            </a:pPr>
            <a:r>
              <a:rPr lang="en-US" sz="2200" dirty="0" smtClean="0">
                <a:latin typeface="Times New Roman" panose="02020603050405020304" pitchFamily="18" charset="0"/>
                <a:cs typeface="Times New Roman" panose="02020603050405020304" pitchFamily="18" charset="0"/>
              </a:rPr>
              <a:t>Browsers </a:t>
            </a:r>
            <a:r>
              <a:rPr lang="en-US" sz="2200" dirty="0">
                <a:latin typeface="Times New Roman" panose="02020603050405020304" pitchFamily="18" charset="0"/>
                <a:cs typeface="Times New Roman" panose="02020603050405020304" pitchFamily="18" charset="0"/>
              </a:rPr>
              <a:t>appearing on other IT devices</a:t>
            </a:r>
          </a:p>
          <a:p>
            <a:pPr marL="900113">
              <a:lnSpc>
                <a:spcPct val="150000"/>
              </a:lnSpc>
            </a:pPr>
            <a:r>
              <a:rPr lang="en-US" sz="2200" b="1" dirty="0" smtClean="0">
                <a:latin typeface="Times New Roman" panose="02020603050405020304" pitchFamily="18" charset="0"/>
                <a:cs typeface="Times New Roman" panose="02020603050405020304" pitchFamily="18" charset="0"/>
              </a:rPr>
              <a:t>Flexibility</a:t>
            </a:r>
            <a:endParaRPr lang="en-US" sz="2200" b="1" dirty="0">
              <a:latin typeface="Times New Roman" panose="02020603050405020304" pitchFamily="18" charset="0"/>
              <a:cs typeface="Times New Roman" panose="02020603050405020304" pitchFamily="18" charset="0"/>
            </a:endParaRPr>
          </a:p>
          <a:p>
            <a:pPr marL="1252538" defTabSz="1519238">
              <a:lnSpc>
                <a:spcPct val="150000"/>
              </a:lnSpc>
              <a:buFont typeface="Wingdings" panose="05000000000000000000" pitchFamily="2" charset="2"/>
              <a:buChar char="Ø"/>
            </a:pPr>
            <a:r>
              <a:rPr lang="en-US" sz="2200" i="1" dirty="0" smtClean="0">
                <a:latin typeface="Times New Roman" panose="02020603050405020304" pitchFamily="18" charset="0"/>
                <a:cs typeface="Times New Roman" panose="02020603050405020304" pitchFamily="18" charset="0"/>
              </a:rPr>
              <a:t>Plug-ins</a:t>
            </a:r>
            <a:r>
              <a:rPr lang="en-US" sz="2200" i="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Software programs that extend the capabilities of your </a:t>
            </a:r>
            <a:r>
              <a:rPr lang="en-US" sz="2200" dirty="0" smtClean="0">
                <a:latin typeface="Times New Roman" panose="02020603050405020304" pitchFamily="18" charset="0"/>
                <a:cs typeface="Times New Roman" panose="02020603050405020304" pitchFamily="18" charset="0"/>
              </a:rPr>
              <a:t>Internet browser</a:t>
            </a:r>
            <a:r>
              <a:rPr lang="en-US" sz="2200" dirty="0">
                <a:latin typeface="Times New Roman" panose="02020603050405020304" pitchFamily="18" charset="0"/>
                <a:cs typeface="Times New Roman" panose="02020603050405020304" pitchFamily="18" charset="0"/>
              </a:rPr>
              <a:t>, giving it added features.</a:t>
            </a:r>
          </a:p>
          <a:p>
            <a:pPr marL="557213" indent="0">
              <a:lnSpc>
                <a:spcPct val="150000"/>
              </a:lnSpc>
              <a:buNone/>
            </a:pPr>
            <a:endParaRPr lang="en-US" sz="22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246469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r>
              <a:rPr lang="en-US" b="1" dirty="0"/>
              <a:t>FORCES BEHIND WEB-ENABLED SYSTEMS</a:t>
            </a:r>
            <a:endParaRPr lang="en-US" sz="8800" b="1" dirty="0"/>
          </a:p>
        </p:txBody>
      </p:sp>
      <p:sp>
        <p:nvSpPr>
          <p:cNvPr id="5" name="Rectangle 3"/>
          <p:cNvSpPr txBox="1">
            <a:spLocks noChangeArrowheads="1"/>
          </p:cNvSpPr>
          <p:nvPr/>
        </p:nvSpPr>
        <p:spPr bwMode="auto">
          <a:xfrm>
            <a:off x="467544" y="1440160"/>
            <a:ext cx="8147248" cy="52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900113">
              <a:lnSpc>
                <a:spcPct val="200000"/>
              </a:lnSpc>
            </a:pPr>
            <a:r>
              <a:rPr lang="en-US" sz="2200" b="1" dirty="0" smtClean="0">
                <a:latin typeface="Times New Roman" panose="02020603050405020304" pitchFamily="18" charset="0"/>
                <a:cs typeface="Times New Roman" panose="02020603050405020304" pitchFamily="18" charset="0"/>
              </a:rPr>
              <a:t>Universal front-end application</a:t>
            </a:r>
          </a:p>
          <a:p>
            <a:pPr marL="900113">
              <a:lnSpc>
                <a:spcPct val="200000"/>
              </a:lnSpc>
            </a:pPr>
            <a:r>
              <a:rPr lang="en-US" sz="2200" b="1" i="1" dirty="0" smtClean="0">
                <a:latin typeface="Times New Roman" panose="02020603050405020304" pitchFamily="18" charset="0"/>
                <a:cs typeface="Times New Roman" panose="02020603050405020304" pitchFamily="18" charset="0"/>
              </a:rPr>
              <a:t>Legacy System</a:t>
            </a:r>
          </a:p>
          <a:p>
            <a:pPr marL="1252538">
              <a:lnSpc>
                <a:spcPct val="200000"/>
              </a:lnSpc>
              <a:buFont typeface="Wingdings" panose="05000000000000000000" pitchFamily="2" charset="2"/>
              <a:buChar char="Ø"/>
            </a:pPr>
            <a:r>
              <a:rPr lang="en-US" sz="2200" i="1" dirty="0" smtClean="0">
                <a:latin typeface="Times New Roman" panose="02020603050405020304" pitchFamily="18" charset="0"/>
                <a:cs typeface="Times New Roman" panose="02020603050405020304" pitchFamily="18" charset="0"/>
              </a:rPr>
              <a:t>Legacy System: </a:t>
            </a:r>
            <a:r>
              <a:rPr lang="en-US" sz="2200" dirty="0" smtClean="0">
                <a:latin typeface="Times New Roman" panose="02020603050405020304" pitchFamily="18" charset="0"/>
                <a:cs typeface="Times New Roman" panose="02020603050405020304" pitchFamily="18" charset="0"/>
              </a:rPr>
              <a:t>Refers to the many mainframe, midrange, client/server or PC applications that are used to manage business functions.</a:t>
            </a:r>
          </a:p>
        </p:txBody>
      </p:sp>
    </p:spTree>
    <p:extLst>
      <p:ext uri="{BB962C8B-B14F-4D97-AF65-F5344CB8AC3E}">
        <p14:creationId xmlns:p14="http://schemas.microsoft.com/office/powerpoint/2010/main" val="406203333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r>
              <a:rPr lang="en-US" b="1" dirty="0"/>
              <a:t>FORCES BEHIND WEB-ENABLED SYSTEMS</a:t>
            </a:r>
            <a:endParaRPr lang="en-US" sz="8800" b="1" dirty="0"/>
          </a:p>
        </p:txBody>
      </p:sp>
      <p:sp>
        <p:nvSpPr>
          <p:cNvPr id="5" name="Rectangle 3"/>
          <p:cNvSpPr txBox="1">
            <a:spLocks noChangeArrowheads="1"/>
          </p:cNvSpPr>
          <p:nvPr/>
        </p:nvSpPr>
        <p:spPr bwMode="auto">
          <a:xfrm>
            <a:off x="467544" y="1440160"/>
            <a:ext cx="8147248" cy="52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900113">
              <a:lnSpc>
                <a:spcPct val="150000"/>
              </a:lnSpc>
            </a:pPr>
            <a:r>
              <a:rPr lang="en-US" sz="2200" b="1" i="1" dirty="0" smtClean="0">
                <a:latin typeface="Times New Roman" panose="02020603050405020304" pitchFamily="18" charset="0"/>
                <a:cs typeface="Times New Roman" panose="02020603050405020304" pitchFamily="18" charset="0"/>
              </a:rPr>
              <a:t>Interconnected </a:t>
            </a:r>
            <a:r>
              <a:rPr lang="en-US" sz="2200" b="1" i="1" dirty="0">
                <a:latin typeface="Times New Roman" panose="02020603050405020304" pitchFamily="18" charset="0"/>
                <a:cs typeface="Times New Roman" panose="02020603050405020304" pitchFamily="18" charset="0"/>
              </a:rPr>
              <a:t>Enterprises</a:t>
            </a:r>
          </a:p>
          <a:p>
            <a:pPr marL="1252538">
              <a:lnSpc>
                <a:spcPct val="150000"/>
              </a:lnSpc>
              <a:buFont typeface="Wingdings" panose="05000000000000000000" pitchFamily="2" charset="2"/>
              <a:buChar char="Ø"/>
            </a:pPr>
            <a:r>
              <a:rPr lang="en-US" sz="2200" b="1" i="1" dirty="0" smtClean="0">
                <a:latin typeface="Times New Roman" panose="02020603050405020304" pitchFamily="18" charset="0"/>
                <a:cs typeface="Times New Roman" panose="02020603050405020304" pitchFamily="18" charset="0"/>
              </a:rPr>
              <a:t>Interoperability</a:t>
            </a:r>
            <a:r>
              <a:rPr lang="en-US" sz="2200" b="1" i="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The perfect exchange of data and information in all forms (data</a:t>
            </a:r>
            <a:r>
              <a:rPr lang="en-US" sz="2200" dirty="0" smtClean="0">
                <a:latin typeface="Times New Roman" panose="02020603050405020304" pitchFamily="18" charset="0"/>
                <a:cs typeface="Times New Roman" panose="02020603050405020304" pitchFamily="18" charset="0"/>
              </a:rPr>
              <a:t>, text</a:t>
            </a:r>
            <a:r>
              <a:rPr lang="en-US" sz="2200" dirty="0">
                <a:latin typeface="Times New Roman" panose="02020603050405020304" pitchFamily="18" charset="0"/>
                <a:cs typeface="Times New Roman" panose="02020603050405020304" pitchFamily="18" charset="0"/>
              </a:rPr>
              <a:t>, sound, and image</a:t>
            </a:r>
            <a:r>
              <a:rPr lang="en-US" sz="2200" dirty="0" smtClean="0">
                <a:latin typeface="Times New Roman" panose="02020603050405020304" pitchFamily="18" charset="0"/>
                <a:cs typeface="Times New Roman" panose="02020603050405020304" pitchFamily="18" charset="0"/>
              </a:rPr>
              <a:t>, including </a:t>
            </a:r>
            <a:r>
              <a:rPr lang="en-US" sz="2200" dirty="0">
                <a:latin typeface="Times New Roman" panose="02020603050405020304" pitchFamily="18" charset="0"/>
                <a:cs typeface="Times New Roman" panose="02020603050405020304" pitchFamily="18" charset="0"/>
              </a:rPr>
              <a:t>animation) between the individual components of </a:t>
            </a:r>
            <a:r>
              <a:rPr lang="en-US" sz="2200" dirty="0" smtClean="0">
                <a:latin typeface="Times New Roman" panose="02020603050405020304" pitchFamily="18" charset="0"/>
                <a:cs typeface="Times New Roman" panose="02020603050405020304" pitchFamily="18" charset="0"/>
              </a:rPr>
              <a:t>an application </a:t>
            </a:r>
            <a:r>
              <a:rPr lang="en-US" sz="2200" dirty="0">
                <a:latin typeface="Times New Roman" panose="02020603050405020304" pitchFamily="18" charset="0"/>
                <a:cs typeface="Times New Roman" panose="02020603050405020304" pitchFamily="18" charset="0"/>
              </a:rPr>
              <a:t>(hardware, software, and network).</a:t>
            </a:r>
          </a:p>
          <a:p>
            <a:pPr marL="1252538">
              <a:lnSpc>
                <a:spcPct val="150000"/>
              </a:lnSpc>
              <a:buFont typeface="Wingdings" panose="05000000000000000000" pitchFamily="2" charset="2"/>
              <a:buChar char="Ø"/>
            </a:pPr>
            <a:r>
              <a:rPr lang="en-US" sz="2200" b="1" i="1" dirty="0" smtClean="0">
                <a:latin typeface="Times New Roman" panose="02020603050405020304" pitchFamily="18" charset="0"/>
                <a:cs typeface="Times New Roman" panose="02020603050405020304" pitchFamily="18" charset="0"/>
              </a:rPr>
              <a:t>Heterogeneous </a:t>
            </a:r>
            <a:r>
              <a:rPr lang="en-US" sz="2200" b="1" i="1" dirty="0">
                <a:latin typeface="Times New Roman" panose="02020603050405020304" pitchFamily="18" charset="0"/>
                <a:cs typeface="Times New Roman" panose="02020603050405020304" pitchFamily="18" charset="0"/>
              </a:rPr>
              <a:t>Applications: </a:t>
            </a:r>
            <a:r>
              <a:rPr lang="en-US" sz="2200" dirty="0">
                <a:latin typeface="Times New Roman" panose="02020603050405020304" pitchFamily="18" charset="0"/>
                <a:cs typeface="Times New Roman" panose="02020603050405020304" pitchFamily="18" charset="0"/>
              </a:rPr>
              <a:t>May be written in different programming languages</a:t>
            </a:r>
            <a:r>
              <a:rPr lang="en-US" sz="2200" dirty="0" smtClean="0">
                <a:latin typeface="Times New Roman" panose="02020603050405020304" pitchFamily="18" charset="0"/>
                <a:cs typeface="Times New Roman" panose="02020603050405020304" pitchFamily="18" charset="0"/>
              </a:rPr>
              <a:t>, run </a:t>
            </a:r>
            <a:r>
              <a:rPr lang="en-US" sz="2200" dirty="0">
                <a:latin typeface="Times New Roman" panose="02020603050405020304" pitchFamily="18" charset="0"/>
                <a:cs typeface="Times New Roman" panose="02020603050405020304" pitchFamily="18" charset="0"/>
              </a:rPr>
              <a:t>on different types of </a:t>
            </a:r>
            <a:r>
              <a:rPr lang="en-US" sz="2200" dirty="0" smtClean="0">
                <a:latin typeface="Times New Roman" panose="02020603050405020304" pitchFamily="18" charset="0"/>
                <a:cs typeface="Times New Roman" panose="02020603050405020304" pitchFamily="18" charset="0"/>
              </a:rPr>
              <a:t> computers</a:t>
            </a:r>
            <a:r>
              <a:rPr lang="en-US" sz="2200" dirty="0">
                <a:latin typeface="Times New Roman" panose="02020603050405020304" pitchFamily="18" charset="0"/>
                <a:cs typeface="Times New Roman" panose="02020603050405020304" pitchFamily="18" charset="0"/>
              </a:rPr>
              <a:t>, and use varying communications networks </a:t>
            </a:r>
            <a:r>
              <a:rPr lang="en-US" sz="2200" dirty="0" smtClean="0">
                <a:latin typeface="Times New Roman" panose="02020603050405020304" pitchFamily="18" charset="0"/>
                <a:cs typeface="Times New Roman" panose="02020603050405020304" pitchFamily="18" charset="0"/>
              </a:rPr>
              <a:t>and transmission </a:t>
            </a:r>
            <a:r>
              <a:rPr lang="en-US" sz="2200" dirty="0">
                <a:latin typeface="Times New Roman" panose="02020603050405020304" pitchFamily="18" charset="0"/>
                <a:cs typeface="Times New Roman" panose="02020603050405020304" pitchFamily="18" charset="0"/>
              </a:rPr>
              <a:t>methods.</a:t>
            </a:r>
            <a:endParaRPr lang="en-US" sz="22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089409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r>
              <a:rPr lang="en-US" sz="8800" b="1" dirty="0"/>
              <a:t>CONCLUSION</a:t>
            </a:r>
          </a:p>
        </p:txBody>
      </p:sp>
      <p:sp>
        <p:nvSpPr>
          <p:cNvPr id="5" name="Rectangle 3"/>
          <p:cNvSpPr txBox="1">
            <a:spLocks noChangeArrowheads="1"/>
          </p:cNvSpPr>
          <p:nvPr/>
        </p:nvSpPr>
        <p:spPr bwMode="auto">
          <a:xfrm>
            <a:off x="467544" y="1440160"/>
            <a:ext cx="8147248" cy="458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200" dirty="0">
                <a:latin typeface="Times New Roman" panose="02020603050405020304" pitchFamily="18" charset="0"/>
                <a:cs typeface="Times New Roman" panose="02020603050405020304" pitchFamily="18" charset="0"/>
              </a:rPr>
              <a:t>Some suggest that Web-based applications may replace traditional application </a:t>
            </a:r>
            <a:r>
              <a:rPr lang="en-US" sz="2200" dirty="0" smtClean="0">
                <a:latin typeface="Times New Roman" panose="02020603050405020304" pitchFamily="18" charset="0"/>
                <a:cs typeface="Times New Roman" panose="02020603050405020304" pitchFamily="18" charset="0"/>
              </a:rPr>
              <a:t>software sometime </a:t>
            </a:r>
            <a:r>
              <a:rPr lang="en-US" sz="2200" dirty="0">
                <a:latin typeface="Times New Roman" panose="02020603050405020304" pitchFamily="18" charset="0"/>
                <a:cs typeface="Times New Roman" panose="02020603050405020304" pitchFamily="18" charset="0"/>
              </a:rPr>
              <a:t>in the future. </a:t>
            </a:r>
            <a:endParaRPr lang="en-US" sz="2200" dirty="0" smtClean="0">
              <a:latin typeface="Times New Roman" panose="02020603050405020304" pitchFamily="18" charset="0"/>
              <a:cs typeface="Times New Roman" panose="02020603050405020304" pitchFamily="18" charset="0"/>
            </a:endParaRPr>
          </a:p>
          <a:p>
            <a:pPr>
              <a:lnSpc>
                <a:spcPct val="150000"/>
              </a:lnSpc>
            </a:pPr>
            <a:r>
              <a:rPr lang="en-US" sz="2200" dirty="0" smtClean="0">
                <a:latin typeface="Times New Roman" panose="02020603050405020304" pitchFamily="18" charset="0"/>
                <a:cs typeface="Times New Roman" panose="02020603050405020304" pitchFamily="18" charset="0"/>
              </a:rPr>
              <a:t>They </a:t>
            </a:r>
            <a:r>
              <a:rPr lang="en-US" sz="2200" dirty="0">
                <a:latin typeface="Times New Roman" panose="02020603050405020304" pitchFamily="18" charset="0"/>
                <a:cs typeface="Times New Roman" panose="02020603050405020304" pitchFamily="18" charset="0"/>
              </a:rPr>
              <a:t>point out that Web-based applications offer advantages </a:t>
            </a:r>
            <a:r>
              <a:rPr lang="en-US" sz="2200" dirty="0" smtClean="0">
                <a:latin typeface="Times New Roman" panose="02020603050405020304" pitchFamily="18" charset="0"/>
                <a:cs typeface="Times New Roman" panose="02020603050405020304" pitchFamily="18" charset="0"/>
              </a:rPr>
              <a:t>beyond universal </a:t>
            </a:r>
            <a:r>
              <a:rPr lang="en-US" sz="2200" dirty="0">
                <a:latin typeface="Times New Roman" panose="02020603050405020304" pitchFamily="18" charset="0"/>
                <a:cs typeface="Times New Roman" panose="02020603050405020304" pitchFamily="18" charset="0"/>
              </a:rPr>
              <a:t>access to software and to data. </a:t>
            </a:r>
            <a:endParaRPr lang="en-US" sz="2200" dirty="0" smtClean="0">
              <a:latin typeface="Times New Roman" panose="02020603050405020304" pitchFamily="18" charset="0"/>
              <a:cs typeface="Times New Roman" panose="02020603050405020304" pitchFamily="18" charset="0"/>
            </a:endParaRPr>
          </a:p>
          <a:p>
            <a:pPr>
              <a:lnSpc>
                <a:spcPct val="150000"/>
              </a:lnSpc>
            </a:pPr>
            <a:r>
              <a:rPr lang="en-US" sz="2200" dirty="0" smtClean="0">
                <a:latin typeface="Times New Roman" panose="02020603050405020304" pitchFamily="18" charset="0"/>
                <a:cs typeface="Times New Roman" panose="02020603050405020304" pitchFamily="18" charset="0"/>
              </a:rPr>
              <a:t>One </a:t>
            </a:r>
            <a:r>
              <a:rPr lang="en-US" sz="2200" dirty="0">
                <a:latin typeface="Times New Roman" panose="02020603050405020304" pitchFamily="18" charset="0"/>
                <a:cs typeface="Times New Roman" panose="02020603050405020304" pitchFamily="18" charset="0"/>
              </a:rPr>
              <a:t>advantage is that user may no longer need </a:t>
            </a:r>
            <a:r>
              <a:rPr lang="en-US" sz="2200" dirty="0" smtClean="0">
                <a:latin typeface="Times New Roman" panose="02020603050405020304" pitchFamily="18" charset="0"/>
                <a:cs typeface="Times New Roman" panose="02020603050405020304" pitchFamily="18" charset="0"/>
              </a:rPr>
              <a:t>to upgrade </a:t>
            </a:r>
            <a:r>
              <a:rPr lang="en-US" sz="2200" dirty="0">
                <a:latin typeface="Times New Roman" panose="02020603050405020304" pitchFamily="18" charset="0"/>
                <a:cs typeface="Times New Roman" panose="02020603050405020304" pitchFamily="18" charset="0"/>
              </a:rPr>
              <a:t>software on their hard disk when a new version becomes available. </a:t>
            </a:r>
            <a:endParaRPr lang="en-US" sz="2200" dirty="0" smtClean="0">
              <a:latin typeface="Times New Roman" panose="02020603050405020304" pitchFamily="18" charset="0"/>
              <a:cs typeface="Times New Roman" panose="02020603050405020304" pitchFamily="18" charset="0"/>
            </a:endParaRPr>
          </a:p>
          <a:p>
            <a:pPr>
              <a:lnSpc>
                <a:spcPct val="150000"/>
              </a:lnSpc>
            </a:pPr>
            <a:r>
              <a:rPr lang="en-US" sz="2200" dirty="0" smtClean="0">
                <a:latin typeface="Times New Roman" panose="02020603050405020304" pitchFamily="18" charset="0"/>
                <a:cs typeface="Times New Roman" panose="02020603050405020304" pitchFamily="18" charset="0"/>
              </a:rPr>
              <a:t>One </a:t>
            </a:r>
            <a:r>
              <a:rPr lang="en-US" sz="2200" dirty="0">
                <a:latin typeface="Times New Roman" panose="02020603050405020304" pitchFamily="18" charset="0"/>
                <a:cs typeface="Times New Roman" panose="02020603050405020304" pitchFamily="18" charset="0"/>
              </a:rPr>
              <a:t>challenge </a:t>
            </a:r>
            <a:r>
              <a:rPr lang="en-US" sz="2200" dirty="0" smtClean="0">
                <a:latin typeface="Times New Roman" panose="02020603050405020304" pitchFamily="18" charset="0"/>
                <a:cs typeface="Times New Roman" panose="02020603050405020304" pitchFamily="18" charset="0"/>
              </a:rPr>
              <a:t>of the </a:t>
            </a:r>
            <a:r>
              <a:rPr lang="en-US" sz="2200" dirty="0">
                <a:latin typeface="Times New Roman" panose="02020603050405020304" pitchFamily="18" charset="0"/>
                <a:cs typeface="Times New Roman" panose="02020603050405020304" pitchFamily="18" charset="0"/>
              </a:rPr>
              <a:t>Web-based applications relates to privacy and security of personal data stored as an ASP.</a:t>
            </a:r>
            <a:endParaRPr lang="en-US" sz="22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6742150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r>
              <a:rPr lang="en-US" sz="9600" b="1" dirty="0"/>
              <a:t>SUMMARY</a:t>
            </a:r>
          </a:p>
        </p:txBody>
      </p:sp>
      <p:sp>
        <p:nvSpPr>
          <p:cNvPr id="5" name="Rectangle 3"/>
          <p:cNvSpPr txBox="1">
            <a:spLocks noChangeArrowheads="1"/>
          </p:cNvSpPr>
          <p:nvPr/>
        </p:nvSpPr>
        <p:spPr bwMode="auto">
          <a:xfrm>
            <a:off x="467544" y="1440160"/>
            <a:ext cx="8147248" cy="458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US" sz="2100" dirty="0">
                <a:latin typeface="Times New Roman" panose="02020603050405020304" pitchFamily="18" charset="0"/>
                <a:cs typeface="Times New Roman" panose="02020603050405020304" pitchFamily="18" charset="0"/>
              </a:rPr>
              <a:t>In this unit you learnt that:</a:t>
            </a:r>
          </a:p>
          <a:p>
            <a:pPr marL="900113">
              <a:buFont typeface="Wingdings" panose="05000000000000000000" pitchFamily="2" charset="2"/>
              <a:buChar char="Ø"/>
            </a:pPr>
            <a:r>
              <a:rPr lang="en-US" sz="2100" dirty="0" smtClean="0">
                <a:latin typeface="Times New Roman" panose="02020603050405020304" pitchFamily="18" charset="0"/>
                <a:cs typeface="Times New Roman" panose="02020603050405020304" pitchFamily="18" charset="0"/>
              </a:rPr>
              <a:t>The </a:t>
            </a:r>
            <a:r>
              <a:rPr lang="en-US" sz="2100" dirty="0">
                <a:latin typeface="Times New Roman" panose="02020603050405020304" pitchFamily="18" charset="0"/>
                <a:cs typeface="Times New Roman" panose="02020603050405020304" pitchFamily="18" charset="0"/>
              </a:rPr>
              <a:t>concepts of Internet and WWW brought a lot of opportunities, where you </a:t>
            </a:r>
            <a:r>
              <a:rPr lang="en-US" sz="2100" dirty="0" smtClean="0">
                <a:latin typeface="Times New Roman" panose="02020603050405020304" pitchFamily="18" charset="0"/>
                <a:cs typeface="Times New Roman" panose="02020603050405020304" pitchFamily="18" charset="0"/>
              </a:rPr>
              <a:t>can exchange </a:t>
            </a:r>
            <a:r>
              <a:rPr lang="en-US" sz="2100" dirty="0">
                <a:latin typeface="Times New Roman" panose="02020603050405020304" pitchFamily="18" charset="0"/>
                <a:cs typeface="Times New Roman" panose="02020603050405020304" pitchFamily="18" charset="0"/>
              </a:rPr>
              <a:t>documents and now use applications on the fly.</a:t>
            </a:r>
          </a:p>
          <a:p>
            <a:pPr marL="900113">
              <a:buFont typeface="Wingdings" panose="05000000000000000000" pitchFamily="2" charset="2"/>
              <a:buChar char="Ø"/>
            </a:pPr>
            <a:r>
              <a:rPr lang="en-US" sz="2100" dirty="0" smtClean="0">
                <a:latin typeface="Times New Roman" panose="02020603050405020304" pitchFamily="18" charset="0"/>
                <a:cs typeface="Times New Roman" panose="02020603050405020304" pitchFamily="18" charset="0"/>
              </a:rPr>
              <a:t>Web </a:t>
            </a:r>
            <a:r>
              <a:rPr lang="en-US" sz="2100" dirty="0">
                <a:latin typeface="Times New Roman" panose="02020603050405020304" pitchFamily="18" charset="0"/>
                <a:cs typeface="Times New Roman" panose="02020603050405020304" pitchFamily="18" charset="0"/>
              </a:rPr>
              <a:t>based applications provide and ease to the high cost of maintaining software </a:t>
            </a:r>
            <a:r>
              <a:rPr lang="en-US" sz="2100" dirty="0" smtClean="0">
                <a:latin typeface="Times New Roman" panose="02020603050405020304" pitchFamily="18" charset="0"/>
                <a:cs typeface="Times New Roman" panose="02020603050405020304" pitchFamily="18" charset="0"/>
              </a:rPr>
              <a:t>and the </a:t>
            </a:r>
            <a:r>
              <a:rPr lang="en-US" sz="2100" dirty="0">
                <a:latin typeface="Times New Roman" panose="02020603050405020304" pitchFamily="18" charset="0"/>
                <a:cs typeface="Times New Roman" panose="02020603050405020304" pitchFamily="18" charset="0"/>
              </a:rPr>
              <a:t>ICT department of most organizations.</a:t>
            </a:r>
          </a:p>
          <a:p>
            <a:pPr marL="900113">
              <a:buFont typeface="Wingdings" panose="05000000000000000000" pitchFamily="2" charset="2"/>
              <a:buChar char="Ø"/>
            </a:pPr>
            <a:r>
              <a:rPr lang="en-US" sz="2100" dirty="0" smtClean="0">
                <a:latin typeface="Times New Roman" panose="02020603050405020304" pitchFamily="18" charset="0"/>
                <a:cs typeface="Times New Roman" panose="02020603050405020304" pitchFamily="18" charset="0"/>
              </a:rPr>
              <a:t>One </a:t>
            </a:r>
            <a:r>
              <a:rPr lang="en-US" sz="2100" dirty="0">
                <a:latin typeface="Times New Roman" panose="02020603050405020304" pitchFamily="18" charset="0"/>
                <a:cs typeface="Times New Roman" panose="02020603050405020304" pitchFamily="18" charset="0"/>
              </a:rPr>
              <a:t>challenge relates to privacy and security of personal data stored as an ASP.</a:t>
            </a:r>
          </a:p>
          <a:p>
            <a:pPr marL="900113">
              <a:buFont typeface="Wingdings" panose="05000000000000000000" pitchFamily="2" charset="2"/>
              <a:buChar char="Ø"/>
            </a:pPr>
            <a:r>
              <a:rPr lang="en-US" sz="2100" dirty="0" smtClean="0">
                <a:latin typeface="Times New Roman" panose="02020603050405020304" pitchFamily="18" charset="0"/>
                <a:cs typeface="Times New Roman" panose="02020603050405020304" pitchFamily="18" charset="0"/>
              </a:rPr>
              <a:t>To </a:t>
            </a:r>
            <a:r>
              <a:rPr lang="en-US" sz="2100" dirty="0">
                <a:latin typeface="Times New Roman" panose="02020603050405020304" pitchFamily="18" charset="0"/>
                <a:cs typeface="Times New Roman" panose="02020603050405020304" pitchFamily="18" charset="0"/>
              </a:rPr>
              <a:t>use the Web application you need to- Register, Access the application and </a:t>
            </a:r>
            <a:r>
              <a:rPr lang="en-US" sz="2100" dirty="0" smtClean="0">
                <a:latin typeface="Times New Roman" panose="02020603050405020304" pitchFamily="18" charset="0"/>
                <a:cs typeface="Times New Roman" panose="02020603050405020304" pitchFamily="18" charset="0"/>
              </a:rPr>
              <a:t>the Web-Based </a:t>
            </a:r>
            <a:r>
              <a:rPr lang="en-US" sz="2100" dirty="0">
                <a:latin typeface="Times New Roman" panose="02020603050405020304" pitchFamily="18" charset="0"/>
                <a:cs typeface="Times New Roman" panose="02020603050405020304" pitchFamily="18" charset="0"/>
              </a:rPr>
              <a:t>Desktop</a:t>
            </a:r>
            <a:endParaRPr lang="en-US" sz="21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8012235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43AEFA3-0843-4CFF-AA77-BB416BFA9B54}"/>
              </a:ext>
            </a:extLst>
          </p:cNvPr>
          <p:cNvSpPr txBox="1">
            <a:spLocks noChangeArrowheads="1"/>
          </p:cNvSpPr>
          <p:nvPr/>
        </p:nvSpPr>
        <p:spPr bwMode="auto">
          <a:xfrm>
            <a:off x="374848" y="3284984"/>
            <a:ext cx="8382000" cy="1584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pPr marL="14288">
              <a:lnSpc>
                <a:spcPct val="150000"/>
              </a:lnSpc>
            </a:pPr>
            <a:r>
              <a:rPr lang="en-US" sz="4400" b="1" dirty="0" smtClean="0">
                <a:latin typeface="Times New Roman" panose="02020603050405020304" pitchFamily="18" charset="0"/>
                <a:cs typeface="Times New Roman" panose="02020603050405020304" pitchFamily="18" charset="0"/>
              </a:rPr>
              <a:t>INFORMATION SYSTEMS IN THE ENTERPRISE</a:t>
            </a:r>
            <a:endParaRPr lang="en-US" sz="4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8382779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r>
              <a:rPr lang="en-US" sz="4800" b="1" dirty="0" smtClean="0"/>
              <a:t>INFORMATION SYSTEM</a:t>
            </a:r>
            <a:endParaRPr lang="en-US" sz="4800" b="1" dirty="0"/>
          </a:p>
        </p:txBody>
      </p:sp>
      <p:sp>
        <p:nvSpPr>
          <p:cNvPr id="5" name="Rectangle 3"/>
          <p:cNvSpPr txBox="1">
            <a:spLocks noChangeArrowheads="1"/>
          </p:cNvSpPr>
          <p:nvPr/>
        </p:nvSpPr>
        <p:spPr bwMode="auto">
          <a:xfrm>
            <a:off x="467544" y="1440160"/>
            <a:ext cx="8147248" cy="458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3200" dirty="0" smtClean="0">
                <a:latin typeface="Times New Roman" panose="02020603050405020304" pitchFamily="18" charset="0"/>
                <a:cs typeface="Times New Roman" panose="02020603050405020304" pitchFamily="18" charset="0"/>
              </a:rPr>
              <a:t>A </a:t>
            </a:r>
            <a:r>
              <a:rPr lang="en-US" sz="3200" dirty="0">
                <a:latin typeface="Times New Roman" panose="02020603050405020304" pitchFamily="18" charset="0"/>
                <a:cs typeface="Times New Roman" panose="02020603050405020304" pitchFamily="18" charset="0"/>
              </a:rPr>
              <a:t>system in which data and information flow from one person </a:t>
            </a:r>
            <a:r>
              <a:rPr lang="en-US" sz="3200" dirty="0" smtClean="0">
                <a:latin typeface="Times New Roman" panose="02020603050405020304" pitchFamily="18" charset="0"/>
                <a:cs typeface="Times New Roman" panose="02020603050405020304" pitchFamily="18" charset="0"/>
              </a:rPr>
              <a:t>or department </a:t>
            </a:r>
            <a:r>
              <a:rPr lang="en-US" sz="3200" dirty="0">
                <a:latin typeface="Times New Roman" panose="02020603050405020304" pitchFamily="18" charset="0"/>
                <a:cs typeface="Times New Roman" panose="02020603050405020304" pitchFamily="18" charset="0"/>
              </a:rPr>
              <a:t>to another.</a:t>
            </a:r>
            <a:endParaRPr lang="en-US" sz="32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746419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r>
              <a:rPr lang="en-US" b="1" dirty="0"/>
              <a:t>ENTERPRISE INFORMATION SYSTEMS</a:t>
            </a:r>
          </a:p>
        </p:txBody>
      </p:sp>
      <p:sp>
        <p:nvSpPr>
          <p:cNvPr id="5" name="Rectangle 3"/>
          <p:cNvSpPr txBox="1">
            <a:spLocks noChangeArrowheads="1"/>
          </p:cNvSpPr>
          <p:nvPr/>
        </p:nvSpPr>
        <p:spPr bwMode="auto">
          <a:xfrm>
            <a:off x="457200" y="1483402"/>
            <a:ext cx="8147248" cy="5185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2300" b="1" i="1" dirty="0" smtClean="0">
                <a:latin typeface="Times New Roman" panose="02020603050405020304" pitchFamily="18" charset="0"/>
                <a:cs typeface="Times New Roman" panose="02020603050405020304" pitchFamily="18" charset="0"/>
              </a:rPr>
              <a:t>Enterprise </a:t>
            </a:r>
            <a:r>
              <a:rPr lang="en-US" sz="2300" b="1" i="1" dirty="0">
                <a:latin typeface="Times New Roman" panose="02020603050405020304" pitchFamily="18" charset="0"/>
                <a:cs typeface="Times New Roman" panose="02020603050405020304" pitchFamily="18" charset="0"/>
              </a:rPr>
              <a:t>Information System/Business Information System: </a:t>
            </a:r>
            <a:endParaRPr lang="en-US" sz="2300" b="1" i="1" dirty="0" smtClean="0">
              <a:latin typeface="Times New Roman" panose="02020603050405020304" pitchFamily="18" charset="0"/>
              <a:cs typeface="Times New Roman" panose="02020603050405020304" pitchFamily="18" charset="0"/>
            </a:endParaRPr>
          </a:p>
          <a:p>
            <a:pPr marL="365125" indent="0">
              <a:lnSpc>
                <a:spcPct val="200000"/>
              </a:lnSpc>
              <a:buNone/>
            </a:pPr>
            <a:r>
              <a:rPr lang="en-US" sz="2300" dirty="0" smtClean="0">
                <a:latin typeface="Times New Roman" panose="02020603050405020304" pitchFamily="18" charset="0"/>
                <a:cs typeface="Times New Roman" panose="02020603050405020304" pitchFamily="18" charset="0"/>
              </a:rPr>
              <a:t>Used </a:t>
            </a:r>
            <a:r>
              <a:rPr lang="en-US" sz="2300" dirty="0">
                <a:latin typeface="Times New Roman" panose="02020603050405020304" pitchFamily="18" charset="0"/>
                <a:cs typeface="Times New Roman" panose="02020603050405020304" pitchFamily="18" charset="0"/>
              </a:rPr>
              <a:t>to refer to </a:t>
            </a:r>
            <a:r>
              <a:rPr lang="en-US" sz="2300" dirty="0" smtClean="0">
                <a:latin typeface="Times New Roman" panose="02020603050405020304" pitchFamily="18" charset="0"/>
                <a:cs typeface="Times New Roman" panose="02020603050405020304" pitchFamily="18" charset="0"/>
              </a:rPr>
              <a:t>the family </a:t>
            </a:r>
            <a:r>
              <a:rPr lang="en-US" sz="2300" dirty="0">
                <a:latin typeface="Times New Roman" panose="02020603050405020304" pitchFamily="18" charset="0"/>
                <a:cs typeface="Times New Roman" panose="02020603050405020304" pitchFamily="18" charset="0"/>
              </a:rPr>
              <a:t>of IT applications that underlies the activities of running and managing </a:t>
            </a:r>
            <a:r>
              <a:rPr lang="en-US" sz="2300" dirty="0" smtClean="0">
                <a:latin typeface="Times New Roman" panose="02020603050405020304" pitchFamily="18" charset="0"/>
                <a:cs typeface="Times New Roman" panose="02020603050405020304" pitchFamily="18" charset="0"/>
              </a:rPr>
              <a:t>a business</a:t>
            </a:r>
            <a:r>
              <a:rPr lang="en-US" sz="2300" dirty="0">
                <a:latin typeface="Times New Roman" panose="02020603050405020304" pitchFamily="18" charset="0"/>
                <a:cs typeface="Times New Roman" panose="02020603050405020304" pitchFamily="18" charset="0"/>
              </a:rPr>
              <a:t>.</a:t>
            </a:r>
          </a:p>
          <a:p>
            <a:pPr>
              <a:lnSpc>
                <a:spcPct val="200000"/>
              </a:lnSpc>
            </a:pPr>
            <a:r>
              <a:rPr lang="en-US" sz="2300" b="1" i="1" dirty="0" smtClean="0">
                <a:latin typeface="Times New Roman" panose="02020603050405020304" pitchFamily="18" charset="0"/>
                <a:cs typeface="Times New Roman" panose="02020603050405020304" pitchFamily="18" charset="0"/>
              </a:rPr>
              <a:t>Transaction-Processing </a:t>
            </a:r>
            <a:r>
              <a:rPr lang="en-US" sz="2300" b="1" i="1" dirty="0">
                <a:latin typeface="Times New Roman" panose="02020603050405020304" pitchFamily="18" charset="0"/>
                <a:cs typeface="Times New Roman" panose="02020603050405020304" pitchFamily="18" charset="0"/>
              </a:rPr>
              <a:t>System (TPS): </a:t>
            </a:r>
            <a:endParaRPr lang="en-US" sz="2300" b="1" i="1" dirty="0" smtClean="0">
              <a:latin typeface="Times New Roman" panose="02020603050405020304" pitchFamily="18" charset="0"/>
              <a:cs typeface="Times New Roman" panose="02020603050405020304" pitchFamily="18" charset="0"/>
            </a:endParaRPr>
          </a:p>
          <a:p>
            <a:pPr marL="365125" indent="0">
              <a:lnSpc>
                <a:spcPct val="200000"/>
              </a:lnSpc>
              <a:buNone/>
            </a:pPr>
            <a:r>
              <a:rPr lang="en-US" sz="2300" dirty="0" smtClean="0">
                <a:latin typeface="Times New Roman" panose="02020603050405020304" pitchFamily="18" charset="0"/>
                <a:cs typeface="Times New Roman" panose="02020603050405020304" pitchFamily="18" charset="0"/>
              </a:rPr>
              <a:t>A </a:t>
            </a:r>
            <a:r>
              <a:rPr lang="en-US" sz="2300" dirty="0">
                <a:latin typeface="Times New Roman" panose="02020603050405020304" pitchFamily="18" charset="0"/>
                <a:cs typeface="Times New Roman" panose="02020603050405020304" pitchFamily="18" charset="0"/>
              </a:rPr>
              <a:t>shared business information system </a:t>
            </a:r>
            <a:r>
              <a:rPr lang="en-US" sz="2300" dirty="0" smtClean="0">
                <a:latin typeface="Times New Roman" panose="02020603050405020304" pitchFamily="18" charset="0"/>
                <a:cs typeface="Times New Roman" panose="02020603050405020304" pitchFamily="18" charset="0"/>
              </a:rPr>
              <a:t>that uses </a:t>
            </a:r>
            <a:r>
              <a:rPr lang="en-US" sz="2300" dirty="0">
                <a:latin typeface="Times New Roman" panose="02020603050405020304" pitchFamily="18" charset="0"/>
                <a:cs typeface="Times New Roman" panose="02020603050405020304" pitchFamily="18" charset="0"/>
              </a:rPr>
              <a:t>a combination of information communication technology and manual </a:t>
            </a:r>
            <a:r>
              <a:rPr lang="en-US" sz="2300" dirty="0" smtClean="0">
                <a:latin typeface="Times New Roman" panose="02020603050405020304" pitchFamily="18" charset="0"/>
                <a:cs typeface="Times New Roman" panose="02020603050405020304" pitchFamily="18" charset="0"/>
              </a:rPr>
              <a:t>procedures to </a:t>
            </a:r>
            <a:r>
              <a:rPr lang="en-US" sz="2300" dirty="0">
                <a:latin typeface="Times New Roman" panose="02020603050405020304" pitchFamily="18" charset="0"/>
                <a:cs typeface="Times New Roman" panose="02020603050405020304" pitchFamily="18" charset="0"/>
              </a:rPr>
              <a:t>process data and information and to manage transactions.</a:t>
            </a:r>
            <a:endParaRPr lang="en-US" sz="23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853758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r>
              <a:rPr lang="en-US" sz="2800" b="1" dirty="0">
                <a:latin typeface="Times New Roman" panose="02020603050405020304" pitchFamily="18" charset="0"/>
                <a:cs typeface="Times New Roman" panose="02020603050405020304" pitchFamily="18" charset="0"/>
              </a:rPr>
              <a:t>THE TRANSACTION-PROCESSING SEQUENCE AND TPS OUTPUT AND REPORTS</a:t>
            </a:r>
          </a:p>
        </p:txBody>
      </p:sp>
      <p:sp>
        <p:nvSpPr>
          <p:cNvPr id="5" name="Rectangle 3"/>
          <p:cNvSpPr txBox="1">
            <a:spLocks noChangeArrowheads="1"/>
          </p:cNvSpPr>
          <p:nvPr/>
        </p:nvSpPr>
        <p:spPr bwMode="auto">
          <a:xfrm>
            <a:off x="457200" y="1483402"/>
            <a:ext cx="8147248" cy="5185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2100" b="1" i="1" dirty="0" smtClean="0">
                <a:latin typeface="Times New Roman" panose="02020603050405020304" pitchFamily="18" charset="0"/>
                <a:cs typeface="Times New Roman" panose="02020603050405020304" pitchFamily="18" charset="0"/>
              </a:rPr>
              <a:t>Action </a:t>
            </a:r>
            <a:r>
              <a:rPr lang="en-US" sz="2100" b="1" i="1" dirty="0">
                <a:latin typeface="Times New Roman" panose="02020603050405020304" pitchFamily="18" charset="0"/>
                <a:cs typeface="Times New Roman" panose="02020603050405020304" pitchFamily="18" charset="0"/>
              </a:rPr>
              <a:t>Document: </a:t>
            </a:r>
            <a:r>
              <a:rPr lang="en-US" sz="2100" dirty="0">
                <a:latin typeface="Times New Roman" panose="02020603050405020304" pitchFamily="18" charset="0"/>
                <a:cs typeface="Times New Roman" panose="02020603050405020304" pitchFamily="18" charset="0"/>
              </a:rPr>
              <a:t>A document designed to trigger a specific action or </a:t>
            </a:r>
            <a:r>
              <a:rPr lang="en-US" sz="2100" dirty="0" smtClean="0">
                <a:latin typeface="Times New Roman" panose="02020603050405020304" pitchFamily="18" charset="0"/>
                <a:cs typeface="Times New Roman" panose="02020603050405020304" pitchFamily="18" charset="0"/>
              </a:rPr>
              <a:t>to signify </a:t>
            </a:r>
            <a:r>
              <a:rPr lang="en-US" sz="2100" dirty="0">
                <a:latin typeface="Times New Roman" panose="02020603050405020304" pitchFamily="18" charset="0"/>
                <a:cs typeface="Times New Roman" panose="02020603050405020304" pitchFamily="18" charset="0"/>
              </a:rPr>
              <a:t>that a transaction has taken place.</a:t>
            </a:r>
          </a:p>
          <a:p>
            <a:pPr>
              <a:lnSpc>
                <a:spcPct val="200000"/>
              </a:lnSpc>
            </a:pPr>
            <a:r>
              <a:rPr lang="en-US" sz="2100" b="1" i="1" dirty="0" smtClean="0">
                <a:latin typeface="Times New Roman" panose="02020603050405020304" pitchFamily="18" charset="0"/>
                <a:cs typeface="Times New Roman" panose="02020603050405020304" pitchFamily="18" charset="0"/>
              </a:rPr>
              <a:t>Detail </a:t>
            </a:r>
            <a:r>
              <a:rPr lang="en-US" sz="2100" b="1" i="1" dirty="0">
                <a:latin typeface="Times New Roman" panose="02020603050405020304" pitchFamily="18" charset="0"/>
                <a:cs typeface="Times New Roman" panose="02020603050405020304" pitchFamily="18" charset="0"/>
              </a:rPr>
              <a:t>Report/Transaction Log: </a:t>
            </a:r>
            <a:r>
              <a:rPr lang="en-US" sz="2100" dirty="0">
                <a:latin typeface="Times New Roman" panose="02020603050405020304" pitchFamily="18" charset="0"/>
                <a:cs typeface="Times New Roman" panose="02020603050405020304" pitchFamily="18" charset="0"/>
              </a:rPr>
              <a:t>A report describing each </a:t>
            </a:r>
            <a:r>
              <a:rPr lang="en-US" sz="2100" dirty="0" smtClean="0">
                <a:latin typeface="Times New Roman" panose="02020603050405020304" pitchFamily="18" charset="0"/>
                <a:cs typeface="Times New Roman" panose="02020603050405020304" pitchFamily="18" charset="0"/>
              </a:rPr>
              <a:t>processed transaction</a:t>
            </a:r>
            <a:r>
              <a:rPr lang="en-US" sz="2100" dirty="0">
                <a:latin typeface="Times New Roman" panose="02020603050405020304" pitchFamily="18" charset="0"/>
                <a:cs typeface="Times New Roman" panose="02020603050405020304" pitchFamily="18" charset="0"/>
              </a:rPr>
              <a:t>.</a:t>
            </a:r>
          </a:p>
          <a:p>
            <a:pPr>
              <a:lnSpc>
                <a:spcPct val="200000"/>
              </a:lnSpc>
            </a:pPr>
            <a:r>
              <a:rPr lang="en-US" sz="2100" b="1" i="1" dirty="0" smtClean="0">
                <a:latin typeface="Times New Roman" panose="02020603050405020304" pitchFamily="18" charset="0"/>
                <a:cs typeface="Times New Roman" panose="02020603050405020304" pitchFamily="18" charset="0"/>
              </a:rPr>
              <a:t>Summary </a:t>
            </a:r>
            <a:r>
              <a:rPr lang="en-US" sz="2100" b="1" i="1" dirty="0">
                <a:latin typeface="Times New Roman" panose="02020603050405020304" pitchFamily="18" charset="0"/>
                <a:cs typeface="Times New Roman" panose="02020603050405020304" pitchFamily="18" charset="0"/>
              </a:rPr>
              <a:t>Report: </a:t>
            </a:r>
            <a:r>
              <a:rPr lang="en-US" sz="2100" dirty="0">
                <a:latin typeface="Times New Roman" panose="02020603050405020304" pitchFamily="18" charset="0"/>
                <a:cs typeface="Times New Roman" panose="02020603050405020304" pitchFamily="18" charset="0"/>
              </a:rPr>
              <a:t>A report that shows the overall results of processing for </a:t>
            </a:r>
            <a:r>
              <a:rPr lang="en-US" sz="2100" dirty="0" smtClean="0">
                <a:latin typeface="Times New Roman" panose="02020603050405020304" pitchFamily="18" charset="0"/>
                <a:cs typeface="Times New Roman" panose="02020603050405020304" pitchFamily="18" charset="0"/>
              </a:rPr>
              <a:t>a period </a:t>
            </a:r>
            <a:r>
              <a:rPr lang="en-US" sz="2100" dirty="0">
                <a:latin typeface="Times New Roman" panose="02020603050405020304" pitchFamily="18" charset="0"/>
                <a:cs typeface="Times New Roman" panose="02020603050405020304" pitchFamily="18" charset="0"/>
              </a:rPr>
              <a:t>of time or for a batch of transactions and includes a grand total for </a:t>
            </a:r>
            <a:r>
              <a:rPr lang="en-US" sz="2100" dirty="0" smtClean="0">
                <a:latin typeface="Times New Roman" panose="02020603050405020304" pitchFamily="18" charset="0"/>
                <a:cs typeface="Times New Roman" panose="02020603050405020304" pitchFamily="18" charset="0"/>
              </a:rPr>
              <a:t>all listed </a:t>
            </a:r>
            <a:r>
              <a:rPr lang="en-US" sz="2100" dirty="0">
                <a:latin typeface="Times New Roman" panose="02020603050405020304" pitchFamily="18" charset="0"/>
                <a:cs typeface="Times New Roman" panose="02020603050405020304" pitchFamily="18" charset="0"/>
              </a:rPr>
              <a:t>transactions and the average transaction amount</a:t>
            </a:r>
            <a:r>
              <a:rPr lang="en-US" sz="2100" dirty="0" smtClean="0">
                <a:latin typeface="Times New Roman" panose="02020603050405020304" pitchFamily="18" charset="0"/>
                <a:cs typeface="Times New Roman" panose="02020603050405020304" pitchFamily="18" charset="0"/>
              </a:rPr>
              <a:t>.</a:t>
            </a:r>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9091138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r>
              <a:rPr lang="en-US" sz="2800" b="1" dirty="0">
                <a:latin typeface="Times New Roman" panose="02020603050405020304" pitchFamily="18" charset="0"/>
                <a:cs typeface="Times New Roman" panose="02020603050405020304" pitchFamily="18" charset="0"/>
              </a:rPr>
              <a:t>THE TRANSACTION-PROCESSING SEQUENCE AND TPS OUTPUT AND REPORTS</a:t>
            </a:r>
          </a:p>
        </p:txBody>
      </p:sp>
      <p:sp>
        <p:nvSpPr>
          <p:cNvPr id="5" name="Rectangle 3"/>
          <p:cNvSpPr txBox="1">
            <a:spLocks noChangeArrowheads="1"/>
          </p:cNvSpPr>
          <p:nvPr/>
        </p:nvSpPr>
        <p:spPr bwMode="auto">
          <a:xfrm>
            <a:off x="457200" y="1483402"/>
            <a:ext cx="8147248" cy="5185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2300" b="1" i="1" dirty="0" smtClean="0">
                <a:latin typeface="Times New Roman" panose="02020603050405020304" pitchFamily="18" charset="0"/>
                <a:cs typeface="Times New Roman" panose="02020603050405020304" pitchFamily="18" charset="0"/>
              </a:rPr>
              <a:t>Exception </a:t>
            </a:r>
            <a:r>
              <a:rPr lang="en-US" sz="2300" b="1" i="1" dirty="0">
                <a:latin typeface="Times New Roman" panose="02020603050405020304" pitchFamily="18" charset="0"/>
                <a:cs typeface="Times New Roman" panose="02020603050405020304" pitchFamily="18" charset="0"/>
              </a:rPr>
              <a:t>Report: </a:t>
            </a:r>
            <a:r>
              <a:rPr lang="en-US" sz="2300" dirty="0">
                <a:latin typeface="Times New Roman" panose="02020603050405020304" pitchFamily="18" charset="0"/>
                <a:cs typeface="Times New Roman" panose="02020603050405020304" pitchFamily="18" charset="0"/>
              </a:rPr>
              <a:t>A report that lists unusual, erroneous, or </a:t>
            </a:r>
            <a:r>
              <a:rPr lang="en-US" sz="2300" dirty="0" smtClean="0">
                <a:latin typeface="Times New Roman" panose="02020603050405020304" pitchFamily="18" charset="0"/>
                <a:cs typeface="Times New Roman" panose="02020603050405020304" pitchFamily="18" charset="0"/>
              </a:rPr>
              <a:t>unacceptable transactions </a:t>
            </a:r>
            <a:r>
              <a:rPr lang="en-US" sz="2300" dirty="0">
                <a:latin typeface="Times New Roman" panose="02020603050405020304" pitchFamily="18" charset="0"/>
                <a:cs typeface="Times New Roman" panose="02020603050405020304" pitchFamily="18" charset="0"/>
              </a:rPr>
              <a:t>or results.</a:t>
            </a:r>
          </a:p>
          <a:p>
            <a:pPr>
              <a:lnSpc>
                <a:spcPct val="200000"/>
              </a:lnSpc>
            </a:pPr>
            <a:r>
              <a:rPr lang="en-US" sz="2300" b="1" i="1" dirty="0" smtClean="0">
                <a:latin typeface="Times New Roman" panose="02020603050405020304" pitchFamily="18" charset="0"/>
                <a:cs typeface="Times New Roman" panose="02020603050405020304" pitchFamily="18" charset="0"/>
              </a:rPr>
              <a:t>Updated </a:t>
            </a:r>
            <a:r>
              <a:rPr lang="en-US" sz="2300" b="1" i="1" dirty="0">
                <a:latin typeface="Times New Roman" panose="02020603050405020304" pitchFamily="18" charset="0"/>
                <a:cs typeface="Times New Roman" panose="02020603050405020304" pitchFamily="18" charset="0"/>
              </a:rPr>
              <a:t>Master Data</a:t>
            </a:r>
            <a:r>
              <a:rPr lang="en-US" sz="2300" b="1"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An adjustment of all records in a system in response </a:t>
            </a:r>
            <a:r>
              <a:rPr lang="en-US" sz="2300" dirty="0" smtClean="0">
                <a:latin typeface="Times New Roman" panose="02020603050405020304" pitchFamily="18" charset="0"/>
                <a:cs typeface="Times New Roman" panose="02020603050405020304" pitchFamily="18" charset="0"/>
              </a:rPr>
              <a:t>to a </a:t>
            </a:r>
            <a:r>
              <a:rPr lang="en-US" sz="2300" dirty="0">
                <a:latin typeface="Times New Roman" panose="02020603050405020304" pitchFamily="18" charset="0"/>
                <a:cs typeface="Times New Roman" panose="02020603050405020304" pitchFamily="18" charset="0"/>
              </a:rPr>
              <a:t>processed transaction.</a:t>
            </a:r>
            <a:endParaRPr lang="en-US" sz="23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009047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r>
              <a:rPr lang="en-US" sz="6600" b="1" dirty="0"/>
              <a:t>Characteristics of TPS</a:t>
            </a:r>
            <a:endParaRPr lang="en-US" sz="6600" b="1" dirty="0">
              <a:latin typeface="Times New Roman" panose="02020603050405020304" pitchFamily="18" charset="0"/>
              <a:cs typeface="Times New Roman" panose="02020603050405020304" pitchFamily="18" charset="0"/>
            </a:endParaRPr>
          </a:p>
        </p:txBody>
      </p:sp>
      <p:sp>
        <p:nvSpPr>
          <p:cNvPr id="5" name="Rectangle 3"/>
          <p:cNvSpPr txBox="1">
            <a:spLocks noChangeArrowheads="1"/>
          </p:cNvSpPr>
          <p:nvPr/>
        </p:nvSpPr>
        <p:spPr bwMode="auto">
          <a:xfrm>
            <a:off x="457200" y="1483402"/>
            <a:ext cx="8147248" cy="5185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2300" dirty="0" smtClean="0">
                <a:latin typeface="Times New Roman" panose="02020603050405020304" pitchFamily="18" charset="0"/>
                <a:cs typeface="Times New Roman" panose="02020603050405020304" pitchFamily="18" charset="0"/>
              </a:rPr>
              <a:t>Processes </a:t>
            </a:r>
            <a:r>
              <a:rPr lang="en-US" sz="2300" dirty="0">
                <a:latin typeface="Times New Roman" panose="02020603050405020304" pitchFamily="18" charset="0"/>
                <a:cs typeface="Times New Roman" panose="02020603050405020304" pitchFamily="18" charset="0"/>
              </a:rPr>
              <a:t>high volume of similar business transactions</a:t>
            </a:r>
          </a:p>
          <a:p>
            <a:pPr>
              <a:lnSpc>
                <a:spcPct val="200000"/>
              </a:lnSpc>
            </a:pPr>
            <a:r>
              <a:rPr lang="en-US" sz="2300" dirty="0" smtClean="0">
                <a:latin typeface="Times New Roman" panose="02020603050405020304" pitchFamily="18" charset="0"/>
                <a:cs typeface="Times New Roman" panose="02020603050405020304" pitchFamily="18" charset="0"/>
              </a:rPr>
              <a:t>Supports </a:t>
            </a:r>
            <a:r>
              <a:rPr lang="en-US" sz="2300" dirty="0">
                <a:latin typeface="Times New Roman" panose="02020603050405020304" pitchFamily="18" charset="0"/>
                <a:cs typeface="Times New Roman" panose="02020603050405020304" pitchFamily="18" charset="0"/>
              </a:rPr>
              <a:t>multiple users in routine, everyday transactions</a:t>
            </a:r>
          </a:p>
          <a:p>
            <a:pPr>
              <a:lnSpc>
                <a:spcPct val="200000"/>
              </a:lnSpc>
            </a:pPr>
            <a:r>
              <a:rPr lang="en-US" sz="2300" dirty="0" smtClean="0">
                <a:latin typeface="Times New Roman" panose="02020603050405020304" pitchFamily="18" charset="0"/>
                <a:cs typeface="Times New Roman" panose="02020603050405020304" pitchFamily="18" charset="0"/>
              </a:rPr>
              <a:t>Use </a:t>
            </a:r>
            <a:r>
              <a:rPr lang="en-US" sz="2300" dirty="0">
                <a:latin typeface="Times New Roman" panose="02020603050405020304" pitchFamily="18" charset="0"/>
                <a:cs typeface="Times New Roman" panose="02020603050405020304" pitchFamily="18" charset="0"/>
              </a:rPr>
              <a:t>relatively simple procedures to control processing and to ensure accuracy</a:t>
            </a:r>
          </a:p>
          <a:p>
            <a:pPr>
              <a:lnSpc>
                <a:spcPct val="200000"/>
              </a:lnSpc>
            </a:pPr>
            <a:r>
              <a:rPr lang="en-US" sz="2300" dirty="0" smtClean="0">
                <a:latin typeface="Times New Roman" panose="02020603050405020304" pitchFamily="18" charset="0"/>
                <a:cs typeface="Times New Roman" panose="02020603050405020304" pitchFamily="18" charset="0"/>
              </a:rPr>
              <a:t>Produces </a:t>
            </a:r>
            <a:r>
              <a:rPr lang="en-US" sz="2300" dirty="0">
                <a:latin typeface="Times New Roman" panose="02020603050405020304" pitchFamily="18" charset="0"/>
                <a:cs typeface="Times New Roman" panose="02020603050405020304" pitchFamily="18" charset="0"/>
              </a:rPr>
              <a:t>documents and reports</a:t>
            </a:r>
          </a:p>
          <a:p>
            <a:pPr>
              <a:lnSpc>
                <a:spcPct val="200000"/>
              </a:lnSpc>
            </a:pPr>
            <a:r>
              <a:rPr lang="en-US" sz="2300" dirty="0" smtClean="0">
                <a:latin typeface="Times New Roman" panose="02020603050405020304" pitchFamily="18" charset="0"/>
                <a:cs typeface="Times New Roman" panose="02020603050405020304" pitchFamily="18" charset="0"/>
              </a:rPr>
              <a:t>Updates </a:t>
            </a:r>
            <a:r>
              <a:rPr lang="en-US" sz="2300" dirty="0">
                <a:latin typeface="Times New Roman" panose="02020603050405020304" pitchFamily="18" charset="0"/>
                <a:cs typeface="Times New Roman" panose="02020603050405020304" pitchFamily="18" charset="0"/>
              </a:rPr>
              <a:t>files and databases</a:t>
            </a:r>
            <a:endParaRPr lang="en-US" sz="23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093219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r>
              <a:rPr lang="en-US" b="1" dirty="0"/>
              <a:t>The Transaction-Processing Sequence and TPS Output</a:t>
            </a:r>
            <a:endParaRPr lang="en-US" sz="6600" b="1"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611560" y="1484785"/>
            <a:ext cx="7920880" cy="5184575"/>
          </a:xfrm>
          <a:prstGeom prst="rect">
            <a:avLst/>
          </a:prstGeom>
        </p:spPr>
      </p:pic>
    </p:spTree>
    <p:extLst>
      <p:ext uri="{BB962C8B-B14F-4D97-AF65-F5344CB8AC3E}">
        <p14:creationId xmlns:p14="http://schemas.microsoft.com/office/powerpoint/2010/main" val="259201277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txBox="1">
            <a:spLocks noChangeArrowheads="1"/>
          </p:cNvSpPr>
          <p:nvPr/>
        </p:nvSpPr>
        <p:spPr bwMode="auto">
          <a:xfrm>
            <a:off x="374848" y="1052736"/>
            <a:ext cx="8229600" cy="1728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r>
              <a:rPr lang="en-US" sz="8800" b="1" kern="0" dirty="0"/>
              <a:t>Week </a:t>
            </a:r>
            <a:r>
              <a:rPr lang="en-US" sz="8800" b="1" kern="0" dirty="0" smtClean="0"/>
              <a:t>12</a:t>
            </a:r>
            <a:endParaRPr lang="en-US" altLang="en-US" sz="8800" kern="0" dirty="0"/>
          </a:p>
        </p:txBody>
      </p:sp>
      <p:sp>
        <p:nvSpPr>
          <p:cNvPr id="3" name="Rectangle 2">
            <a:extLst>
              <a:ext uri="{FF2B5EF4-FFF2-40B4-BE49-F238E27FC236}">
                <a16:creationId xmlns:a16="http://schemas.microsoft.com/office/drawing/2014/main" id="{C43AEFA3-0843-4CFF-AA77-BB416BFA9B54}"/>
              </a:ext>
            </a:extLst>
          </p:cNvPr>
          <p:cNvSpPr txBox="1">
            <a:spLocks noChangeArrowheads="1"/>
          </p:cNvSpPr>
          <p:nvPr/>
        </p:nvSpPr>
        <p:spPr bwMode="auto">
          <a:xfrm>
            <a:off x="374848" y="3212976"/>
            <a:ext cx="8382000" cy="1584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pPr marL="14288">
              <a:lnSpc>
                <a:spcPct val="150000"/>
              </a:lnSpc>
            </a:pPr>
            <a:r>
              <a:rPr lang="en-US" sz="3200" b="1" dirty="0" smtClean="0">
                <a:latin typeface="Comic Sans MS" panose="030F0702030302020204" pitchFamily="66" charset="0"/>
              </a:rPr>
              <a:t>ISSUES IN INFORMATION TECHNOLOGY AND CAREERS IN ICT</a:t>
            </a:r>
            <a:endParaRPr lang="en-US"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001619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488975"/>
            <a:ext cx="8229600" cy="1139825"/>
          </a:xfrm>
        </p:spPr>
        <p:txBody>
          <a:bodyPr>
            <a:noAutofit/>
          </a:bodyPr>
          <a:lstStyle/>
          <a:p>
            <a:pPr algn="ctr">
              <a:defRPr/>
            </a:pPr>
            <a:r>
              <a:rPr lang="en-US" sz="6000" b="1" dirty="0">
                <a:latin typeface="Comic Sans MS" panose="030F0702030302020204" pitchFamily="66" charset="0"/>
              </a:rPr>
              <a:t>Presentation Outline</a:t>
            </a:r>
            <a:r>
              <a:rPr lang="en-GB" sz="6000" b="1" dirty="0">
                <a:latin typeface="Comic Sans MS" panose="030F0702030302020204" pitchFamily="66" charset="0"/>
              </a:rPr>
              <a:t>  </a:t>
            </a:r>
          </a:p>
        </p:txBody>
      </p:sp>
      <p:sp>
        <p:nvSpPr>
          <p:cNvPr id="5" name="Rectangle 3"/>
          <p:cNvSpPr txBox="1">
            <a:spLocks noChangeArrowheads="1"/>
          </p:cNvSpPr>
          <p:nvPr/>
        </p:nvSpPr>
        <p:spPr bwMode="auto">
          <a:xfrm>
            <a:off x="611560" y="1484784"/>
            <a:ext cx="7776864" cy="5373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buFont typeface="Wingdings" panose="05000000000000000000" pitchFamily="2" charset="2"/>
              <a:buChar char="q"/>
            </a:pPr>
            <a:r>
              <a:rPr lang="en-US" sz="1800" b="1" dirty="0">
                <a:latin typeface="Times New Roman" panose="02020603050405020304" pitchFamily="18" charset="0"/>
                <a:cs typeface="Times New Roman" panose="02020603050405020304" pitchFamily="18" charset="0"/>
              </a:rPr>
              <a:t>Security</a:t>
            </a:r>
          </a:p>
          <a:p>
            <a:pPr marL="71755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Types of Security Breach</a:t>
            </a:r>
          </a:p>
          <a:p>
            <a:pPr marL="71755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Results of Security Breach</a:t>
            </a:r>
          </a:p>
          <a:p>
            <a:pPr marL="71755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Sources of Security Breach</a:t>
            </a:r>
          </a:p>
          <a:p>
            <a:pPr marL="71755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Security Measures</a:t>
            </a:r>
          </a:p>
          <a:p>
            <a:pPr>
              <a:buFont typeface="Wingdings" panose="05000000000000000000" pitchFamily="2" charset="2"/>
              <a:buChar char="q"/>
            </a:pPr>
            <a:r>
              <a:rPr lang="en-US" sz="1800" b="1" dirty="0" smtClean="0">
                <a:latin typeface="Times New Roman" panose="02020603050405020304" pitchFamily="18" charset="0"/>
                <a:cs typeface="Times New Roman" panose="02020603050405020304" pitchFamily="18" charset="0"/>
              </a:rPr>
              <a:t>Reliability</a:t>
            </a:r>
            <a:r>
              <a:rPr lang="en-US" sz="1800" b="1" dirty="0">
                <a:latin typeface="Times New Roman" panose="02020603050405020304" pitchFamily="18" charset="0"/>
                <a:cs typeface="Times New Roman" panose="02020603050405020304" pitchFamily="18" charset="0"/>
              </a:rPr>
              <a:t>: Ensuring It Service Reliability</a:t>
            </a:r>
          </a:p>
          <a:p>
            <a:pPr>
              <a:buFont typeface="Wingdings" panose="05000000000000000000" pitchFamily="2" charset="2"/>
              <a:buChar char="q"/>
            </a:pPr>
            <a:r>
              <a:rPr lang="en-US" sz="1800" b="1" dirty="0" smtClean="0">
                <a:latin typeface="Times New Roman" panose="02020603050405020304" pitchFamily="18" charset="0"/>
                <a:cs typeface="Times New Roman" panose="02020603050405020304" pitchFamily="18" charset="0"/>
              </a:rPr>
              <a:t>Ethics</a:t>
            </a:r>
            <a:endParaRPr lang="en-US" sz="1800" b="1" dirty="0">
              <a:latin typeface="Times New Roman" panose="02020603050405020304" pitchFamily="18" charset="0"/>
              <a:cs typeface="Times New Roman" panose="02020603050405020304" pitchFamily="18" charset="0"/>
            </a:endParaRPr>
          </a:p>
          <a:p>
            <a:pPr marL="71755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Ethics and ICT Usage In Business</a:t>
            </a:r>
          </a:p>
          <a:p>
            <a:pPr marL="71755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An Ethics Challenge</a:t>
            </a:r>
          </a:p>
          <a:p>
            <a:pPr>
              <a:buFont typeface="Wingdings" panose="05000000000000000000" pitchFamily="2" charset="2"/>
              <a:buChar char="q"/>
            </a:pPr>
            <a:r>
              <a:rPr lang="en-US" sz="1800" b="1" dirty="0" smtClean="0">
                <a:latin typeface="Times New Roman" panose="02020603050405020304" pitchFamily="18" charset="0"/>
                <a:cs typeface="Times New Roman" panose="02020603050405020304" pitchFamily="18" charset="0"/>
              </a:rPr>
              <a:t>Privacy</a:t>
            </a:r>
            <a:endParaRPr lang="en-US" sz="1800" b="1" dirty="0">
              <a:latin typeface="Times New Roman" panose="02020603050405020304" pitchFamily="18" charset="0"/>
              <a:cs typeface="Times New Roman" panose="02020603050405020304" pitchFamily="18" charset="0"/>
            </a:endParaRPr>
          </a:p>
          <a:p>
            <a:pPr marL="71755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Spam and Privacy</a:t>
            </a:r>
          </a:p>
          <a:p>
            <a:pPr marL="717550">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rPr>
              <a:t>Private Networks</a:t>
            </a:r>
          </a:p>
          <a:p>
            <a:pPr>
              <a:buFont typeface="Wingdings" panose="05000000000000000000" pitchFamily="2" charset="2"/>
              <a:buChar char="q"/>
            </a:pPr>
            <a:r>
              <a:rPr lang="en-US" sz="1800" b="1" dirty="0" smtClean="0">
                <a:latin typeface="Times New Roman" panose="02020603050405020304" pitchFamily="18" charset="0"/>
                <a:cs typeface="Times New Roman" panose="02020603050405020304" pitchFamily="18" charset="0"/>
              </a:rPr>
              <a:t>Digital </a:t>
            </a:r>
            <a:r>
              <a:rPr lang="en-US" sz="1800" b="1" dirty="0">
                <a:latin typeface="Times New Roman" panose="02020603050405020304" pitchFamily="18" charset="0"/>
                <a:cs typeface="Times New Roman" panose="02020603050405020304" pitchFamily="18" charset="0"/>
              </a:rPr>
              <a:t>Piracy: Protecting Against Software Piracy</a:t>
            </a:r>
          </a:p>
          <a:p>
            <a:pPr>
              <a:buFont typeface="Wingdings" panose="05000000000000000000" pitchFamily="2" charset="2"/>
              <a:buChar char="q"/>
            </a:pPr>
            <a:r>
              <a:rPr lang="en-US" sz="1800" b="1" dirty="0" smtClean="0">
                <a:latin typeface="Times New Roman" panose="02020603050405020304" pitchFamily="18" charset="0"/>
                <a:cs typeface="Times New Roman" panose="02020603050405020304" pitchFamily="18" charset="0"/>
              </a:rPr>
              <a:t>Public </a:t>
            </a:r>
            <a:r>
              <a:rPr lang="en-US" sz="1800" b="1" dirty="0">
                <a:latin typeface="Times New Roman" panose="02020603050405020304" pitchFamily="18" charset="0"/>
                <a:cs typeface="Times New Roman" panose="02020603050405020304" pitchFamily="18" charset="0"/>
              </a:rPr>
              <a:t>Domain Software</a:t>
            </a:r>
          </a:p>
          <a:p>
            <a:pPr>
              <a:buFont typeface="Wingdings" panose="05000000000000000000" pitchFamily="2" charset="2"/>
              <a:buChar char="q"/>
            </a:pPr>
            <a:r>
              <a:rPr lang="en-US" sz="1800" b="1" dirty="0" smtClean="0">
                <a:latin typeface="Times New Roman" panose="02020603050405020304" pitchFamily="18" charset="0"/>
                <a:cs typeface="Times New Roman" panose="02020603050405020304" pitchFamily="18" charset="0"/>
              </a:rPr>
              <a:t>Ergonomics</a:t>
            </a:r>
            <a:endParaRPr lang="en-US" sz="18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sz="1800" b="1" dirty="0" smtClean="0">
                <a:latin typeface="Times New Roman" panose="02020603050405020304" pitchFamily="18" charset="0"/>
                <a:cs typeface="Times New Roman" panose="02020603050405020304" pitchFamily="18" charset="0"/>
              </a:rPr>
              <a:t>The </a:t>
            </a:r>
            <a:r>
              <a:rPr lang="en-US" sz="1800" b="1" dirty="0">
                <a:latin typeface="Times New Roman" panose="02020603050405020304" pitchFamily="18" charset="0"/>
                <a:cs typeface="Times New Roman" panose="02020603050405020304" pitchFamily="18" charset="0"/>
              </a:rPr>
              <a:t>Environment</a:t>
            </a:r>
          </a:p>
        </p:txBody>
      </p:sp>
    </p:spTree>
    <p:extLst>
      <p:ext uri="{BB962C8B-B14F-4D97-AF65-F5344CB8AC3E}">
        <p14:creationId xmlns:p14="http://schemas.microsoft.com/office/powerpoint/2010/main" val="77111768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r>
              <a:rPr lang="en-US" sz="8000" b="1" dirty="0"/>
              <a:t>OBJECTIVES</a:t>
            </a:r>
          </a:p>
        </p:txBody>
      </p:sp>
      <p:sp>
        <p:nvSpPr>
          <p:cNvPr id="5" name="Rectangle 3"/>
          <p:cNvSpPr txBox="1">
            <a:spLocks noChangeArrowheads="1"/>
          </p:cNvSpPr>
          <p:nvPr/>
        </p:nvSpPr>
        <p:spPr bwMode="auto">
          <a:xfrm>
            <a:off x="467544" y="1440160"/>
            <a:ext cx="8147248" cy="458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2300" dirty="0">
                <a:latin typeface="Times New Roman" panose="02020603050405020304" pitchFamily="18" charset="0"/>
                <a:cs typeface="Times New Roman" panose="02020603050405020304" pitchFamily="18" charset="0"/>
              </a:rPr>
              <a:t>After you have read this unit, you should be able to:</a:t>
            </a:r>
          </a:p>
          <a:p>
            <a:pPr marL="1082675">
              <a:lnSpc>
                <a:spcPct val="200000"/>
              </a:lnSpc>
              <a:buFont typeface="Wingdings" panose="05000000000000000000" pitchFamily="2" charset="2"/>
              <a:buChar char="Ø"/>
            </a:pPr>
            <a:r>
              <a:rPr lang="en-US" sz="2300" dirty="0" smtClean="0">
                <a:latin typeface="Times New Roman" panose="02020603050405020304" pitchFamily="18" charset="0"/>
                <a:cs typeface="Times New Roman" panose="02020603050405020304" pitchFamily="18" charset="0"/>
              </a:rPr>
              <a:t>Identify </a:t>
            </a:r>
            <a:r>
              <a:rPr lang="en-US" sz="2300" dirty="0">
                <a:latin typeface="Times New Roman" panose="02020603050405020304" pitchFamily="18" charset="0"/>
                <a:cs typeface="Times New Roman" panose="02020603050405020304" pitchFamily="18" charset="0"/>
              </a:rPr>
              <a:t>the types of security breaches, sources of security breaches, and ways </a:t>
            </a:r>
            <a:r>
              <a:rPr lang="en-US" sz="2300" dirty="0" smtClean="0">
                <a:latin typeface="Times New Roman" panose="02020603050405020304" pitchFamily="18" charset="0"/>
                <a:cs typeface="Times New Roman" panose="02020603050405020304" pitchFamily="18" charset="0"/>
              </a:rPr>
              <a:t>to protect </a:t>
            </a:r>
            <a:r>
              <a:rPr lang="en-US" sz="2300" dirty="0">
                <a:latin typeface="Times New Roman" panose="02020603050405020304" pitchFamily="18" charset="0"/>
                <a:cs typeface="Times New Roman" panose="02020603050405020304" pitchFamily="18" charset="0"/>
              </a:rPr>
              <a:t>a system against intrusion</a:t>
            </a:r>
          </a:p>
          <a:p>
            <a:pPr marL="1082675">
              <a:lnSpc>
                <a:spcPct val="200000"/>
              </a:lnSpc>
              <a:buFont typeface="Wingdings" panose="05000000000000000000" pitchFamily="2" charset="2"/>
              <a:buChar char="Ø"/>
            </a:pPr>
            <a:r>
              <a:rPr lang="en-US" sz="2300" dirty="0" smtClean="0">
                <a:latin typeface="Times New Roman" panose="02020603050405020304" pitchFamily="18" charset="0"/>
                <a:cs typeface="Times New Roman" panose="02020603050405020304" pitchFamily="18" charset="0"/>
              </a:rPr>
              <a:t>Describe </a:t>
            </a:r>
            <a:r>
              <a:rPr lang="en-US" sz="2300" dirty="0">
                <a:latin typeface="Times New Roman" panose="02020603050405020304" pitchFamily="18" charset="0"/>
                <a:cs typeface="Times New Roman" panose="02020603050405020304" pitchFamily="18" charset="0"/>
              </a:rPr>
              <a:t>the importance of ethics in the use of information technology</a:t>
            </a:r>
          </a:p>
          <a:p>
            <a:pPr marL="1082675">
              <a:lnSpc>
                <a:spcPct val="200000"/>
              </a:lnSpc>
              <a:buFont typeface="Wingdings" panose="05000000000000000000" pitchFamily="2" charset="2"/>
              <a:buChar char="Ø"/>
            </a:pPr>
            <a:r>
              <a:rPr lang="en-US" sz="2300" dirty="0" smtClean="0">
                <a:latin typeface="Times New Roman" panose="02020603050405020304" pitchFamily="18" charset="0"/>
                <a:cs typeface="Times New Roman" panose="02020603050405020304" pitchFamily="18" charset="0"/>
              </a:rPr>
              <a:t>Describe </a:t>
            </a:r>
            <a:r>
              <a:rPr lang="en-US" sz="2300" dirty="0">
                <a:latin typeface="Times New Roman" panose="02020603050405020304" pitchFamily="18" charset="0"/>
                <a:cs typeface="Times New Roman" panose="02020603050405020304" pitchFamily="18" charset="0"/>
              </a:rPr>
              <a:t>the concern over piracy of digital content.</a:t>
            </a:r>
          </a:p>
          <a:p>
            <a:pPr marL="1082675">
              <a:lnSpc>
                <a:spcPct val="200000"/>
              </a:lnSpc>
              <a:buFont typeface="Wingdings" panose="05000000000000000000" pitchFamily="2" charset="2"/>
              <a:buChar char="Ø"/>
            </a:pPr>
            <a:r>
              <a:rPr lang="en-US" sz="2300" dirty="0" smtClean="0">
                <a:latin typeface="Times New Roman" panose="02020603050405020304" pitchFamily="18" charset="0"/>
                <a:cs typeface="Times New Roman" panose="02020603050405020304" pitchFamily="18" charset="0"/>
              </a:rPr>
              <a:t>Understand </a:t>
            </a:r>
            <a:r>
              <a:rPr lang="en-US" sz="2300" dirty="0">
                <a:latin typeface="Times New Roman" panose="02020603050405020304" pitchFamily="18" charset="0"/>
                <a:cs typeface="Times New Roman" panose="02020603050405020304" pitchFamily="18" charset="0"/>
              </a:rPr>
              <a:t>the reliability of IT systems</a:t>
            </a:r>
            <a:endParaRPr lang="en-US" sz="23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5817272"/>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r>
              <a:rPr lang="en-US" sz="8000" b="1" dirty="0">
                <a:latin typeface="Times New Roman" panose="02020603050405020304" pitchFamily="18" charset="0"/>
                <a:cs typeface="Times New Roman" panose="02020603050405020304" pitchFamily="18" charset="0"/>
              </a:rPr>
              <a:t>SECURITY</a:t>
            </a:r>
          </a:p>
        </p:txBody>
      </p:sp>
      <p:sp>
        <p:nvSpPr>
          <p:cNvPr id="5" name="Rectangle 3"/>
          <p:cNvSpPr txBox="1">
            <a:spLocks noChangeArrowheads="1"/>
          </p:cNvSpPr>
          <p:nvPr/>
        </p:nvSpPr>
        <p:spPr bwMode="auto">
          <a:xfrm>
            <a:off x="467544" y="1440160"/>
            <a:ext cx="8147248" cy="5157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100" dirty="0" smtClean="0">
                <a:latin typeface="Times New Roman" panose="02020603050405020304" pitchFamily="18" charset="0"/>
                <a:cs typeface="Times New Roman" panose="02020603050405020304" pitchFamily="18" charset="0"/>
              </a:rPr>
              <a:t>Security </a:t>
            </a:r>
            <a:r>
              <a:rPr lang="en-US" sz="2100" dirty="0">
                <a:latin typeface="Times New Roman" panose="02020603050405020304" pitchFamily="18" charset="0"/>
                <a:cs typeface="Times New Roman" panose="02020603050405020304" pitchFamily="18" charset="0"/>
              </a:rPr>
              <a:t>is the means of safeguarding and protecting an enterprise’s information </a:t>
            </a:r>
            <a:r>
              <a:rPr lang="en-US" sz="2100" dirty="0" smtClean="0">
                <a:latin typeface="Times New Roman" panose="02020603050405020304" pitchFamily="18" charset="0"/>
                <a:cs typeface="Times New Roman" panose="02020603050405020304" pitchFamily="18" charset="0"/>
              </a:rPr>
              <a:t>technology assets</a:t>
            </a:r>
            <a:r>
              <a:rPr lang="en-US" sz="2100" dirty="0">
                <a:latin typeface="Times New Roman" panose="02020603050405020304" pitchFamily="18" charset="0"/>
                <a:cs typeface="Times New Roman" panose="02020603050405020304" pitchFamily="18" charset="0"/>
              </a:rPr>
              <a:t>, that is by keeping away from criminals, natural hazards, and other threats, while </a:t>
            </a:r>
            <a:r>
              <a:rPr lang="en-US" sz="2100" dirty="0" smtClean="0">
                <a:latin typeface="Times New Roman" panose="02020603050405020304" pitchFamily="18" charset="0"/>
                <a:cs typeface="Times New Roman" panose="02020603050405020304" pitchFamily="18" charset="0"/>
              </a:rPr>
              <a:t>a breach </a:t>
            </a:r>
            <a:r>
              <a:rPr lang="en-US" sz="2100" dirty="0">
                <a:latin typeface="Times New Roman" panose="02020603050405020304" pitchFamily="18" charset="0"/>
                <a:cs typeface="Times New Roman" panose="02020603050405020304" pitchFamily="18" charset="0"/>
              </a:rPr>
              <a:t>is a breakdown in security</a:t>
            </a:r>
            <a:r>
              <a:rPr lang="en-US" sz="2100" dirty="0" smtClean="0">
                <a:latin typeface="Times New Roman" panose="02020603050405020304" pitchFamily="18" charset="0"/>
                <a:cs typeface="Times New Roman" panose="02020603050405020304" pitchFamily="18" charset="0"/>
              </a:rPr>
              <a:t>.</a:t>
            </a:r>
          </a:p>
          <a:p>
            <a:pPr>
              <a:lnSpc>
                <a:spcPct val="150000"/>
              </a:lnSpc>
            </a:pPr>
            <a:r>
              <a:rPr lang="en-US" sz="2100" dirty="0" smtClean="0">
                <a:latin typeface="Times New Roman" panose="02020603050405020304" pitchFamily="18" charset="0"/>
                <a:cs typeface="Times New Roman" panose="02020603050405020304" pitchFamily="18" charset="0"/>
              </a:rPr>
              <a:t>Types of </a:t>
            </a:r>
            <a:r>
              <a:rPr lang="en-US" sz="2100" dirty="0">
                <a:latin typeface="Times New Roman" panose="02020603050405020304" pitchFamily="18" charset="0"/>
                <a:cs typeface="Times New Roman" panose="02020603050405020304" pitchFamily="18" charset="0"/>
              </a:rPr>
              <a:t>Security</a:t>
            </a:r>
          </a:p>
          <a:p>
            <a:pPr marL="900113">
              <a:lnSpc>
                <a:spcPct val="150000"/>
              </a:lnSpc>
              <a:buFont typeface="Wingdings" panose="05000000000000000000" pitchFamily="2" charset="2"/>
              <a:buChar char="Ø"/>
            </a:pPr>
            <a:r>
              <a:rPr lang="en-US" sz="2100" dirty="0" smtClean="0">
                <a:latin typeface="Times New Roman" panose="02020603050405020304" pitchFamily="18" charset="0"/>
                <a:cs typeface="Times New Roman" panose="02020603050405020304" pitchFamily="18" charset="0"/>
              </a:rPr>
              <a:t>Site </a:t>
            </a:r>
            <a:r>
              <a:rPr lang="en-US" sz="2100" dirty="0">
                <a:latin typeface="Times New Roman" panose="02020603050405020304" pitchFamily="18" charset="0"/>
                <a:cs typeface="Times New Roman" panose="02020603050405020304" pitchFamily="18" charset="0"/>
              </a:rPr>
              <a:t>Security</a:t>
            </a:r>
          </a:p>
          <a:p>
            <a:pPr marL="900113">
              <a:lnSpc>
                <a:spcPct val="150000"/>
              </a:lnSpc>
              <a:buFont typeface="Wingdings" panose="05000000000000000000" pitchFamily="2" charset="2"/>
              <a:buChar char="Ø"/>
            </a:pPr>
            <a:r>
              <a:rPr lang="en-US" sz="2100" dirty="0" smtClean="0">
                <a:latin typeface="Times New Roman" panose="02020603050405020304" pitchFamily="18" charset="0"/>
                <a:cs typeface="Times New Roman" panose="02020603050405020304" pitchFamily="18" charset="0"/>
              </a:rPr>
              <a:t>Resource </a:t>
            </a:r>
            <a:r>
              <a:rPr lang="en-US" sz="2100" dirty="0">
                <a:latin typeface="Times New Roman" panose="02020603050405020304" pitchFamily="18" charset="0"/>
                <a:cs typeface="Times New Roman" panose="02020603050405020304" pitchFamily="18" charset="0"/>
              </a:rPr>
              <a:t>Security</a:t>
            </a:r>
          </a:p>
          <a:p>
            <a:pPr marL="900113">
              <a:lnSpc>
                <a:spcPct val="150000"/>
              </a:lnSpc>
              <a:buFont typeface="Wingdings" panose="05000000000000000000" pitchFamily="2" charset="2"/>
              <a:buChar char="Ø"/>
            </a:pPr>
            <a:r>
              <a:rPr lang="en-US" sz="2100" dirty="0" smtClean="0">
                <a:latin typeface="Times New Roman" panose="02020603050405020304" pitchFamily="18" charset="0"/>
                <a:cs typeface="Times New Roman" panose="02020603050405020304" pitchFamily="18" charset="0"/>
              </a:rPr>
              <a:t>Network </a:t>
            </a:r>
            <a:r>
              <a:rPr lang="en-US" sz="2100" dirty="0">
                <a:latin typeface="Times New Roman" panose="02020603050405020304" pitchFamily="18" charset="0"/>
                <a:cs typeface="Times New Roman" panose="02020603050405020304" pitchFamily="18" charset="0"/>
              </a:rPr>
              <a:t>Security</a:t>
            </a:r>
          </a:p>
          <a:p>
            <a:pPr marL="900113">
              <a:lnSpc>
                <a:spcPct val="150000"/>
              </a:lnSpc>
              <a:buFont typeface="Wingdings" panose="05000000000000000000" pitchFamily="2" charset="2"/>
              <a:buChar char="Ø"/>
            </a:pPr>
            <a:r>
              <a:rPr lang="en-US" sz="2100" dirty="0" smtClean="0">
                <a:latin typeface="Times New Roman" panose="02020603050405020304" pitchFamily="18" charset="0"/>
                <a:cs typeface="Times New Roman" panose="02020603050405020304" pitchFamily="18" charset="0"/>
              </a:rPr>
              <a:t>Service </a:t>
            </a:r>
            <a:r>
              <a:rPr lang="en-US" sz="2100" dirty="0">
                <a:latin typeface="Times New Roman" panose="02020603050405020304" pitchFamily="18" charset="0"/>
                <a:cs typeface="Times New Roman" panose="02020603050405020304" pitchFamily="18" charset="0"/>
              </a:rPr>
              <a:t>Security</a:t>
            </a:r>
            <a:endParaRPr lang="en-US" sz="21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124008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r>
              <a:rPr lang="en-US" sz="8000" b="1" dirty="0">
                <a:latin typeface="Times New Roman" panose="02020603050405020304" pitchFamily="18" charset="0"/>
                <a:cs typeface="Times New Roman" panose="02020603050405020304" pitchFamily="18" charset="0"/>
              </a:rPr>
              <a:t>SECURITY</a:t>
            </a:r>
          </a:p>
        </p:txBody>
      </p:sp>
      <p:sp>
        <p:nvSpPr>
          <p:cNvPr id="5" name="Rectangle 3"/>
          <p:cNvSpPr txBox="1">
            <a:spLocks noChangeArrowheads="1"/>
          </p:cNvSpPr>
          <p:nvPr/>
        </p:nvSpPr>
        <p:spPr bwMode="auto">
          <a:xfrm>
            <a:off x="467544" y="1440160"/>
            <a:ext cx="8147248" cy="5157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2200" b="1" i="1" dirty="0" smtClean="0">
                <a:latin typeface="Times New Roman" panose="02020603050405020304" pitchFamily="18" charset="0"/>
                <a:cs typeface="Times New Roman" panose="02020603050405020304" pitchFamily="18" charset="0"/>
              </a:rPr>
              <a:t>Security </a:t>
            </a:r>
            <a:r>
              <a:rPr lang="en-US" sz="2200" b="1" i="1" dirty="0">
                <a:latin typeface="Times New Roman" panose="02020603050405020304" pitchFamily="18" charset="0"/>
                <a:cs typeface="Times New Roman" panose="02020603050405020304" pitchFamily="18" charset="0"/>
              </a:rPr>
              <a:t>Program: </a:t>
            </a:r>
            <a:r>
              <a:rPr lang="en-US" sz="2200" dirty="0">
                <a:latin typeface="Times New Roman" panose="02020603050405020304" pitchFamily="18" charset="0"/>
                <a:cs typeface="Times New Roman" panose="02020603050405020304" pitchFamily="18" charset="0"/>
              </a:rPr>
              <a:t>The policies and protective measures that will be used, </a:t>
            </a:r>
            <a:r>
              <a:rPr lang="en-US" sz="2200" dirty="0" smtClean="0">
                <a:latin typeface="Times New Roman" panose="02020603050405020304" pitchFamily="18" charset="0"/>
                <a:cs typeface="Times New Roman" panose="02020603050405020304" pitchFamily="18" charset="0"/>
              </a:rPr>
              <a:t>the responsibilities </a:t>
            </a:r>
            <a:r>
              <a:rPr lang="en-US" sz="2200" dirty="0">
                <a:latin typeface="Times New Roman" panose="02020603050405020304" pitchFamily="18" charset="0"/>
                <a:cs typeface="Times New Roman" panose="02020603050405020304" pitchFamily="18" charset="0"/>
              </a:rPr>
              <a:t>of individuals involved in maintaining security, as well as </a:t>
            </a:r>
            <a:r>
              <a:rPr lang="en-US" sz="2200" dirty="0" smtClean="0">
                <a:latin typeface="Times New Roman" panose="02020603050405020304" pitchFamily="18" charset="0"/>
                <a:cs typeface="Times New Roman" panose="02020603050405020304" pitchFamily="18" charset="0"/>
              </a:rPr>
              <a:t>the responsibilities </a:t>
            </a:r>
            <a:r>
              <a:rPr lang="en-US" sz="2200" dirty="0">
                <a:latin typeface="Times New Roman" panose="02020603050405020304" pitchFamily="18" charset="0"/>
                <a:cs typeface="Times New Roman" panose="02020603050405020304" pitchFamily="18" charset="0"/>
              </a:rPr>
              <a:t>of those who abide by established security policies</a:t>
            </a:r>
            <a:r>
              <a:rPr lang="en-US" sz="2200" dirty="0" smtClean="0">
                <a:latin typeface="Times New Roman" panose="02020603050405020304" pitchFamily="18" charset="0"/>
                <a:cs typeface="Times New Roman" panose="02020603050405020304" pitchFamily="18" charset="0"/>
              </a:rPr>
              <a:t>.</a:t>
            </a:r>
          </a:p>
          <a:p>
            <a:pPr>
              <a:lnSpc>
                <a:spcPct val="200000"/>
              </a:lnSpc>
            </a:pPr>
            <a:r>
              <a:rPr lang="en-US" sz="2200" b="1" i="1" dirty="0" smtClean="0">
                <a:latin typeface="Times New Roman" panose="02020603050405020304" pitchFamily="18" charset="0"/>
                <a:cs typeface="Times New Roman" panose="02020603050405020304" pitchFamily="18" charset="0"/>
              </a:rPr>
              <a:t>Harden</a:t>
            </a:r>
            <a:r>
              <a:rPr lang="en-US" sz="2200" b="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Designing a security program to a potential IT target, making the level </a:t>
            </a:r>
            <a:r>
              <a:rPr lang="en-US" sz="2200" dirty="0" smtClean="0">
                <a:latin typeface="Times New Roman" panose="02020603050405020304" pitchFamily="18" charset="0"/>
                <a:cs typeface="Times New Roman" panose="02020603050405020304" pitchFamily="18" charset="0"/>
              </a:rPr>
              <a:t>of effort </a:t>
            </a:r>
            <a:r>
              <a:rPr lang="en-US" sz="2200" dirty="0">
                <a:latin typeface="Times New Roman" panose="02020603050405020304" pitchFamily="18" charset="0"/>
                <a:cs typeface="Times New Roman" panose="02020603050405020304" pitchFamily="18" charset="0"/>
              </a:rPr>
              <a:t>greater than the value of breaking into a system, network, or facility.</a:t>
            </a:r>
            <a:endParaRPr lang="en-US" sz="22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585312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484785"/>
          </a:xfrm>
        </p:spPr>
        <p:txBody>
          <a:bodyPr>
            <a:noAutofit/>
          </a:bodyPr>
          <a:lstStyle/>
          <a:p>
            <a:pPr algn="ctr"/>
            <a:r>
              <a:rPr lang="en-US" sz="4800" b="1" dirty="0"/>
              <a:t>TYPES OF SECURITY BREACH</a:t>
            </a:r>
          </a:p>
        </p:txBody>
      </p:sp>
      <p:sp>
        <p:nvSpPr>
          <p:cNvPr id="5" name="Rectangle 3"/>
          <p:cNvSpPr txBox="1">
            <a:spLocks noChangeArrowheads="1"/>
          </p:cNvSpPr>
          <p:nvPr/>
        </p:nvSpPr>
        <p:spPr bwMode="auto">
          <a:xfrm>
            <a:off x="467544" y="1440160"/>
            <a:ext cx="8147248" cy="5157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2300" b="1" i="1" dirty="0" smtClean="0">
                <a:latin typeface="Times New Roman" panose="02020603050405020304" pitchFamily="18" charset="0"/>
                <a:cs typeface="Times New Roman" panose="02020603050405020304" pitchFamily="18" charset="0"/>
              </a:rPr>
              <a:t>Intrusion</a:t>
            </a:r>
            <a:r>
              <a:rPr lang="en-US" sz="2300" b="1" i="1"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Forced and unauthorized entry into a system.</a:t>
            </a:r>
          </a:p>
          <a:p>
            <a:pPr>
              <a:lnSpc>
                <a:spcPct val="200000"/>
              </a:lnSpc>
            </a:pPr>
            <a:r>
              <a:rPr lang="en-US" sz="2300" b="1" i="1" dirty="0" smtClean="0">
                <a:latin typeface="Times New Roman" panose="02020603050405020304" pitchFamily="18" charset="0"/>
                <a:cs typeface="Times New Roman" panose="02020603050405020304" pitchFamily="18" charset="0"/>
              </a:rPr>
              <a:t>Interception</a:t>
            </a:r>
            <a:r>
              <a:rPr lang="en-US" sz="2300" b="1" i="1"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Aimed at preventing the capture of data and information </a:t>
            </a:r>
            <a:r>
              <a:rPr lang="en-US" sz="2300" dirty="0" smtClean="0">
                <a:latin typeface="Times New Roman" panose="02020603050405020304" pitchFamily="18" charset="0"/>
                <a:cs typeface="Times New Roman" panose="02020603050405020304" pitchFamily="18" charset="0"/>
              </a:rPr>
              <a:t>transmitted over </a:t>
            </a:r>
            <a:r>
              <a:rPr lang="en-US" sz="2300" dirty="0">
                <a:latin typeface="Times New Roman" panose="02020603050405020304" pitchFamily="18" charset="0"/>
                <a:cs typeface="Times New Roman" panose="02020603050405020304" pitchFamily="18" charset="0"/>
              </a:rPr>
              <a:t>an enterprise network or other communications link.</a:t>
            </a:r>
            <a:endParaRPr lang="en-US" sz="23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77564840"/>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484785"/>
          </a:xfrm>
        </p:spPr>
        <p:txBody>
          <a:bodyPr>
            <a:noAutofit/>
          </a:bodyPr>
          <a:lstStyle/>
          <a:p>
            <a:pPr algn="ctr"/>
            <a:r>
              <a:rPr lang="en-US" sz="4800" b="1" dirty="0"/>
              <a:t>RESULTS OF SECURITY BREACH</a:t>
            </a:r>
          </a:p>
        </p:txBody>
      </p:sp>
      <p:sp>
        <p:nvSpPr>
          <p:cNvPr id="5" name="Rectangle 3"/>
          <p:cNvSpPr txBox="1">
            <a:spLocks noChangeArrowheads="1"/>
          </p:cNvSpPr>
          <p:nvPr/>
        </p:nvSpPr>
        <p:spPr bwMode="auto">
          <a:xfrm>
            <a:off x="467544" y="1440160"/>
            <a:ext cx="8147248" cy="5157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dirty="0" smtClean="0">
                <a:latin typeface="Times New Roman" panose="02020603050405020304" pitchFamily="18" charset="0"/>
                <a:cs typeface="Times New Roman" panose="02020603050405020304" pitchFamily="18" charset="0"/>
              </a:rPr>
              <a:t>Destruction </a:t>
            </a:r>
            <a:r>
              <a:rPr lang="en-US" dirty="0">
                <a:latin typeface="Times New Roman" panose="02020603050405020304" pitchFamily="18" charset="0"/>
                <a:cs typeface="Times New Roman" panose="02020603050405020304" pitchFamily="18" charset="0"/>
              </a:rPr>
              <a:t>of Resources</a:t>
            </a:r>
          </a:p>
          <a:p>
            <a:pPr>
              <a:lnSpc>
                <a:spcPct val="150000"/>
              </a:lnSpc>
            </a:pPr>
            <a:r>
              <a:rPr lang="en-US" dirty="0" smtClean="0">
                <a:latin typeface="Times New Roman" panose="02020603050405020304" pitchFamily="18" charset="0"/>
                <a:cs typeface="Times New Roman" panose="02020603050405020304" pitchFamily="18" charset="0"/>
              </a:rPr>
              <a:t>Corruption </a:t>
            </a:r>
            <a:r>
              <a:rPr lang="en-US" dirty="0">
                <a:latin typeface="Times New Roman" panose="02020603050405020304" pitchFamily="18" charset="0"/>
                <a:cs typeface="Times New Roman" panose="02020603050405020304" pitchFamily="18" charset="0"/>
              </a:rPr>
              <a:t>of Data and Applications</a:t>
            </a:r>
          </a:p>
          <a:p>
            <a:pPr>
              <a:lnSpc>
                <a:spcPct val="150000"/>
              </a:lnSpc>
            </a:pPr>
            <a:r>
              <a:rPr lang="en-US" dirty="0" smtClean="0">
                <a:latin typeface="Times New Roman" panose="02020603050405020304" pitchFamily="18" charset="0"/>
                <a:cs typeface="Times New Roman" panose="02020603050405020304" pitchFamily="18" charset="0"/>
              </a:rPr>
              <a:t>Denial </a:t>
            </a:r>
            <a:r>
              <a:rPr lang="en-US" dirty="0">
                <a:latin typeface="Times New Roman" panose="02020603050405020304" pitchFamily="18" charset="0"/>
                <a:cs typeface="Times New Roman" panose="02020603050405020304" pitchFamily="18" charset="0"/>
              </a:rPr>
              <a:t>of Services</a:t>
            </a:r>
          </a:p>
          <a:p>
            <a:pPr>
              <a:lnSpc>
                <a:spcPct val="150000"/>
              </a:lnSpc>
            </a:pPr>
            <a:r>
              <a:rPr lang="en-US" dirty="0" smtClean="0">
                <a:latin typeface="Times New Roman" panose="02020603050405020304" pitchFamily="18" charset="0"/>
                <a:cs typeface="Times New Roman" panose="02020603050405020304" pitchFamily="18" charset="0"/>
              </a:rPr>
              <a:t>Theft </a:t>
            </a:r>
            <a:r>
              <a:rPr lang="en-US" dirty="0">
                <a:latin typeface="Times New Roman" panose="02020603050405020304" pitchFamily="18" charset="0"/>
                <a:cs typeface="Times New Roman" panose="02020603050405020304" pitchFamily="18" charset="0"/>
              </a:rPr>
              <a:t>of Services</a:t>
            </a:r>
          </a:p>
          <a:p>
            <a:pPr>
              <a:lnSpc>
                <a:spcPct val="150000"/>
              </a:lnSpc>
            </a:pPr>
            <a:r>
              <a:rPr lang="en-US" dirty="0" smtClean="0">
                <a:latin typeface="Times New Roman" panose="02020603050405020304" pitchFamily="18" charset="0"/>
                <a:cs typeface="Times New Roman" panose="02020603050405020304" pitchFamily="18" charset="0"/>
              </a:rPr>
              <a:t>Theft </a:t>
            </a:r>
            <a:r>
              <a:rPr lang="en-US" dirty="0">
                <a:latin typeface="Times New Roman" panose="02020603050405020304" pitchFamily="18" charset="0"/>
                <a:cs typeface="Times New Roman" panose="02020603050405020304" pitchFamily="18" charset="0"/>
              </a:rPr>
              <a:t>of Resources</a:t>
            </a:r>
            <a:endParaRPr lang="en-US" sz="23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427123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484785"/>
          </a:xfrm>
        </p:spPr>
        <p:txBody>
          <a:bodyPr>
            <a:noAutofit/>
          </a:bodyPr>
          <a:lstStyle/>
          <a:p>
            <a:pPr algn="ctr"/>
            <a:r>
              <a:rPr lang="en-US" sz="4800" b="1" dirty="0"/>
              <a:t>RESULTS OF SECURITY BREACH</a:t>
            </a:r>
          </a:p>
        </p:txBody>
      </p:sp>
      <p:sp>
        <p:nvSpPr>
          <p:cNvPr id="5" name="Rectangle 3"/>
          <p:cNvSpPr txBox="1">
            <a:spLocks noChangeArrowheads="1"/>
          </p:cNvSpPr>
          <p:nvPr/>
        </p:nvSpPr>
        <p:spPr bwMode="auto">
          <a:xfrm>
            <a:off x="467544" y="1440160"/>
            <a:ext cx="8219256" cy="541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100" b="1" i="1" dirty="0" smtClean="0">
                <a:latin typeface="Times New Roman" panose="02020603050405020304" pitchFamily="18" charset="0"/>
                <a:cs typeface="Times New Roman" panose="02020603050405020304" pitchFamily="18" charset="0"/>
              </a:rPr>
              <a:t>Denial-of-Services </a:t>
            </a:r>
            <a:r>
              <a:rPr lang="en-US" sz="2100" b="1" i="1" dirty="0">
                <a:latin typeface="Times New Roman" panose="02020603050405020304" pitchFamily="18" charset="0"/>
                <a:cs typeface="Times New Roman" panose="02020603050405020304" pitchFamily="18" charset="0"/>
              </a:rPr>
              <a:t>Attack</a:t>
            </a:r>
            <a:r>
              <a:rPr lang="en-US" sz="2100" i="1" dirty="0">
                <a:latin typeface="Times New Roman" panose="02020603050405020304" pitchFamily="18" charset="0"/>
                <a:cs typeface="Times New Roman" panose="02020603050405020304" pitchFamily="18" charset="0"/>
              </a:rPr>
              <a:t>: </a:t>
            </a:r>
            <a:endParaRPr lang="en-US" sz="2100" i="1" dirty="0" smtClean="0">
              <a:latin typeface="Times New Roman" panose="02020603050405020304" pitchFamily="18" charset="0"/>
              <a:cs typeface="Times New Roman" panose="02020603050405020304" pitchFamily="18" charset="0"/>
            </a:endParaRPr>
          </a:p>
          <a:p>
            <a:pPr marL="365125" indent="0">
              <a:lnSpc>
                <a:spcPct val="150000"/>
              </a:lnSpc>
              <a:buNone/>
            </a:pPr>
            <a:r>
              <a:rPr lang="en-US" sz="2000" dirty="0" smtClean="0">
                <a:latin typeface="Times New Roman" panose="02020603050405020304" pitchFamily="18" charset="0"/>
                <a:cs typeface="Times New Roman" panose="02020603050405020304" pitchFamily="18" charset="0"/>
              </a:rPr>
              <a:t>Depriving</a:t>
            </a:r>
            <a:r>
              <a:rPr lang="en-US" sz="2000" dirty="0">
                <a:latin typeface="Times New Roman" panose="02020603050405020304" pitchFamily="18" charset="0"/>
                <a:cs typeface="Times New Roman" panose="02020603050405020304" pitchFamily="18" charset="0"/>
              </a:rPr>
              <a:t>, usually intentionally and temporarily, </a:t>
            </a:r>
            <a:r>
              <a:rPr lang="en-US" sz="2000" dirty="0" smtClean="0">
                <a:latin typeface="Times New Roman" panose="02020603050405020304" pitchFamily="18" charset="0"/>
                <a:cs typeface="Times New Roman" panose="02020603050405020304" pitchFamily="18" charset="0"/>
              </a:rPr>
              <a:t>an enterprise </a:t>
            </a:r>
            <a:r>
              <a:rPr lang="en-US" sz="2000" dirty="0">
                <a:latin typeface="Times New Roman" panose="02020603050405020304" pitchFamily="18" charset="0"/>
                <a:cs typeface="Times New Roman" panose="02020603050405020304" pitchFamily="18" charset="0"/>
              </a:rPr>
              <a:t>or its users of the services they would normally expect to have, </a:t>
            </a:r>
            <a:r>
              <a:rPr lang="en-US" sz="2000" dirty="0" smtClean="0">
                <a:latin typeface="Times New Roman" panose="02020603050405020304" pitchFamily="18" charset="0"/>
                <a:cs typeface="Times New Roman" panose="02020603050405020304" pitchFamily="18" charset="0"/>
              </a:rPr>
              <a:t>usually involving </a:t>
            </a:r>
            <a:r>
              <a:rPr lang="en-US" sz="2000" dirty="0">
                <a:latin typeface="Times New Roman" panose="02020603050405020304" pitchFamily="18" charset="0"/>
                <a:cs typeface="Times New Roman" panose="02020603050405020304" pitchFamily="18" charset="0"/>
              </a:rPr>
              <a:t>a network service (such as e-mail) or access to a location on the </a:t>
            </a:r>
            <a:r>
              <a:rPr lang="en-US" sz="2000" dirty="0" smtClean="0">
                <a:latin typeface="Times New Roman" panose="02020603050405020304" pitchFamily="18" charset="0"/>
                <a:cs typeface="Times New Roman" panose="02020603050405020304" pitchFamily="18" charset="0"/>
              </a:rPr>
              <a:t>network (</a:t>
            </a:r>
            <a:r>
              <a:rPr lang="en-US" sz="2000" dirty="0">
                <a:latin typeface="Times New Roman" panose="02020603050405020304" pitchFamily="18" charset="0"/>
                <a:cs typeface="Times New Roman" panose="02020603050405020304" pitchFamily="18" charset="0"/>
              </a:rPr>
              <a:t>such as a Web site).</a:t>
            </a:r>
          </a:p>
          <a:p>
            <a:pPr>
              <a:lnSpc>
                <a:spcPct val="150000"/>
              </a:lnSpc>
            </a:pPr>
            <a:r>
              <a:rPr lang="en-US" sz="2100" b="1" dirty="0" smtClean="0">
                <a:latin typeface="Times New Roman" panose="02020603050405020304" pitchFamily="18" charset="0"/>
                <a:cs typeface="Times New Roman" panose="02020603050405020304" pitchFamily="18" charset="0"/>
              </a:rPr>
              <a:t>Internet </a:t>
            </a:r>
            <a:r>
              <a:rPr lang="en-US" sz="2100" b="1" dirty="0">
                <a:latin typeface="Times New Roman" panose="02020603050405020304" pitchFamily="18" charset="0"/>
                <a:cs typeface="Times New Roman" panose="02020603050405020304" pitchFamily="18" charset="0"/>
              </a:rPr>
              <a:t>Scam: </a:t>
            </a:r>
            <a:endParaRPr lang="en-US" sz="2100" b="1" dirty="0" smtClean="0">
              <a:latin typeface="Times New Roman" panose="02020603050405020304" pitchFamily="18" charset="0"/>
              <a:cs typeface="Times New Roman" panose="02020603050405020304" pitchFamily="18" charset="0"/>
            </a:endParaRPr>
          </a:p>
          <a:p>
            <a:pPr marL="365125" indent="0">
              <a:lnSpc>
                <a:spcPct val="150000"/>
              </a:lnSpc>
              <a:buNone/>
            </a:pPr>
            <a:r>
              <a:rPr lang="en-US" sz="2000" dirty="0" smtClean="0">
                <a:latin typeface="Times New Roman" panose="02020603050405020304" pitchFamily="18" charset="0"/>
                <a:cs typeface="Times New Roman" panose="02020603050405020304" pitchFamily="18" charset="0"/>
              </a:rPr>
              <a:t>Are </a:t>
            </a:r>
            <a:r>
              <a:rPr lang="en-US" sz="2000" dirty="0">
                <a:latin typeface="Times New Roman" panose="02020603050405020304" pitchFamily="18" charset="0"/>
                <a:cs typeface="Times New Roman" panose="02020603050405020304" pitchFamily="18" charset="0"/>
              </a:rPr>
              <a:t>fraudulent or deceptive acts or operations designed to </a:t>
            </a:r>
            <a:r>
              <a:rPr lang="en-US" sz="2000" dirty="0" smtClean="0">
                <a:latin typeface="Times New Roman" panose="02020603050405020304" pitchFamily="18" charset="0"/>
                <a:cs typeface="Times New Roman" panose="02020603050405020304" pitchFamily="18" charset="0"/>
              </a:rPr>
              <a:t>trick individuals </a:t>
            </a:r>
            <a:r>
              <a:rPr lang="en-US" sz="2000" dirty="0">
                <a:latin typeface="Times New Roman" panose="02020603050405020304" pitchFamily="18" charset="0"/>
                <a:cs typeface="Times New Roman" panose="02020603050405020304" pitchFamily="18" charset="0"/>
              </a:rPr>
              <a:t>into spending their time and money with little or no return. </a:t>
            </a:r>
            <a:endParaRPr lang="en-US" sz="2000" dirty="0" smtClean="0">
              <a:latin typeface="Times New Roman" panose="02020603050405020304" pitchFamily="18" charset="0"/>
              <a:cs typeface="Times New Roman" panose="02020603050405020304" pitchFamily="18" charset="0"/>
            </a:endParaRPr>
          </a:p>
          <a:p>
            <a:pPr marL="365125" indent="0">
              <a:lnSpc>
                <a:spcPct val="150000"/>
              </a:lnSpc>
              <a:buNone/>
            </a:pPr>
            <a:r>
              <a:rPr lang="en-US" sz="2000" dirty="0" smtClean="0">
                <a:latin typeface="Times New Roman" panose="02020603050405020304" pitchFamily="18" charset="0"/>
                <a:cs typeface="Times New Roman" panose="02020603050405020304" pitchFamily="18" charset="0"/>
              </a:rPr>
              <a:t>Common scams </a:t>
            </a:r>
            <a:r>
              <a:rPr lang="en-US" sz="2000" dirty="0">
                <a:latin typeface="Times New Roman" panose="02020603050405020304" pitchFamily="18" charset="0"/>
                <a:cs typeface="Times New Roman" panose="02020603050405020304" pitchFamily="18" charset="0"/>
              </a:rPr>
              <a:t>include identity theft, chain letters, auction fraud, vacation prizes, and </a:t>
            </a:r>
            <a:r>
              <a:rPr lang="en-US" sz="2000" dirty="0" smtClean="0">
                <a:latin typeface="Times New Roman" panose="02020603050405020304" pitchFamily="18" charset="0"/>
                <a:cs typeface="Times New Roman" panose="02020603050405020304" pitchFamily="18" charset="0"/>
              </a:rPr>
              <a:t>advance free </a:t>
            </a:r>
            <a:r>
              <a:rPr lang="en-US" sz="2000" dirty="0">
                <a:latin typeface="Times New Roman" panose="02020603050405020304" pitchFamily="18" charset="0"/>
                <a:cs typeface="Times New Roman" panose="02020603050405020304" pitchFamily="18" charset="0"/>
              </a:rPr>
              <a:t>loans. </a:t>
            </a:r>
            <a:endParaRPr lang="en-US" sz="2000" dirty="0" smtClean="0">
              <a:latin typeface="Times New Roman" panose="02020603050405020304" pitchFamily="18" charset="0"/>
              <a:cs typeface="Times New Roman" panose="02020603050405020304" pitchFamily="18" charset="0"/>
            </a:endParaRPr>
          </a:p>
          <a:p>
            <a:pPr marL="365125" indent="0">
              <a:lnSpc>
                <a:spcPct val="150000"/>
              </a:lnSpc>
              <a:buNone/>
            </a:pPr>
            <a:r>
              <a:rPr lang="en-US" sz="2000" dirty="0" smtClean="0">
                <a:latin typeface="Times New Roman" panose="02020603050405020304" pitchFamily="18" charset="0"/>
                <a:cs typeface="Times New Roman" panose="02020603050405020304" pitchFamily="18" charset="0"/>
              </a:rPr>
              <a:t>Almost </a:t>
            </a:r>
            <a:r>
              <a:rPr lang="en-US" sz="2000" dirty="0">
                <a:latin typeface="Times New Roman" panose="02020603050405020304" pitchFamily="18" charset="0"/>
                <a:cs typeface="Times New Roman" panose="02020603050405020304" pitchFamily="18" charset="0"/>
              </a:rPr>
              <a:t>all Internet scams initiated by mass e-mails.</a:t>
            </a:r>
          </a:p>
          <a:p>
            <a:pPr marL="0" indent="0">
              <a:lnSpc>
                <a:spcPct val="150000"/>
              </a:lnSpc>
              <a:buNone/>
            </a:pPr>
            <a:endParaRPr lang="en-US" sz="21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395753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484785"/>
          </a:xfrm>
        </p:spPr>
        <p:txBody>
          <a:bodyPr>
            <a:noAutofit/>
          </a:bodyPr>
          <a:lstStyle/>
          <a:p>
            <a:pPr algn="ctr"/>
            <a:r>
              <a:rPr lang="en-US" sz="4800" b="1" dirty="0"/>
              <a:t>RESULTS OF SECURITY BREACH</a:t>
            </a:r>
          </a:p>
        </p:txBody>
      </p:sp>
      <p:sp>
        <p:nvSpPr>
          <p:cNvPr id="5" name="Rectangle 3"/>
          <p:cNvSpPr txBox="1">
            <a:spLocks noChangeArrowheads="1"/>
          </p:cNvSpPr>
          <p:nvPr/>
        </p:nvSpPr>
        <p:spPr bwMode="auto">
          <a:xfrm>
            <a:off x="467544" y="1440160"/>
            <a:ext cx="8219256" cy="541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100" b="1" dirty="0" smtClean="0">
                <a:latin typeface="Times New Roman" panose="02020603050405020304" pitchFamily="18" charset="0"/>
                <a:cs typeface="Times New Roman" panose="02020603050405020304" pitchFamily="18" charset="0"/>
              </a:rPr>
              <a:t>Malicious </a:t>
            </a:r>
            <a:r>
              <a:rPr lang="en-US" sz="2100" b="1" dirty="0">
                <a:latin typeface="Times New Roman" panose="02020603050405020304" pitchFamily="18" charset="0"/>
                <a:cs typeface="Times New Roman" panose="02020603050405020304" pitchFamily="18" charset="0"/>
              </a:rPr>
              <a:t>programs: </a:t>
            </a:r>
            <a:r>
              <a:rPr lang="en-US" sz="2100" dirty="0">
                <a:latin typeface="Times New Roman" panose="02020603050405020304" pitchFamily="18" charset="0"/>
                <a:cs typeface="Times New Roman" panose="02020603050405020304" pitchFamily="18" charset="0"/>
              </a:rPr>
              <a:t>also known as malware (malicious software), include viruses</a:t>
            </a:r>
            <a:r>
              <a:rPr lang="en-US" sz="2100" dirty="0" smtClean="0">
                <a:latin typeface="Times New Roman" panose="02020603050405020304" pitchFamily="18" charset="0"/>
                <a:cs typeface="Times New Roman" panose="02020603050405020304" pitchFamily="18" charset="0"/>
              </a:rPr>
              <a:t>, worms</a:t>
            </a:r>
            <a:r>
              <a:rPr lang="en-US" sz="2100" dirty="0">
                <a:latin typeface="Times New Roman" panose="02020603050405020304" pitchFamily="18" charset="0"/>
                <a:cs typeface="Times New Roman" panose="02020603050405020304" pitchFamily="18" charset="0"/>
              </a:rPr>
              <a:t>, and Trojan horse.</a:t>
            </a:r>
          </a:p>
          <a:p>
            <a:pPr marL="900113">
              <a:lnSpc>
                <a:spcPct val="150000"/>
              </a:lnSpc>
              <a:buFont typeface="Wingdings" panose="05000000000000000000" pitchFamily="2" charset="2"/>
              <a:buChar char="Ø"/>
            </a:pPr>
            <a:r>
              <a:rPr lang="en-US" sz="2100" b="1" i="1" dirty="0" smtClean="0">
                <a:latin typeface="Times New Roman" panose="02020603050405020304" pitchFamily="18" charset="0"/>
                <a:cs typeface="Times New Roman" panose="02020603050405020304" pitchFamily="18" charset="0"/>
              </a:rPr>
              <a:t>Viruses </a:t>
            </a:r>
            <a:r>
              <a:rPr lang="en-US" sz="2100" dirty="0">
                <a:latin typeface="Times New Roman" panose="02020603050405020304" pitchFamily="18" charset="0"/>
                <a:cs typeface="Times New Roman" panose="02020603050405020304" pitchFamily="18" charset="0"/>
              </a:rPr>
              <a:t>migrate through networks and operating systems and most attached </a:t>
            </a:r>
            <a:r>
              <a:rPr lang="en-US" sz="2100" dirty="0" smtClean="0">
                <a:latin typeface="Times New Roman" panose="02020603050405020304" pitchFamily="18" charset="0"/>
                <a:cs typeface="Times New Roman" panose="02020603050405020304" pitchFamily="18" charset="0"/>
              </a:rPr>
              <a:t>to programs </a:t>
            </a:r>
            <a:r>
              <a:rPr lang="en-US" sz="2100" dirty="0">
                <a:latin typeface="Times New Roman" panose="02020603050405020304" pitchFamily="18" charset="0"/>
                <a:cs typeface="Times New Roman" panose="02020603050405020304" pitchFamily="18" charset="0"/>
              </a:rPr>
              <a:t>and databases.</a:t>
            </a:r>
          </a:p>
          <a:p>
            <a:pPr marL="900113">
              <a:lnSpc>
                <a:spcPct val="150000"/>
              </a:lnSpc>
              <a:buFont typeface="Wingdings" panose="05000000000000000000" pitchFamily="2" charset="2"/>
              <a:buChar char="Ø"/>
            </a:pPr>
            <a:r>
              <a:rPr lang="en-US" sz="2100" b="1" i="1" dirty="0" smtClean="0">
                <a:latin typeface="Times New Roman" panose="02020603050405020304" pitchFamily="18" charset="0"/>
                <a:cs typeface="Times New Roman" panose="02020603050405020304" pitchFamily="18" charset="0"/>
              </a:rPr>
              <a:t>Worms </a:t>
            </a:r>
            <a:r>
              <a:rPr lang="en-US" sz="2100" dirty="0">
                <a:latin typeface="Times New Roman" panose="02020603050405020304" pitchFamily="18" charset="0"/>
                <a:cs typeface="Times New Roman" panose="02020603050405020304" pitchFamily="18" charset="0"/>
              </a:rPr>
              <a:t>are special viruses that self replicate to slow or stop a </a:t>
            </a:r>
            <a:r>
              <a:rPr lang="en-US" sz="2100" dirty="0" smtClean="0">
                <a:latin typeface="Times New Roman" panose="02020603050405020304" pitchFamily="18" charset="0"/>
                <a:cs typeface="Times New Roman" panose="02020603050405020304" pitchFamily="18" charset="0"/>
              </a:rPr>
              <a:t>computer’s operation</a:t>
            </a:r>
            <a:endParaRPr lang="en-US" sz="2100" dirty="0">
              <a:latin typeface="Times New Roman" panose="02020603050405020304" pitchFamily="18" charset="0"/>
              <a:cs typeface="Times New Roman" panose="02020603050405020304" pitchFamily="18" charset="0"/>
            </a:endParaRPr>
          </a:p>
          <a:p>
            <a:pPr marL="900113">
              <a:lnSpc>
                <a:spcPct val="150000"/>
              </a:lnSpc>
              <a:buFont typeface="Wingdings" panose="05000000000000000000" pitchFamily="2" charset="2"/>
              <a:buChar char="Ø"/>
            </a:pPr>
            <a:r>
              <a:rPr lang="en-US" sz="2100" b="1" i="1" dirty="0" smtClean="0">
                <a:latin typeface="Times New Roman" panose="02020603050405020304" pitchFamily="18" charset="0"/>
                <a:cs typeface="Times New Roman" panose="02020603050405020304" pitchFamily="18" charset="0"/>
              </a:rPr>
              <a:t>Trojan </a:t>
            </a:r>
            <a:r>
              <a:rPr lang="en-US" sz="2100" b="1" i="1" dirty="0">
                <a:latin typeface="Times New Roman" panose="02020603050405020304" pitchFamily="18" charset="0"/>
                <a:cs typeface="Times New Roman" panose="02020603050405020304" pitchFamily="18" charset="0"/>
              </a:rPr>
              <a:t>Horses </a:t>
            </a:r>
            <a:r>
              <a:rPr lang="en-US" sz="2100" dirty="0">
                <a:latin typeface="Times New Roman" panose="02020603050405020304" pitchFamily="18" charset="0"/>
                <a:cs typeface="Times New Roman" panose="02020603050405020304" pitchFamily="18" charset="0"/>
              </a:rPr>
              <a:t>are programs that come into a computer system disguised </a:t>
            </a:r>
            <a:r>
              <a:rPr lang="en-US" sz="2100" dirty="0" smtClean="0">
                <a:latin typeface="Times New Roman" panose="02020603050405020304" pitchFamily="18" charset="0"/>
                <a:cs typeface="Times New Roman" panose="02020603050405020304" pitchFamily="18" charset="0"/>
              </a:rPr>
              <a:t>as something </a:t>
            </a:r>
            <a:r>
              <a:rPr lang="en-US" sz="2100" dirty="0">
                <a:latin typeface="Times New Roman" panose="02020603050405020304" pitchFamily="18" charset="0"/>
                <a:cs typeface="Times New Roman" panose="02020603050405020304" pitchFamily="18" charset="0"/>
              </a:rPr>
              <a:t>else. </a:t>
            </a:r>
            <a:r>
              <a:rPr lang="en-US" sz="2100" dirty="0" smtClean="0">
                <a:latin typeface="Times New Roman" panose="02020603050405020304" pitchFamily="18" charset="0"/>
                <a:cs typeface="Times New Roman" panose="02020603050405020304" pitchFamily="18" charset="0"/>
              </a:rPr>
              <a:t>While </a:t>
            </a:r>
            <a:r>
              <a:rPr lang="en-US" sz="2100" dirty="0">
                <a:latin typeface="Times New Roman" panose="02020603050405020304" pitchFamily="18" charset="0"/>
                <a:cs typeface="Times New Roman" panose="02020603050405020304" pitchFamily="18" charset="0"/>
              </a:rPr>
              <a:t>not a virus, Trojan horses deposit viruses </a:t>
            </a:r>
            <a:r>
              <a:rPr lang="en-US" sz="2100" dirty="0" smtClean="0">
                <a:latin typeface="Times New Roman" panose="02020603050405020304" pitchFamily="18" charset="0"/>
                <a:cs typeface="Times New Roman" panose="02020603050405020304" pitchFamily="18" charset="0"/>
              </a:rPr>
              <a:t>onto unsuspecting </a:t>
            </a:r>
            <a:r>
              <a:rPr lang="en-US" sz="2100" dirty="0">
                <a:latin typeface="Times New Roman" panose="02020603050405020304" pitchFamily="18" charset="0"/>
                <a:cs typeface="Times New Roman" panose="02020603050405020304" pitchFamily="18" charset="0"/>
              </a:rPr>
              <a:t>computer systems.</a:t>
            </a:r>
            <a:endParaRPr lang="en-US" sz="21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025040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484785"/>
          </a:xfrm>
        </p:spPr>
        <p:txBody>
          <a:bodyPr>
            <a:noAutofit/>
          </a:bodyPr>
          <a:lstStyle/>
          <a:p>
            <a:pPr algn="ctr"/>
            <a:r>
              <a:rPr lang="en-US" b="1" dirty="0"/>
              <a:t>SOURCES OF SECURITY BREACH</a:t>
            </a:r>
            <a:endParaRPr lang="en-US" sz="4800" b="1" dirty="0"/>
          </a:p>
        </p:txBody>
      </p:sp>
      <p:sp>
        <p:nvSpPr>
          <p:cNvPr id="5" name="Rectangle 3"/>
          <p:cNvSpPr txBox="1">
            <a:spLocks noChangeArrowheads="1"/>
          </p:cNvSpPr>
          <p:nvPr/>
        </p:nvSpPr>
        <p:spPr bwMode="auto">
          <a:xfrm>
            <a:off x="467544" y="1440160"/>
            <a:ext cx="8219256" cy="5085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000" b="1" dirty="0" smtClean="0">
                <a:latin typeface="Times New Roman" panose="02020603050405020304" pitchFamily="18" charset="0"/>
                <a:cs typeface="Times New Roman" panose="02020603050405020304" pitchFamily="18" charset="0"/>
              </a:rPr>
              <a:t>Employees</a:t>
            </a:r>
            <a:endParaRPr lang="en-US" sz="2000" b="1" dirty="0">
              <a:latin typeface="Times New Roman" panose="02020603050405020304" pitchFamily="18" charset="0"/>
              <a:cs typeface="Times New Roman" panose="02020603050405020304" pitchFamily="18" charset="0"/>
            </a:endParaRPr>
          </a:p>
          <a:p>
            <a:pPr marL="365125" indent="0">
              <a:lnSpc>
                <a:spcPct val="150000"/>
              </a:lnSpc>
              <a:buNone/>
            </a:pPr>
            <a:r>
              <a:rPr lang="en-US" sz="2000" dirty="0">
                <a:latin typeface="Times New Roman" panose="02020603050405020304" pitchFamily="18" charset="0"/>
                <a:cs typeface="Times New Roman" panose="02020603050405020304" pitchFamily="18" charset="0"/>
              </a:rPr>
              <a:t>This is the largest category of computer and enterprise criminals where an </a:t>
            </a:r>
            <a:r>
              <a:rPr lang="en-US" sz="2000" dirty="0" smtClean="0">
                <a:latin typeface="Times New Roman" panose="02020603050405020304" pitchFamily="18" charset="0"/>
                <a:cs typeface="Times New Roman" panose="02020603050405020304" pitchFamily="18" charset="0"/>
              </a:rPr>
              <a:t>employee (</a:t>
            </a:r>
            <a:r>
              <a:rPr lang="en-US" sz="2000" dirty="0">
                <a:latin typeface="Times New Roman" panose="02020603050405020304" pitchFamily="18" charset="0"/>
                <a:cs typeface="Times New Roman" panose="02020603050405020304" pitchFamily="18" charset="0"/>
              </a:rPr>
              <a:t>insider) who gain access to certain records or files without prior permission in </a:t>
            </a:r>
            <a:r>
              <a:rPr lang="en-US" sz="2000" dirty="0" smtClean="0">
                <a:latin typeface="Times New Roman" panose="02020603050405020304" pitchFamily="18" charset="0"/>
                <a:cs typeface="Times New Roman" panose="02020603050405020304" pitchFamily="18" charset="0"/>
              </a:rPr>
              <a:t>order to </a:t>
            </a:r>
            <a:r>
              <a:rPr lang="en-US" sz="2000" dirty="0">
                <a:latin typeface="Times New Roman" panose="02020603050405020304" pitchFamily="18" charset="0"/>
                <a:cs typeface="Times New Roman" panose="02020603050405020304" pitchFamily="18" charset="0"/>
              </a:rPr>
              <a:t>tamper (manipulate figures, steal records or damage files).</a:t>
            </a:r>
          </a:p>
          <a:p>
            <a:pPr marL="900113">
              <a:lnSpc>
                <a:spcPct val="150000"/>
              </a:lnSpc>
              <a:buFont typeface="Wingdings" panose="05000000000000000000" pitchFamily="2" charset="2"/>
              <a:buChar char="Ø"/>
            </a:pPr>
            <a:r>
              <a:rPr lang="en-US" sz="2000" i="1" dirty="0" smtClean="0">
                <a:latin typeface="Times New Roman" panose="02020603050405020304" pitchFamily="18" charset="0"/>
                <a:cs typeface="Times New Roman" panose="02020603050405020304" pitchFamily="18" charset="0"/>
              </a:rPr>
              <a:t>Identify </a:t>
            </a:r>
            <a:r>
              <a:rPr lang="en-US" sz="2000" i="1" dirty="0">
                <a:latin typeface="Times New Roman" panose="02020603050405020304" pitchFamily="18" charset="0"/>
                <a:cs typeface="Times New Roman" panose="02020603050405020304" pitchFamily="18" charset="0"/>
              </a:rPr>
              <a:t>Theft: </a:t>
            </a:r>
            <a:r>
              <a:rPr lang="en-US" sz="2000" dirty="0">
                <a:latin typeface="Times New Roman" panose="02020603050405020304" pitchFamily="18" charset="0"/>
                <a:cs typeface="Times New Roman" panose="02020603050405020304" pitchFamily="18" charset="0"/>
              </a:rPr>
              <a:t>Loss of personal identity through a security breach.</a:t>
            </a:r>
          </a:p>
          <a:p>
            <a:pPr>
              <a:lnSpc>
                <a:spcPct val="150000"/>
              </a:lnSpc>
            </a:pPr>
            <a:r>
              <a:rPr lang="en-US" sz="2000" b="1" dirty="0" smtClean="0">
                <a:latin typeface="Times New Roman" panose="02020603050405020304" pitchFamily="18" charset="0"/>
                <a:cs typeface="Times New Roman" panose="02020603050405020304" pitchFamily="18" charset="0"/>
              </a:rPr>
              <a:t>Computer </a:t>
            </a:r>
            <a:r>
              <a:rPr lang="en-US" sz="2000" b="1" dirty="0">
                <a:latin typeface="Times New Roman" panose="02020603050405020304" pitchFamily="18" charset="0"/>
                <a:cs typeface="Times New Roman" panose="02020603050405020304" pitchFamily="18" charset="0"/>
              </a:rPr>
              <a:t>Viruses</a:t>
            </a:r>
          </a:p>
          <a:p>
            <a:pPr marL="900113">
              <a:lnSpc>
                <a:spcPct val="150000"/>
              </a:lnSpc>
              <a:buFont typeface="Wingdings" panose="05000000000000000000" pitchFamily="2" charset="2"/>
              <a:buChar char="Ø"/>
            </a:pPr>
            <a:r>
              <a:rPr lang="en-US" sz="2000" b="1" i="1" dirty="0" smtClean="0">
                <a:latin typeface="Times New Roman" panose="02020603050405020304" pitchFamily="18" charset="0"/>
                <a:cs typeface="Times New Roman" panose="02020603050405020304" pitchFamily="18" charset="0"/>
              </a:rPr>
              <a:t>Virus</a:t>
            </a:r>
            <a:r>
              <a:rPr lang="en-US" sz="2000" b="1" i="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 hidden program that alters without the user’s knowledge, the way </a:t>
            </a:r>
            <a:r>
              <a:rPr lang="en-US" sz="2000" dirty="0" smtClean="0">
                <a:latin typeface="Times New Roman" panose="02020603050405020304" pitchFamily="18" charset="0"/>
                <a:cs typeface="Times New Roman" panose="02020603050405020304" pitchFamily="18" charset="0"/>
              </a:rPr>
              <a:t>a computer </a:t>
            </a:r>
            <a:r>
              <a:rPr lang="en-US" sz="2000" dirty="0">
                <a:latin typeface="Times New Roman" panose="02020603050405020304" pitchFamily="18" charset="0"/>
                <a:cs typeface="Times New Roman" panose="02020603050405020304" pitchFamily="18" charset="0"/>
              </a:rPr>
              <a:t>operates or that modifies the data and programs stored on </a:t>
            </a:r>
            <a:r>
              <a:rPr lang="en-US" sz="2000" dirty="0" smtClean="0">
                <a:latin typeface="Times New Roman" panose="02020603050405020304" pitchFamily="18" charset="0"/>
                <a:cs typeface="Times New Roman" panose="02020603050405020304" pitchFamily="18" charset="0"/>
              </a:rPr>
              <a:t>the computer.</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25048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484785"/>
          </a:xfrm>
        </p:spPr>
        <p:txBody>
          <a:bodyPr>
            <a:noAutofit/>
          </a:bodyPr>
          <a:lstStyle/>
          <a:p>
            <a:pPr algn="ctr"/>
            <a:r>
              <a:rPr lang="en-US" b="1" dirty="0"/>
              <a:t>SOURCES OF SECURITY BREACH</a:t>
            </a:r>
            <a:endParaRPr lang="en-US" sz="4800" b="1" dirty="0"/>
          </a:p>
        </p:txBody>
      </p:sp>
      <p:sp>
        <p:nvSpPr>
          <p:cNvPr id="5" name="Rectangle 3"/>
          <p:cNvSpPr txBox="1">
            <a:spLocks noChangeArrowheads="1"/>
          </p:cNvSpPr>
          <p:nvPr/>
        </p:nvSpPr>
        <p:spPr bwMode="auto">
          <a:xfrm>
            <a:off x="323528" y="1440160"/>
            <a:ext cx="8496944" cy="5301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000" b="1" dirty="0" smtClean="0">
                <a:latin typeface="Times New Roman" panose="02020603050405020304" pitchFamily="18" charset="0"/>
                <a:cs typeface="Times New Roman" panose="02020603050405020304" pitchFamily="18" charset="0"/>
              </a:rPr>
              <a:t>Hacker </a:t>
            </a:r>
            <a:r>
              <a:rPr lang="en-US" sz="2000" b="1" dirty="0">
                <a:latin typeface="Times New Roman" panose="02020603050405020304" pitchFamily="18" charset="0"/>
                <a:cs typeface="Times New Roman" panose="02020603050405020304" pitchFamily="18" charset="0"/>
              </a:rPr>
              <a:t>and Crackers</a:t>
            </a:r>
            <a:r>
              <a:rPr lang="en-US" sz="2000" b="1" i="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Hackers gains access to a system illegally for fun </a:t>
            </a:r>
            <a:r>
              <a:rPr lang="en-US" sz="2000" dirty="0" smtClean="0">
                <a:latin typeface="Times New Roman" panose="02020603050405020304" pitchFamily="18" charset="0"/>
                <a:cs typeface="Times New Roman" panose="02020603050405020304" pitchFamily="18" charset="0"/>
              </a:rPr>
              <a:t>and challenge </a:t>
            </a:r>
            <a:r>
              <a:rPr lang="en-US" sz="2000" dirty="0">
                <a:latin typeface="Times New Roman" panose="02020603050405020304" pitchFamily="18" charset="0"/>
                <a:cs typeface="Times New Roman" panose="02020603050405020304" pitchFamily="18" charset="0"/>
              </a:rPr>
              <a:t>while crackers do it for malicious purpose</a:t>
            </a:r>
            <a:r>
              <a:rPr lang="en-US" sz="2000" dirty="0" smtClean="0">
                <a:latin typeface="Times New Roman" panose="02020603050405020304" pitchFamily="18" charset="0"/>
                <a:cs typeface="Times New Roman" panose="02020603050405020304" pitchFamily="18" charset="0"/>
              </a:rPr>
              <a:t>.</a:t>
            </a:r>
          </a:p>
          <a:p>
            <a:pPr>
              <a:lnSpc>
                <a:spcPct val="150000"/>
              </a:lnSpc>
            </a:pPr>
            <a:r>
              <a:rPr lang="en-US" sz="2000" b="1" dirty="0" smtClean="0">
                <a:latin typeface="Times New Roman" panose="02020603050405020304" pitchFamily="18" charset="0"/>
                <a:cs typeface="Times New Roman" panose="02020603050405020304" pitchFamily="18" charset="0"/>
              </a:rPr>
              <a:t>Organized </a:t>
            </a:r>
            <a:r>
              <a:rPr lang="en-US" sz="2000" b="1" dirty="0">
                <a:latin typeface="Times New Roman" panose="02020603050405020304" pitchFamily="18" charset="0"/>
                <a:cs typeface="Times New Roman" panose="02020603050405020304" pitchFamily="18" charset="0"/>
              </a:rPr>
              <a:t>Crime: </a:t>
            </a:r>
            <a:r>
              <a:rPr lang="en-US" sz="2000" dirty="0">
                <a:latin typeface="Times New Roman" panose="02020603050405020304" pitchFamily="18" charset="0"/>
                <a:cs typeface="Times New Roman" panose="02020603050405020304" pitchFamily="18" charset="0"/>
              </a:rPr>
              <a:t>including counterfeiting and forgery.</a:t>
            </a:r>
          </a:p>
          <a:p>
            <a:pPr>
              <a:lnSpc>
                <a:spcPct val="150000"/>
              </a:lnSpc>
            </a:pPr>
            <a:r>
              <a:rPr lang="en-US" sz="2000" b="1" dirty="0" smtClean="0">
                <a:latin typeface="Times New Roman" panose="02020603050405020304" pitchFamily="18" charset="0"/>
                <a:cs typeface="Times New Roman" panose="02020603050405020304" pitchFamily="18" charset="0"/>
              </a:rPr>
              <a:t>Terrorist</a:t>
            </a:r>
            <a:r>
              <a:rPr lang="en-US" sz="2000" b="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Someone who conducts a “premeditated, politically motivated </a:t>
            </a:r>
            <a:r>
              <a:rPr lang="en-US" sz="2000" dirty="0" smtClean="0">
                <a:latin typeface="Times New Roman" panose="02020603050405020304" pitchFamily="18" charset="0"/>
                <a:cs typeface="Times New Roman" panose="02020603050405020304" pitchFamily="18" charset="0"/>
              </a:rPr>
              <a:t>attack against </a:t>
            </a:r>
            <a:r>
              <a:rPr lang="en-US" sz="2000" dirty="0">
                <a:latin typeface="Times New Roman" panose="02020603050405020304" pitchFamily="18" charset="0"/>
                <a:cs typeface="Times New Roman" panose="02020603050405020304" pitchFamily="18" charset="0"/>
              </a:rPr>
              <a:t>information, computer systems, computer programs, and data, which results </a:t>
            </a:r>
            <a:r>
              <a:rPr lang="en-US" sz="2000" dirty="0" smtClean="0">
                <a:latin typeface="Times New Roman" panose="02020603050405020304" pitchFamily="18" charset="0"/>
                <a:cs typeface="Times New Roman" panose="02020603050405020304" pitchFamily="18" charset="0"/>
              </a:rPr>
              <a:t>in violence </a:t>
            </a:r>
            <a:r>
              <a:rPr lang="en-US" sz="2000" dirty="0">
                <a:latin typeface="Times New Roman" panose="02020603050405020304" pitchFamily="18" charset="0"/>
                <a:cs typeface="Times New Roman" panose="02020603050405020304" pitchFamily="18" charset="0"/>
              </a:rPr>
              <a:t>against non-combatant targets by sub-national groups or clandestine agent</a:t>
            </a:r>
            <a:r>
              <a:rPr lang="en-US" sz="2000" dirty="0" smtClean="0">
                <a:latin typeface="Times New Roman" panose="02020603050405020304" pitchFamily="18" charset="0"/>
                <a:cs typeface="Times New Roman" panose="02020603050405020304" pitchFamily="18" charset="0"/>
              </a:rPr>
              <a:t>.” </a:t>
            </a:r>
          </a:p>
          <a:p>
            <a:pPr marL="365125" indent="0">
              <a:lnSpc>
                <a:spcPct val="150000"/>
              </a:lnSpc>
              <a:buNone/>
            </a:pPr>
            <a:r>
              <a:rPr lang="en-US" sz="2000" dirty="0" smtClean="0">
                <a:latin typeface="Times New Roman" panose="02020603050405020304" pitchFamily="18" charset="0"/>
                <a:cs typeface="Times New Roman" panose="02020603050405020304" pitchFamily="18" charset="0"/>
              </a:rPr>
              <a:t>A </a:t>
            </a:r>
            <a:r>
              <a:rPr lang="en-US" sz="2000" dirty="0">
                <a:latin typeface="Times New Roman" panose="02020603050405020304" pitchFamily="18" charset="0"/>
                <a:cs typeface="Times New Roman" panose="02020603050405020304" pitchFamily="18" charset="0"/>
              </a:rPr>
              <a:t>terrorist usually cause potential crime to satellites and wage economic warfare.</a:t>
            </a:r>
          </a:p>
          <a:p>
            <a:pPr marL="900113">
              <a:lnSpc>
                <a:spcPct val="150000"/>
              </a:lnSpc>
              <a:buFont typeface="Wingdings" panose="05000000000000000000" pitchFamily="2" charset="2"/>
              <a:buChar char="Ø"/>
            </a:pPr>
            <a:r>
              <a:rPr lang="en-US" sz="2000" b="1" i="1" dirty="0" smtClean="0">
                <a:latin typeface="Times New Roman" panose="02020603050405020304" pitchFamily="18" charset="0"/>
                <a:cs typeface="Times New Roman" panose="02020603050405020304" pitchFamily="18" charset="0"/>
              </a:rPr>
              <a:t>Cyberterrorism</a:t>
            </a:r>
            <a:r>
              <a:rPr lang="en-US" sz="2000" b="1" i="1"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Terrorist attack on computer facilities in companies that </a:t>
            </a:r>
            <a:r>
              <a:rPr lang="en-US" sz="2000" dirty="0" smtClean="0">
                <a:latin typeface="Times New Roman" panose="02020603050405020304" pitchFamily="18" charset="0"/>
                <a:cs typeface="Times New Roman" panose="02020603050405020304" pitchFamily="18" charset="0"/>
              </a:rPr>
              <a:t>rely on </a:t>
            </a:r>
            <a:r>
              <a:rPr lang="en-US" sz="2000" dirty="0">
                <a:latin typeface="Times New Roman" panose="02020603050405020304" pitchFamily="18" charset="0"/>
                <a:cs typeface="Times New Roman" panose="02020603050405020304" pitchFamily="18" charset="0"/>
              </a:rPr>
              <a:t>IT to produce their services.</a:t>
            </a:r>
            <a:endParaRPr lang="en-US" sz="20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104169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484785"/>
          </a:xfrm>
        </p:spPr>
        <p:txBody>
          <a:bodyPr>
            <a:noAutofit/>
          </a:bodyPr>
          <a:lstStyle/>
          <a:p>
            <a:pPr algn="ctr"/>
            <a:r>
              <a:rPr lang="en-US" b="1" dirty="0"/>
              <a:t>SECURITY MEASURES</a:t>
            </a:r>
            <a:endParaRPr lang="en-US" sz="4800" b="1" dirty="0"/>
          </a:p>
        </p:txBody>
      </p:sp>
      <p:sp>
        <p:nvSpPr>
          <p:cNvPr id="5" name="Rectangle 3"/>
          <p:cNvSpPr txBox="1">
            <a:spLocks noChangeArrowheads="1"/>
          </p:cNvSpPr>
          <p:nvPr/>
        </p:nvSpPr>
        <p:spPr bwMode="auto">
          <a:xfrm>
            <a:off x="467544" y="1440160"/>
            <a:ext cx="8219256" cy="50851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2300" dirty="0" smtClean="0">
                <a:latin typeface="Times New Roman" panose="02020603050405020304" pitchFamily="18" charset="0"/>
                <a:cs typeface="Times New Roman" panose="02020603050405020304" pitchFamily="18" charset="0"/>
              </a:rPr>
              <a:t>Security </a:t>
            </a:r>
            <a:r>
              <a:rPr lang="en-US" sz="2300" dirty="0">
                <a:latin typeface="Times New Roman" panose="02020603050405020304" pitchFamily="18" charset="0"/>
                <a:cs typeface="Times New Roman" panose="02020603050405020304" pitchFamily="18" charset="0"/>
              </a:rPr>
              <a:t>involves keeping enterprise hardware, software, data and programs safe. </a:t>
            </a:r>
            <a:endParaRPr lang="en-US" sz="2300" dirty="0" smtClean="0">
              <a:latin typeface="Times New Roman" panose="02020603050405020304" pitchFamily="18" charset="0"/>
              <a:cs typeface="Times New Roman" panose="02020603050405020304" pitchFamily="18" charset="0"/>
            </a:endParaRPr>
          </a:p>
          <a:p>
            <a:pPr>
              <a:lnSpc>
                <a:spcPct val="200000"/>
              </a:lnSpc>
            </a:pPr>
            <a:r>
              <a:rPr lang="en-US" sz="2300" dirty="0" smtClean="0">
                <a:latin typeface="Times New Roman" panose="02020603050405020304" pitchFamily="18" charset="0"/>
                <a:cs typeface="Times New Roman" panose="02020603050405020304" pitchFamily="18" charset="0"/>
              </a:rPr>
              <a:t>Some measures </a:t>
            </a:r>
            <a:r>
              <a:rPr lang="en-US" sz="2300" dirty="0">
                <a:latin typeface="Times New Roman" panose="02020603050405020304" pitchFamily="18" charset="0"/>
                <a:cs typeface="Times New Roman" panose="02020603050405020304" pitchFamily="18" charset="0"/>
              </a:rPr>
              <a:t>are encrypting messages, restricting access through passwords and firewalls</a:t>
            </a:r>
            <a:r>
              <a:rPr lang="en-US" sz="2300" dirty="0" smtClean="0">
                <a:latin typeface="Times New Roman" panose="02020603050405020304" pitchFamily="18" charset="0"/>
                <a:cs typeface="Times New Roman" panose="02020603050405020304" pitchFamily="18" charset="0"/>
              </a:rPr>
              <a:t>, anticipating </a:t>
            </a:r>
            <a:r>
              <a:rPr lang="en-US" sz="2300" dirty="0">
                <a:latin typeface="Times New Roman" panose="02020603050405020304" pitchFamily="18" charset="0"/>
                <a:cs typeface="Times New Roman" panose="02020603050405020304" pitchFamily="18" charset="0"/>
              </a:rPr>
              <a:t>disasters (hot sites are emergency facilities; cold sites are empty shells), </a:t>
            </a:r>
            <a:r>
              <a:rPr lang="en-US" sz="2300" dirty="0" smtClean="0">
                <a:latin typeface="Times New Roman" panose="02020603050405020304" pitchFamily="18" charset="0"/>
                <a:cs typeface="Times New Roman" panose="02020603050405020304" pitchFamily="18" charset="0"/>
              </a:rPr>
              <a:t>backing up </a:t>
            </a:r>
            <a:r>
              <a:rPr lang="en-US" sz="2300" dirty="0">
                <a:latin typeface="Times New Roman" panose="02020603050405020304" pitchFamily="18" charset="0"/>
                <a:cs typeface="Times New Roman" panose="02020603050405020304" pitchFamily="18" charset="0"/>
              </a:rPr>
              <a:t>data and storing the data in a safe remote location.</a:t>
            </a:r>
          </a:p>
          <a:p>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941671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484785"/>
          </a:xfrm>
        </p:spPr>
        <p:txBody>
          <a:bodyPr>
            <a:noAutofit/>
          </a:bodyPr>
          <a:lstStyle/>
          <a:p>
            <a:pPr algn="ctr"/>
            <a:r>
              <a:rPr lang="en-US" sz="4800" b="1" dirty="0" smtClean="0">
                <a:latin typeface="Times New Roman" panose="02020603050405020304" pitchFamily="18" charset="0"/>
                <a:cs typeface="Times New Roman" panose="02020603050405020304" pitchFamily="18" charset="0"/>
              </a:rPr>
              <a:t>SECURITY POLICIES AND PROCEDURES</a:t>
            </a:r>
            <a:endParaRPr lang="en-US" sz="4800" b="1" dirty="0"/>
          </a:p>
        </p:txBody>
      </p:sp>
      <p:sp>
        <p:nvSpPr>
          <p:cNvPr id="5" name="Rectangle 3"/>
          <p:cNvSpPr txBox="1">
            <a:spLocks noChangeArrowheads="1"/>
          </p:cNvSpPr>
          <p:nvPr/>
        </p:nvSpPr>
        <p:spPr bwMode="auto">
          <a:xfrm>
            <a:off x="467544" y="1440160"/>
            <a:ext cx="8219256" cy="541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1900" dirty="0" smtClean="0">
                <a:latin typeface="Times New Roman" panose="02020603050405020304" pitchFamily="18" charset="0"/>
                <a:cs typeface="Times New Roman" panose="02020603050405020304" pitchFamily="18" charset="0"/>
              </a:rPr>
              <a:t>The </a:t>
            </a:r>
            <a:r>
              <a:rPr lang="en-US" sz="1900" dirty="0">
                <a:latin typeface="Times New Roman" panose="02020603050405020304" pitchFamily="18" charset="0"/>
                <a:cs typeface="Times New Roman" panose="02020603050405020304" pitchFamily="18" charset="0"/>
              </a:rPr>
              <a:t>general Security Policies and Procedures are:</a:t>
            </a:r>
          </a:p>
          <a:p>
            <a:pPr marL="900113">
              <a:lnSpc>
                <a:spcPct val="150000"/>
              </a:lnSpc>
              <a:buFont typeface="Wingdings" panose="05000000000000000000" pitchFamily="2" charset="2"/>
              <a:buChar char="Ø"/>
            </a:pPr>
            <a:r>
              <a:rPr lang="en-US" sz="1900" dirty="0" smtClean="0">
                <a:latin typeface="Times New Roman" panose="02020603050405020304" pitchFamily="18" charset="0"/>
                <a:cs typeface="Times New Roman" panose="02020603050405020304" pitchFamily="18" charset="0"/>
              </a:rPr>
              <a:t>Change </a:t>
            </a:r>
            <a:r>
              <a:rPr lang="en-US" sz="1900" dirty="0">
                <a:latin typeface="Times New Roman" panose="02020603050405020304" pitchFamily="18" charset="0"/>
                <a:cs typeface="Times New Roman" panose="02020603050405020304" pitchFamily="18" charset="0"/>
              </a:rPr>
              <a:t>access passwords frequently</a:t>
            </a:r>
          </a:p>
          <a:p>
            <a:pPr marL="900113">
              <a:lnSpc>
                <a:spcPct val="150000"/>
              </a:lnSpc>
              <a:buFont typeface="Wingdings" panose="05000000000000000000" pitchFamily="2" charset="2"/>
              <a:buChar char="Ø"/>
            </a:pPr>
            <a:r>
              <a:rPr lang="en-US" sz="1900" dirty="0" smtClean="0">
                <a:latin typeface="Times New Roman" panose="02020603050405020304" pitchFamily="18" charset="0"/>
                <a:cs typeface="Times New Roman" panose="02020603050405020304" pitchFamily="18" charset="0"/>
              </a:rPr>
              <a:t>Restrict </a:t>
            </a:r>
            <a:r>
              <a:rPr lang="en-US" sz="1900" dirty="0">
                <a:latin typeface="Times New Roman" panose="02020603050405020304" pitchFamily="18" charset="0"/>
                <a:cs typeface="Times New Roman" panose="02020603050405020304" pitchFamily="18" charset="0"/>
              </a:rPr>
              <a:t>system use</a:t>
            </a:r>
          </a:p>
          <a:p>
            <a:pPr marL="900113">
              <a:lnSpc>
                <a:spcPct val="150000"/>
              </a:lnSpc>
              <a:buFont typeface="Wingdings" panose="05000000000000000000" pitchFamily="2" charset="2"/>
              <a:buChar char="Ø"/>
            </a:pPr>
            <a:r>
              <a:rPr lang="en-US" sz="1900" dirty="0" smtClean="0">
                <a:latin typeface="Times New Roman" panose="02020603050405020304" pitchFamily="18" charset="0"/>
                <a:cs typeface="Times New Roman" panose="02020603050405020304" pitchFamily="18" charset="0"/>
              </a:rPr>
              <a:t>Limit </a:t>
            </a:r>
            <a:r>
              <a:rPr lang="en-US" sz="1900" dirty="0">
                <a:latin typeface="Times New Roman" panose="02020603050405020304" pitchFamily="18" charset="0"/>
                <a:cs typeface="Times New Roman" panose="02020603050405020304" pitchFamily="18" charset="0"/>
              </a:rPr>
              <a:t>access to data</a:t>
            </a:r>
          </a:p>
          <a:p>
            <a:pPr marL="900113">
              <a:lnSpc>
                <a:spcPct val="150000"/>
              </a:lnSpc>
              <a:buFont typeface="Wingdings" panose="05000000000000000000" pitchFamily="2" charset="2"/>
              <a:buChar char="Ø"/>
            </a:pPr>
            <a:r>
              <a:rPr lang="en-US" sz="1900" dirty="0" smtClean="0">
                <a:latin typeface="Times New Roman" panose="02020603050405020304" pitchFamily="18" charset="0"/>
                <a:cs typeface="Times New Roman" panose="02020603050405020304" pitchFamily="18" charset="0"/>
              </a:rPr>
              <a:t>Set </a:t>
            </a:r>
            <a:r>
              <a:rPr lang="en-US" sz="1900" dirty="0">
                <a:latin typeface="Times New Roman" panose="02020603050405020304" pitchFamily="18" charset="0"/>
                <a:cs typeface="Times New Roman" panose="02020603050405020304" pitchFamily="18" charset="0"/>
              </a:rPr>
              <a:t>up physical access controls</a:t>
            </a:r>
          </a:p>
          <a:p>
            <a:pPr marL="900113">
              <a:lnSpc>
                <a:spcPct val="150000"/>
              </a:lnSpc>
              <a:buFont typeface="Wingdings" panose="05000000000000000000" pitchFamily="2" charset="2"/>
              <a:buChar char="Ø"/>
            </a:pPr>
            <a:r>
              <a:rPr lang="en-US" sz="1900" dirty="0" smtClean="0">
                <a:latin typeface="Times New Roman" panose="02020603050405020304" pitchFamily="18" charset="0"/>
                <a:cs typeface="Times New Roman" panose="02020603050405020304" pitchFamily="18" charset="0"/>
              </a:rPr>
              <a:t>Partition </a:t>
            </a:r>
            <a:r>
              <a:rPr lang="en-US" sz="1900" dirty="0">
                <a:latin typeface="Times New Roman" panose="02020603050405020304" pitchFamily="18" charset="0"/>
                <a:cs typeface="Times New Roman" panose="02020603050405020304" pitchFamily="18" charset="0"/>
              </a:rPr>
              <a:t>responsibilities</a:t>
            </a:r>
          </a:p>
          <a:p>
            <a:pPr marL="900113">
              <a:lnSpc>
                <a:spcPct val="150000"/>
              </a:lnSpc>
              <a:buFont typeface="Wingdings" panose="05000000000000000000" pitchFamily="2" charset="2"/>
              <a:buChar char="Ø"/>
            </a:pPr>
            <a:r>
              <a:rPr lang="en-US" sz="1900" dirty="0" smtClean="0">
                <a:latin typeface="Times New Roman" panose="02020603050405020304" pitchFamily="18" charset="0"/>
                <a:cs typeface="Times New Roman" panose="02020603050405020304" pitchFamily="18" charset="0"/>
              </a:rPr>
              <a:t>Encrypt </a:t>
            </a:r>
            <a:r>
              <a:rPr lang="en-US" sz="1900" dirty="0">
                <a:latin typeface="Times New Roman" panose="02020603050405020304" pitchFamily="18" charset="0"/>
                <a:cs typeface="Times New Roman" panose="02020603050405020304" pitchFamily="18" charset="0"/>
              </a:rPr>
              <a:t>data</a:t>
            </a:r>
          </a:p>
          <a:p>
            <a:pPr marL="900113">
              <a:lnSpc>
                <a:spcPct val="150000"/>
              </a:lnSpc>
              <a:buFont typeface="Wingdings" panose="05000000000000000000" pitchFamily="2" charset="2"/>
              <a:buChar char="Ø"/>
            </a:pPr>
            <a:r>
              <a:rPr lang="en-US" sz="1900" dirty="0" smtClean="0">
                <a:latin typeface="Times New Roman" panose="02020603050405020304" pitchFamily="18" charset="0"/>
                <a:cs typeface="Times New Roman" panose="02020603050405020304" pitchFamily="18" charset="0"/>
              </a:rPr>
              <a:t>Establish </a:t>
            </a:r>
            <a:r>
              <a:rPr lang="en-US" sz="1900" dirty="0">
                <a:latin typeface="Times New Roman" panose="02020603050405020304" pitchFamily="18" charset="0"/>
                <a:cs typeface="Times New Roman" panose="02020603050405020304" pitchFamily="18" charset="0"/>
              </a:rPr>
              <a:t>procedural controls</a:t>
            </a:r>
          </a:p>
          <a:p>
            <a:pPr marL="900113">
              <a:lnSpc>
                <a:spcPct val="150000"/>
              </a:lnSpc>
              <a:buFont typeface="Wingdings" panose="05000000000000000000" pitchFamily="2" charset="2"/>
              <a:buChar char="Ø"/>
            </a:pPr>
            <a:r>
              <a:rPr lang="en-US" sz="1900" dirty="0" smtClean="0">
                <a:latin typeface="Times New Roman" panose="02020603050405020304" pitchFamily="18" charset="0"/>
                <a:cs typeface="Times New Roman" panose="02020603050405020304" pitchFamily="18" charset="0"/>
              </a:rPr>
              <a:t>Institute </a:t>
            </a:r>
            <a:r>
              <a:rPr lang="en-US" sz="1900" dirty="0">
                <a:latin typeface="Times New Roman" panose="02020603050405020304" pitchFamily="18" charset="0"/>
                <a:cs typeface="Times New Roman" panose="02020603050405020304" pitchFamily="18" charset="0"/>
              </a:rPr>
              <a:t>educational programs</a:t>
            </a:r>
          </a:p>
          <a:p>
            <a:pPr marL="900113">
              <a:lnSpc>
                <a:spcPct val="150000"/>
              </a:lnSpc>
              <a:buFont typeface="Wingdings" panose="05000000000000000000" pitchFamily="2" charset="2"/>
              <a:buChar char="Ø"/>
            </a:pPr>
            <a:r>
              <a:rPr lang="en-US" sz="1900" dirty="0" smtClean="0">
                <a:latin typeface="Times New Roman" panose="02020603050405020304" pitchFamily="18" charset="0"/>
                <a:cs typeface="Times New Roman" panose="02020603050405020304" pitchFamily="18" charset="0"/>
              </a:rPr>
              <a:t>Audit </a:t>
            </a:r>
            <a:r>
              <a:rPr lang="en-US" sz="1900" dirty="0">
                <a:latin typeface="Times New Roman" panose="02020603050405020304" pitchFamily="18" charset="0"/>
                <a:cs typeface="Times New Roman" panose="02020603050405020304" pitchFamily="18" charset="0"/>
              </a:rPr>
              <a:t>system activities</a:t>
            </a:r>
          </a:p>
          <a:p>
            <a:pPr marL="900113">
              <a:lnSpc>
                <a:spcPct val="150000"/>
              </a:lnSpc>
              <a:buFont typeface="Wingdings" panose="05000000000000000000" pitchFamily="2" charset="2"/>
              <a:buChar char="Ø"/>
            </a:pPr>
            <a:r>
              <a:rPr lang="en-US" sz="1900" dirty="0" smtClean="0">
                <a:latin typeface="Times New Roman" panose="02020603050405020304" pitchFamily="18" charset="0"/>
                <a:cs typeface="Times New Roman" panose="02020603050405020304" pitchFamily="18" charset="0"/>
              </a:rPr>
              <a:t>Log </a:t>
            </a:r>
            <a:r>
              <a:rPr lang="en-US" sz="1900" dirty="0">
                <a:latin typeface="Times New Roman" panose="02020603050405020304" pitchFamily="18" charset="0"/>
                <a:cs typeface="Times New Roman" panose="02020603050405020304" pitchFamily="18" charset="0"/>
              </a:rPr>
              <a:t>all transactions and user </a:t>
            </a:r>
            <a:r>
              <a:rPr lang="en-US" sz="1900" dirty="0" smtClean="0">
                <a:latin typeface="Times New Roman" panose="02020603050405020304" pitchFamily="18" charset="0"/>
                <a:cs typeface="Times New Roman" panose="02020603050405020304" pitchFamily="18" charset="0"/>
              </a:rPr>
              <a:t>activities</a:t>
            </a:r>
            <a:endParaRPr lang="en-US" sz="1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896842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484785"/>
          </a:xfrm>
        </p:spPr>
        <p:txBody>
          <a:bodyPr>
            <a:noAutofit/>
          </a:bodyPr>
          <a:lstStyle/>
          <a:p>
            <a:pPr algn="ctr"/>
            <a:r>
              <a:rPr lang="en-US" sz="4800" b="1" dirty="0" smtClean="0">
                <a:latin typeface="Times New Roman" panose="02020603050405020304" pitchFamily="18" charset="0"/>
                <a:cs typeface="Times New Roman" panose="02020603050405020304" pitchFamily="18" charset="0"/>
              </a:rPr>
              <a:t>SECURITY POLICIES AND PROCEDURES</a:t>
            </a:r>
            <a:endParaRPr lang="en-US" sz="4800" b="1" dirty="0"/>
          </a:p>
        </p:txBody>
      </p:sp>
      <p:sp>
        <p:nvSpPr>
          <p:cNvPr id="5" name="Rectangle 3"/>
          <p:cNvSpPr txBox="1">
            <a:spLocks noChangeArrowheads="1"/>
          </p:cNvSpPr>
          <p:nvPr/>
        </p:nvSpPr>
        <p:spPr bwMode="auto">
          <a:xfrm>
            <a:off x="467544" y="1440160"/>
            <a:ext cx="8219256" cy="541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1900" b="1" dirty="0" smtClean="0">
                <a:latin typeface="Times New Roman" panose="02020603050405020304" pitchFamily="18" charset="0"/>
                <a:cs typeface="Times New Roman" panose="02020603050405020304" pitchFamily="18" charset="0"/>
              </a:rPr>
              <a:t>Virus </a:t>
            </a:r>
            <a:r>
              <a:rPr lang="en-US" sz="1900" b="1" dirty="0">
                <a:latin typeface="Times New Roman" panose="02020603050405020304" pitchFamily="18" charset="0"/>
                <a:cs typeface="Times New Roman" panose="02020603050405020304" pitchFamily="18" charset="0"/>
              </a:rPr>
              <a:t>Protection Software/Antivirus</a:t>
            </a:r>
          </a:p>
          <a:p>
            <a:pPr marL="900113">
              <a:lnSpc>
                <a:spcPct val="150000"/>
              </a:lnSpc>
              <a:buFont typeface="Wingdings" panose="05000000000000000000" pitchFamily="2" charset="2"/>
              <a:buChar char="Ø"/>
            </a:pPr>
            <a:r>
              <a:rPr lang="en-US" sz="1900" dirty="0" smtClean="0">
                <a:latin typeface="Times New Roman" panose="02020603050405020304" pitchFamily="18" charset="0"/>
                <a:cs typeface="Times New Roman" panose="02020603050405020304" pitchFamily="18" charset="0"/>
              </a:rPr>
              <a:t>Norton</a:t>
            </a:r>
            <a:endParaRPr lang="en-US" sz="1900" dirty="0">
              <a:latin typeface="Times New Roman" panose="02020603050405020304" pitchFamily="18" charset="0"/>
              <a:cs typeface="Times New Roman" panose="02020603050405020304" pitchFamily="18" charset="0"/>
            </a:endParaRPr>
          </a:p>
          <a:p>
            <a:pPr marL="900113">
              <a:lnSpc>
                <a:spcPct val="150000"/>
              </a:lnSpc>
              <a:buFont typeface="Wingdings" panose="05000000000000000000" pitchFamily="2" charset="2"/>
              <a:buChar char="Ø"/>
            </a:pPr>
            <a:r>
              <a:rPr lang="en-US" sz="1900" dirty="0" smtClean="0">
                <a:latin typeface="Times New Roman" panose="02020603050405020304" pitchFamily="18" charset="0"/>
                <a:cs typeface="Times New Roman" panose="02020603050405020304" pitchFamily="18" charset="0"/>
              </a:rPr>
              <a:t>Bit </a:t>
            </a:r>
            <a:r>
              <a:rPr lang="en-US" sz="1900" dirty="0">
                <a:latin typeface="Times New Roman" panose="02020603050405020304" pitchFamily="18" charset="0"/>
                <a:cs typeface="Times New Roman" panose="02020603050405020304" pitchFamily="18" charset="0"/>
              </a:rPr>
              <a:t>defender</a:t>
            </a:r>
          </a:p>
          <a:p>
            <a:pPr marL="900113">
              <a:lnSpc>
                <a:spcPct val="150000"/>
              </a:lnSpc>
              <a:buFont typeface="Wingdings" panose="05000000000000000000" pitchFamily="2" charset="2"/>
              <a:buChar char="Ø"/>
            </a:pPr>
            <a:r>
              <a:rPr lang="en-US" sz="1900" dirty="0" err="1" smtClean="0">
                <a:latin typeface="Times New Roman" panose="02020603050405020304" pitchFamily="18" charset="0"/>
                <a:cs typeface="Times New Roman" panose="02020603050405020304" pitchFamily="18" charset="0"/>
              </a:rPr>
              <a:t>Kerpersky</a:t>
            </a:r>
            <a:endParaRPr lang="en-US" sz="1900" dirty="0">
              <a:latin typeface="Times New Roman" panose="02020603050405020304" pitchFamily="18" charset="0"/>
              <a:cs typeface="Times New Roman" panose="02020603050405020304" pitchFamily="18" charset="0"/>
            </a:endParaRPr>
          </a:p>
          <a:p>
            <a:pPr marL="900113">
              <a:lnSpc>
                <a:spcPct val="150000"/>
              </a:lnSpc>
              <a:buFont typeface="Wingdings" panose="05000000000000000000" pitchFamily="2" charset="2"/>
              <a:buChar char="Ø"/>
            </a:pPr>
            <a:r>
              <a:rPr lang="en-US" sz="1900" dirty="0" err="1" smtClean="0">
                <a:latin typeface="Times New Roman" panose="02020603050405020304" pitchFamily="18" charset="0"/>
                <a:cs typeface="Times New Roman" panose="02020603050405020304" pitchFamily="18" charset="0"/>
              </a:rPr>
              <a:t>Avast</a:t>
            </a:r>
            <a:endParaRPr lang="en-US" sz="1900" dirty="0">
              <a:latin typeface="Times New Roman" panose="02020603050405020304" pitchFamily="18" charset="0"/>
              <a:cs typeface="Times New Roman" panose="02020603050405020304" pitchFamily="18" charset="0"/>
            </a:endParaRPr>
          </a:p>
          <a:p>
            <a:pPr marL="900113">
              <a:lnSpc>
                <a:spcPct val="150000"/>
              </a:lnSpc>
              <a:buFont typeface="Wingdings" panose="05000000000000000000" pitchFamily="2" charset="2"/>
              <a:buChar char="Ø"/>
            </a:pPr>
            <a:r>
              <a:rPr lang="en-US" sz="1900" dirty="0" smtClean="0">
                <a:latin typeface="Times New Roman" panose="02020603050405020304" pitchFamily="18" charset="0"/>
                <a:cs typeface="Times New Roman" panose="02020603050405020304" pitchFamily="18" charset="0"/>
              </a:rPr>
              <a:t>Panda</a:t>
            </a:r>
            <a:endParaRPr lang="en-US" sz="1900" dirty="0">
              <a:latin typeface="Times New Roman" panose="02020603050405020304" pitchFamily="18" charset="0"/>
              <a:cs typeface="Times New Roman" panose="02020603050405020304" pitchFamily="18" charset="0"/>
            </a:endParaRPr>
          </a:p>
          <a:p>
            <a:pPr marL="900113">
              <a:lnSpc>
                <a:spcPct val="150000"/>
              </a:lnSpc>
              <a:buFont typeface="Wingdings" panose="05000000000000000000" pitchFamily="2" charset="2"/>
              <a:buChar char="Ø"/>
            </a:pPr>
            <a:r>
              <a:rPr lang="en-US" sz="1900" dirty="0" smtClean="0">
                <a:latin typeface="Times New Roman" panose="02020603050405020304" pitchFamily="18" charset="0"/>
                <a:cs typeface="Times New Roman" panose="02020603050405020304" pitchFamily="18" charset="0"/>
              </a:rPr>
              <a:t>PC </a:t>
            </a:r>
            <a:r>
              <a:rPr lang="en-US" sz="1900" dirty="0" err="1">
                <a:latin typeface="Times New Roman" panose="02020603050405020304" pitchFamily="18" charset="0"/>
                <a:cs typeface="Times New Roman" panose="02020603050405020304" pitchFamily="18" charset="0"/>
              </a:rPr>
              <a:t>Cillin</a:t>
            </a:r>
            <a:endParaRPr lang="en-US" sz="1900" dirty="0">
              <a:latin typeface="Times New Roman" panose="02020603050405020304" pitchFamily="18" charset="0"/>
              <a:cs typeface="Times New Roman" panose="02020603050405020304" pitchFamily="18" charset="0"/>
            </a:endParaRPr>
          </a:p>
          <a:p>
            <a:pPr>
              <a:lnSpc>
                <a:spcPct val="150000"/>
              </a:lnSpc>
            </a:pPr>
            <a:r>
              <a:rPr lang="en-US" sz="1900" b="1" dirty="0" smtClean="0">
                <a:latin typeface="Times New Roman" panose="02020603050405020304" pitchFamily="18" charset="0"/>
                <a:cs typeface="Times New Roman" panose="02020603050405020304" pitchFamily="18" charset="0"/>
              </a:rPr>
              <a:t>Digital </a:t>
            </a:r>
            <a:r>
              <a:rPr lang="en-US" sz="1900" b="1" dirty="0">
                <a:latin typeface="Times New Roman" panose="02020603050405020304" pitchFamily="18" charset="0"/>
                <a:cs typeface="Times New Roman" panose="02020603050405020304" pitchFamily="18" charset="0"/>
              </a:rPr>
              <a:t>Signatures</a:t>
            </a:r>
          </a:p>
          <a:p>
            <a:pPr marL="900113">
              <a:lnSpc>
                <a:spcPct val="150000"/>
              </a:lnSpc>
              <a:buFont typeface="Wingdings" panose="05000000000000000000" pitchFamily="2" charset="2"/>
              <a:buChar char="Ø"/>
            </a:pPr>
            <a:r>
              <a:rPr lang="en-US" sz="1900" b="1" i="1" dirty="0" smtClean="0">
                <a:latin typeface="Times New Roman" panose="02020603050405020304" pitchFamily="18" charset="0"/>
                <a:cs typeface="Times New Roman" panose="02020603050405020304" pitchFamily="18" charset="0"/>
              </a:rPr>
              <a:t>Digital </a:t>
            </a:r>
            <a:r>
              <a:rPr lang="en-US" sz="1900" b="1" i="1" dirty="0">
                <a:latin typeface="Times New Roman" panose="02020603050405020304" pitchFamily="18" charset="0"/>
                <a:cs typeface="Times New Roman" panose="02020603050405020304" pitchFamily="18" charset="0"/>
              </a:rPr>
              <a:t>Signature Encryption</a:t>
            </a:r>
            <a:r>
              <a:rPr lang="en-US" sz="1900" i="1"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Relies on a mathematical coding </a:t>
            </a:r>
            <a:r>
              <a:rPr lang="en-US" sz="1900" dirty="0" smtClean="0">
                <a:latin typeface="Times New Roman" panose="02020603050405020304" pitchFamily="18" charset="0"/>
                <a:cs typeface="Times New Roman" panose="02020603050405020304" pitchFamily="18" charset="0"/>
              </a:rPr>
              <a:t>scheme designed </a:t>
            </a:r>
            <a:r>
              <a:rPr lang="en-US" sz="1900" dirty="0">
                <a:latin typeface="Times New Roman" panose="02020603050405020304" pitchFamily="18" charset="0"/>
                <a:cs typeface="Times New Roman" panose="02020603050405020304" pitchFamily="18" charset="0"/>
              </a:rPr>
              <a:t>to foil a virus’s attempt to attack programs and data</a:t>
            </a:r>
            <a:r>
              <a:rPr lang="en-US" sz="1900" dirty="0" smtClean="0">
                <a:latin typeface="Times New Roman" panose="02020603050405020304" pitchFamily="18" charset="0"/>
                <a:cs typeface="Times New Roman" panose="02020603050405020304" pitchFamily="18" charset="0"/>
              </a:rPr>
              <a:t>.</a:t>
            </a:r>
          </a:p>
          <a:p>
            <a:pPr>
              <a:lnSpc>
                <a:spcPct val="150000"/>
              </a:lnSpc>
            </a:pPr>
            <a:r>
              <a:rPr lang="en-US" sz="1900" b="1" dirty="0" smtClean="0">
                <a:latin typeface="Times New Roman" panose="02020603050405020304" pitchFamily="18" charset="0"/>
                <a:cs typeface="Times New Roman" panose="02020603050405020304" pitchFamily="18" charset="0"/>
              </a:rPr>
              <a:t>Encryption</a:t>
            </a:r>
            <a:endParaRPr lang="en-US" sz="19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762320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484785"/>
          </a:xfrm>
        </p:spPr>
        <p:txBody>
          <a:bodyPr>
            <a:noAutofit/>
          </a:bodyPr>
          <a:lstStyle/>
          <a:p>
            <a:pPr algn="ctr"/>
            <a:r>
              <a:rPr lang="en-US" sz="3200" b="1" dirty="0" smtClean="0"/>
              <a:t>ENCRYPTION PROCEDURE FOR PROTECTING DATA AND MESSAGES</a:t>
            </a:r>
            <a:endParaRPr lang="en-US" sz="3200" b="1" dirty="0"/>
          </a:p>
        </p:txBody>
      </p:sp>
      <p:pic>
        <p:nvPicPr>
          <p:cNvPr id="2" name="Picture 1"/>
          <p:cNvPicPr>
            <a:picLocks noChangeAspect="1"/>
          </p:cNvPicPr>
          <p:nvPr/>
        </p:nvPicPr>
        <p:blipFill>
          <a:blip r:embed="rId2"/>
          <a:stretch>
            <a:fillRect/>
          </a:stretch>
        </p:blipFill>
        <p:spPr>
          <a:xfrm>
            <a:off x="611560" y="1556792"/>
            <a:ext cx="7920880" cy="4104456"/>
          </a:xfrm>
          <a:prstGeom prst="rect">
            <a:avLst/>
          </a:prstGeom>
        </p:spPr>
      </p:pic>
    </p:spTree>
    <p:extLst>
      <p:ext uri="{BB962C8B-B14F-4D97-AF65-F5344CB8AC3E}">
        <p14:creationId xmlns:p14="http://schemas.microsoft.com/office/powerpoint/2010/main" val="313275541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484785"/>
          </a:xfrm>
        </p:spPr>
        <p:txBody>
          <a:bodyPr>
            <a:noAutofit/>
          </a:bodyPr>
          <a:lstStyle/>
          <a:p>
            <a:pPr algn="ctr"/>
            <a:r>
              <a:rPr lang="en-US" sz="4800" b="1" dirty="0" smtClean="0"/>
              <a:t>METHODS OF ENCRYPTION</a:t>
            </a:r>
            <a:endParaRPr lang="en-US" sz="4800" b="1" dirty="0"/>
          </a:p>
        </p:txBody>
      </p:sp>
      <p:sp>
        <p:nvSpPr>
          <p:cNvPr id="5" name="Rectangle 3"/>
          <p:cNvSpPr txBox="1">
            <a:spLocks noChangeArrowheads="1"/>
          </p:cNvSpPr>
          <p:nvPr/>
        </p:nvSpPr>
        <p:spPr bwMode="auto">
          <a:xfrm>
            <a:off x="467544" y="1440160"/>
            <a:ext cx="8424936" cy="52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000" b="1" i="1" dirty="0" smtClean="0">
                <a:latin typeface="Times New Roman" panose="02020603050405020304" pitchFamily="18" charset="0"/>
                <a:cs typeface="Times New Roman" panose="02020603050405020304" pitchFamily="18" charset="0"/>
              </a:rPr>
              <a:t>Public </a:t>
            </a:r>
            <a:r>
              <a:rPr lang="en-US" sz="2000" b="1" i="1" dirty="0">
                <a:latin typeface="Times New Roman" panose="02020603050405020304" pitchFamily="18" charset="0"/>
                <a:cs typeface="Times New Roman" panose="02020603050405020304" pitchFamily="18" charset="0"/>
              </a:rPr>
              <a:t>Key Infrastructure (PKI): </a:t>
            </a:r>
            <a:endParaRPr lang="en-US" sz="2000" b="1" i="1" dirty="0" smtClean="0">
              <a:latin typeface="Times New Roman" panose="02020603050405020304" pitchFamily="18" charset="0"/>
              <a:cs typeface="Times New Roman" panose="02020603050405020304" pitchFamily="18" charset="0"/>
            </a:endParaRPr>
          </a:p>
          <a:p>
            <a:pPr marL="365125" indent="0">
              <a:lnSpc>
                <a:spcPct val="150000"/>
              </a:lnSpc>
              <a:buNone/>
            </a:pPr>
            <a:r>
              <a:rPr lang="en-US" sz="2000" dirty="0" smtClean="0">
                <a:latin typeface="Times New Roman" panose="02020603050405020304" pitchFamily="18" charset="0"/>
                <a:cs typeface="Times New Roman" panose="02020603050405020304" pitchFamily="18" charset="0"/>
              </a:rPr>
              <a:t>A </a:t>
            </a:r>
            <a:r>
              <a:rPr lang="en-US" sz="2000" dirty="0">
                <a:latin typeface="Times New Roman" panose="02020603050405020304" pitchFamily="18" charset="0"/>
                <a:cs typeface="Times New Roman" panose="02020603050405020304" pitchFamily="18" charset="0"/>
              </a:rPr>
              <a:t>public key is made available in a </a:t>
            </a:r>
            <a:r>
              <a:rPr lang="en-US" sz="2000" dirty="0" smtClean="0">
                <a:latin typeface="Times New Roman" panose="02020603050405020304" pitchFamily="18" charset="0"/>
                <a:cs typeface="Times New Roman" panose="02020603050405020304" pitchFamily="18" charset="0"/>
              </a:rPr>
              <a:t>directory that </a:t>
            </a:r>
            <a:r>
              <a:rPr lang="en-US" sz="2000" dirty="0">
                <a:latin typeface="Times New Roman" panose="02020603050405020304" pitchFamily="18" charset="0"/>
                <a:cs typeface="Times New Roman" panose="02020603050405020304" pitchFamily="18" charset="0"/>
              </a:rPr>
              <a:t>all parties can search. </a:t>
            </a:r>
            <a:endParaRPr lang="en-US" sz="2000" dirty="0" smtClean="0">
              <a:latin typeface="Times New Roman" panose="02020603050405020304" pitchFamily="18" charset="0"/>
              <a:cs typeface="Times New Roman" panose="02020603050405020304" pitchFamily="18" charset="0"/>
            </a:endParaRPr>
          </a:p>
          <a:p>
            <a:pPr marL="365125" indent="0">
              <a:lnSpc>
                <a:spcPct val="150000"/>
              </a:lnSpc>
              <a:buNone/>
            </a:pPr>
            <a:r>
              <a:rPr lang="en-US" sz="2000" dirty="0" smtClean="0">
                <a:latin typeface="Times New Roman" panose="02020603050405020304" pitchFamily="18" charset="0"/>
                <a:cs typeface="Times New Roman" panose="02020603050405020304" pitchFamily="18" charset="0"/>
              </a:rPr>
              <a:t>Thus </a:t>
            </a:r>
            <a:r>
              <a:rPr lang="en-US" sz="2000" dirty="0">
                <a:latin typeface="Times New Roman" panose="02020603050405020304" pitchFamily="18" charset="0"/>
                <a:cs typeface="Times New Roman" panose="02020603050405020304" pitchFamily="18" charset="0"/>
              </a:rPr>
              <a:t>a sender wishing to transmit a secured </a:t>
            </a:r>
            <a:r>
              <a:rPr lang="en-US" sz="2000" dirty="0" smtClean="0">
                <a:latin typeface="Times New Roman" panose="02020603050405020304" pitchFamily="18" charset="0"/>
                <a:cs typeface="Times New Roman" panose="02020603050405020304" pitchFamily="18" charset="0"/>
              </a:rPr>
              <a:t>message searches </a:t>
            </a:r>
            <a:r>
              <a:rPr lang="en-US" sz="2000" dirty="0">
                <a:latin typeface="Times New Roman" panose="02020603050405020304" pitchFamily="18" charset="0"/>
                <a:cs typeface="Times New Roman" panose="02020603050405020304" pitchFamily="18" charset="0"/>
              </a:rPr>
              <a:t>a </a:t>
            </a:r>
            <a:r>
              <a:rPr lang="en-US" sz="2000" i="1" dirty="0">
                <a:latin typeface="Times New Roman" panose="02020603050405020304" pitchFamily="18" charset="0"/>
                <a:cs typeface="Times New Roman" panose="02020603050405020304" pitchFamily="18" charset="0"/>
              </a:rPr>
              <a:t>digital certificate </a:t>
            </a:r>
            <a:r>
              <a:rPr lang="en-US" sz="2000" dirty="0">
                <a:latin typeface="Times New Roman" panose="02020603050405020304" pitchFamily="18" charset="0"/>
                <a:cs typeface="Times New Roman" panose="02020603050405020304" pitchFamily="18" charset="0"/>
              </a:rPr>
              <a:t>directory to find the recipient’s </a:t>
            </a:r>
            <a:r>
              <a:rPr lang="en-US" sz="2000" i="1" dirty="0">
                <a:latin typeface="Times New Roman" panose="02020603050405020304" pitchFamily="18" charset="0"/>
                <a:cs typeface="Times New Roman" panose="02020603050405020304" pitchFamily="18" charset="0"/>
              </a:rPr>
              <a:t>public key</a:t>
            </a:r>
            <a:r>
              <a:rPr lang="en-US" sz="2000" dirty="0">
                <a:latin typeface="Times New Roman" panose="02020603050405020304" pitchFamily="18" charset="0"/>
                <a:cs typeface="Times New Roman" panose="02020603050405020304" pitchFamily="18" charset="0"/>
              </a:rPr>
              <a:t>, using </a:t>
            </a:r>
            <a:r>
              <a:rPr lang="en-US" sz="2000" dirty="0" smtClean="0">
                <a:latin typeface="Times New Roman" panose="02020603050405020304" pitchFamily="18" charset="0"/>
                <a:cs typeface="Times New Roman" panose="02020603050405020304" pitchFamily="18" charset="0"/>
              </a:rPr>
              <a:t>it to </a:t>
            </a:r>
            <a:r>
              <a:rPr lang="en-US" sz="2000" dirty="0">
                <a:latin typeface="Times New Roman" panose="02020603050405020304" pitchFamily="18" charset="0"/>
                <a:cs typeface="Times New Roman" panose="02020603050405020304" pitchFamily="18" charset="0"/>
              </a:rPr>
              <a:t>encrypt the message.</a:t>
            </a:r>
          </a:p>
          <a:p>
            <a:pPr>
              <a:lnSpc>
                <a:spcPct val="150000"/>
              </a:lnSpc>
            </a:pPr>
            <a:r>
              <a:rPr lang="en-US" sz="2000" b="1" i="1" dirty="0" smtClean="0">
                <a:latin typeface="Times New Roman" panose="02020603050405020304" pitchFamily="18" charset="0"/>
                <a:cs typeface="Times New Roman" panose="02020603050405020304" pitchFamily="18" charset="0"/>
              </a:rPr>
              <a:t>Secure </a:t>
            </a:r>
            <a:r>
              <a:rPr lang="en-US" sz="2000" b="1" i="1" dirty="0">
                <a:latin typeface="Times New Roman" panose="02020603050405020304" pitchFamily="18" charset="0"/>
                <a:cs typeface="Times New Roman" panose="02020603050405020304" pitchFamily="18" charset="0"/>
              </a:rPr>
              <a:t>Electronic Transaction (SET</a:t>
            </a:r>
            <a:r>
              <a:rPr lang="en-US" sz="2000" i="1" dirty="0">
                <a:latin typeface="Times New Roman" panose="02020603050405020304" pitchFamily="18" charset="0"/>
                <a:cs typeface="Times New Roman" panose="02020603050405020304" pitchFamily="18" charset="0"/>
              </a:rPr>
              <a:t>): </a:t>
            </a:r>
            <a:endParaRPr lang="en-US" sz="2000" i="1" dirty="0" smtClean="0">
              <a:latin typeface="Times New Roman" panose="02020603050405020304" pitchFamily="18" charset="0"/>
              <a:cs typeface="Times New Roman" panose="02020603050405020304" pitchFamily="18" charset="0"/>
            </a:endParaRPr>
          </a:p>
          <a:p>
            <a:pPr marL="365125" indent="0">
              <a:lnSpc>
                <a:spcPct val="150000"/>
              </a:lnSpc>
              <a:buNone/>
            </a:pPr>
            <a:r>
              <a:rPr lang="en-US" sz="2000" dirty="0" smtClean="0">
                <a:latin typeface="Times New Roman" panose="02020603050405020304" pitchFamily="18" charset="0"/>
                <a:cs typeface="Times New Roman" panose="02020603050405020304" pitchFamily="18" charset="0"/>
              </a:rPr>
              <a:t>An </a:t>
            </a:r>
            <a:r>
              <a:rPr lang="en-US" sz="2000" dirty="0">
                <a:latin typeface="Times New Roman" panose="02020603050405020304" pitchFamily="18" charset="0"/>
                <a:cs typeface="Times New Roman" panose="02020603050405020304" pitchFamily="18" charset="0"/>
              </a:rPr>
              <a:t>adaptation of public key </a:t>
            </a:r>
            <a:r>
              <a:rPr lang="en-US" sz="2000" dirty="0" smtClean="0">
                <a:latin typeface="Times New Roman" panose="02020603050405020304" pitchFamily="18" charset="0"/>
                <a:cs typeface="Times New Roman" panose="02020603050405020304" pitchFamily="18" charset="0"/>
              </a:rPr>
              <a:t>encryption and </a:t>
            </a:r>
            <a:r>
              <a:rPr lang="en-US" sz="2000" dirty="0">
                <a:latin typeface="Times New Roman" panose="02020603050405020304" pitchFamily="18" charset="0"/>
                <a:cs typeface="Times New Roman" panose="02020603050405020304" pitchFamily="18" charset="0"/>
              </a:rPr>
              <a:t>the digital certificate (which the industry calls an electronic wallet) </a:t>
            </a:r>
            <a:r>
              <a:rPr lang="en-US" sz="2000" dirty="0" smtClean="0">
                <a:latin typeface="Times New Roman" panose="02020603050405020304" pitchFamily="18" charset="0"/>
                <a:cs typeface="Times New Roman" panose="02020603050405020304" pitchFamily="18" charset="0"/>
              </a:rPr>
              <a:t>for securing </a:t>
            </a:r>
            <a:r>
              <a:rPr lang="en-US" sz="2000" dirty="0">
                <a:latin typeface="Times New Roman" panose="02020603050405020304" pitchFamily="18" charset="0"/>
                <a:cs typeface="Times New Roman" panose="02020603050405020304" pitchFamily="18" charset="0"/>
              </a:rPr>
              <a:t>financial transactions over the Internet.</a:t>
            </a:r>
          </a:p>
          <a:p>
            <a:pPr>
              <a:lnSpc>
                <a:spcPct val="150000"/>
              </a:lnSpc>
            </a:pPr>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079464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484785"/>
          </a:xfrm>
        </p:spPr>
        <p:txBody>
          <a:bodyPr>
            <a:noAutofit/>
          </a:bodyPr>
          <a:lstStyle/>
          <a:p>
            <a:pPr algn="ctr"/>
            <a:r>
              <a:rPr lang="en-US" sz="4800" b="1" dirty="0" smtClean="0"/>
              <a:t>METHODS OF ENCRYPTION</a:t>
            </a:r>
            <a:endParaRPr lang="en-US" sz="4800" b="1" dirty="0"/>
          </a:p>
        </p:txBody>
      </p:sp>
      <p:sp>
        <p:nvSpPr>
          <p:cNvPr id="5" name="Rectangle 3"/>
          <p:cNvSpPr txBox="1">
            <a:spLocks noChangeArrowheads="1"/>
          </p:cNvSpPr>
          <p:nvPr/>
        </p:nvSpPr>
        <p:spPr bwMode="auto">
          <a:xfrm>
            <a:off x="467544" y="1440160"/>
            <a:ext cx="8424936" cy="52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2000" b="1" i="1" dirty="0" smtClean="0">
                <a:latin typeface="Times New Roman" panose="02020603050405020304" pitchFamily="18" charset="0"/>
                <a:cs typeface="Times New Roman" panose="02020603050405020304" pitchFamily="18" charset="0"/>
              </a:rPr>
              <a:t>Pretty </a:t>
            </a:r>
            <a:r>
              <a:rPr lang="en-US" sz="2000" b="1" i="1" dirty="0">
                <a:latin typeface="Times New Roman" panose="02020603050405020304" pitchFamily="18" charset="0"/>
                <a:cs typeface="Times New Roman" panose="02020603050405020304" pitchFamily="18" charset="0"/>
              </a:rPr>
              <a:t>Good Privacy (PGP): </a:t>
            </a:r>
            <a:endParaRPr lang="en-US" sz="2000" b="1" i="1" dirty="0" smtClean="0">
              <a:latin typeface="Times New Roman" panose="02020603050405020304" pitchFamily="18" charset="0"/>
              <a:cs typeface="Times New Roman" panose="02020603050405020304" pitchFamily="18" charset="0"/>
            </a:endParaRPr>
          </a:p>
          <a:p>
            <a:pPr marL="365125" indent="0">
              <a:lnSpc>
                <a:spcPct val="200000"/>
              </a:lnSpc>
              <a:buNone/>
            </a:pPr>
            <a:r>
              <a:rPr lang="en-US" sz="2000" dirty="0" smtClean="0">
                <a:latin typeface="Times New Roman" panose="02020603050405020304" pitchFamily="18" charset="0"/>
                <a:cs typeface="Times New Roman" panose="02020603050405020304" pitchFamily="18" charset="0"/>
              </a:rPr>
              <a:t>A </a:t>
            </a:r>
            <a:r>
              <a:rPr lang="en-US" sz="2000" dirty="0">
                <a:latin typeface="Times New Roman" panose="02020603050405020304" pitchFamily="18" charset="0"/>
                <a:cs typeface="Times New Roman" panose="02020603050405020304" pitchFamily="18" charset="0"/>
              </a:rPr>
              <a:t>program used to encrypt and decrypt e-mail </a:t>
            </a:r>
            <a:r>
              <a:rPr lang="en-US" sz="2000" dirty="0" smtClean="0">
                <a:latin typeface="Times New Roman" panose="02020603050405020304" pitchFamily="18" charset="0"/>
                <a:cs typeface="Times New Roman" panose="02020603050405020304" pitchFamily="18" charset="0"/>
              </a:rPr>
              <a:t>and to </a:t>
            </a:r>
            <a:r>
              <a:rPr lang="en-US" sz="2000" dirty="0">
                <a:latin typeface="Times New Roman" panose="02020603050405020304" pitchFamily="18" charset="0"/>
                <a:cs typeface="Times New Roman" panose="02020603050405020304" pitchFamily="18" charset="0"/>
              </a:rPr>
              <a:t>encrypt digital signatures, so the recipient knows the transmission was </a:t>
            </a:r>
            <a:r>
              <a:rPr lang="en-US" sz="2000" dirty="0" smtClean="0">
                <a:latin typeface="Times New Roman" panose="02020603050405020304" pitchFamily="18" charset="0"/>
                <a:cs typeface="Times New Roman" panose="02020603050405020304" pitchFamily="18" charset="0"/>
              </a:rPr>
              <a:t>not changed </a:t>
            </a:r>
            <a:r>
              <a:rPr lang="en-US" sz="2000" dirty="0">
                <a:latin typeface="Times New Roman" panose="02020603050405020304" pitchFamily="18" charset="0"/>
                <a:cs typeface="Times New Roman" panose="02020603050405020304" pitchFamily="18" charset="0"/>
              </a:rPr>
              <a:t>along the way</a:t>
            </a:r>
            <a:r>
              <a:rPr lang="en-US" sz="2000" dirty="0" smtClean="0">
                <a:latin typeface="Times New Roman" panose="02020603050405020304" pitchFamily="18" charset="0"/>
                <a:cs typeface="Times New Roman" panose="02020603050405020304" pitchFamily="18" charset="0"/>
              </a:rPr>
              <a:t>.</a:t>
            </a:r>
          </a:p>
          <a:p>
            <a:pPr marL="365125" indent="-365125">
              <a:lnSpc>
                <a:spcPct val="200000"/>
              </a:lnSpc>
              <a:buFont typeface="Wingdings" panose="05000000000000000000" pitchFamily="2" charset="2"/>
              <a:buChar char="q"/>
            </a:pPr>
            <a:r>
              <a:rPr lang="en-US" sz="2000" b="1" i="1" dirty="0">
                <a:latin typeface="Times New Roman" panose="02020603050405020304" pitchFamily="18" charset="0"/>
                <a:cs typeface="Times New Roman" panose="02020603050405020304" pitchFamily="18" charset="0"/>
              </a:rPr>
              <a:t>Virtual Private Network (VPN): </a:t>
            </a:r>
            <a:endParaRPr lang="en-US" sz="2000" b="1" i="1" dirty="0" smtClean="0">
              <a:latin typeface="Times New Roman" panose="02020603050405020304" pitchFamily="18" charset="0"/>
              <a:cs typeface="Times New Roman" panose="02020603050405020304" pitchFamily="18" charset="0"/>
            </a:endParaRPr>
          </a:p>
          <a:p>
            <a:pPr marL="365125" indent="0">
              <a:lnSpc>
                <a:spcPct val="200000"/>
              </a:lnSpc>
              <a:buNone/>
            </a:pPr>
            <a:r>
              <a:rPr lang="en-US" sz="2000" dirty="0" smtClean="0">
                <a:latin typeface="Times New Roman" panose="02020603050405020304" pitchFamily="18" charset="0"/>
                <a:cs typeface="Times New Roman" panose="02020603050405020304" pitchFamily="18" charset="0"/>
              </a:rPr>
              <a:t>A </a:t>
            </a:r>
            <a:r>
              <a:rPr lang="en-US" sz="2000" dirty="0">
                <a:latin typeface="Times New Roman" panose="02020603050405020304" pitchFamily="18" charset="0"/>
                <a:cs typeface="Times New Roman" panose="02020603050405020304" pitchFamily="18" charset="0"/>
              </a:rPr>
              <a:t>way to use a public telecommunication infrastructure, such as the Internet, to provide secure communication between individuals or client computers at remote locations and an enterprise network.</a:t>
            </a:r>
          </a:p>
          <a:p>
            <a:pPr marL="365125" indent="0">
              <a:lnSpc>
                <a:spcPct val="150000"/>
              </a:lnSpc>
              <a:buNone/>
            </a:pPr>
            <a:endParaRPr lang="en-US" sz="2000" dirty="0">
              <a:latin typeface="Times New Roman" panose="02020603050405020304" pitchFamily="18" charset="0"/>
              <a:cs typeface="Times New Roman" panose="02020603050405020304" pitchFamily="18" charset="0"/>
            </a:endParaRPr>
          </a:p>
          <a:p>
            <a:pPr>
              <a:lnSpc>
                <a:spcPct val="150000"/>
              </a:lnSpc>
            </a:pPr>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2144810"/>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484785"/>
          </a:xfrm>
        </p:spPr>
        <p:txBody>
          <a:bodyPr>
            <a:noAutofit/>
          </a:bodyPr>
          <a:lstStyle/>
          <a:p>
            <a:pPr algn="ctr"/>
            <a:r>
              <a:rPr lang="en-US" sz="4800" b="1" dirty="0" smtClean="0"/>
              <a:t>METHODS OF ENCRYPTION</a:t>
            </a:r>
            <a:endParaRPr lang="en-US" sz="4800" b="1" dirty="0"/>
          </a:p>
        </p:txBody>
      </p:sp>
      <p:sp>
        <p:nvSpPr>
          <p:cNvPr id="5" name="Rectangle 3"/>
          <p:cNvSpPr txBox="1">
            <a:spLocks noChangeArrowheads="1"/>
          </p:cNvSpPr>
          <p:nvPr/>
        </p:nvSpPr>
        <p:spPr bwMode="auto">
          <a:xfrm>
            <a:off x="467544" y="1440160"/>
            <a:ext cx="8219256" cy="541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100" b="1" i="1" dirty="0" smtClean="0">
                <a:latin typeface="Times New Roman" panose="02020603050405020304" pitchFamily="18" charset="0"/>
                <a:cs typeface="Times New Roman" panose="02020603050405020304" pitchFamily="18" charset="0"/>
              </a:rPr>
              <a:t>Tunneling </a:t>
            </a:r>
            <a:r>
              <a:rPr lang="en-US" sz="2100" b="1" i="1" dirty="0">
                <a:latin typeface="Times New Roman" panose="02020603050405020304" pitchFamily="18" charset="0"/>
                <a:cs typeface="Times New Roman" panose="02020603050405020304" pitchFamily="18" charset="0"/>
              </a:rPr>
              <a:t>Protocols: </a:t>
            </a:r>
            <a:endParaRPr lang="en-US" sz="2100" b="1" i="1" dirty="0" smtClean="0">
              <a:latin typeface="Times New Roman" panose="02020603050405020304" pitchFamily="18" charset="0"/>
              <a:cs typeface="Times New Roman" panose="02020603050405020304" pitchFamily="18" charset="0"/>
            </a:endParaRPr>
          </a:p>
          <a:p>
            <a:pPr marL="365125" indent="0">
              <a:lnSpc>
                <a:spcPct val="200000"/>
              </a:lnSpc>
              <a:buNone/>
            </a:pPr>
            <a:r>
              <a:rPr lang="en-US" sz="2100" dirty="0" smtClean="0">
                <a:latin typeface="Times New Roman" panose="02020603050405020304" pitchFamily="18" charset="0"/>
                <a:cs typeface="Times New Roman" panose="02020603050405020304" pitchFamily="18" charset="0"/>
              </a:rPr>
              <a:t>By </a:t>
            </a:r>
            <a:r>
              <a:rPr lang="en-US" sz="2100" dirty="0">
                <a:latin typeface="Times New Roman" panose="02020603050405020304" pitchFamily="18" charset="0"/>
                <a:cs typeface="Times New Roman" panose="02020603050405020304" pitchFamily="18" charset="0"/>
              </a:rPr>
              <a:t>encrypting data at the sending end and decrypting it </a:t>
            </a:r>
            <a:r>
              <a:rPr lang="en-US" sz="2100" dirty="0" smtClean="0">
                <a:latin typeface="Times New Roman" panose="02020603050405020304" pitchFamily="18" charset="0"/>
                <a:cs typeface="Times New Roman" panose="02020603050405020304" pitchFamily="18" charset="0"/>
              </a:rPr>
              <a:t>at the </a:t>
            </a:r>
            <a:r>
              <a:rPr lang="en-US" sz="2100" dirty="0">
                <a:latin typeface="Times New Roman" panose="02020603050405020304" pitchFamily="18" charset="0"/>
                <a:cs typeface="Times New Roman" panose="02020603050405020304" pitchFamily="18" charset="0"/>
              </a:rPr>
              <a:t>receiving end, the protocols send the data (and if an enterprise chooses, </a:t>
            </a:r>
            <a:r>
              <a:rPr lang="en-US" sz="2100" dirty="0" smtClean="0">
                <a:latin typeface="Times New Roman" panose="02020603050405020304" pitchFamily="18" charset="0"/>
                <a:cs typeface="Times New Roman" panose="02020603050405020304" pitchFamily="18" charset="0"/>
              </a:rPr>
              <a:t>the originating </a:t>
            </a:r>
            <a:r>
              <a:rPr lang="en-US" sz="2100" dirty="0">
                <a:latin typeface="Times New Roman" panose="02020603050405020304" pitchFamily="18" charset="0"/>
                <a:cs typeface="Times New Roman" panose="02020603050405020304" pitchFamily="18" charset="0"/>
              </a:rPr>
              <a:t>and receiving network addresses as well) through a </a:t>
            </a:r>
            <a:r>
              <a:rPr lang="en-US" sz="2100" i="1" dirty="0">
                <a:latin typeface="Times New Roman" panose="02020603050405020304" pitchFamily="18" charset="0"/>
                <a:cs typeface="Times New Roman" panose="02020603050405020304" pitchFamily="18" charset="0"/>
              </a:rPr>
              <a:t>tunnel </a:t>
            </a:r>
            <a:r>
              <a:rPr lang="en-US" sz="2100" dirty="0" smtClean="0">
                <a:latin typeface="Times New Roman" panose="02020603050405020304" pitchFamily="18" charset="0"/>
                <a:cs typeface="Times New Roman" panose="02020603050405020304" pitchFamily="18" charset="0"/>
              </a:rPr>
              <a:t>that cannot </a:t>
            </a:r>
            <a:r>
              <a:rPr lang="en-US" sz="2100" dirty="0">
                <a:latin typeface="Times New Roman" panose="02020603050405020304" pitchFamily="18" charset="0"/>
                <a:cs typeface="Times New Roman" panose="02020603050405020304" pitchFamily="18" charset="0"/>
              </a:rPr>
              <a:t>be </a:t>
            </a:r>
            <a:r>
              <a:rPr lang="en-US" sz="2100" i="1" dirty="0">
                <a:latin typeface="Times New Roman" panose="02020603050405020304" pitchFamily="18" charset="0"/>
                <a:cs typeface="Times New Roman" panose="02020603050405020304" pitchFamily="18" charset="0"/>
              </a:rPr>
              <a:t>entered </a:t>
            </a:r>
            <a:r>
              <a:rPr lang="en-US" sz="2100" dirty="0">
                <a:latin typeface="Times New Roman" panose="02020603050405020304" pitchFamily="18" charset="0"/>
                <a:cs typeface="Times New Roman" panose="02020603050405020304" pitchFamily="18" charset="0"/>
              </a:rPr>
              <a:t>by data that is not properly </a:t>
            </a:r>
            <a:r>
              <a:rPr lang="en-US" sz="2100" dirty="0" smtClean="0">
                <a:latin typeface="Times New Roman" panose="02020603050405020304" pitchFamily="18" charset="0"/>
                <a:cs typeface="Times New Roman" panose="02020603050405020304" pitchFamily="18" charset="0"/>
              </a:rPr>
              <a:t>encrypted.</a:t>
            </a:r>
          </a:p>
        </p:txBody>
      </p:sp>
    </p:spTree>
    <p:extLst>
      <p:ext uri="{BB962C8B-B14F-4D97-AF65-F5344CB8AC3E}">
        <p14:creationId xmlns:p14="http://schemas.microsoft.com/office/powerpoint/2010/main" val="543951369"/>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484785"/>
          </a:xfrm>
        </p:spPr>
        <p:txBody>
          <a:bodyPr>
            <a:noAutofit/>
          </a:bodyPr>
          <a:lstStyle/>
          <a:p>
            <a:pPr algn="ctr"/>
            <a:r>
              <a:rPr lang="en-US" sz="4800" b="1" dirty="0">
                <a:latin typeface="Times New Roman" panose="02020603050405020304" pitchFamily="18" charset="0"/>
                <a:cs typeface="Times New Roman" panose="02020603050405020304" pitchFamily="18" charset="0"/>
              </a:rPr>
              <a:t>SECURITY POLICIES AND PROCEDURES</a:t>
            </a:r>
            <a:endParaRPr lang="en-US" sz="4800" b="1" dirty="0"/>
          </a:p>
        </p:txBody>
      </p:sp>
      <p:sp>
        <p:nvSpPr>
          <p:cNvPr id="5" name="Rectangle 3"/>
          <p:cNvSpPr txBox="1">
            <a:spLocks noChangeArrowheads="1"/>
          </p:cNvSpPr>
          <p:nvPr/>
        </p:nvSpPr>
        <p:spPr bwMode="auto">
          <a:xfrm>
            <a:off x="467544" y="1440160"/>
            <a:ext cx="8219256" cy="541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100" b="1" i="1" dirty="0" smtClean="0">
                <a:latin typeface="Times New Roman" panose="02020603050405020304" pitchFamily="18" charset="0"/>
                <a:cs typeface="Times New Roman" panose="02020603050405020304" pitchFamily="18" charset="0"/>
              </a:rPr>
              <a:t>Firewall</a:t>
            </a:r>
            <a:r>
              <a:rPr lang="en-US" sz="2100" i="1" dirty="0">
                <a:latin typeface="Times New Roman" panose="02020603050405020304" pitchFamily="18" charset="0"/>
                <a:cs typeface="Times New Roman" panose="02020603050405020304" pitchFamily="18" charset="0"/>
              </a:rPr>
              <a:t>: </a:t>
            </a:r>
            <a:endParaRPr lang="en-US" sz="2100" i="1" dirty="0" smtClean="0">
              <a:latin typeface="Times New Roman" panose="02020603050405020304" pitchFamily="18" charset="0"/>
              <a:cs typeface="Times New Roman" panose="02020603050405020304" pitchFamily="18" charset="0"/>
            </a:endParaRPr>
          </a:p>
          <a:p>
            <a:pPr marL="365125" indent="0">
              <a:lnSpc>
                <a:spcPct val="150000"/>
              </a:lnSpc>
              <a:buNone/>
            </a:pPr>
            <a:r>
              <a:rPr lang="en-US" sz="2100" dirty="0" smtClean="0">
                <a:latin typeface="Times New Roman" panose="02020603050405020304" pitchFamily="18" charset="0"/>
                <a:cs typeface="Times New Roman" panose="02020603050405020304" pitchFamily="18" charset="0"/>
              </a:rPr>
              <a:t>A </a:t>
            </a:r>
            <a:r>
              <a:rPr lang="en-US" sz="2100" dirty="0">
                <a:latin typeface="Times New Roman" panose="02020603050405020304" pitchFamily="18" charset="0"/>
                <a:cs typeface="Times New Roman" panose="02020603050405020304" pitchFamily="18" charset="0"/>
              </a:rPr>
              <a:t>special-purpose software program located at a network gateway server</a:t>
            </a:r>
            <a:r>
              <a:rPr lang="en-US" sz="2100" dirty="0" smtClean="0">
                <a:latin typeface="Times New Roman" panose="02020603050405020304" pitchFamily="18" charset="0"/>
                <a:cs typeface="Times New Roman" panose="02020603050405020304" pitchFamily="18" charset="0"/>
              </a:rPr>
              <a:t>.</a:t>
            </a:r>
          </a:p>
          <a:p>
            <a:pPr marL="0" indent="0">
              <a:lnSpc>
                <a:spcPct val="150000"/>
              </a:lnSpc>
              <a:buNone/>
            </a:pPr>
            <a:endParaRPr lang="en-US" sz="2100" dirty="0">
              <a:latin typeface="Times New Roman" panose="02020603050405020304" pitchFamily="18" charset="0"/>
              <a:cs typeface="Times New Roman" panose="02020603050405020304" pitchFamily="18" charset="0"/>
            </a:endParaRPr>
          </a:p>
          <a:p>
            <a:pPr>
              <a:lnSpc>
                <a:spcPct val="150000"/>
              </a:lnSpc>
            </a:pPr>
            <a:r>
              <a:rPr lang="en-US" sz="2100" b="1" i="1" dirty="0" smtClean="0">
                <a:latin typeface="Times New Roman" panose="02020603050405020304" pitchFamily="18" charset="0"/>
                <a:cs typeface="Times New Roman" panose="02020603050405020304" pitchFamily="18" charset="0"/>
              </a:rPr>
              <a:t>Proxy </a:t>
            </a:r>
            <a:r>
              <a:rPr lang="en-US" sz="2100" b="1" i="1" dirty="0">
                <a:latin typeface="Times New Roman" panose="02020603050405020304" pitchFamily="18" charset="0"/>
                <a:cs typeface="Times New Roman" panose="02020603050405020304" pitchFamily="18" charset="0"/>
              </a:rPr>
              <a:t>Server</a:t>
            </a:r>
            <a:r>
              <a:rPr lang="en-US" sz="2100" i="1" dirty="0">
                <a:latin typeface="Times New Roman" panose="02020603050405020304" pitchFamily="18" charset="0"/>
                <a:cs typeface="Times New Roman" panose="02020603050405020304" pitchFamily="18" charset="0"/>
              </a:rPr>
              <a:t>: </a:t>
            </a:r>
            <a:endParaRPr lang="en-US" sz="2100" i="1" dirty="0" smtClean="0">
              <a:latin typeface="Times New Roman" panose="02020603050405020304" pitchFamily="18" charset="0"/>
              <a:cs typeface="Times New Roman" panose="02020603050405020304" pitchFamily="18" charset="0"/>
            </a:endParaRPr>
          </a:p>
          <a:p>
            <a:pPr marL="365125" indent="0">
              <a:lnSpc>
                <a:spcPct val="150000"/>
              </a:lnSpc>
              <a:buNone/>
            </a:pPr>
            <a:r>
              <a:rPr lang="en-US" sz="2100" dirty="0" smtClean="0">
                <a:latin typeface="Times New Roman" panose="02020603050405020304" pitchFamily="18" charset="0"/>
                <a:cs typeface="Times New Roman" panose="02020603050405020304" pitchFamily="18" charset="0"/>
              </a:rPr>
              <a:t>Act </a:t>
            </a:r>
            <a:r>
              <a:rPr lang="en-US" sz="2100" dirty="0">
                <a:latin typeface="Times New Roman" panose="02020603050405020304" pitchFamily="18" charset="0"/>
                <a:cs typeface="Times New Roman" panose="02020603050405020304" pitchFamily="18" charset="0"/>
              </a:rPr>
              <a:t>as an intermediary between a PC and the Internet, separating </a:t>
            </a:r>
            <a:r>
              <a:rPr lang="en-US" sz="2100" dirty="0" smtClean="0">
                <a:latin typeface="Times New Roman" panose="02020603050405020304" pitchFamily="18" charset="0"/>
                <a:cs typeface="Times New Roman" panose="02020603050405020304" pitchFamily="18" charset="0"/>
              </a:rPr>
              <a:t>an enterprise </a:t>
            </a:r>
            <a:r>
              <a:rPr lang="en-US" sz="2100" dirty="0">
                <a:latin typeface="Times New Roman" panose="02020603050405020304" pitchFamily="18" charset="0"/>
                <a:cs typeface="Times New Roman" panose="02020603050405020304" pitchFamily="18" charset="0"/>
              </a:rPr>
              <a:t>network from an outside network</a:t>
            </a:r>
          </a:p>
        </p:txBody>
      </p:sp>
    </p:spTree>
    <p:extLst>
      <p:ext uri="{BB962C8B-B14F-4D97-AF65-F5344CB8AC3E}">
        <p14:creationId xmlns:p14="http://schemas.microsoft.com/office/powerpoint/2010/main" val="574671305"/>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484785"/>
          </a:xfrm>
        </p:spPr>
        <p:txBody>
          <a:bodyPr>
            <a:noAutofit/>
          </a:bodyPr>
          <a:lstStyle/>
          <a:p>
            <a:pPr algn="ctr"/>
            <a:r>
              <a:rPr lang="en-US" sz="8800" b="1" dirty="0">
                <a:latin typeface="Times New Roman" panose="02020603050405020304" pitchFamily="18" charset="0"/>
                <a:cs typeface="Times New Roman" panose="02020603050405020304" pitchFamily="18" charset="0"/>
              </a:rPr>
              <a:t>RELIABILITY</a:t>
            </a:r>
          </a:p>
        </p:txBody>
      </p:sp>
      <p:sp>
        <p:nvSpPr>
          <p:cNvPr id="5" name="Rectangle 3"/>
          <p:cNvSpPr txBox="1">
            <a:spLocks noChangeArrowheads="1"/>
          </p:cNvSpPr>
          <p:nvPr/>
        </p:nvSpPr>
        <p:spPr bwMode="auto">
          <a:xfrm>
            <a:off x="467544" y="1440160"/>
            <a:ext cx="8219256" cy="541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300" b="1" i="1" dirty="0" smtClean="0">
                <a:latin typeface="Times New Roman" panose="02020603050405020304" pitchFamily="18" charset="0"/>
                <a:cs typeface="Times New Roman" panose="02020603050405020304" pitchFamily="18" charset="0"/>
              </a:rPr>
              <a:t>Reliability</a:t>
            </a:r>
            <a:r>
              <a:rPr lang="en-US" sz="2300" b="1" i="1" dirty="0">
                <a:latin typeface="Times New Roman" panose="02020603050405020304" pitchFamily="18" charset="0"/>
                <a:cs typeface="Times New Roman" panose="02020603050405020304" pitchFamily="18" charset="0"/>
              </a:rPr>
              <a:t>: </a:t>
            </a:r>
            <a:endParaRPr lang="en-US" sz="2300" b="1" i="1" dirty="0" smtClean="0">
              <a:latin typeface="Times New Roman" panose="02020603050405020304" pitchFamily="18" charset="0"/>
              <a:cs typeface="Times New Roman" panose="02020603050405020304" pitchFamily="18" charset="0"/>
            </a:endParaRPr>
          </a:p>
          <a:p>
            <a:pPr marL="365125" indent="0">
              <a:lnSpc>
                <a:spcPct val="150000"/>
              </a:lnSpc>
              <a:buNone/>
            </a:pPr>
            <a:r>
              <a:rPr lang="en-US" sz="2300" dirty="0" smtClean="0">
                <a:latin typeface="Times New Roman" panose="02020603050405020304" pitchFamily="18" charset="0"/>
                <a:cs typeface="Times New Roman" panose="02020603050405020304" pitchFamily="18" charset="0"/>
              </a:rPr>
              <a:t>The </a:t>
            </a:r>
            <a:r>
              <a:rPr lang="en-US" sz="2300" dirty="0">
                <a:latin typeface="Times New Roman" panose="02020603050405020304" pitchFamily="18" charset="0"/>
                <a:cs typeface="Times New Roman" panose="02020603050405020304" pitchFamily="18" charset="0"/>
              </a:rPr>
              <a:t>assurance that computers and communications systems will do what </a:t>
            </a:r>
            <a:r>
              <a:rPr lang="en-US" sz="2300" dirty="0" smtClean="0">
                <a:latin typeface="Times New Roman" panose="02020603050405020304" pitchFamily="18" charset="0"/>
                <a:cs typeface="Times New Roman" panose="02020603050405020304" pitchFamily="18" charset="0"/>
              </a:rPr>
              <a:t>they should </a:t>
            </a:r>
            <a:r>
              <a:rPr lang="en-US" sz="2300" dirty="0">
                <a:latin typeface="Times New Roman" panose="02020603050405020304" pitchFamily="18" charset="0"/>
                <a:cs typeface="Times New Roman" panose="02020603050405020304" pitchFamily="18" charset="0"/>
              </a:rPr>
              <a:t>when they should.</a:t>
            </a:r>
          </a:p>
          <a:p>
            <a:pPr>
              <a:lnSpc>
                <a:spcPct val="150000"/>
              </a:lnSpc>
            </a:pPr>
            <a:r>
              <a:rPr lang="en-US" sz="2300" b="1" dirty="0" smtClean="0">
                <a:latin typeface="Times New Roman" panose="02020603050405020304" pitchFamily="18" charset="0"/>
                <a:cs typeface="Times New Roman" panose="02020603050405020304" pitchFamily="18" charset="0"/>
              </a:rPr>
              <a:t>ENSURING </a:t>
            </a:r>
            <a:r>
              <a:rPr lang="en-US" sz="2300" b="1" dirty="0">
                <a:latin typeface="Times New Roman" panose="02020603050405020304" pitchFamily="18" charset="0"/>
                <a:cs typeface="Times New Roman" panose="02020603050405020304" pitchFamily="18" charset="0"/>
              </a:rPr>
              <a:t>IT SERVICE RELIABILITY</a:t>
            </a:r>
          </a:p>
          <a:p>
            <a:pPr marL="900113">
              <a:lnSpc>
                <a:spcPct val="150000"/>
              </a:lnSpc>
              <a:buFont typeface="Wingdings" panose="05000000000000000000" pitchFamily="2" charset="2"/>
              <a:buChar char="Ø"/>
            </a:pPr>
            <a:r>
              <a:rPr lang="en-US" sz="2300" b="1" i="1" dirty="0" smtClean="0">
                <a:latin typeface="Times New Roman" panose="02020603050405020304" pitchFamily="18" charset="0"/>
                <a:cs typeface="Times New Roman" panose="02020603050405020304" pitchFamily="18" charset="0"/>
              </a:rPr>
              <a:t>Fault-tolerant </a:t>
            </a:r>
            <a:r>
              <a:rPr lang="en-US" sz="2300" b="1" i="1" dirty="0">
                <a:latin typeface="Times New Roman" panose="02020603050405020304" pitchFamily="18" charset="0"/>
                <a:cs typeface="Times New Roman" panose="02020603050405020304" pitchFamily="18" charset="0"/>
              </a:rPr>
              <a:t>Computer: </a:t>
            </a:r>
            <a:r>
              <a:rPr lang="en-US" sz="2300" dirty="0">
                <a:latin typeface="Times New Roman" panose="02020603050405020304" pitchFamily="18" charset="0"/>
                <a:cs typeface="Times New Roman" panose="02020603050405020304" pitchFamily="18" charset="0"/>
              </a:rPr>
              <a:t>A computer designed with duplicate components to </a:t>
            </a:r>
            <a:r>
              <a:rPr lang="en-US" sz="2300" dirty="0" smtClean="0">
                <a:latin typeface="Times New Roman" panose="02020603050405020304" pitchFamily="18" charset="0"/>
                <a:cs typeface="Times New Roman" panose="02020603050405020304" pitchFamily="18" charset="0"/>
              </a:rPr>
              <a:t>ensure reliability</a:t>
            </a:r>
            <a:r>
              <a:rPr lang="en-US" sz="2300" dirty="0">
                <a:latin typeface="Times New Roman" panose="02020603050405020304" pitchFamily="18" charset="0"/>
                <a:cs typeface="Times New Roman" panose="02020603050405020304" pitchFamily="18" charset="0"/>
              </a:rPr>
              <a:t>.</a:t>
            </a:r>
          </a:p>
          <a:p>
            <a:pPr marL="900113">
              <a:lnSpc>
                <a:spcPct val="150000"/>
              </a:lnSpc>
              <a:buFont typeface="Wingdings" panose="05000000000000000000" pitchFamily="2" charset="2"/>
              <a:buChar char="Ø"/>
            </a:pPr>
            <a:r>
              <a:rPr lang="en-US" sz="2300" b="1" i="1" dirty="0" smtClean="0">
                <a:latin typeface="Times New Roman" panose="02020603050405020304" pitchFamily="18" charset="0"/>
                <a:cs typeface="Times New Roman" panose="02020603050405020304" pitchFamily="18" charset="0"/>
              </a:rPr>
              <a:t>Uninterruptible </a:t>
            </a:r>
            <a:r>
              <a:rPr lang="en-US" sz="2300" b="1" i="1" dirty="0">
                <a:latin typeface="Times New Roman" panose="02020603050405020304" pitchFamily="18" charset="0"/>
                <a:cs typeface="Times New Roman" panose="02020603050405020304" pitchFamily="18" charset="0"/>
              </a:rPr>
              <a:t>Power Supply (UPS) System</a:t>
            </a:r>
            <a:r>
              <a:rPr lang="en-US" sz="2300" i="1"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A system that ensures the </a:t>
            </a:r>
            <a:r>
              <a:rPr lang="en-US" sz="2300" dirty="0" smtClean="0">
                <a:latin typeface="Times New Roman" panose="02020603050405020304" pitchFamily="18" charset="0"/>
                <a:cs typeface="Times New Roman" panose="02020603050405020304" pitchFamily="18" charset="0"/>
              </a:rPr>
              <a:t>continued flow </a:t>
            </a:r>
            <a:r>
              <a:rPr lang="en-US" sz="2300" dirty="0">
                <a:latin typeface="Times New Roman" panose="02020603050405020304" pitchFamily="18" charset="0"/>
                <a:cs typeface="Times New Roman" panose="02020603050405020304" pitchFamily="18" charset="0"/>
              </a:rPr>
              <a:t>of electricity when the primary source of power fails</a:t>
            </a:r>
            <a:r>
              <a:rPr lang="en-US" sz="2300" dirty="0" smtClean="0">
                <a:latin typeface="Times New Roman" panose="02020603050405020304" pitchFamily="18" charset="0"/>
                <a:cs typeface="Times New Roman" panose="02020603050405020304" pitchFamily="18" charset="0"/>
              </a:rPr>
              <a:t>.</a:t>
            </a:r>
            <a:endParaRPr lang="en-US"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6345953"/>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484785"/>
          </a:xfrm>
        </p:spPr>
        <p:txBody>
          <a:bodyPr>
            <a:noAutofit/>
          </a:bodyPr>
          <a:lstStyle/>
          <a:p>
            <a:pPr algn="ctr"/>
            <a:r>
              <a:rPr lang="en-US" sz="8800" b="1" dirty="0">
                <a:latin typeface="Times New Roman" panose="02020603050405020304" pitchFamily="18" charset="0"/>
                <a:cs typeface="Times New Roman" panose="02020603050405020304" pitchFamily="18" charset="0"/>
              </a:rPr>
              <a:t>RELIABILITY</a:t>
            </a:r>
          </a:p>
        </p:txBody>
      </p:sp>
      <p:sp>
        <p:nvSpPr>
          <p:cNvPr id="5" name="Rectangle 3"/>
          <p:cNvSpPr txBox="1">
            <a:spLocks noChangeArrowheads="1"/>
          </p:cNvSpPr>
          <p:nvPr/>
        </p:nvSpPr>
        <p:spPr bwMode="auto">
          <a:xfrm>
            <a:off x="467544" y="1440160"/>
            <a:ext cx="8219256" cy="541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900113">
              <a:lnSpc>
                <a:spcPct val="150000"/>
              </a:lnSpc>
              <a:buFont typeface="Wingdings" panose="05000000000000000000" pitchFamily="2" charset="2"/>
              <a:buChar char="Ø"/>
            </a:pPr>
            <a:r>
              <a:rPr lang="en-US" sz="2200" b="1" i="1" dirty="0" smtClean="0">
                <a:latin typeface="Times New Roman" panose="02020603050405020304" pitchFamily="18" charset="0"/>
                <a:cs typeface="Times New Roman" panose="02020603050405020304" pitchFamily="18" charset="0"/>
              </a:rPr>
              <a:t>Disaster </a:t>
            </a:r>
            <a:r>
              <a:rPr lang="en-US" sz="2200" b="1" i="1" dirty="0">
                <a:latin typeface="Times New Roman" panose="02020603050405020304" pitchFamily="18" charset="0"/>
                <a:cs typeface="Times New Roman" panose="02020603050405020304" pitchFamily="18" charset="0"/>
              </a:rPr>
              <a:t>Recovery Plan: </a:t>
            </a:r>
            <a:r>
              <a:rPr lang="en-US" sz="2200" dirty="0">
                <a:latin typeface="Times New Roman" panose="02020603050405020304" pitchFamily="18" charset="0"/>
                <a:cs typeface="Times New Roman" panose="02020603050405020304" pitchFamily="18" charset="0"/>
              </a:rPr>
              <a:t>A procedure for restoring data lost when a system </a:t>
            </a:r>
            <a:r>
              <a:rPr lang="en-US" sz="2200" dirty="0" smtClean="0">
                <a:latin typeface="Times New Roman" panose="02020603050405020304" pitchFamily="18" charset="0"/>
                <a:cs typeface="Times New Roman" panose="02020603050405020304" pitchFamily="18" charset="0"/>
              </a:rPr>
              <a:t>stops functioning</a:t>
            </a:r>
            <a:r>
              <a:rPr lang="en-US" sz="2200" dirty="0">
                <a:latin typeface="Times New Roman" panose="02020603050405020304" pitchFamily="18" charset="0"/>
                <a:cs typeface="Times New Roman" panose="02020603050405020304" pitchFamily="18" charset="0"/>
              </a:rPr>
              <a:t>.</a:t>
            </a:r>
          </a:p>
          <a:p>
            <a:pPr marL="900113">
              <a:lnSpc>
                <a:spcPct val="150000"/>
              </a:lnSpc>
              <a:buFont typeface="Wingdings" panose="05000000000000000000" pitchFamily="2" charset="2"/>
              <a:buChar char="Ø"/>
            </a:pPr>
            <a:r>
              <a:rPr lang="en-US" sz="2200" b="1" i="1" dirty="0" smtClean="0">
                <a:latin typeface="Times New Roman" panose="02020603050405020304" pitchFamily="18" charset="0"/>
                <a:cs typeface="Times New Roman" panose="02020603050405020304" pitchFamily="18" charset="0"/>
              </a:rPr>
              <a:t>Off-site </a:t>
            </a:r>
            <a:r>
              <a:rPr lang="en-US" sz="2200" b="1" i="1" dirty="0">
                <a:latin typeface="Times New Roman" panose="02020603050405020304" pitchFamily="18" charset="0"/>
                <a:cs typeface="Times New Roman" panose="02020603050405020304" pitchFamily="18" charset="0"/>
              </a:rPr>
              <a:t>Backup Facility: </a:t>
            </a:r>
            <a:r>
              <a:rPr lang="en-US" sz="2200" dirty="0">
                <a:latin typeface="Times New Roman" panose="02020603050405020304" pitchFamily="18" charset="0"/>
                <a:cs typeface="Times New Roman" panose="02020603050405020304" pitchFamily="18" charset="0"/>
              </a:rPr>
              <a:t>A backup computer center located away from a </a:t>
            </a:r>
            <a:r>
              <a:rPr lang="en-US" sz="2200" dirty="0" smtClean="0">
                <a:latin typeface="Times New Roman" panose="02020603050405020304" pitchFamily="18" charset="0"/>
                <a:cs typeface="Times New Roman" panose="02020603050405020304" pitchFamily="18" charset="0"/>
              </a:rPr>
              <a:t>company’s main </a:t>
            </a:r>
            <a:r>
              <a:rPr lang="en-US" sz="2200" dirty="0">
                <a:latin typeface="Times New Roman" panose="02020603050405020304" pitchFamily="18" charset="0"/>
                <a:cs typeface="Times New Roman" panose="02020603050405020304" pitchFamily="18" charset="0"/>
              </a:rPr>
              <a:t>facility.</a:t>
            </a:r>
          </a:p>
          <a:p>
            <a:pPr marL="1435100">
              <a:lnSpc>
                <a:spcPct val="150000"/>
              </a:lnSpc>
              <a:buFont typeface="Wingdings" panose="05000000000000000000" pitchFamily="2" charset="2"/>
              <a:buChar char="§"/>
            </a:pPr>
            <a:r>
              <a:rPr lang="en-US" sz="2200" b="1" i="1" dirty="0" smtClean="0">
                <a:latin typeface="Times New Roman" panose="02020603050405020304" pitchFamily="18" charset="0"/>
                <a:cs typeface="Times New Roman" panose="02020603050405020304" pitchFamily="18" charset="0"/>
              </a:rPr>
              <a:t>Hot </a:t>
            </a:r>
            <a:r>
              <a:rPr lang="en-US" sz="2200" b="1" i="1" dirty="0">
                <a:latin typeface="Times New Roman" panose="02020603050405020304" pitchFamily="18" charset="0"/>
                <a:cs typeface="Times New Roman" panose="02020603050405020304" pitchFamily="18" charset="0"/>
              </a:rPr>
              <a:t>Site: </a:t>
            </a:r>
            <a:r>
              <a:rPr lang="en-US" sz="2200" dirty="0">
                <a:latin typeface="Times New Roman" panose="02020603050405020304" pitchFamily="18" charset="0"/>
                <a:cs typeface="Times New Roman" panose="02020603050405020304" pitchFamily="18" charset="0"/>
              </a:rPr>
              <a:t>A fully equipped backup computer center to which a company </a:t>
            </a:r>
            <a:r>
              <a:rPr lang="en-US" sz="2200" dirty="0" smtClean="0">
                <a:latin typeface="Times New Roman" panose="02020603050405020304" pitchFamily="18" charset="0"/>
                <a:cs typeface="Times New Roman" panose="02020603050405020304" pitchFamily="18" charset="0"/>
              </a:rPr>
              <a:t>can take </a:t>
            </a:r>
            <a:r>
              <a:rPr lang="en-US" sz="2200" dirty="0">
                <a:latin typeface="Times New Roman" panose="02020603050405020304" pitchFamily="18" charset="0"/>
                <a:cs typeface="Times New Roman" panose="02020603050405020304" pitchFamily="18" charset="0"/>
              </a:rPr>
              <a:t>its backup copies of data and software and resume processing.</a:t>
            </a:r>
          </a:p>
          <a:p>
            <a:pPr marL="1435100">
              <a:lnSpc>
                <a:spcPct val="150000"/>
              </a:lnSpc>
              <a:buFont typeface="Wingdings" panose="05000000000000000000" pitchFamily="2" charset="2"/>
              <a:buChar char="§"/>
            </a:pPr>
            <a:r>
              <a:rPr lang="en-US" sz="2200" b="1" i="1" dirty="0" smtClean="0">
                <a:latin typeface="Times New Roman" panose="02020603050405020304" pitchFamily="18" charset="0"/>
                <a:cs typeface="Times New Roman" panose="02020603050405020304" pitchFamily="18" charset="0"/>
              </a:rPr>
              <a:t>Cold </a:t>
            </a:r>
            <a:r>
              <a:rPr lang="en-US" sz="2200" b="1" i="1" dirty="0">
                <a:latin typeface="Times New Roman" panose="02020603050405020304" pitchFamily="18" charset="0"/>
                <a:cs typeface="Times New Roman" panose="02020603050405020304" pitchFamily="18" charset="0"/>
              </a:rPr>
              <a:t>Site: </a:t>
            </a:r>
            <a:r>
              <a:rPr lang="en-US" sz="2200" dirty="0">
                <a:latin typeface="Times New Roman" panose="02020603050405020304" pitchFamily="18" charset="0"/>
                <a:cs typeface="Times New Roman" panose="02020603050405020304" pitchFamily="18" charset="0"/>
              </a:rPr>
              <a:t>A backup facility outfitted with electrical power and </a:t>
            </a:r>
            <a:r>
              <a:rPr lang="en-US" sz="2200" dirty="0" smtClean="0">
                <a:latin typeface="Times New Roman" panose="02020603050405020304" pitchFamily="18" charset="0"/>
                <a:cs typeface="Times New Roman" panose="02020603050405020304" pitchFamily="18" charset="0"/>
              </a:rPr>
              <a:t>environmental controls </a:t>
            </a:r>
            <a:r>
              <a:rPr lang="en-US" sz="2200" dirty="0">
                <a:latin typeface="Times New Roman" panose="02020603050405020304" pitchFamily="18" charset="0"/>
                <a:cs typeface="Times New Roman" panose="02020603050405020304" pitchFamily="18" charset="0"/>
              </a:rPr>
              <a:t>so that it is ready for a company to install a computer system.</a:t>
            </a:r>
          </a:p>
        </p:txBody>
      </p:sp>
    </p:spTree>
    <p:extLst>
      <p:ext uri="{BB962C8B-B14F-4D97-AF65-F5344CB8AC3E}">
        <p14:creationId xmlns:p14="http://schemas.microsoft.com/office/powerpoint/2010/main" val="3712338079"/>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484785"/>
          </a:xfrm>
        </p:spPr>
        <p:txBody>
          <a:bodyPr>
            <a:noAutofit/>
          </a:bodyPr>
          <a:lstStyle/>
          <a:p>
            <a:pPr algn="ctr"/>
            <a:r>
              <a:rPr lang="en-US" sz="8800" b="1" dirty="0">
                <a:latin typeface="Times New Roman" panose="02020603050405020304" pitchFamily="18" charset="0"/>
                <a:cs typeface="Times New Roman" panose="02020603050405020304" pitchFamily="18" charset="0"/>
              </a:rPr>
              <a:t>ETHICS</a:t>
            </a:r>
          </a:p>
        </p:txBody>
      </p:sp>
      <p:sp>
        <p:nvSpPr>
          <p:cNvPr id="5" name="Rectangle 3"/>
          <p:cNvSpPr txBox="1">
            <a:spLocks noChangeArrowheads="1"/>
          </p:cNvSpPr>
          <p:nvPr/>
        </p:nvSpPr>
        <p:spPr bwMode="auto">
          <a:xfrm>
            <a:off x="467544" y="1440160"/>
            <a:ext cx="8219256" cy="541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200" dirty="0" smtClean="0">
                <a:latin typeface="Times New Roman" panose="02020603050405020304" pitchFamily="18" charset="0"/>
                <a:cs typeface="Times New Roman" panose="02020603050405020304" pitchFamily="18" charset="0"/>
              </a:rPr>
              <a:t>Ethics </a:t>
            </a:r>
            <a:r>
              <a:rPr lang="en-US" sz="2200" dirty="0">
                <a:latin typeface="Times New Roman" panose="02020603050405020304" pitchFamily="18" charset="0"/>
                <a:cs typeface="Times New Roman" panose="02020603050405020304" pitchFamily="18" charset="0"/>
              </a:rPr>
              <a:t>are guidelines for moral computer use. The standards of conduct and moral </a:t>
            </a:r>
            <a:r>
              <a:rPr lang="en-US" sz="2200" dirty="0" smtClean="0">
                <a:latin typeface="Times New Roman" panose="02020603050405020304" pitchFamily="18" charset="0"/>
                <a:cs typeface="Times New Roman" panose="02020603050405020304" pitchFamily="18" charset="0"/>
              </a:rPr>
              <a:t>behavior that </a:t>
            </a:r>
            <a:r>
              <a:rPr lang="en-US" sz="2200" dirty="0">
                <a:latin typeface="Times New Roman" panose="02020603050405020304" pitchFamily="18" charset="0"/>
                <a:cs typeface="Times New Roman" panose="02020603050405020304" pitchFamily="18" charset="0"/>
              </a:rPr>
              <a:t>people are expected to follow are:</a:t>
            </a:r>
          </a:p>
          <a:p>
            <a:pPr marL="900113">
              <a:lnSpc>
                <a:spcPct val="150000"/>
              </a:lnSpc>
              <a:buFont typeface="Wingdings" panose="05000000000000000000" pitchFamily="2" charset="2"/>
              <a:buChar char="Ø"/>
            </a:pPr>
            <a:r>
              <a:rPr lang="en-US" sz="2200" b="1" dirty="0" smtClean="0">
                <a:latin typeface="Times New Roman" panose="02020603050405020304" pitchFamily="18" charset="0"/>
                <a:cs typeface="Times New Roman" panose="02020603050405020304" pitchFamily="18" charset="0"/>
              </a:rPr>
              <a:t>Privacy </a:t>
            </a:r>
            <a:r>
              <a:rPr lang="en-US" sz="2200" dirty="0">
                <a:latin typeface="Times New Roman" panose="02020603050405020304" pitchFamily="18" charset="0"/>
                <a:cs typeface="Times New Roman" panose="02020603050405020304" pitchFamily="18" charset="0"/>
              </a:rPr>
              <a:t>– concerns collection and use of data about individuals</a:t>
            </a:r>
          </a:p>
          <a:p>
            <a:pPr marL="900113">
              <a:lnSpc>
                <a:spcPct val="150000"/>
              </a:lnSpc>
              <a:buFont typeface="Wingdings" panose="05000000000000000000" pitchFamily="2" charset="2"/>
              <a:buChar char="Ø"/>
            </a:pPr>
            <a:r>
              <a:rPr lang="en-US" sz="2200" b="1" dirty="0" smtClean="0">
                <a:latin typeface="Times New Roman" panose="02020603050405020304" pitchFamily="18" charset="0"/>
                <a:cs typeface="Times New Roman" panose="02020603050405020304" pitchFamily="18" charset="0"/>
              </a:rPr>
              <a:t>Accuracy </a:t>
            </a:r>
            <a:r>
              <a:rPr lang="en-US" sz="2200" dirty="0">
                <a:latin typeface="Times New Roman" panose="02020603050405020304" pitchFamily="18" charset="0"/>
                <a:cs typeface="Times New Roman" panose="02020603050405020304" pitchFamily="18" charset="0"/>
              </a:rPr>
              <a:t>– relates to the responsibility of those who collect data to </a:t>
            </a:r>
            <a:r>
              <a:rPr lang="en-US" sz="2200" dirty="0" smtClean="0">
                <a:latin typeface="Times New Roman" panose="02020603050405020304" pitchFamily="18" charset="0"/>
                <a:cs typeface="Times New Roman" panose="02020603050405020304" pitchFamily="18" charset="0"/>
              </a:rPr>
              <a:t>ensure correctness</a:t>
            </a:r>
            <a:r>
              <a:rPr lang="en-US" sz="2200" dirty="0">
                <a:latin typeface="Times New Roman" panose="02020603050405020304" pitchFamily="18" charset="0"/>
                <a:cs typeface="Times New Roman" panose="02020603050405020304" pitchFamily="18" charset="0"/>
              </a:rPr>
              <a:t>.</a:t>
            </a:r>
          </a:p>
          <a:p>
            <a:pPr marL="900113">
              <a:lnSpc>
                <a:spcPct val="150000"/>
              </a:lnSpc>
              <a:buFont typeface="Wingdings" panose="05000000000000000000" pitchFamily="2" charset="2"/>
              <a:buChar char="Ø"/>
            </a:pPr>
            <a:r>
              <a:rPr lang="en-US" sz="2200" b="1" dirty="0" smtClean="0">
                <a:latin typeface="Times New Roman" panose="02020603050405020304" pitchFamily="18" charset="0"/>
                <a:cs typeface="Times New Roman" panose="02020603050405020304" pitchFamily="18" charset="0"/>
              </a:rPr>
              <a:t>Property </a:t>
            </a:r>
            <a:r>
              <a:rPr lang="en-US" sz="2200" dirty="0">
                <a:latin typeface="Times New Roman" panose="02020603050405020304" pitchFamily="18" charset="0"/>
                <a:cs typeface="Times New Roman" panose="02020603050405020304" pitchFamily="18" charset="0"/>
              </a:rPr>
              <a:t>- relates to who owns the data.</a:t>
            </a:r>
          </a:p>
          <a:p>
            <a:pPr marL="900113">
              <a:lnSpc>
                <a:spcPct val="150000"/>
              </a:lnSpc>
              <a:buFont typeface="Wingdings" panose="05000000000000000000" pitchFamily="2" charset="2"/>
              <a:buChar char="Ø"/>
            </a:pPr>
            <a:r>
              <a:rPr lang="en-US" sz="2200" b="1" dirty="0" smtClean="0">
                <a:latin typeface="Times New Roman" panose="02020603050405020304" pitchFamily="18" charset="0"/>
                <a:cs typeface="Times New Roman" panose="02020603050405020304" pitchFamily="18" charset="0"/>
              </a:rPr>
              <a:t>Access </a:t>
            </a:r>
            <a:r>
              <a:rPr lang="en-US" sz="2200" dirty="0">
                <a:latin typeface="Times New Roman" panose="02020603050405020304" pitchFamily="18" charset="0"/>
                <a:cs typeface="Times New Roman" panose="02020603050405020304" pitchFamily="18" charset="0"/>
              </a:rPr>
              <a:t>– relates to the responsibilities of those who have data to control and who </a:t>
            </a:r>
            <a:r>
              <a:rPr lang="en-US" sz="2200" dirty="0" smtClean="0">
                <a:latin typeface="Times New Roman" panose="02020603050405020304" pitchFamily="18" charset="0"/>
                <a:cs typeface="Times New Roman" panose="02020603050405020304" pitchFamily="18" charset="0"/>
              </a:rPr>
              <a:t>is able </a:t>
            </a:r>
            <a:r>
              <a:rPr lang="en-US" sz="2200" dirty="0">
                <a:latin typeface="Times New Roman" panose="02020603050405020304" pitchFamily="18" charset="0"/>
                <a:cs typeface="Times New Roman" panose="02020603050405020304" pitchFamily="18" charset="0"/>
              </a:rPr>
              <a:t>to use it.</a:t>
            </a:r>
          </a:p>
        </p:txBody>
      </p:sp>
    </p:spTree>
    <p:extLst>
      <p:ext uri="{BB962C8B-B14F-4D97-AF65-F5344CB8AC3E}">
        <p14:creationId xmlns:p14="http://schemas.microsoft.com/office/powerpoint/2010/main" val="300362523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484785"/>
          </a:xfrm>
        </p:spPr>
        <p:txBody>
          <a:bodyPr>
            <a:noAutofit/>
          </a:bodyPr>
          <a:lstStyle/>
          <a:p>
            <a:pPr algn="ctr"/>
            <a:r>
              <a:rPr lang="en-US" b="1" dirty="0"/>
              <a:t>ETHICS AND ICT USAGE IN BUSINESS</a:t>
            </a:r>
            <a:endParaRPr lang="en-US" sz="8800" b="1" dirty="0">
              <a:latin typeface="Times New Roman" panose="02020603050405020304" pitchFamily="18" charset="0"/>
              <a:cs typeface="Times New Roman" panose="02020603050405020304" pitchFamily="18" charset="0"/>
            </a:endParaRPr>
          </a:p>
        </p:txBody>
      </p:sp>
      <p:sp>
        <p:nvSpPr>
          <p:cNvPr id="5" name="Rectangle 3"/>
          <p:cNvSpPr txBox="1">
            <a:spLocks noChangeArrowheads="1"/>
          </p:cNvSpPr>
          <p:nvPr/>
        </p:nvSpPr>
        <p:spPr bwMode="auto">
          <a:xfrm>
            <a:off x="467544" y="1440160"/>
            <a:ext cx="8219256" cy="541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717550">
              <a:lnSpc>
                <a:spcPct val="150000"/>
              </a:lnSpc>
              <a:tabLst>
                <a:tab pos="534988" algn="l"/>
              </a:tabLst>
            </a:pPr>
            <a:r>
              <a:rPr lang="en-US" sz="2500" dirty="0" smtClean="0">
                <a:latin typeface="Times New Roman" panose="02020603050405020304" pitchFamily="18" charset="0"/>
                <a:cs typeface="Times New Roman" panose="02020603050405020304" pitchFamily="18" charset="0"/>
              </a:rPr>
              <a:t>E-mail </a:t>
            </a:r>
            <a:r>
              <a:rPr lang="en-US" sz="2500" dirty="0">
                <a:latin typeface="Times New Roman" panose="02020603050405020304" pitchFamily="18" charset="0"/>
                <a:cs typeface="Times New Roman" panose="02020603050405020304" pitchFamily="18" charset="0"/>
              </a:rPr>
              <a:t>Privacy</a:t>
            </a:r>
          </a:p>
          <a:p>
            <a:pPr marL="717550">
              <a:lnSpc>
                <a:spcPct val="150000"/>
              </a:lnSpc>
              <a:tabLst>
                <a:tab pos="534988" algn="l"/>
              </a:tabLst>
            </a:pPr>
            <a:r>
              <a:rPr lang="en-US" sz="2500" dirty="0" smtClean="0">
                <a:latin typeface="Times New Roman" panose="02020603050405020304" pitchFamily="18" charset="0"/>
                <a:cs typeface="Times New Roman" panose="02020603050405020304" pitchFamily="18" charset="0"/>
              </a:rPr>
              <a:t>Software </a:t>
            </a:r>
            <a:r>
              <a:rPr lang="en-US" sz="2500" dirty="0">
                <a:latin typeface="Times New Roman" panose="02020603050405020304" pitchFamily="18" charset="0"/>
                <a:cs typeface="Times New Roman" panose="02020603050405020304" pitchFamily="18" charset="0"/>
              </a:rPr>
              <a:t>Licenses</a:t>
            </a:r>
          </a:p>
          <a:p>
            <a:pPr marL="717550">
              <a:lnSpc>
                <a:spcPct val="150000"/>
              </a:lnSpc>
              <a:tabLst>
                <a:tab pos="534988" algn="l"/>
              </a:tabLst>
            </a:pPr>
            <a:r>
              <a:rPr lang="en-US" sz="2500" dirty="0" smtClean="0">
                <a:latin typeface="Times New Roman" panose="02020603050405020304" pitchFamily="18" charset="0"/>
                <a:cs typeface="Times New Roman" panose="02020603050405020304" pitchFamily="18" charset="0"/>
              </a:rPr>
              <a:t>Software </a:t>
            </a:r>
            <a:r>
              <a:rPr lang="en-US" sz="2500" dirty="0">
                <a:latin typeface="Times New Roman" panose="02020603050405020304" pitchFamily="18" charset="0"/>
                <a:cs typeface="Times New Roman" panose="02020603050405020304" pitchFamily="18" charset="0"/>
              </a:rPr>
              <a:t>Copyrights</a:t>
            </a:r>
          </a:p>
          <a:p>
            <a:pPr marL="717550">
              <a:lnSpc>
                <a:spcPct val="150000"/>
              </a:lnSpc>
              <a:tabLst>
                <a:tab pos="534988" algn="l"/>
              </a:tabLst>
            </a:pPr>
            <a:r>
              <a:rPr lang="en-US" sz="2500" dirty="0" smtClean="0">
                <a:latin typeface="Times New Roman" panose="02020603050405020304" pitchFamily="18" charset="0"/>
                <a:cs typeface="Times New Roman" panose="02020603050405020304" pitchFamily="18" charset="0"/>
              </a:rPr>
              <a:t>Hardware </a:t>
            </a:r>
            <a:r>
              <a:rPr lang="en-US" sz="2500" dirty="0">
                <a:latin typeface="Times New Roman" panose="02020603050405020304" pitchFamily="18" charset="0"/>
                <a:cs typeface="Times New Roman" panose="02020603050405020304" pitchFamily="18" charset="0"/>
              </a:rPr>
              <a:t>Access</a:t>
            </a:r>
          </a:p>
          <a:p>
            <a:pPr marL="717550">
              <a:lnSpc>
                <a:spcPct val="150000"/>
              </a:lnSpc>
              <a:tabLst>
                <a:tab pos="534988" algn="l"/>
              </a:tabLst>
            </a:pPr>
            <a:r>
              <a:rPr lang="en-US" sz="2500" dirty="0" smtClean="0">
                <a:latin typeface="Times New Roman" panose="02020603050405020304" pitchFamily="18" charset="0"/>
                <a:cs typeface="Times New Roman" panose="02020603050405020304" pitchFamily="18" charset="0"/>
              </a:rPr>
              <a:t>Intellectual </a:t>
            </a:r>
            <a:r>
              <a:rPr lang="en-US" sz="2500" dirty="0">
                <a:latin typeface="Times New Roman" panose="02020603050405020304" pitchFamily="18" charset="0"/>
                <a:cs typeface="Times New Roman" panose="02020603050405020304" pitchFamily="18" charset="0"/>
              </a:rPr>
              <a:t>Property Ownership</a:t>
            </a:r>
          </a:p>
          <a:p>
            <a:pPr marL="717550">
              <a:lnSpc>
                <a:spcPct val="150000"/>
              </a:lnSpc>
              <a:tabLst>
                <a:tab pos="534988" algn="l"/>
              </a:tabLst>
            </a:pPr>
            <a:r>
              <a:rPr lang="en-US" sz="2500" dirty="0" smtClean="0">
                <a:latin typeface="Times New Roman" panose="02020603050405020304" pitchFamily="18" charset="0"/>
                <a:cs typeface="Times New Roman" panose="02020603050405020304" pitchFamily="18" charset="0"/>
              </a:rPr>
              <a:t>File </a:t>
            </a:r>
            <a:r>
              <a:rPr lang="en-US" sz="2500" dirty="0">
                <a:latin typeface="Times New Roman" panose="02020603050405020304" pitchFamily="18" charset="0"/>
                <a:cs typeface="Times New Roman" panose="02020603050405020304" pitchFamily="18" charset="0"/>
              </a:rPr>
              <a:t>Access</a:t>
            </a:r>
          </a:p>
          <a:p>
            <a:pPr marL="717550">
              <a:lnSpc>
                <a:spcPct val="150000"/>
              </a:lnSpc>
              <a:tabLst>
                <a:tab pos="534988" algn="l"/>
              </a:tabLst>
            </a:pPr>
            <a:r>
              <a:rPr lang="en-US" sz="2500" dirty="0" smtClean="0">
                <a:latin typeface="Times New Roman" panose="02020603050405020304" pitchFamily="18" charset="0"/>
                <a:cs typeface="Times New Roman" panose="02020603050405020304" pitchFamily="18" charset="0"/>
              </a:rPr>
              <a:t>Data </a:t>
            </a:r>
            <a:r>
              <a:rPr lang="en-US" sz="2500" dirty="0">
                <a:latin typeface="Times New Roman" panose="02020603050405020304" pitchFamily="18" charset="0"/>
                <a:cs typeface="Times New Roman" panose="02020603050405020304" pitchFamily="18" charset="0"/>
              </a:rPr>
              <a:t>Ownership</a:t>
            </a:r>
          </a:p>
        </p:txBody>
      </p:sp>
    </p:spTree>
    <p:extLst>
      <p:ext uri="{BB962C8B-B14F-4D97-AF65-F5344CB8AC3E}">
        <p14:creationId xmlns:p14="http://schemas.microsoft.com/office/powerpoint/2010/main" val="168741830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484785"/>
          </a:xfrm>
        </p:spPr>
        <p:txBody>
          <a:bodyPr>
            <a:noAutofit/>
          </a:bodyPr>
          <a:lstStyle/>
          <a:p>
            <a:pPr algn="ctr"/>
            <a:r>
              <a:rPr lang="en-US" sz="6000" b="1" dirty="0"/>
              <a:t>ETHICS CHALLENGE</a:t>
            </a:r>
            <a:endParaRPr lang="en-US" sz="6000" b="1" dirty="0">
              <a:latin typeface="Times New Roman" panose="02020603050405020304" pitchFamily="18" charset="0"/>
              <a:cs typeface="Times New Roman" panose="02020603050405020304" pitchFamily="18" charset="0"/>
            </a:endParaRPr>
          </a:p>
        </p:txBody>
      </p:sp>
      <p:sp>
        <p:nvSpPr>
          <p:cNvPr id="5" name="Rectangle 3"/>
          <p:cNvSpPr txBox="1">
            <a:spLocks noChangeArrowheads="1"/>
          </p:cNvSpPr>
          <p:nvPr/>
        </p:nvSpPr>
        <p:spPr bwMode="auto">
          <a:xfrm>
            <a:off x="467544" y="1440160"/>
            <a:ext cx="8219256" cy="541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000" b="1" dirty="0">
                <a:latin typeface="Times New Roman" panose="02020603050405020304" pitchFamily="18" charset="0"/>
                <a:cs typeface="Times New Roman" panose="02020603050405020304" pitchFamily="18" charset="0"/>
              </a:rPr>
              <a:t>Developing a Code of Ethics</a:t>
            </a:r>
          </a:p>
          <a:p>
            <a:pPr marL="717550">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Informed </a:t>
            </a:r>
            <a:r>
              <a:rPr lang="en-US" sz="2000" dirty="0">
                <a:latin typeface="Times New Roman" panose="02020603050405020304" pitchFamily="18" charset="0"/>
                <a:cs typeface="Times New Roman" panose="02020603050405020304" pitchFamily="18" charset="0"/>
              </a:rPr>
              <a:t>Consent</a:t>
            </a:r>
          </a:p>
          <a:p>
            <a:pPr marL="717550">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Higher Ethic</a:t>
            </a:r>
          </a:p>
          <a:p>
            <a:pPr marL="717550">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Most </a:t>
            </a:r>
            <a:r>
              <a:rPr lang="en-US" sz="2000" dirty="0">
                <a:latin typeface="Times New Roman" panose="02020603050405020304" pitchFamily="18" charset="0"/>
                <a:cs typeface="Times New Roman" panose="02020603050405020304" pitchFamily="18" charset="0"/>
              </a:rPr>
              <a:t>Restrictive Action</a:t>
            </a:r>
          </a:p>
          <a:p>
            <a:pPr marL="717550">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Kantian </a:t>
            </a:r>
            <a:r>
              <a:rPr lang="en-US" sz="2000" dirty="0">
                <a:latin typeface="Times New Roman" panose="02020603050405020304" pitchFamily="18" charset="0"/>
                <a:cs typeface="Times New Roman" panose="02020603050405020304" pitchFamily="18" charset="0"/>
              </a:rPr>
              <a:t>Universality </a:t>
            </a:r>
            <a:r>
              <a:rPr lang="en-US" sz="2000" dirty="0" smtClean="0">
                <a:latin typeface="Times New Roman" panose="02020603050405020304" pitchFamily="18" charset="0"/>
                <a:cs typeface="Times New Roman" panose="02020603050405020304" pitchFamily="18" charset="0"/>
              </a:rPr>
              <a:t>Rule</a:t>
            </a:r>
          </a:p>
          <a:p>
            <a:pPr marL="717550">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Descartes’ Change in Rule</a:t>
            </a:r>
          </a:p>
          <a:p>
            <a:pPr marL="717550">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Owner’s Conservative Rule</a:t>
            </a:r>
          </a:p>
          <a:p>
            <a:pPr marL="717550">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User’s Conservative Rule</a:t>
            </a:r>
          </a:p>
          <a:p>
            <a:pPr>
              <a:lnSpc>
                <a:spcPct val="150000"/>
              </a:lnSpc>
            </a:pPr>
            <a:r>
              <a:rPr lang="en-US" sz="2000" b="1" i="1" dirty="0" smtClean="0">
                <a:latin typeface="Times New Roman" panose="02020603050405020304" pitchFamily="18" charset="0"/>
                <a:cs typeface="Times New Roman" panose="02020603050405020304" pitchFamily="18" charset="0"/>
              </a:rPr>
              <a:t>Social </a:t>
            </a:r>
            <a:r>
              <a:rPr lang="en-US" sz="2000" b="1" i="1" dirty="0">
                <a:latin typeface="Times New Roman" panose="02020603050405020304" pitchFamily="18" charset="0"/>
                <a:cs typeface="Times New Roman" panose="02020603050405020304" pitchFamily="18" charset="0"/>
              </a:rPr>
              <a:t>Responsibility: </a:t>
            </a:r>
            <a:endParaRPr lang="en-US" sz="2000" b="1" i="1" dirty="0" smtClean="0">
              <a:latin typeface="Times New Roman" panose="02020603050405020304" pitchFamily="18" charset="0"/>
              <a:cs typeface="Times New Roman" panose="02020603050405020304" pitchFamily="18" charset="0"/>
            </a:endParaRPr>
          </a:p>
          <a:p>
            <a:pPr marL="365125" indent="0">
              <a:lnSpc>
                <a:spcPct val="150000"/>
              </a:lnSpc>
              <a:buNone/>
            </a:pPr>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concept that businesses need to balance their </a:t>
            </a:r>
            <a:r>
              <a:rPr lang="en-US" sz="2000" dirty="0" smtClean="0">
                <a:latin typeface="Times New Roman" panose="02020603050405020304" pitchFamily="18" charset="0"/>
                <a:cs typeface="Times New Roman" panose="02020603050405020304" pitchFamily="18" charset="0"/>
              </a:rPr>
              <a:t>commitments to </a:t>
            </a:r>
            <a:r>
              <a:rPr lang="en-US" sz="2000" dirty="0">
                <a:latin typeface="Times New Roman" panose="02020603050405020304" pitchFamily="18" charset="0"/>
                <a:cs typeface="Times New Roman" panose="02020603050405020304" pitchFamily="18" charset="0"/>
              </a:rPr>
              <a:t>investors, employees, customers, other businesses, and the communities in </a:t>
            </a:r>
            <a:r>
              <a:rPr lang="en-US" sz="2000" dirty="0" smtClean="0">
                <a:latin typeface="Times New Roman" panose="02020603050405020304" pitchFamily="18" charset="0"/>
                <a:cs typeface="Times New Roman" panose="02020603050405020304" pitchFamily="18" charset="0"/>
              </a:rPr>
              <a:t>which they </a:t>
            </a:r>
            <a:r>
              <a:rPr lang="en-US" sz="2000" dirty="0">
                <a:latin typeface="Times New Roman" panose="02020603050405020304" pitchFamily="18" charset="0"/>
                <a:cs typeface="Times New Roman" panose="02020603050405020304" pitchFamily="18" charset="0"/>
              </a:rPr>
              <a:t>operate.</a:t>
            </a:r>
          </a:p>
        </p:txBody>
      </p:sp>
    </p:spTree>
    <p:extLst>
      <p:ext uri="{BB962C8B-B14F-4D97-AF65-F5344CB8AC3E}">
        <p14:creationId xmlns:p14="http://schemas.microsoft.com/office/powerpoint/2010/main" val="3522656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484785"/>
          </a:xfrm>
        </p:spPr>
        <p:txBody>
          <a:bodyPr>
            <a:noAutofit/>
          </a:bodyPr>
          <a:lstStyle/>
          <a:p>
            <a:pPr algn="ctr"/>
            <a:r>
              <a:rPr lang="en-US" sz="9600" b="1" dirty="0"/>
              <a:t>PRIVACY</a:t>
            </a:r>
            <a:endParaRPr lang="en-US" sz="9600" b="1" dirty="0">
              <a:latin typeface="Times New Roman" panose="02020603050405020304" pitchFamily="18" charset="0"/>
              <a:cs typeface="Times New Roman" panose="02020603050405020304" pitchFamily="18" charset="0"/>
            </a:endParaRPr>
          </a:p>
        </p:txBody>
      </p:sp>
      <p:sp>
        <p:nvSpPr>
          <p:cNvPr id="5" name="Rectangle 3"/>
          <p:cNvSpPr txBox="1">
            <a:spLocks noChangeArrowheads="1"/>
          </p:cNvSpPr>
          <p:nvPr/>
        </p:nvSpPr>
        <p:spPr bwMode="auto">
          <a:xfrm>
            <a:off x="467544" y="1440160"/>
            <a:ext cx="8219256" cy="541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300" dirty="0">
                <a:latin typeface="Times New Roman" panose="02020603050405020304" pitchFamily="18" charset="0"/>
                <a:cs typeface="Times New Roman" panose="02020603050405020304" pitchFamily="18" charset="0"/>
              </a:rPr>
              <a:t>Privacy in IT is the term used to refer to how personal information is collected, used, </a:t>
            </a:r>
            <a:r>
              <a:rPr lang="en-US" sz="2300" dirty="0" smtClean="0">
                <a:latin typeface="Times New Roman" panose="02020603050405020304" pitchFamily="18" charset="0"/>
                <a:cs typeface="Times New Roman" panose="02020603050405020304" pitchFamily="18" charset="0"/>
              </a:rPr>
              <a:t>and protected</a:t>
            </a:r>
            <a:r>
              <a:rPr lang="en-US" sz="2300" b="1" dirty="0" smtClean="0">
                <a:latin typeface="Times New Roman" panose="02020603050405020304" pitchFamily="18" charset="0"/>
                <a:cs typeface="Times New Roman" panose="02020603050405020304" pitchFamily="18" charset="0"/>
              </a:rPr>
              <a:t>.</a:t>
            </a:r>
          </a:p>
          <a:p>
            <a:pPr>
              <a:lnSpc>
                <a:spcPct val="150000"/>
              </a:lnSpc>
            </a:pPr>
            <a:r>
              <a:rPr lang="en-US" sz="2300" b="1" dirty="0">
                <a:latin typeface="Times New Roman" panose="02020603050405020304" pitchFamily="18" charset="0"/>
                <a:cs typeface="Times New Roman" panose="02020603050405020304" pitchFamily="18" charset="0"/>
              </a:rPr>
              <a:t>SPAM AND PRIVACY</a:t>
            </a:r>
          </a:p>
          <a:p>
            <a:pPr marL="900113">
              <a:lnSpc>
                <a:spcPct val="150000"/>
              </a:lnSpc>
              <a:buFont typeface="Wingdings" panose="05000000000000000000" pitchFamily="2" charset="2"/>
              <a:buChar char="Ø"/>
            </a:pPr>
            <a:r>
              <a:rPr lang="en-US" sz="2300" b="1" i="1" dirty="0" smtClean="0">
                <a:latin typeface="Times New Roman" panose="02020603050405020304" pitchFamily="18" charset="0"/>
                <a:cs typeface="Times New Roman" panose="02020603050405020304" pitchFamily="18" charset="0"/>
              </a:rPr>
              <a:t>Spam</a:t>
            </a:r>
            <a:r>
              <a:rPr lang="en-US" sz="2300" b="1" i="1" dirty="0">
                <a:latin typeface="Times New Roman" panose="02020603050405020304" pitchFamily="18" charset="0"/>
                <a:cs typeface="Times New Roman" panose="02020603050405020304" pitchFamily="18" charset="0"/>
              </a:rPr>
              <a:t>: </a:t>
            </a:r>
            <a:r>
              <a:rPr lang="en-US" sz="2300" dirty="0">
                <a:latin typeface="Times New Roman" panose="02020603050405020304" pitchFamily="18" charset="0"/>
                <a:cs typeface="Times New Roman" panose="02020603050405020304" pitchFamily="18" charset="0"/>
              </a:rPr>
              <a:t>Unsolicited e-mail.</a:t>
            </a:r>
          </a:p>
          <a:p>
            <a:pPr marL="900113">
              <a:lnSpc>
                <a:spcPct val="150000"/>
              </a:lnSpc>
              <a:buFont typeface="Wingdings" panose="05000000000000000000" pitchFamily="2" charset="2"/>
              <a:buChar char="Ø"/>
            </a:pPr>
            <a:r>
              <a:rPr lang="en-US" sz="2300" b="1" i="1" dirty="0" smtClean="0">
                <a:latin typeface="Times New Roman" panose="02020603050405020304" pitchFamily="18" charset="0"/>
                <a:cs typeface="Times New Roman" panose="02020603050405020304" pitchFamily="18" charset="0"/>
              </a:rPr>
              <a:t>Opt-in </a:t>
            </a:r>
            <a:r>
              <a:rPr lang="en-US" sz="2300" b="1" i="1" dirty="0">
                <a:latin typeface="Times New Roman" panose="02020603050405020304" pitchFamily="18" charset="0"/>
                <a:cs typeface="Times New Roman" panose="02020603050405020304" pitchFamily="18" charset="0"/>
              </a:rPr>
              <a:t>E-mail/Permission-based E-mail: </a:t>
            </a:r>
            <a:r>
              <a:rPr lang="en-US" sz="2300" dirty="0">
                <a:latin typeface="Times New Roman" panose="02020603050405020304" pitchFamily="18" charset="0"/>
                <a:cs typeface="Times New Roman" panose="02020603050405020304" pitchFamily="18" charset="0"/>
              </a:rPr>
              <a:t>If customers check a box agreeing </a:t>
            </a:r>
            <a:r>
              <a:rPr lang="en-US" sz="2300" dirty="0" smtClean="0">
                <a:latin typeface="Times New Roman" panose="02020603050405020304" pitchFamily="18" charset="0"/>
                <a:cs typeface="Times New Roman" panose="02020603050405020304" pitchFamily="18" charset="0"/>
              </a:rPr>
              <a:t>to receive </a:t>
            </a:r>
            <a:r>
              <a:rPr lang="en-US" sz="2300" dirty="0">
                <a:latin typeface="Times New Roman" panose="02020603050405020304" pitchFamily="18" charset="0"/>
                <a:cs typeface="Times New Roman" panose="02020603050405020304" pitchFamily="18" charset="0"/>
              </a:rPr>
              <a:t>postings about the company’s products, they have actually given approval </a:t>
            </a:r>
            <a:r>
              <a:rPr lang="en-US" sz="2300" dirty="0" smtClean="0">
                <a:latin typeface="Times New Roman" panose="02020603050405020304" pitchFamily="18" charset="0"/>
                <a:cs typeface="Times New Roman" panose="02020603050405020304" pitchFamily="18" charset="0"/>
              </a:rPr>
              <a:t>for the </a:t>
            </a:r>
            <a:r>
              <a:rPr lang="en-US" sz="2300" dirty="0">
                <a:latin typeface="Times New Roman" panose="02020603050405020304" pitchFamily="18" charset="0"/>
                <a:cs typeface="Times New Roman" panose="02020603050405020304" pitchFamily="18" charset="0"/>
              </a:rPr>
              <a:t>mailing</a:t>
            </a:r>
            <a:r>
              <a:rPr lang="en-US" sz="2300" dirty="0" smtClean="0">
                <a:latin typeface="Times New Roman" panose="02020603050405020304" pitchFamily="18" charset="0"/>
                <a:cs typeface="Times New Roman" panose="02020603050405020304" pitchFamily="18" charset="0"/>
              </a:rPr>
              <a:t>.</a:t>
            </a:r>
            <a:endParaRPr lang="en-US"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0499815"/>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484785"/>
          </a:xfrm>
        </p:spPr>
        <p:txBody>
          <a:bodyPr>
            <a:noAutofit/>
          </a:bodyPr>
          <a:lstStyle/>
          <a:p>
            <a:pPr algn="ctr"/>
            <a:r>
              <a:rPr lang="en-US" sz="9600" b="1" dirty="0"/>
              <a:t>PRIVACY</a:t>
            </a:r>
            <a:endParaRPr lang="en-US" sz="9600" b="1" dirty="0">
              <a:latin typeface="Times New Roman" panose="02020603050405020304" pitchFamily="18" charset="0"/>
              <a:cs typeface="Times New Roman" panose="02020603050405020304" pitchFamily="18" charset="0"/>
            </a:endParaRPr>
          </a:p>
        </p:txBody>
      </p:sp>
      <p:sp>
        <p:nvSpPr>
          <p:cNvPr id="5" name="Rectangle 3"/>
          <p:cNvSpPr txBox="1">
            <a:spLocks noChangeArrowheads="1"/>
          </p:cNvSpPr>
          <p:nvPr/>
        </p:nvSpPr>
        <p:spPr bwMode="auto">
          <a:xfrm>
            <a:off x="467544" y="1440160"/>
            <a:ext cx="8219256" cy="541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900113">
              <a:lnSpc>
                <a:spcPct val="150000"/>
              </a:lnSpc>
              <a:buFont typeface="Wingdings" panose="05000000000000000000" pitchFamily="2" charset="2"/>
              <a:buChar char="Ø"/>
            </a:pPr>
            <a:r>
              <a:rPr lang="en-US" sz="2100" b="1" dirty="0" smtClean="0">
                <a:latin typeface="Times New Roman" panose="02020603050405020304" pitchFamily="18" charset="0"/>
                <a:cs typeface="Times New Roman" panose="02020603050405020304" pitchFamily="18" charset="0"/>
              </a:rPr>
              <a:t>Cookies</a:t>
            </a:r>
            <a:r>
              <a:rPr lang="en-US" sz="2100" b="1" dirty="0">
                <a:latin typeface="Times New Roman" panose="02020603050405020304" pitchFamily="18" charset="0"/>
                <a:cs typeface="Times New Roman" panose="02020603050405020304" pitchFamily="18" charset="0"/>
              </a:rPr>
              <a:t>: </a:t>
            </a:r>
            <a:r>
              <a:rPr lang="en-US" sz="2100" dirty="0">
                <a:latin typeface="Times New Roman" panose="02020603050405020304" pitchFamily="18" charset="0"/>
                <a:cs typeface="Times New Roman" panose="02020603050405020304" pitchFamily="18" charset="0"/>
              </a:rPr>
              <a:t>are specialized programs deposited onto you computer system that </a:t>
            </a:r>
            <a:r>
              <a:rPr lang="en-US" sz="2100" dirty="0" smtClean="0">
                <a:latin typeface="Times New Roman" panose="02020603050405020304" pitchFamily="18" charset="0"/>
                <a:cs typeface="Times New Roman" panose="02020603050405020304" pitchFamily="18" charset="0"/>
              </a:rPr>
              <a:t>record sites </a:t>
            </a:r>
            <a:r>
              <a:rPr lang="en-US" sz="2100" dirty="0">
                <a:latin typeface="Times New Roman" panose="02020603050405020304" pitchFamily="18" charset="0"/>
                <a:cs typeface="Times New Roman" panose="02020603050405020304" pitchFamily="18" charset="0"/>
              </a:rPr>
              <a:t>visited, activity at sites and other information.</a:t>
            </a:r>
          </a:p>
          <a:p>
            <a:pPr marL="1350963" indent="-268288">
              <a:lnSpc>
                <a:spcPct val="150000"/>
              </a:lnSpc>
              <a:buFont typeface="Wingdings" panose="05000000000000000000" pitchFamily="2" charset="2"/>
              <a:buChar char="§"/>
            </a:pPr>
            <a:r>
              <a:rPr lang="en-US" sz="2100" b="1" i="1" dirty="0" smtClean="0">
                <a:latin typeface="Times New Roman" panose="02020603050405020304" pitchFamily="18" charset="0"/>
                <a:cs typeface="Times New Roman" panose="02020603050405020304" pitchFamily="18" charset="0"/>
              </a:rPr>
              <a:t>Traditional </a:t>
            </a:r>
            <a:r>
              <a:rPr lang="en-US" sz="2100" b="1" i="1" dirty="0">
                <a:latin typeface="Times New Roman" panose="02020603050405020304" pitchFamily="18" charset="0"/>
                <a:cs typeface="Times New Roman" panose="02020603050405020304" pitchFamily="18" charset="0"/>
              </a:rPr>
              <a:t>cookies </a:t>
            </a:r>
            <a:r>
              <a:rPr lang="en-US" sz="2100" dirty="0">
                <a:latin typeface="Times New Roman" panose="02020603050405020304" pitchFamily="18" charset="0"/>
                <a:cs typeface="Times New Roman" panose="02020603050405020304" pitchFamily="18" charset="0"/>
              </a:rPr>
              <a:t>– monitor activities at a single site</a:t>
            </a:r>
          </a:p>
          <a:p>
            <a:pPr marL="1350963" indent="-268288">
              <a:lnSpc>
                <a:spcPct val="150000"/>
              </a:lnSpc>
              <a:buFont typeface="Wingdings" panose="05000000000000000000" pitchFamily="2" charset="2"/>
              <a:buChar char="§"/>
            </a:pPr>
            <a:r>
              <a:rPr lang="en-US" sz="2100" b="1" i="1" dirty="0" smtClean="0">
                <a:latin typeface="Times New Roman" panose="02020603050405020304" pitchFamily="18" charset="0"/>
                <a:cs typeface="Times New Roman" panose="02020603050405020304" pitchFamily="18" charset="0"/>
              </a:rPr>
              <a:t>Ad </a:t>
            </a:r>
            <a:r>
              <a:rPr lang="en-US" sz="2100" b="1" i="1" dirty="0">
                <a:latin typeface="Times New Roman" panose="02020603050405020304" pitchFamily="18" charset="0"/>
                <a:cs typeface="Times New Roman" panose="02020603050405020304" pitchFamily="18" charset="0"/>
              </a:rPr>
              <a:t>network cookies </a:t>
            </a:r>
            <a:r>
              <a:rPr lang="en-US" sz="2100" dirty="0">
                <a:latin typeface="Times New Roman" panose="02020603050405020304" pitchFamily="18" charset="0"/>
                <a:cs typeface="Times New Roman" panose="02020603050405020304" pitchFamily="18" charset="0"/>
              </a:rPr>
              <a:t>– also known as adware cookies, monitor </a:t>
            </a:r>
            <a:r>
              <a:rPr lang="en-US" sz="2100" dirty="0" smtClean="0">
                <a:latin typeface="Times New Roman" panose="02020603050405020304" pitchFamily="18" charset="0"/>
                <a:cs typeface="Times New Roman" panose="02020603050405020304" pitchFamily="18" charset="0"/>
              </a:rPr>
              <a:t>activities across </a:t>
            </a:r>
            <a:r>
              <a:rPr lang="en-US" sz="2100" dirty="0">
                <a:latin typeface="Times New Roman" panose="02020603050405020304" pitchFamily="18" charset="0"/>
                <a:cs typeface="Times New Roman" panose="02020603050405020304" pitchFamily="18" charset="0"/>
              </a:rPr>
              <a:t>all sites visited</a:t>
            </a:r>
          </a:p>
          <a:p>
            <a:pPr marL="1350963" indent="-268288">
              <a:lnSpc>
                <a:spcPct val="150000"/>
              </a:lnSpc>
              <a:buFont typeface="Wingdings" panose="05000000000000000000" pitchFamily="2" charset="2"/>
              <a:buChar char="§"/>
            </a:pPr>
            <a:r>
              <a:rPr lang="en-US" sz="2100" b="1" i="1" dirty="0" smtClean="0">
                <a:latin typeface="Times New Roman" panose="02020603050405020304" pitchFamily="18" charset="0"/>
                <a:cs typeface="Times New Roman" panose="02020603050405020304" pitchFamily="18" charset="0"/>
              </a:rPr>
              <a:t>Web </a:t>
            </a:r>
            <a:r>
              <a:rPr lang="en-US" sz="2100" b="1" i="1" dirty="0">
                <a:latin typeface="Times New Roman" panose="02020603050405020304" pitchFamily="18" charset="0"/>
                <a:cs typeface="Times New Roman" panose="02020603050405020304" pitchFamily="18" charset="0"/>
              </a:rPr>
              <a:t>bugs </a:t>
            </a:r>
            <a:r>
              <a:rPr lang="en-US" sz="2100" dirty="0">
                <a:latin typeface="Times New Roman" panose="02020603050405020304" pitchFamily="18" charset="0"/>
                <a:cs typeface="Times New Roman" panose="02020603050405020304" pitchFamily="18" charset="0"/>
              </a:rPr>
              <a:t>– programs typically hidden within the HTML codes as </a:t>
            </a:r>
            <a:r>
              <a:rPr lang="en-US" sz="2100" dirty="0" smtClean="0">
                <a:latin typeface="Times New Roman" panose="02020603050405020304" pitchFamily="18" charset="0"/>
                <a:cs typeface="Times New Roman" panose="02020603050405020304" pitchFamily="18" charset="0"/>
              </a:rPr>
              <a:t>a graphic </a:t>
            </a:r>
            <a:r>
              <a:rPr lang="en-US" sz="2100" dirty="0">
                <a:latin typeface="Times New Roman" panose="02020603050405020304" pitchFamily="18" charset="0"/>
                <a:cs typeface="Times New Roman" panose="02020603050405020304" pitchFamily="18" charset="0"/>
              </a:rPr>
              <a:t>image. They migrate when ever an unsuspecting user visits </a:t>
            </a:r>
            <a:r>
              <a:rPr lang="en-US" sz="2100" dirty="0" smtClean="0">
                <a:latin typeface="Times New Roman" panose="02020603050405020304" pitchFamily="18" charset="0"/>
                <a:cs typeface="Times New Roman" panose="02020603050405020304" pitchFamily="18" charset="0"/>
              </a:rPr>
              <a:t>a web </a:t>
            </a:r>
            <a:r>
              <a:rPr lang="en-US" sz="2100" dirty="0">
                <a:latin typeface="Times New Roman" panose="02020603050405020304" pitchFamily="18" charset="0"/>
                <a:cs typeface="Times New Roman" panose="02020603050405020304" pitchFamily="18" charset="0"/>
              </a:rPr>
              <a:t>site containing a Web bug or open an infected e-mail message</a:t>
            </a:r>
            <a:r>
              <a:rPr lang="en-US" sz="2100" dirty="0" smtClean="0">
                <a:latin typeface="Times New Roman" panose="02020603050405020304" pitchFamily="18" charset="0"/>
                <a:cs typeface="Times New Roman" panose="02020603050405020304" pitchFamily="18" charset="0"/>
              </a:rPr>
              <a:t>.</a:t>
            </a:r>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371862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484785"/>
          </a:xfrm>
        </p:spPr>
        <p:txBody>
          <a:bodyPr>
            <a:noAutofit/>
          </a:bodyPr>
          <a:lstStyle/>
          <a:p>
            <a:pPr algn="ctr"/>
            <a:r>
              <a:rPr lang="en-US" sz="9600" b="1" dirty="0"/>
              <a:t>PRIVACY</a:t>
            </a:r>
            <a:endParaRPr lang="en-US" sz="9600" b="1" dirty="0">
              <a:latin typeface="Times New Roman" panose="02020603050405020304" pitchFamily="18" charset="0"/>
              <a:cs typeface="Times New Roman" panose="02020603050405020304" pitchFamily="18" charset="0"/>
            </a:endParaRPr>
          </a:p>
        </p:txBody>
      </p:sp>
      <p:sp>
        <p:nvSpPr>
          <p:cNvPr id="5" name="Rectangle 3"/>
          <p:cNvSpPr txBox="1">
            <a:spLocks noChangeArrowheads="1"/>
          </p:cNvSpPr>
          <p:nvPr/>
        </p:nvSpPr>
        <p:spPr bwMode="auto">
          <a:xfrm>
            <a:off x="467544" y="1440160"/>
            <a:ext cx="8219256" cy="541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1350963" indent="-268288">
              <a:lnSpc>
                <a:spcPct val="150000"/>
              </a:lnSpc>
              <a:buFont typeface="Wingdings" panose="05000000000000000000" pitchFamily="2" charset="2"/>
              <a:buChar char="§"/>
            </a:pPr>
            <a:r>
              <a:rPr lang="en-US" sz="2100" b="1" i="1" dirty="0" smtClean="0">
                <a:latin typeface="Times New Roman" panose="02020603050405020304" pitchFamily="18" charset="0"/>
                <a:cs typeface="Times New Roman" panose="02020603050405020304" pitchFamily="18" charset="0"/>
              </a:rPr>
              <a:t>Computer </a:t>
            </a:r>
            <a:r>
              <a:rPr lang="en-US" sz="2100" b="1" i="1" dirty="0">
                <a:latin typeface="Times New Roman" panose="02020603050405020304" pitchFamily="18" charset="0"/>
                <a:cs typeface="Times New Roman" panose="02020603050405020304" pitchFamily="18" charset="0"/>
              </a:rPr>
              <a:t>monitoring </a:t>
            </a:r>
            <a:r>
              <a:rPr lang="en-US" sz="2100" dirty="0">
                <a:latin typeface="Times New Roman" panose="02020603050405020304" pitchFamily="18" charset="0"/>
                <a:cs typeface="Times New Roman" panose="02020603050405020304" pitchFamily="18" charset="0"/>
              </a:rPr>
              <a:t>– record every activity and keystroke made </a:t>
            </a:r>
            <a:r>
              <a:rPr lang="en-US" sz="2100" dirty="0" smtClean="0">
                <a:latin typeface="Times New Roman" panose="02020603050405020304" pitchFamily="18" charset="0"/>
                <a:cs typeface="Times New Roman" panose="02020603050405020304" pitchFamily="18" charset="0"/>
              </a:rPr>
              <a:t>on your </a:t>
            </a:r>
            <a:r>
              <a:rPr lang="en-US" sz="2100" dirty="0">
                <a:latin typeface="Times New Roman" panose="02020603050405020304" pitchFamily="18" charset="0"/>
                <a:cs typeface="Times New Roman" panose="02020603050405020304" pitchFamily="18" charset="0"/>
              </a:rPr>
              <a:t>computer system. Also known as sniffer programs and </a:t>
            </a:r>
            <a:r>
              <a:rPr lang="en-US" sz="2100" dirty="0" smtClean="0">
                <a:latin typeface="Times New Roman" panose="02020603050405020304" pitchFamily="18" charset="0"/>
                <a:cs typeface="Times New Roman" panose="02020603050405020304" pitchFamily="18" charset="0"/>
              </a:rPr>
              <a:t>keystroke loggers</a:t>
            </a:r>
            <a:r>
              <a:rPr lang="en-US" sz="2100" dirty="0">
                <a:latin typeface="Times New Roman" panose="02020603050405020304" pitchFamily="18" charset="0"/>
                <a:cs typeface="Times New Roman" panose="02020603050405020304" pitchFamily="18" charset="0"/>
              </a:rPr>
              <a:t>, these programs are used by businesses, CIA, SSS, FBI, </a:t>
            </a:r>
            <a:r>
              <a:rPr lang="en-US" sz="2100" dirty="0" smtClean="0">
                <a:latin typeface="Times New Roman" panose="02020603050405020304" pitchFamily="18" charset="0"/>
                <a:cs typeface="Times New Roman" panose="02020603050405020304" pitchFamily="18" charset="0"/>
              </a:rPr>
              <a:t>private investigators </a:t>
            </a:r>
            <a:r>
              <a:rPr lang="en-US" sz="2100" dirty="0">
                <a:latin typeface="Times New Roman" panose="02020603050405020304" pitchFamily="18" charset="0"/>
                <a:cs typeface="Times New Roman" panose="02020603050405020304" pitchFamily="18" charset="0"/>
              </a:rPr>
              <a:t>and others</a:t>
            </a:r>
            <a:r>
              <a:rPr lang="en-US" sz="2100" dirty="0" smtClean="0">
                <a:latin typeface="Times New Roman" panose="02020603050405020304" pitchFamily="18" charset="0"/>
                <a:cs typeface="Times New Roman" panose="02020603050405020304" pitchFamily="18" charset="0"/>
              </a:rPr>
              <a:t>. </a:t>
            </a:r>
          </a:p>
          <a:p>
            <a:pPr marL="268288" indent="-268288">
              <a:lnSpc>
                <a:spcPct val="150000"/>
              </a:lnSpc>
              <a:buFont typeface="Wingdings" panose="05000000000000000000" pitchFamily="2" charset="2"/>
              <a:buChar char="§"/>
              <a:tabLst>
                <a:tab pos="450850" algn="l"/>
              </a:tabLst>
            </a:pPr>
            <a:r>
              <a:rPr lang="en-US" sz="2100" dirty="0" smtClean="0">
                <a:latin typeface="Times New Roman" panose="02020603050405020304" pitchFamily="18" charset="0"/>
                <a:cs typeface="Times New Roman" panose="02020603050405020304" pitchFamily="18" charset="0"/>
              </a:rPr>
              <a:t>A </a:t>
            </a:r>
            <a:r>
              <a:rPr lang="en-US" sz="2100" dirty="0">
                <a:latin typeface="Times New Roman" panose="02020603050405020304" pitchFamily="18" charset="0"/>
                <a:cs typeface="Times New Roman" panose="02020603050405020304" pitchFamily="18" charset="0"/>
              </a:rPr>
              <a:t>new program known as spy ware removal programs has recently evolved designed </a:t>
            </a:r>
            <a:r>
              <a:rPr lang="en-US" sz="2100" dirty="0" smtClean="0">
                <a:latin typeface="Times New Roman" panose="02020603050405020304" pitchFamily="18" charset="0"/>
                <a:cs typeface="Times New Roman" panose="02020603050405020304" pitchFamily="18" charset="0"/>
              </a:rPr>
              <a:t>to detect </a:t>
            </a:r>
            <a:r>
              <a:rPr lang="en-US" sz="2100" dirty="0">
                <a:latin typeface="Times New Roman" panose="02020603050405020304" pitchFamily="18" charset="0"/>
                <a:cs typeface="Times New Roman" panose="02020603050405020304" pitchFamily="18" charset="0"/>
              </a:rPr>
              <a:t>Web bugs and monitoring software.</a:t>
            </a:r>
            <a:endParaRPr lang="en-US" sz="21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779928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484785"/>
          </a:xfrm>
        </p:spPr>
        <p:txBody>
          <a:bodyPr>
            <a:noAutofit/>
          </a:bodyPr>
          <a:lstStyle/>
          <a:p>
            <a:pPr algn="ctr"/>
            <a:r>
              <a:rPr lang="en-US" sz="5400" b="1" dirty="0">
                <a:latin typeface="Times New Roman" panose="02020603050405020304" pitchFamily="18" charset="0"/>
                <a:cs typeface="Times New Roman" panose="02020603050405020304" pitchFamily="18" charset="0"/>
              </a:rPr>
              <a:t>PRIVATE NETWORKS</a:t>
            </a:r>
          </a:p>
        </p:txBody>
      </p:sp>
      <p:sp>
        <p:nvSpPr>
          <p:cNvPr id="5" name="Rectangle 3"/>
          <p:cNvSpPr txBox="1">
            <a:spLocks noChangeArrowheads="1"/>
          </p:cNvSpPr>
          <p:nvPr/>
        </p:nvSpPr>
        <p:spPr bwMode="auto">
          <a:xfrm>
            <a:off x="467544" y="1440160"/>
            <a:ext cx="8064896" cy="541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2300" dirty="0" smtClean="0">
                <a:latin typeface="Times New Roman" panose="02020603050405020304" pitchFamily="18" charset="0"/>
                <a:cs typeface="Times New Roman" panose="02020603050405020304" pitchFamily="18" charset="0"/>
              </a:rPr>
              <a:t>Many </a:t>
            </a:r>
            <a:r>
              <a:rPr lang="en-US" sz="2300" dirty="0">
                <a:latin typeface="Times New Roman" panose="02020603050405020304" pitchFamily="18" charset="0"/>
                <a:cs typeface="Times New Roman" panose="02020603050405020304" pitchFamily="18" charset="0"/>
              </a:rPr>
              <a:t>organizations monitor employee e-mail and computer files using special </a:t>
            </a:r>
            <a:r>
              <a:rPr lang="en-US" sz="2300" dirty="0" smtClean="0">
                <a:latin typeface="Times New Roman" panose="02020603050405020304" pitchFamily="18" charset="0"/>
                <a:cs typeface="Times New Roman" panose="02020603050405020304" pitchFamily="18" charset="0"/>
              </a:rPr>
              <a:t>software called </a:t>
            </a:r>
            <a:r>
              <a:rPr lang="en-US" sz="2300" b="1" dirty="0" err="1">
                <a:latin typeface="Times New Roman" panose="02020603050405020304" pitchFamily="18" charset="0"/>
                <a:cs typeface="Times New Roman" panose="02020603050405020304" pitchFamily="18" charset="0"/>
              </a:rPr>
              <a:t>snoopware</a:t>
            </a:r>
            <a:r>
              <a:rPr lang="en-US" sz="2300" dirty="0">
                <a:latin typeface="Times New Roman" panose="02020603050405020304" pitchFamily="18" charset="0"/>
                <a:cs typeface="Times New Roman" panose="02020603050405020304" pitchFamily="18" charset="0"/>
              </a:rPr>
              <a:t>. </a:t>
            </a:r>
            <a:endParaRPr lang="en-US" sz="2300" dirty="0" smtClean="0">
              <a:latin typeface="Times New Roman" panose="02020603050405020304" pitchFamily="18" charset="0"/>
              <a:cs typeface="Times New Roman" panose="02020603050405020304" pitchFamily="18" charset="0"/>
            </a:endParaRPr>
          </a:p>
          <a:p>
            <a:pPr marL="365125" indent="0">
              <a:lnSpc>
                <a:spcPct val="200000"/>
              </a:lnSpc>
              <a:buNone/>
            </a:pPr>
            <a:r>
              <a:rPr lang="en-US" sz="2300" dirty="0" smtClean="0">
                <a:latin typeface="Times New Roman" panose="02020603050405020304" pitchFamily="18" charset="0"/>
                <a:cs typeface="Times New Roman" panose="02020603050405020304" pitchFamily="18" charset="0"/>
              </a:rPr>
              <a:t>Most </a:t>
            </a:r>
            <a:r>
              <a:rPr lang="en-US" sz="2300" dirty="0">
                <a:latin typeface="Times New Roman" panose="02020603050405020304" pitchFamily="18" charset="0"/>
                <a:cs typeface="Times New Roman" panose="02020603050405020304" pitchFamily="18" charset="0"/>
              </a:rPr>
              <a:t>online information services restrict libelous, obscene, or </a:t>
            </a:r>
            <a:r>
              <a:rPr lang="en-US" sz="2300" dirty="0" smtClean="0">
                <a:latin typeface="Times New Roman" panose="02020603050405020304" pitchFamily="18" charset="0"/>
                <a:cs typeface="Times New Roman" panose="02020603050405020304" pitchFamily="18" charset="0"/>
              </a:rPr>
              <a:t>other offensive </a:t>
            </a:r>
            <a:r>
              <a:rPr lang="en-US" sz="2300" dirty="0">
                <a:latin typeface="Times New Roman" panose="02020603050405020304" pitchFamily="18" charset="0"/>
                <a:cs typeface="Times New Roman" panose="02020603050405020304" pitchFamily="18" charset="0"/>
              </a:rPr>
              <a:t>material</a:t>
            </a:r>
            <a:r>
              <a:rPr lang="en-US" sz="2300" dirty="0" smtClean="0">
                <a:latin typeface="Times New Roman" panose="02020603050405020304" pitchFamily="18" charset="0"/>
                <a:cs typeface="Times New Roman" panose="02020603050405020304" pitchFamily="18" charset="0"/>
              </a:rPr>
              <a:t>.</a:t>
            </a:r>
          </a:p>
          <a:p>
            <a:pPr marL="365125" indent="0">
              <a:buNone/>
            </a:pPr>
            <a:endParaRPr lang="en-US" sz="2100" dirty="0">
              <a:latin typeface="Times New Roman" panose="02020603050405020304" pitchFamily="18" charset="0"/>
              <a:cs typeface="Times New Roman" panose="02020603050405020304" pitchFamily="18" charset="0"/>
            </a:endParaRPr>
          </a:p>
          <a:p>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7821030"/>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484785"/>
          </a:xfrm>
        </p:spPr>
        <p:txBody>
          <a:bodyPr>
            <a:noAutofit/>
          </a:bodyPr>
          <a:lstStyle/>
          <a:p>
            <a:pPr algn="ctr"/>
            <a:r>
              <a:rPr lang="en-US" sz="5400" b="1" dirty="0">
                <a:latin typeface="Times New Roman" panose="02020603050405020304" pitchFamily="18" charset="0"/>
                <a:cs typeface="Times New Roman" panose="02020603050405020304" pitchFamily="18" charset="0"/>
              </a:rPr>
              <a:t>DIGITAL PIRACY</a:t>
            </a:r>
          </a:p>
        </p:txBody>
      </p:sp>
      <p:sp>
        <p:nvSpPr>
          <p:cNvPr id="5" name="Rectangle 3"/>
          <p:cNvSpPr txBox="1">
            <a:spLocks noChangeArrowheads="1"/>
          </p:cNvSpPr>
          <p:nvPr/>
        </p:nvSpPr>
        <p:spPr bwMode="auto">
          <a:xfrm>
            <a:off x="323528" y="1440160"/>
            <a:ext cx="8820472" cy="541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1900" b="1" i="1" dirty="0" smtClean="0">
                <a:latin typeface="Times New Roman" panose="02020603050405020304" pitchFamily="18" charset="0"/>
                <a:cs typeface="Times New Roman" panose="02020603050405020304" pitchFamily="18" charset="0"/>
              </a:rPr>
              <a:t>Digital </a:t>
            </a:r>
            <a:r>
              <a:rPr lang="en-US" sz="1900" b="1" i="1" dirty="0">
                <a:latin typeface="Times New Roman" panose="02020603050405020304" pitchFamily="18" charset="0"/>
                <a:cs typeface="Times New Roman" panose="02020603050405020304" pitchFamily="18" charset="0"/>
              </a:rPr>
              <a:t>Piracy: </a:t>
            </a:r>
            <a:r>
              <a:rPr lang="en-US" sz="1900" dirty="0">
                <a:latin typeface="Times New Roman" panose="02020603050405020304" pitchFamily="18" charset="0"/>
                <a:cs typeface="Times New Roman" panose="02020603050405020304" pitchFamily="18" charset="0"/>
              </a:rPr>
              <a:t>The making of illegal copies of copyrighted information</a:t>
            </a:r>
            <a:r>
              <a:rPr lang="en-US" sz="1900" dirty="0" smtClean="0">
                <a:latin typeface="Times New Roman" panose="02020603050405020304" pitchFamily="18" charset="0"/>
                <a:cs typeface="Times New Roman" panose="02020603050405020304" pitchFamily="18" charset="0"/>
              </a:rPr>
              <a:t>.</a:t>
            </a:r>
          </a:p>
          <a:p>
            <a:pPr>
              <a:lnSpc>
                <a:spcPct val="150000"/>
              </a:lnSpc>
            </a:pPr>
            <a:r>
              <a:rPr lang="en-US" sz="1900" b="1" dirty="0" smtClean="0">
                <a:latin typeface="Times New Roman" panose="02020603050405020304" pitchFamily="18" charset="0"/>
                <a:cs typeface="Times New Roman" panose="02020603050405020304" pitchFamily="18" charset="0"/>
              </a:rPr>
              <a:t>PROTECTING </a:t>
            </a:r>
            <a:r>
              <a:rPr lang="en-US" sz="1900" b="1" dirty="0">
                <a:latin typeface="Times New Roman" panose="02020603050405020304" pitchFamily="18" charset="0"/>
                <a:cs typeface="Times New Roman" panose="02020603050405020304" pitchFamily="18" charset="0"/>
              </a:rPr>
              <a:t>AGAINST SOFTWARE PIRACY</a:t>
            </a:r>
          </a:p>
          <a:p>
            <a:pPr marL="900113">
              <a:lnSpc>
                <a:spcPct val="150000"/>
              </a:lnSpc>
              <a:buFont typeface="Wingdings" panose="05000000000000000000" pitchFamily="2" charset="2"/>
              <a:buChar char="Ø"/>
            </a:pPr>
            <a:r>
              <a:rPr lang="en-US" sz="1900" b="1" i="1" dirty="0" smtClean="0">
                <a:latin typeface="Times New Roman" panose="02020603050405020304" pitchFamily="18" charset="0"/>
                <a:cs typeface="Times New Roman" panose="02020603050405020304" pitchFamily="18" charset="0"/>
              </a:rPr>
              <a:t>Software </a:t>
            </a:r>
            <a:r>
              <a:rPr lang="en-US" sz="1900" b="1" i="1" dirty="0">
                <a:latin typeface="Times New Roman" panose="02020603050405020304" pitchFamily="18" charset="0"/>
                <a:cs typeface="Times New Roman" panose="02020603050405020304" pitchFamily="18" charset="0"/>
              </a:rPr>
              <a:t>Piracy: </a:t>
            </a:r>
            <a:r>
              <a:rPr lang="en-US" sz="1900" dirty="0">
                <a:latin typeface="Times New Roman" panose="02020603050405020304" pitchFamily="18" charset="0"/>
                <a:cs typeface="Times New Roman" panose="02020603050405020304" pitchFamily="18" charset="0"/>
              </a:rPr>
              <a:t>The making of illegal copies of software</a:t>
            </a:r>
            <a:r>
              <a:rPr lang="en-US" sz="1900" b="1" dirty="0" smtClean="0">
                <a:latin typeface="Times New Roman" panose="02020603050405020304" pitchFamily="18" charset="0"/>
                <a:cs typeface="Times New Roman" panose="02020603050405020304" pitchFamily="18" charset="0"/>
              </a:rPr>
              <a:t>.</a:t>
            </a:r>
          </a:p>
          <a:p>
            <a:pPr marL="900113">
              <a:lnSpc>
                <a:spcPct val="150000"/>
              </a:lnSpc>
              <a:buFont typeface="Wingdings" panose="05000000000000000000" pitchFamily="2" charset="2"/>
              <a:buChar char="Ø"/>
            </a:pPr>
            <a:r>
              <a:rPr lang="en-US" sz="1900" b="1" dirty="0" smtClean="0">
                <a:latin typeface="Times New Roman" panose="02020603050405020304" pitchFamily="18" charset="0"/>
                <a:cs typeface="Times New Roman" panose="02020603050405020304" pitchFamily="18" charset="0"/>
              </a:rPr>
              <a:t>Software </a:t>
            </a:r>
            <a:r>
              <a:rPr lang="en-US" sz="1900" b="1" dirty="0">
                <a:latin typeface="Times New Roman" panose="02020603050405020304" pitchFamily="18" charset="0"/>
                <a:cs typeface="Times New Roman" panose="02020603050405020304" pitchFamily="18" charset="0"/>
              </a:rPr>
              <a:t>Copyright Protection</a:t>
            </a:r>
          </a:p>
          <a:p>
            <a:pPr marL="1350963" defTabSz="1350963">
              <a:lnSpc>
                <a:spcPct val="150000"/>
              </a:lnSpc>
              <a:buFont typeface="Wingdings" panose="05000000000000000000" pitchFamily="2" charset="2"/>
              <a:buChar char="§"/>
            </a:pPr>
            <a:r>
              <a:rPr lang="en-US" sz="1900" b="1" i="1" dirty="0" smtClean="0">
                <a:latin typeface="Times New Roman" panose="02020603050405020304" pitchFamily="18" charset="0"/>
                <a:cs typeface="Times New Roman" panose="02020603050405020304" pitchFamily="18" charset="0"/>
              </a:rPr>
              <a:t>Copyright</a:t>
            </a:r>
            <a:r>
              <a:rPr lang="en-US" sz="1900" i="1" dirty="0">
                <a:latin typeface="Times New Roman" panose="02020603050405020304" pitchFamily="18" charset="0"/>
                <a:cs typeface="Times New Roman" panose="02020603050405020304" pitchFamily="18" charset="0"/>
              </a:rPr>
              <a:t>: </a:t>
            </a:r>
            <a:r>
              <a:rPr lang="en-US" sz="1900" dirty="0">
                <a:latin typeface="Times New Roman" panose="02020603050405020304" pitchFamily="18" charset="0"/>
                <a:cs typeface="Times New Roman" panose="02020603050405020304" pitchFamily="18" charset="0"/>
              </a:rPr>
              <a:t>Legal protection of original works against unauthorized use</a:t>
            </a:r>
            <a:r>
              <a:rPr lang="en-US" sz="1900" dirty="0" smtClean="0">
                <a:latin typeface="Times New Roman" panose="02020603050405020304" pitchFamily="18" charset="0"/>
                <a:cs typeface="Times New Roman" panose="02020603050405020304" pitchFamily="18" charset="0"/>
              </a:rPr>
              <a:t>, including </a:t>
            </a:r>
            <a:r>
              <a:rPr lang="en-US" sz="1900" dirty="0">
                <a:latin typeface="Times New Roman" panose="02020603050405020304" pitchFamily="18" charset="0"/>
                <a:cs typeface="Times New Roman" panose="02020603050405020304" pitchFamily="18" charset="0"/>
              </a:rPr>
              <a:t>duplication.</a:t>
            </a:r>
          </a:p>
          <a:p>
            <a:pPr marL="900113">
              <a:lnSpc>
                <a:spcPct val="150000"/>
              </a:lnSpc>
              <a:buFont typeface="Wingdings" panose="05000000000000000000" pitchFamily="2" charset="2"/>
              <a:buChar char="Ø"/>
            </a:pPr>
            <a:r>
              <a:rPr lang="en-US" sz="1900" b="1" i="1" dirty="0" smtClean="0">
                <a:latin typeface="Times New Roman" panose="02020603050405020304" pitchFamily="18" charset="0"/>
                <a:cs typeface="Times New Roman" panose="02020603050405020304" pitchFamily="18" charset="0"/>
              </a:rPr>
              <a:t>Copy </a:t>
            </a:r>
            <a:r>
              <a:rPr lang="en-US" sz="1900" b="1" i="1" dirty="0">
                <a:latin typeface="Times New Roman" panose="02020603050405020304" pitchFamily="18" charset="0"/>
                <a:cs typeface="Times New Roman" panose="02020603050405020304" pitchFamily="18" charset="0"/>
              </a:rPr>
              <a:t>Protection: </a:t>
            </a:r>
            <a:r>
              <a:rPr lang="en-US" sz="1900" dirty="0">
                <a:latin typeface="Times New Roman" panose="02020603050405020304" pitchFamily="18" charset="0"/>
                <a:cs typeface="Times New Roman" panose="02020603050405020304" pitchFamily="18" charset="0"/>
              </a:rPr>
              <a:t>A software protection scheme that defeats attempts to copy </a:t>
            </a:r>
            <a:r>
              <a:rPr lang="en-US" sz="1900" dirty="0" smtClean="0">
                <a:latin typeface="Times New Roman" panose="02020603050405020304" pitchFamily="18" charset="0"/>
                <a:cs typeface="Times New Roman" panose="02020603050405020304" pitchFamily="18" charset="0"/>
              </a:rPr>
              <a:t>a program </a:t>
            </a:r>
            <a:r>
              <a:rPr lang="en-US" sz="1900" dirty="0">
                <a:latin typeface="Times New Roman" panose="02020603050405020304" pitchFamily="18" charset="0"/>
                <a:cs typeface="Times New Roman" panose="02020603050405020304" pitchFamily="18" charset="0"/>
              </a:rPr>
              <a:t>or makes the copies software unreliable</a:t>
            </a:r>
          </a:p>
          <a:p>
            <a:pPr marL="900113">
              <a:lnSpc>
                <a:spcPct val="150000"/>
              </a:lnSpc>
              <a:buFont typeface="Wingdings" panose="05000000000000000000" pitchFamily="2" charset="2"/>
              <a:buChar char="Ø"/>
            </a:pPr>
            <a:r>
              <a:rPr lang="en-US" sz="1900" b="1" dirty="0" smtClean="0">
                <a:latin typeface="Times New Roman" panose="02020603050405020304" pitchFamily="18" charset="0"/>
                <a:cs typeface="Times New Roman" panose="02020603050405020304" pitchFamily="18" charset="0"/>
              </a:rPr>
              <a:t>Software </a:t>
            </a:r>
            <a:r>
              <a:rPr lang="en-US" sz="1900" b="1" dirty="0">
                <a:latin typeface="Times New Roman" panose="02020603050405020304" pitchFamily="18" charset="0"/>
                <a:cs typeface="Times New Roman" panose="02020603050405020304" pitchFamily="18" charset="0"/>
              </a:rPr>
              <a:t>Site Licensing</a:t>
            </a:r>
          </a:p>
          <a:p>
            <a:pPr marL="1350963">
              <a:lnSpc>
                <a:spcPct val="150000"/>
              </a:lnSpc>
              <a:buFont typeface="Wingdings" panose="05000000000000000000" pitchFamily="2" charset="2"/>
              <a:buChar char="§"/>
            </a:pPr>
            <a:r>
              <a:rPr lang="en-US" sz="1800" b="1" i="1" dirty="0" smtClean="0">
                <a:latin typeface="Times New Roman" panose="02020603050405020304" pitchFamily="18" charset="0"/>
                <a:cs typeface="Times New Roman" panose="02020603050405020304" pitchFamily="18" charset="0"/>
              </a:rPr>
              <a:t>Site </a:t>
            </a:r>
            <a:r>
              <a:rPr lang="en-US" sz="1800" b="1" i="1" dirty="0">
                <a:latin typeface="Times New Roman" panose="02020603050405020304" pitchFamily="18" charset="0"/>
                <a:cs typeface="Times New Roman" panose="02020603050405020304" pitchFamily="18" charset="0"/>
              </a:rPr>
              <a:t>License: </a:t>
            </a:r>
            <a:r>
              <a:rPr lang="en-US" sz="1800" dirty="0">
                <a:latin typeface="Times New Roman" panose="02020603050405020304" pitchFamily="18" charset="0"/>
                <a:cs typeface="Times New Roman" panose="02020603050405020304" pitchFamily="18" charset="0"/>
              </a:rPr>
              <a:t>An agreement under which a software purchaser pays a fee </a:t>
            </a:r>
            <a:r>
              <a:rPr lang="en-US" sz="1800" dirty="0" smtClean="0">
                <a:latin typeface="Times New Roman" panose="02020603050405020304" pitchFamily="18" charset="0"/>
                <a:cs typeface="Times New Roman" panose="02020603050405020304" pitchFamily="18" charset="0"/>
              </a:rPr>
              <a:t>to the </a:t>
            </a:r>
            <a:r>
              <a:rPr lang="en-US" sz="1800" dirty="0">
                <a:latin typeface="Times New Roman" panose="02020603050405020304" pitchFamily="18" charset="0"/>
                <a:cs typeface="Times New Roman" panose="02020603050405020304" pitchFamily="18" charset="0"/>
              </a:rPr>
              <a:t>manufacturer to make a specified number of copies of a </a:t>
            </a:r>
            <a:r>
              <a:rPr lang="en-US" sz="1800" dirty="0" smtClean="0">
                <a:latin typeface="Times New Roman" panose="02020603050405020304" pitchFamily="18" charset="0"/>
                <a:cs typeface="Times New Roman" panose="02020603050405020304" pitchFamily="18" charset="0"/>
              </a:rPr>
              <a:t>particular program</a:t>
            </a:r>
            <a:r>
              <a:rPr lang="en-US" sz="1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84366729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484785"/>
          </a:xfrm>
        </p:spPr>
        <p:txBody>
          <a:bodyPr>
            <a:noAutofit/>
          </a:bodyPr>
          <a:lstStyle/>
          <a:p>
            <a:pPr algn="ctr"/>
            <a:r>
              <a:rPr lang="en-US" sz="4800" b="1" dirty="0"/>
              <a:t>PUBLIC DOMAIN SOFTWARE</a:t>
            </a:r>
          </a:p>
        </p:txBody>
      </p:sp>
      <p:sp>
        <p:nvSpPr>
          <p:cNvPr id="5" name="Rectangle 3"/>
          <p:cNvSpPr txBox="1">
            <a:spLocks noChangeArrowheads="1"/>
          </p:cNvSpPr>
          <p:nvPr/>
        </p:nvSpPr>
        <p:spPr bwMode="auto">
          <a:xfrm>
            <a:off x="467544" y="1440160"/>
            <a:ext cx="8064896" cy="541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2100" b="1" i="1" dirty="0" smtClean="0">
                <a:latin typeface="Times New Roman" panose="02020603050405020304" pitchFamily="18" charset="0"/>
                <a:cs typeface="Times New Roman" panose="02020603050405020304" pitchFamily="18" charset="0"/>
              </a:rPr>
              <a:t>Public </a:t>
            </a:r>
            <a:r>
              <a:rPr lang="en-US" sz="2100" b="1" i="1" dirty="0">
                <a:latin typeface="Times New Roman" panose="02020603050405020304" pitchFamily="18" charset="0"/>
                <a:cs typeface="Times New Roman" panose="02020603050405020304" pitchFamily="18" charset="0"/>
              </a:rPr>
              <a:t>Domain Software: </a:t>
            </a:r>
            <a:r>
              <a:rPr lang="en-US" sz="2100" dirty="0">
                <a:latin typeface="Times New Roman" panose="02020603050405020304" pitchFamily="18" charset="0"/>
                <a:cs typeface="Times New Roman" panose="02020603050405020304" pitchFamily="18" charset="0"/>
              </a:rPr>
              <a:t>Any non copyrighted software that can be used by </a:t>
            </a:r>
            <a:r>
              <a:rPr lang="en-US" sz="2100" dirty="0" smtClean="0">
                <a:latin typeface="Times New Roman" panose="02020603050405020304" pitchFamily="18" charset="0"/>
                <a:cs typeface="Times New Roman" panose="02020603050405020304" pitchFamily="18" charset="0"/>
              </a:rPr>
              <a:t>the general </a:t>
            </a:r>
            <a:r>
              <a:rPr lang="en-US" sz="2100" dirty="0">
                <a:latin typeface="Times New Roman" panose="02020603050405020304" pitchFamily="18" charset="0"/>
                <a:cs typeface="Times New Roman" panose="02020603050405020304" pitchFamily="18" charset="0"/>
              </a:rPr>
              <a:t>public.</a:t>
            </a:r>
          </a:p>
          <a:p>
            <a:pPr>
              <a:lnSpc>
                <a:spcPct val="200000"/>
              </a:lnSpc>
            </a:pPr>
            <a:r>
              <a:rPr lang="en-US" sz="2100" b="1" i="1" dirty="0" smtClean="0">
                <a:latin typeface="Times New Roman" panose="02020603050405020304" pitchFamily="18" charset="0"/>
                <a:cs typeface="Times New Roman" panose="02020603050405020304" pitchFamily="18" charset="0"/>
              </a:rPr>
              <a:t>Shareware</a:t>
            </a:r>
            <a:r>
              <a:rPr lang="en-US" sz="2100" b="1" i="1" dirty="0">
                <a:latin typeface="Times New Roman" panose="02020603050405020304" pitchFamily="18" charset="0"/>
                <a:cs typeface="Times New Roman" panose="02020603050405020304" pitchFamily="18" charset="0"/>
              </a:rPr>
              <a:t>: </a:t>
            </a:r>
            <a:r>
              <a:rPr lang="en-US" sz="2100" dirty="0">
                <a:latin typeface="Times New Roman" panose="02020603050405020304" pitchFamily="18" charset="0"/>
                <a:cs typeface="Times New Roman" panose="02020603050405020304" pitchFamily="18" charset="0"/>
              </a:rPr>
              <a:t>Software that is given away and freely distributed. </a:t>
            </a:r>
            <a:endParaRPr lang="en-US" sz="2100" dirty="0" smtClean="0">
              <a:latin typeface="Times New Roman" panose="02020603050405020304" pitchFamily="18" charset="0"/>
              <a:cs typeface="Times New Roman" panose="02020603050405020304" pitchFamily="18" charset="0"/>
            </a:endParaRPr>
          </a:p>
          <a:p>
            <a:pPr marL="365125" indent="0">
              <a:lnSpc>
                <a:spcPct val="200000"/>
              </a:lnSpc>
              <a:buNone/>
            </a:pPr>
            <a:r>
              <a:rPr lang="en-US" sz="2100" dirty="0" smtClean="0">
                <a:latin typeface="Times New Roman" panose="02020603050405020304" pitchFamily="18" charset="0"/>
                <a:cs typeface="Times New Roman" panose="02020603050405020304" pitchFamily="18" charset="0"/>
              </a:rPr>
              <a:t>The </a:t>
            </a:r>
            <a:r>
              <a:rPr lang="en-US" sz="2100" dirty="0">
                <a:latin typeface="Times New Roman" panose="02020603050405020304" pitchFamily="18" charset="0"/>
                <a:cs typeface="Times New Roman" panose="02020603050405020304" pitchFamily="18" charset="0"/>
              </a:rPr>
              <a:t>developer </a:t>
            </a:r>
            <a:r>
              <a:rPr lang="en-US" sz="2100" dirty="0" smtClean="0">
                <a:latin typeface="Times New Roman" panose="02020603050405020304" pitchFamily="18" charset="0"/>
                <a:cs typeface="Times New Roman" panose="02020603050405020304" pitchFamily="18" charset="0"/>
              </a:rPr>
              <a:t>retains ownership</a:t>
            </a:r>
            <a:r>
              <a:rPr lang="en-US" sz="2100" dirty="0">
                <a:latin typeface="Times New Roman" panose="02020603050405020304" pitchFamily="18" charset="0"/>
                <a:cs typeface="Times New Roman" panose="02020603050405020304" pitchFamily="18" charset="0"/>
              </a:rPr>
              <a:t>, asks users to register with the owner, and requests a nominal fee for </a:t>
            </a:r>
            <a:r>
              <a:rPr lang="en-US" sz="2100" dirty="0" smtClean="0">
                <a:latin typeface="Times New Roman" panose="02020603050405020304" pitchFamily="18" charset="0"/>
                <a:cs typeface="Times New Roman" panose="02020603050405020304" pitchFamily="18" charset="0"/>
              </a:rPr>
              <a:t>using the </a:t>
            </a:r>
            <a:r>
              <a:rPr lang="en-US" sz="2100" dirty="0">
                <a:latin typeface="Times New Roman" panose="02020603050405020304" pitchFamily="18" charset="0"/>
                <a:cs typeface="Times New Roman" panose="02020603050405020304" pitchFamily="18" charset="0"/>
              </a:rPr>
              <a:t>program.</a:t>
            </a:r>
          </a:p>
          <a:p>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4176046"/>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16023"/>
            <a:ext cx="8229600" cy="1484785"/>
          </a:xfrm>
        </p:spPr>
        <p:txBody>
          <a:bodyPr>
            <a:noAutofit/>
          </a:bodyPr>
          <a:lstStyle/>
          <a:p>
            <a:pPr algn="ctr"/>
            <a:r>
              <a:rPr lang="en-US" sz="8000" b="1" dirty="0"/>
              <a:t>ERGONOMICS</a:t>
            </a:r>
          </a:p>
        </p:txBody>
      </p:sp>
      <p:sp>
        <p:nvSpPr>
          <p:cNvPr id="5" name="Rectangle 3"/>
          <p:cNvSpPr txBox="1">
            <a:spLocks noChangeArrowheads="1"/>
          </p:cNvSpPr>
          <p:nvPr/>
        </p:nvSpPr>
        <p:spPr bwMode="auto">
          <a:xfrm>
            <a:off x="467544" y="1440160"/>
            <a:ext cx="8219256" cy="541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100" dirty="0" smtClean="0">
                <a:latin typeface="Times New Roman" panose="02020603050405020304" pitchFamily="18" charset="0"/>
                <a:cs typeface="Times New Roman" panose="02020603050405020304" pitchFamily="18" charset="0"/>
              </a:rPr>
              <a:t>Ergonomics </a:t>
            </a:r>
            <a:r>
              <a:rPr lang="en-US" sz="2100" dirty="0">
                <a:latin typeface="Times New Roman" panose="02020603050405020304" pitchFamily="18" charset="0"/>
                <a:cs typeface="Times New Roman" panose="02020603050405020304" pitchFamily="18" charset="0"/>
              </a:rPr>
              <a:t>is the study of human factors related to things people use, including computers.</a:t>
            </a:r>
          </a:p>
          <a:p>
            <a:pPr marL="900113">
              <a:lnSpc>
                <a:spcPct val="150000"/>
              </a:lnSpc>
              <a:buFont typeface="Wingdings" panose="05000000000000000000" pitchFamily="2" charset="2"/>
              <a:buChar char="Ø"/>
            </a:pPr>
            <a:r>
              <a:rPr lang="en-US" sz="2100" dirty="0" smtClean="0">
                <a:latin typeface="Times New Roman" panose="02020603050405020304" pitchFamily="18" charset="0"/>
                <a:cs typeface="Times New Roman" panose="02020603050405020304" pitchFamily="18" charset="0"/>
              </a:rPr>
              <a:t>Physical </a:t>
            </a:r>
            <a:r>
              <a:rPr lang="en-US" sz="2100" dirty="0">
                <a:latin typeface="Times New Roman" panose="02020603050405020304" pitchFamily="18" charset="0"/>
                <a:cs typeface="Times New Roman" panose="02020603050405020304" pitchFamily="18" charset="0"/>
              </a:rPr>
              <a:t>health problems and their solutions include:</a:t>
            </a:r>
          </a:p>
          <a:p>
            <a:pPr marL="900113">
              <a:lnSpc>
                <a:spcPct val="150000"/>
              </a:lnSpc>
              <a:buFont typeface="Wingdings" panose="05000000000000000000" pitchFamily="2" charset="2"/>
              <a:buChar char="Ø"/>
            </a:pPr>
            <a:r>
              <a:rPr lang="en-US" sz="2100" dirty="0" smtClean="0">
                <a:latin typeface="Times New Roman" panose="02020603050405020304" pitchFamily="18" charset="0"/>
                <a:cs typeface="Times New Roman" panose="02020603050405020304" pitchFamily="18" charset="0"/>
              </a:rPr>
              <a:t>Eyestrain </a:t>
            </a:r>
            <a:r>
              <a:rPr lang="en-US" sz="2100" dirty="0">
                <a:latin typeface="Times New Roman" panose="02020603050405020304" pitchFamily="18" charset="0"/>
                <a:cs typeface="Times New Roman" panose="02020603050405020304" pitchFamily="18" charset="0"/>
              </a:rPr>
              <a:t>and headache – take frequent breaks; avoid glare on the monitor.</a:t>
            </a:r>
          </a:p>
          <a:p>
            <a:pPr marL="900113">
              <a:lnSpc>
                <a:spcPct val="150000"/>
              </a:lnSpc>
              <a:buFont typeface="Wingdings" panose="05000000000000000000" pitchFamily="2" charset="2"/>
              <a:buChar char="Ø"/>
            </a:pPr>
            <a:r>
              <a:rPr lang="en-US" sz="2100" b="1" dirty="0" smtClean="0">
                <a:latin typeface="Times New Roman" panose="02020603050405020304" pitchFamily="18" charset="0"/>
                <a:cs typeface="Times New Roman" panose="02020603050405020304" pitchFamily="18" charset="0"/>
              </a:rPr>
              <a:t>Back </a:t>
            </a:r>
            <a:r>
              <a:rPr lang="en-US" sz="2100" b="1" dirty="0">
                <a:latin typeface="Times New Roman" panose="02020603050405020304" pitchFamily="18" charset="0"/>
                <a:cs typeface="Times New Roman" panose="02020603050405020304" pitchFamily="18" charset="0"/>
              </a:rPr>
              <a:t>and neck pain </a:t>
            </a:r>
            <a:r>
              <a:rPr lang="en-US" sz="2100" dirty="0">
                <a:latin typeface="Times New Roman" panose="02020603050405020304" pitchFamily="18" charset="0"/>
                <a:cs typeface="Times New Roman" panose="02020603050405020304" pitchFamily="18" charset="0"/>
              </a:rPr>
              <a:t>– use adjustable chairs, tables, monitor stands, keyboards, </a:t>
            </a:r>
            <a:r>
              <a:rPr lang="en-US" sz="2100" dirty="0" smtClean="0">
                <a:latin typeface="Times New Roman" panose="02020603050405020304" pitchFamily="18" charset="0"/>
                <a:cs typeface="Times New Roman" panose="02020603050405020304" pitchFamily="18" charset="0"/>
              </a:rPr>
              <a:t>and footrests</a:t>
            </a:r>
            <a:r>
              <a:rPr lang="en-US" sz="2100" dirty="0">
                <a:latin typeface="Times New Roman" panose="02020603050405020304" pitchFamily="18" charset="0"/>
                <a:cs typeface="Times New Roman" panose="02020603050405020304" pitchFamily="18" charset="0"/>
              </a:rPr>
              <a:t>.</a:t>
            </a:r>
          </a:p>
          <a:p>
            <a:pPr marL="900113">
              <a:lnSpc>
                <a:spcPct val="150000"/>
              </a:lnSpc>
              <a:buFont typeface="Wingdings" panose="05000000000000000000" pitchFamily="2" charset="2"/>
              <a:buChar char="Ø"/>
            </a:pPr>
            <a:r>
              <a:rPr lang="en-US" sz="2100" b="1" dirty="0" smtClean="0">
                <a:latin typeface="Times New Roman" panose="02020603050405020304" pitchFamily="18" charset="0"/>
                <a:cs typeface="Times New Roman" panose="02020603050405020304" pitchFamily="18" charset="0"/>
              </a:rPr>
              <a:t>Repetitive </a:t>
            </a:r>
            <a:r>
              <a:rPr lang="en-US" sz="2100" b="1" dirty="0">
                <a:latin typeface="Times New Roman" panose="02020603050405020304" pitchFamily="18" charset="0"/>
                <a:cs typeface="Times New Roman" panose="02020603050405020304" pitchFamily="18" charset="0"/>
              </a:rPr>
              <a:t>Strain Injury (RSI), </a:t>
            </a:r>
            <a:r>
              <a:rPr lang="en-US" sz="2100" dirty="0">
                <a:latin typeface="Times New Roman" panose="02020603050405020304" pitchFamily="18" charset="0"/>
                <a:cs typeface="Times New Roman" panose="02020603050405020304" pitchFamily="18" charset="0"/>
              </a:rPr>
              <a:t>also known as repetitive motion industry, </a:t>
            </a:r>
            <a:r>
              <a:rPr lang="en-US" sz="2100" dirty="0" smtClean="0">
                <a:latin typeface="Times New Roman" panose="02020603050405020304" pitchFamily="18" charset="0"/>
                <a:cs typeface="Times New Roman" panose="02020603050405020304" pitchFamily="18" charset="0"/>
              </a:rPr>
              <a:t>includes carpal </a:t>
            </a:r>
            <a:r>
              <a:rPr lang="en-US" sz="2100" dirty="0">
                <a:latin typeface="Times New Roman" panose="02020603050405020304" pitchFamily="18" charset="0"/>
                <a:cs typeface="Times New Roman" panose="02020603050405020304" pitchFamily="18" charset="0"/>
              </a:rPr>
              <a:t>tunnel syndrome – take frequent breaks, </a:t>
            </a:r>
            <a:r>
              <a:rPr lang="en-US" sz="2000" dirty="0">
                <a:latin typeface="Times New Roman" panose="02020603050405020304" pitchFamily="18" charset="0"/>
                <a:cs typeface="Times New Roman" panose="02020603050405020304" pitchFamily="18" charset="0"/>
              </a:rPr>
              <a:t>use good posture; adopt </a:t>
            </a:r>
            <a:r>
              <a:rPr lang="en-US" sz="2000" dirty="0" smtClean="0">
                <a:latin typeface="Times New Roman" panose="02020603050405020304" pitchFamily="18" charset="0"/>
                <a:cs typeface="Times New Roman" panose="02020603050405020304" pitchFamily="18" charset="0"/>
              </a:rPr>
              <a:t>healthy lifestyle</a:t>
            </a:r>
            <a:r>
              <a:rPr lang="en-US" sz="2000" dirty="0">
                <a:latin typeface="Times New Roman" panose="02020603050405020304" pitchFamily="18" charset="0"/>
                <a:cs typeface="Times New Roman" panose="02020603050405020304" pitchFamily="18" charset="0"/>
              </a:rPr>
              <a:t>; use ergonomic keyboards.</a:t>
            </a:r>
          </a:p>
        </p:txBody>
      </p:sp>
    </p:spTree>
    <p:extLst>
      <p:ext uri="{BB962C8B-B14F-4D97-AF65-F5344CB8AC3E}">
        <p14:creationId xmlns:p14="http://schemas.microsoft.com/office/powerpoint/2010/main" val="1863615080"/>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88640"/>
            <a:ext cx="8229600" cy="1484785"/>
          </a:xfrm>
        </p:spPr>
        <p:txBody>
          <a:bodyPr>
            <a:noAutofit/>
          </a:bodyPr>
          <a:lstStyle/>
          <a:p>
            <a:pPr algn="ctr"/>
            <a:r>
              <a:rPr lang="en-US" sz="5400" b="1" dirty="0"/>
              <a:t>THE ENVIRONMENT</a:t>
            </a:r>
          </a:p>
        </p:txBody>
      </p:sp>
      <p:sp>
        <p:nvSpPr>
          <p:cNvPr id="5" name="Rectangle 3"/>
          <p:cNvSpPr txBox="1">
            <a:spLocks noChangeArrowheads="1"/>
          </p:cNvSpPr>
          <p:nvPr/>
        </p:nvSpPr>
        <p:spPr bwMode="auto">
          <a:xfrm>
            <a:off x="467544" y="1440160"/>
            <a:ext cx="8219256" cy="5157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2100" dirty="0" smtClean="0">
                <a:latin typeface="Times New Roman" panose="02020603050405020304" pitchFamily="18" charset="0"/>
                <a:cs typeface="Times New Roman" panose="02020603050405020304" pitchFamily="18" charset="0"/>
              </a:rPr>
              <a:t>Microcomputers </a:t>
            </a:r>
            <a:r>
              <a:rPr lang="en-US" sz="2100" dirty="0">
                <a:latin typeface="Times New Roman" panose="02020603050405020304" pitchFamily="18" charset="0"/>
                <a:cs typeface="Times New Roman" panose="02020603050405020304" pitchFamily="18" charset="0"/>
              </a:rPr>
              <a:t>are the greatest users of electricity in the work place. </a:t>
            </a:r>
            <a:endParaRPr lang="en-US" sz="2100" dirty="0" smtClean="0">
              <a:latin typeface="Times New Roman" panose="02020603050405020304" pitchFamily="18" charset="0"/>
              <a:cs typeface="Times New Roman" panose="02020603050405020304" pitchFamily="18" charset="0"/>
            </a:endParaRPr>
          </a:p>
          <a:p>
            <a:pPr>
              <a:lnSpc>
                <a:spcPct val="200000"/>
              </a:lnSpc>
            </a:pPr>
            <a:r>
              <a:rPr lang="en-US" sz="2100" dirty="0" smtClean="0">
                <a:latin typeface="Times New Roman" panose="02020603050405020304" pitchFamily="18" charset="0"/>
                <a:cs typeface="Times New Roman" panose="02020603050405020304" pitchFamily="18" charset="0"/>
              </a:rPr>
              <a:t>The </a:t>
            </a:r>
            <a:r>
              <a:rPr lang="en-US" sz="2100" dirty="0">
                <a:latin typeface="Times New Roman" panose="02020603050405020304" pitchFamily="18" charset="0"/>
                <a:cs typeface="Times New Roman" panose="02020603050405020304" pitchFamily="18" charset="0"/>
              </a:rPr>
              <a:t>Energy </a:t>
            </a:r>
            <a:r>
              <a:rPr lang="en-US" sz="2100" dirty="0" smtClean="0">
                <a:latin typeface="Times New Roman" panose="02020603050405020304" pitchFamily="18" charset="0"/>
                <a:cs typeface="Times New Roman" panose="02020603050405020304" pitchFamily="18" charset="0"/>
              </a:rPr>
              <a:t>Protection Agency </a:t>
            </a:r>
            <a:r>
              <a:rPr lang="en-US" sz="2100" dirty="0">
                <a:latin typeface="Times New Roman" panose="02020603050405020304" pitchFamily="18" charset="0"/>
                <a:cs typeface="Times New Roman" panose="02020603050405020304" pitchFamily="18" charset="0"/>
              </a:rPr>
              <a:t>EPA has established the Energy Star Program ESP to promote energy </a:t>
            </a:r>
            <a:r>
              <a:rPr lang="en-US" sz="2100" dirty="0" smtClean="0">
                <a:latin typeface="Times New Roman" panose="02020603050405020304" pitchFamily="18" charset="0"/>
                <a:cs typeface="Times New Roman" panose="02020603050405020304" pitchFamily="18" charset="0"/>
              </a:rPr>
              <a:t>efficient computer </a:t>
            </a:r>
            <a:r>
              <a:rPr lang="en-US" sz="2100" dirty="0">
                <a:latin typeface="Times New Roman" panose="02020603050405020304" pitchFamily="18" charset="0"/>
                <a:cs typeface="Times New Roman" panose="02020603050405020304" pitchFamily="18" charset="0"/>
              </a:rPr>
              <a:t>use to reduce or eliminate hazards. </a:t>
            </a:r>
            <a:endParaRPr lang="en-US" sz="2100" dirty="0" smtClean="0">
              <a:latin typeface="Times New Roman" panose="02020603050405020304" pitchFamily="18" charset="0"/>
              <a:cs typeface="Times New Roman" panose="02020603050405020304" pitchFamily="18" charset="0"/>
            </a:endParaRPr>
          </a:p>
          <a:p>
            <a:pPr>
              <a:lnSpc>
                <a:spcPct val="200000"/>
              </a:lnSpc>
            </a:pPr>
            <a:r>
              <a:rPr lang="en-US" sz="2100" dirty="0" smtClean="0">
                <a:latin typeface="Times New Roman" panose="02020603050405020304" pitchFamily="18" charset="0"/>
                <a:cs typeface="Times New Roman" panose="02020603050405020304" pitchFamily="18" charset="0"/>
              </a:rPr>
              <a:t>The </a:t>
            </a:r>
            <a:r>
              <a:rPr lang="en-US" sz="2100" dirty="0">
                <a:latin typeface="Times New Roman" panose="02020603050405020304" pitchFamily="18" charset="0"/>
                <a:cs typeface="Times New Roman" panose="02020603050405020304" pitchFamily="18" charset="0"/>
              </a:rPr>
              <a:t>computer industry has responded with </a:t>
            </a:r>
            <a:r>
              <a:rPr lang="en-US" sz="2100" dirty="0" smtClean="0">
                <a:latin typeface="Times New Roman" panose="02020603050405020304" pitchFamily="18" charset="0"/>
                <a:cs typeface="Times New Roman" panose="02020603050405020304" pitchFamily="18" charset="0"/>
              </a:rPr>
              <a:t>the concept </a:t>
            </a:r>
            <a:r>
              <a:rPr lang="en-US" sz="2100" dirty="0">
                <a:latin typeface="Times New Roman" panose="02020603050405020304" pitchFamily="18" charset="0"/>
                <a:cs typeface="Times New Roman" panose="02020603050405020304" pitchFamily="18" charset="0"/>
              </a:rPr>
              <a:t>of the </a:t>
            </a:r>
            <a:r>
              <a:rPr lang="en-US" sz="2100" b="1" dirty="0">
                <a:latin typeface="Times New Roman" panose="02020603050405020304" pitchFamily="18" charset="0"/>
                <a:cs typeface="Times New Roman" panose="02020603050405020304" pitchFamily="18" charset="0"/>
              </a:rPr>
              <a:t>GREEN PC</a:t>
            </a:r>
            <a:r>
              <a:rPr lang="en-US" sz="2100" b="1" dirty="0" smtClean="0">
                <a:latin typeface="Times New Roman" panose="02020603050405020304" pitchFamily="18" charset="0"/>
                <a:cs typeface="Times New Roman" panose="02020603050405020304" pitchFamily="18" charset="0"/>
              </a:rPr>
              <a:t>.</a:t>
            </a:r>
            <a:endParaRPr lang="en-US" sz="21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8990485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7"/>
            <a:ext cx="8229600" cy="1440161"/>
          </a:xfrm>
        </p:spPr>
        <p:txBody>
          <a:bodyPr>
            <a:noAutofit/>
          </a:bodyPr>
          <a:lstStyle/>
          <a:p>
            <a:pPr algn="ctr"/>
            <a:r>
              <a:rPr lang="en-US" sz="8800" b="1" dirty="0">
                <a:latin typeface="Times New Roman" panose="02020603050405020304" pitchFamily="18" charset="0"/>
                <a:cs typeface="Times New Roman" panose="02020603050405020304" pitchFamily="18" charset="0"/>
              </a:rPr>
              <a:t>The Green PC</a:t>
            </a:r>
          </a:p>
        </p:txBody>
      </p:sp>
      <p:sp>
        <p:nvSpPr>
          <p:cNvPr id="5" name="Rectangle 3"/>
          <p:cNvSpPr txBox="1">
            <a:spLocks noChangeArrowheads="1"/>
          </p:cNvSpPr>
          <p:nvPr/>
        </p:nvSpPr>
        <p:spPr bwMode="auto">
          <a:xfrm>
            <a:off x="467544" y="1440160"/>
            <a:ext cx="8219256" cy="541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100" dirty="0" smtClean="0">
                <a:latin typeface="Times New Roman" panose="02020603050405020304" pitchFamily="18" charset="0"/>
                <a:cs typeface="Times New Roman" panose="02020603050405020304" pitchFamily="18" charset="0"/>
              </a:rPr>
              <a:t>The </a:t>
            </a:r>
            <a:r>
              <a:rPr lang="en-US" sz="2100" dirty="0">
                <a:latin typeface="Times New Roman" panose="02020603050405020304" pitchFamily="18" charset="0"/>
                <a:cs typeface="Times New Roman" panose="02020603050405020304" pitchFamily="18" charset="0"/>
              </a:rPr>
              <a:t>basic elements of the green PC include:</a:t>
            </a:r>
          </a:p>
          <a:p>
            <a:pPr marL="900113">
              <a:lnSpc>
                <a:spcPct val="150000"/>
              </a:lnSpc>
              <a:buFont typeface="Wingdings" panose="05000000000000000000" pitchFamily="2" charset="2"/>
              <a:buChar char="Ø"/>
            </a:pPr>
            <a:r>
              <a:rPr lang="en-US" sz="2100" dirty="0" smtClean="0">
                <a:latin typeface="Times New Roman" panose="02020603050405020304" pitchFamily="18" charset="0"/>
                <a:cs typeface="Times New Roman" panose="02020603050405020304" pitchFamily="18" charset="0"/>
              </a:rPr>
              <a:t>System </a:t>
            </a:r>
            <a:r>
              <a:rPr lang="en-US" sz="2100" dirty="0">
                <a:latin typeface="Times New Roman" panose="02020603050405020304" pitchFamily="18" charset="0"/>
                <a:cs typeface="Times New Roman" panose="02020603050405020304" pitchFamily="18" charset="0"/>
              </a:rPr>
              <a:t>units with energy-saving processors, sleep-mode capability, efficient adapters</a:t>
            </a:r>
            <a:r>
              <a:rPr lang="en-US" sz="2100" dirty="0" smtClean="0">
                <a:latin typeface="Times New Roman" panose="02020603050405020304" pitchFamily="18" charset="0"/>
                <a:cs typeface="Times New Roman" panose="02020603050405020304" pitchFamily="18" charset="0"/>
              </a:rPr>
              <a:t>, and </a:t>
            </a:r>
            <a:r>
              <a:rPr lang="en-US" sz="2100" dirty="0">
                <a:latin typeface="Times New Roman" panose="02020603050405020304" pitchFamily="18" charset="0"/>
                <a:cs typeface="Times New Roman" panose="02020603050405020304" pitchFamily="18" charset="0"/>
              </a:rPr>
              <a:t>no cooling fans.</a:t>
            </a:r>
          </a:p>
          <a:p>
            <a:pPr marL="900113">
              <a:lnSpc>
                <a:spcPct val="150000"/>
              </a:lnSpc>
              <a:buFont typeface="Wingdings" panose="05000000000000000000" pitchFamily="2" charset="2"/>
              <a:buChar char="Ø"/>
            </a:pPr>
            <a:r>
              <a:rPr lang="en-US" sz="2100" dirty="0" smtClean="0">
                <a:latin typeface="Times New Roman" panose="02020603050405020304" pitchFamily="18" charset="0"/>
                <a:cs typeface="Times New Roman" panose="02020603050405020304" pitchFamily="18" charset="0"/>
              </a:rPr>
              <a:t>Display </a:t>
            </a:r>
            <a:r>
              <a:rPr lang="en-US" sz="2100" dirty="0">
                <a:latin typeface="Times New Roman" panose="02020603050405020304" pitchFamily="18" charset="0"/>
                <a:cs typeface="Times New Roman" panose="02020603050405020304" pitchFamily="18" charset="0"/>
              </a:rPr>
              <a:t>units that replace CRT displays with flat panels, use special </a:t>
            </a:r>
            <a:r>
              <a:rPr lang="en-US" sz="2100" dirty="0" smtClean="0">
                <a:latin typeface="Times New Roman" panose="02020603050405020304" pitchFamily="18" charset="0"/>
                <a:cs typeface="Times New Roman" panose="02020603050405020304" pitchFamily="18" charset="0"/>
              </a:rPr>
              <a:t>power-down monitors</a:t>
            </a:r>
            <a:r>
              <a:rPr lang="en-US" sz="2100" dirty="0">
                <a:latin typeface="Times New Roman" panose="02020603050405020304" pitchFamily="18" charset="0"/>
                <a:cs typeface="Times New Roman" panose="02020603050405020304" pitchFamily="18" charset="0"/>
              </a:rPr>
              <a:t>, and use screen savers software.</a:t>
            </a:r>
          </a:p>
          <a:p>
            <a:pPr marL="900113">
              <a:lnSpc>
                <a:spcPct val="150000"/>
              </a:lnSpc>
              <a:buFont typeface="Wingdings" panose="05000000000000000000" pitchFamily="2" charset="2"/>
              <a:buChar char="Ø"/>
            </a:pPr>
            <a:r>
              <a:rPr lang="en-US" sz="2100" dirty="0" smtClean="0">
                <a:latin typeface="Times New Roman" panose="02020603050405020304" pitchFamily="18" charset="0"/>
                <a:cs typeface="Times New Roman" panose="02020603050405020304" pitchFamily="18" charset="0"/>
              </a:rPr>
              <a:t>Manufacturing </a:t>
            </a:r>
            <a:r>
              <a:rPr lang="en-US" sz="2100" dirty="0">
                <a:latin typeface="Times New Roman" panose="02020603050405020304" pitchFamily="18" charset="0"/>
                <a:cs typeface="Times New Roman" panose="02020603050405020304" pitchFamily="18" charset="0"/>
              </a:rPr>
              <a:t>that eliminates or reduces the use of harmful chemicals such </a:t>
            </a:r>
            <a:r>
              <a:rPr lang="en-US" sz="2100" dirty="0" smtClean="0">
                <a:latin typeface="Times New Roman" panose="02020603050405020304" pitchFamily="18" charset="0"/>
                <a:cs typeface="Times New Roman" panose="02020603050405020304" pitchFamily="18" charset="0"/>
              </a:rPr>
              <a:t>as chlorofluorocarbons </a:t>
            </a:r>
            <a:r>
              <a:rPr lang="en-US" sz="2100" dirty="0">
                <a:latin typeface="Times New Roman" panose="02020603050405020304" pitchFamily="18" charset="0"/>
                <a:cs typeface="Times New Roman" panose="02020603050405020304" pitchFamily="18" charset="0"/>
              </a:rPr>
              <a:t>(CFCs), nickel, and other heavy metals.</a:t>
            </a:r>
          </a:p>
        </p:txBody>
      </p:sp>
    </p:spTree>
    <p:extLst>
      <p:ext uri="{BB962C8B-B14F-4D97-AF65-F5344CB8AC3E}">
        <p14:creationId xmlns:p14="http://schemas.microsoft.com/office/powerpoint/2010/main" val="2368727407"/>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2"/>
            <a:ext cx="8229600" cy="1440161"/>
          </a:xfrm>
        </p:spPr>
        <p:txBody>
          <a:bodyPr>
            <a:noAutofit/>
          </a:bodyPr>
          <a:lstStyle/>
          <a:p>
            <a:pPr algn="ctr"/>
            <a:r>
              <a:rPr lang="en-US" sz="6000" b="1" dirty="0"/>
              <a:t>Personal Responsibility</a:t>
            </a:r>
          </a:p>
        </p:txBody>
      </p:sp>
      <p:sp>
        <p:nvSpPr>
          <p:cNvPr id="5" name="Rectangle 3"/>
          <p:cNvSpPr txBox="1">
            <a:spLocks noChangeArrowheads="1"/>
          </p:cNvSpPr>
          <p:nvPr/>
        </p:nvSpPr>
        <p:spPr bwMode="auto">
          <a:xfrm>
            <a:off x="467544" y="1556792"/>
            <a:ext cx="8219256" cy="4680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100" dirty="0" smtClean="0">
                <a:latin typeface="Times New Roman" panose="02020603050405020304" pitchFamily="18" charset="0"/>
                <a:cs typeface="Times New Roman" panose="02020603050405020304" pitchFamily="18" charset="0"/>
              </a:rPr>
              <a:t>As </a:t>
            </a:r>
            <a:r>
              <a:rPr lang="en-US" sz="2100" dirty="0">
                <a:latin typeface="Times New Roman" panose="02020603050405020304" pitchFamily="18" charset="0"/>
                <a:cs typeface="Times New Roman" panose="02020603050405020304" pitchFamily="18" charset="0"/>
              </a:rPr>
              <a:t>a responsible computer user, you can help protect the environment by:</a:t>
            </a:r>
          </a:p>
          <a:p>
            <a:pPr marL="900113">
              <a:lnSpc>
                <a:spcPct val="150000"/>
              </a:lnSpc>
              <a:buFont typeface="Wingdings" panose="05000000000000000000" pitchFamily="2" charset="2"/>
              <a:buChar char="Ø"/>
            </a:pPr>
            <a:r>
              <a:rPr lang="en-US" sz="2100" dirty="0" smtClean="0">
                <a:latin typeface="Times New Roman" panose="02020603050405020304" pitchFamily="18" charset="0"/>
                <a:cs typeface="Times New Roman" panose="02020603050405020304" pitchFamily="18" charset="0"/>
              </a:rPr>
              <a:t>Conserving </a:t>
            </a:r>
            <a:r>
              <a:rPr lang="en-US" sz="2100" dirty="0">
                <a:latin typeface="Times New Roman" panose="02020603050405020304" pitchFamily="18" charset="0"/>
                <a:cs typeface="Times New Roman" panose="02020603050405020304" pitchFamily="18" charset="0"/>
              </a:rPr>
              <a:t>energy by turning off computer systems at night and using screen-savers.</a:t>
            </a:r>
          </a:p>
          <a:p>
            <a:pPr marL="900113">
              <a:lnSpc>
                <a:spcPct val="150000"/>
              </a:lnSpc>
              <a:buFont typeface="Wingdings" panose="05000000000000000000" pitchFamily="2" charset="2"/>
              <a:buChar char="Ø"/>
            </a:pPr>
            <a:r>
              <a:rPr lang="en-US" sz="2100" dirty="0" smtClean="0">
                <a:latin typeface="Times New Roman" panose="02020603050405020304" pitchFamily="18" charset="0"/>
                <a:cs typeface="Times New Roman" panose="02020603050405020304" pitchFamily="18" charset="0"/>
              </a:rPr>
              <a:t>Educating </a:t>
            </a:r>
            <a:r>
              <a:rPr lang="en-US" sz="2100" dirty="0">
                <a:latin typeface="Times New Roman" panose="02020603050405020304" pitchFamily="18" charset="0"/>
                <a:cs typeface="Times New Roman" panose="02020603050405020304" pitchFamily="18" charset="0"/>
              </a:rPr>
              <a:t>yourself and others about ecological dangers and using ecologically </a:t>
            </a:r>
            <a:r>
              <a:rPr lang="en-US" sz="2100" dirty="0" smtClean="0">
                <a:latin typeface="Times New Roman" panose="02020603050405020304" pitchFamily="18" charset="0"/>
                <a:cs typeface="Times New Roman" panose="02020603050405020304" pitchFamily="18" charset="0"/>
              </a:rPr>
              <a:t>sound products</a:t>
            </a:r>
            <a:r>
              <a:rPr lang="en-US" sz="2100" dirty="0">
                <a:latin typeface="Times New Roman" panose="02020603050405020304" pitchFamily="18" charset="0"/>
                <a:cs typeface="Times New Roman" panose="02020603050405020304" pitchFamily="18" charset="0"/>
              </a:rPr>
              <a:t>.</a:t>
            </a:r>
          </a:p>
          <a:p>
            <a:pPr marL="900113">
              <a:lnSpc>
                <a:spcPct val="150000"/>
              </a:lnSpc>
              <a:buFont typeface="Wingdings" panose="05000000000000000000" pitchFamily="2" charset="2"/>
              <a:buChar char="Ø"/>
            </a:pPr>
            <a:r>
              <a:rPr lang="en-US" sz="2100" dirty="0" smtClean="0">
                <a:latin typeface="Times New Roman" panose="02020603050405020304" pitchFamily="18" charset="0"/>
                <a:cs typeface="Times New Roman" panose="02020603050405020304" pitchFamily="18" charset="0"/>
              </a:rPr>
              <a:t>Recycling </a:t>
            </a:r>
            <a:r>
              <a:rPr lang="en-US" sz="2100" dirty="0">
                <a:latin typeface="Times New Roman" panose="02020603050405020304" pitchFamily="18" charset="0"/>
                <a:cs typeface="Times New Roman" panose="02020603050405020304" pitchFamily="18" charset="0"/>
              </a:rPr>
              <a:t>paper, computer boxes, packaging materials, printer cartridges, and </a:t>
            </a:r>
            <a:r>
              <a:rPr lang="en-US" sz="2100" dirty="0" smtClean="0">
                <a:latin typeface="Times New Roman" panose="02020603050405020304" pitchFamily="18" charset="0"/>
                <a:cs typeface="Times New Roman" panose="02020603050405020304" pitchFamily="18" charset="0"/>
              </a:rPr>
              <a:t>floppy disks</a:t>
            </a:r>
            <a:r>
              <a:rPr lang="en-US" sz="21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826267266"/>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r>
              <a:rPr lang="en-US" sz="8800" b="1" dirty="0"/>
              <a:t>CONCLUSION</a:t>
            </a:r>
          </a:p>
        </p:txBody>
      </p:sp>
      <p:sp>
        <p:nvSpPr>
          <p:cNvPr id="5" name="Rectangle 3"/>
          <p:cNvSpPr txBox="1">
            <a:spLocks noChangeArrowheads="1"/>
          </p:cNvSpPr>
          <p:nvPr/>
        </p:nvSpPr>
        <p:spPr bwMode="auto">
          <a:xfrm>
            <a:off x="467544" y="1440160"/>
            <a:ext cx="8147248" cy="458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gn="just">
              <a:lnSpc>
                <a:spcPct val="150000"/>
              </a:lnSpc>
            </a:pPr>
            <a:r>
              <a:rPr lang="en-US" sz="2500" dirty="0">
                <a:latin typeface="Times New Roman" panose="02020603050405020304" pitchFamily="18" charset="0"/>
                <a:cs typeface="Times New Roman" panose="02020603050405020304" pitchFamily="18" charset="0"/>
              </a:rPr>
              <a:t>To be a competent and knowledgeable ICT end user you need to be aware of the </a:t>
            </a:r>
            <a:r>
              <a:rPr lang="en-US" sz="2500" dirty="0" smtClean="0">
                <a:latin typeface="Times New Roman" panose="02020603050405020304" pitchFamily="18" charset="0"/>
                <a:cs typeface="Times New Roman" panose="02020603050405020304" pitchFamily="18" charset="0"/>
              </a:rPr>
              <a:t>potential impact </a:t>
            </a:r>
            <a:r>
              <a:rPr lang="en-US" sz="2500" dirty="0">
                <a:latin typeface="Times New Roman" panose="02020603050405020304" pitchFamily="18" charset="0"/>
                <a:cs typeface="Times New Roman" panose="02020603050405020304" pitchFamily="18" charset="0"/>
              </a:rPr>
              <a:t>of technology on people and your surrounding. </a:t>
            </a:r>
            <a:endParaRPr lang="en-US" sz="2500" dirty="0" smtClean="0">
              <a:latin typeface="Times New Roman" panose="02020603050405020304" pitchFamily="18" charset="0"/>
              <a:cs typeface="Times New Roman" panose="02020603050405020304" pitchFamily="18" charset="0"/>
            </a:endParaRPr>
          </a:p>
          <a:p>
            <a:pPr algn="just">
              <a:lnSpc>
                <a:spcPct val="150000"/>
              </a:lnSpc>
            </a:pPr>
            <a:r>
              <a:rPr lang="en-US" sz="2500" dirty="0" smtClean="0">
                <a:latin typeface="Times New Roman" panose="02020603050405020304" pitchFamily="18" charset="0"/>
                <a:cs typeface="Times New Roman" panose="02020603050405020304" pitchFamily="18" charset="0"/>
              </a:rPr>
              <a:t>You </a:t>
            </a:r>
            <a:r>
              <a:rPr lang="en-US" sz="2500" dirty="0">
                <a:latin typeface="Times New Roman" panose="02020603050405020304" pitchFamily="18" charset="0"/>
                <a:cs typeface="Times New Roman" panose="02020603050405020304" pitchFamily="18" charset="0"/>
              </a:rPr>
              <a:t>need to be sensitive </a:t>
            </a:r>
            <a:r>
              <a:rPr lang="en-US" sz="2500" dirty="0" smtClean="0">
                <a:latin typeface="Times New Roman" panose="02020603050405020304" pitchFamily="18" charset="0"/>
                <a:cs typeface="Times New Roman" panose="02020603050405020304" pitchFamily="18" charset="0"/>
              </a:rPr>
              <a:t>and knowledgeable </a:t>
            </a:r>
            <a:r>
              <a:rPr lang="en-US" sz="2500" dirty="0">
                <a:latin typeface="Times New Roman" panose="02020603050405020304" pitchFamily="18" charset="0"/>
                <a:cs typeface="Times New Roman" panose="02020603050405020304" pitchFamily="18" charset="0"/>
              </a:rPr>
              <a:t>about personal privacy, organizational security, ergonomics, and </a:t>
            </a:r>
            <a:r>
              <a:rPr lang="en-US" sz="2500" dirty="0" smtClean="0">
                <a:latin typeface="Times New Roman" panose="02020603050405020304" pitchFamily="18" charset="0"/>
                <a:cs typeface="Times New Roman" panose="02020603050405020304" pitchFamily="18" charset="0"/>
              </a:rPr>
              <a:t>the environmental </a:t>
            </a:r>
            <a:r>
              <a:rPr lang="en-US" sz="2500" dirty="0">
                <a:latin typeface="Times New Roman" panose="02020603050405020304" pitchFamily="18" charset="0"/>
                <a:cs typeface="Times New Roman" panose="02020603050405020304" pitchFamily="18" charset="0"/>
              </a:rPr>
              <a:t>impact of technologies.</a:t>
            </a:r>
            <a:endParaRPr lang="en-US" sz="25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5206151"/>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r>
              <a:rPr lang="en-US" sz="9600" b="1" dirty="0"/>
              <a:t>SUMMARY</a:t>
            </a:r>
          </a:p>
        </p:txBody>
      </p:sp>
      <p:sp>
        <p:nvSpPr>
          <p:cNvPr id="5" name="Rectangle 3"/>
          <p:cNvSpPr txBox="1">
            <a:spLocks noChangeArrowheads="1"/>
          </p:cNvSpPr>
          <p:nvPr/>
        </p:nvSpPr>
        <p:spPr bwMode="auto">
          <a:xfrm>
            <a:off x="467544" y="1440160"/>
            <a:ext cx="8147248" cy="5157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300" dirty="0">
                <a:latin typeface="Times New Roman" panose="02020603050405020304" pitchFamily="18" charset="0"/>
                <a:cs typeface="Times New Roman" panose="02020603050405020304" pitchFamily="18" charset="0"/>
              </a:rPr>
              <a:t>In this unit you learnt that:</a:t>
            </a:r>
          </a:p>
          <a:p>
            <a:pPr marL="900113">
              <a:lnSpc>
                <a:spcPct val="150000"/>
              </a:lnSpc>
              <a:buFont typeface="Wingdings" panose="05000000000000000000" pitchFamily="2" charset="2"/>
              <a:buChar char="Ø"/>
            </a:pPr>
            <a:r>
              <a:rPr lang="en-US" sz="2300" dirty="0" smtClean="0">
                <a:latin typeface="Times New Roman" panose="02020603050405020304" pitchFamily="18" charset="0"/>
                <a:cs typeface="Times New Roman" panose="02020603050405020304" pitchFamily="18" charset="0"/>
              </a:rPr>
              <a:t>Security </a:t>
            </a:r>
            <a:r>
              <a:rPr lang="en-US" sz="2300" dirty="0">
                <a:latin typeface="Times New Roman" panose="02020603050405020304" pitchFamily="18" charset="0"/>
                <a:cs typeface="Times New Roman" panose="02020603050405020304" pitchFamily="18" charset="0"/>
              </a:rPr>
              <a:t>involves keeping enterprise hardware, software, data and programs safe.</a:t>
            </a:r>
          </a:p>
          <a:p>
            <a:pPr marL="900113">
              <a:lnSpc>
                <a:spcPct val="150000"/>
              </a:lnSpc>
              <a:buFont typeface="Wingdings" panose="05000000000000000000" pitchFamily="2" charset="2"/>
              <a:buChar char="Ø"/>
            </a:pPr>
            <a:r>
              <a:rPr lang="en-US" sz="2300" dirty="0" smtClean="0">
                <a:latin typeface="Times New Roman" panose="02020603050405020304" pitchFamily="18" charset="0"/>
                <a:cs typeface="Times New Roman" panose="02020603050405020304" pitchFamily="18" charset="0"/>
              </a:rPr>
              <a:t>Reliability </a:t>
            </a:r>
            <a:r>
              <a:rPr lang="en-US" sz="2300" dirty="0">
                <a:latin typeface="Times New Roman" panose="02020603050405020304" pitchFamily="18" charset="0"/>
                <a:cs typeface="Times New Roman" panose="02020603050405020304" pitchFamily="18" charset="0"/>
              </a:rPr>
              <a:t>is the assurance that computers and communications systems will do </a:t>
            </a:r>
            <a:r>
              <a:rPr lang="en-US" sz="2300" dirty="0" smtClean="0">
                <a:latin typeface="Times New Roman" panose="02020603050405020304" pitchFamily="18" charset="0"/>
                <a:cs typeface="Times New Roman" panose="02020603050405020304" pitchFamily="18" charset="0"/>
              </a:rPr>
              <a:t>what they </a:t>
            </a:r>
            <a:r>
              <a:rPr lang="en-US" sz="2300" dirty="0">
                <a:latin typeface="Times New Roman" panose="02020603050405020304" pitchFamily="18" charset="0"/>
                <a:cs typeface="Times New Roman" panose="02020603050405020304" pitchFamily="18" charset="0"/>
              </a:rPr>
              <a:t>should when they should</a:t>
            </a:r>
          </a:p>
          <a:p>
            <a:pPr marL="900113">
              <a:lnSpc>
                <a:spcPct val="150000"/>
              </a:lnSpc>
              <a:buFont typeface="Wingdings" panose="05000000000000000000" pitchFamily="2" charset="2"/>
              <a:buChar char="Ø"/>
            </a:pPr>
            <a:r>
              <a:rPr lang="en-US" sz="2300" i="1" dirty="0" smtClean="0">
                <a:latin typeface="Times New Roman" panose="02020603050405020304" pitchFamily="18" charset="0"/>
                <a:cs typeface="Times New Roman" panose="02020603050405020304" pitchFamily="18" charset="0"/>
              </a:rPr>
              <a:t>Privacy </a:t>
            </a:r>
            <a:r>
              <a:rPr lang="en-US" sz="2300" dirty="0">
                <a:latin typeface="Times New Roman" panose="02020603050405020304" pitchFamily="18" charset="0"/>
                <a:cs typeface="Times New Roman" panose="02020603050405020304" pitchFamily="18" charset="0"/>
              </a:rPr>
              <a:t>refers to how personal information is collected, used, and protected.</a:t>
            </a:r>
          </a:p>
          <a:p>
            <a:pPr marL="900113">
              <a:lnSpc>
                <a:spcPct val="150000"/>
              </a:lnSpc>
              <a:buFont typeface="Wingdings" panose="05000000000000000000" pitchFamily="2" charset="2"/>
              <a:buChar char="Ø"/>
            </a:pPr>
            <a:r>
              <a:rPr lang="en-US" sz="2300" dirty="0" smtClean="0">
                <a:latin typeface="Times New Roman" panose="02020603050405020304" pitchFamily="18" charset="0"/>
                <a:cs typeface="Times New Roman" panose="02020603050405020304" pitchFamily="18" charset="0"/>
              </a:rPr>
              <a:t>Ethics </a:t>
            </a:r>
            <a:r>
              <a:rPr lang="en-US" sz="2300" dirty="0">
                <a:latin typeface="Times New Roman" panose="02020603050405020304" pitchFamily="18" charset="0"/>
                <a:cs typeface="Times New Roman" panose="02020603050405020304" pitchFamily="18" charset="0"/>
              </a:rPr>
              <a:t>are guidelines for moral computer use.</a:t>
            </a:r>
            <a:endParaRPr lang="en-US" sz="23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9654904"/>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43AEFA3-0843-4CFF-AA77-BB416BFA9B54}"/>
              </a:ext>
            </a:extLst>
          </p:cNvPr>
          <p:cNvSpPr txBox="1">
            <a:spLocks noChangeArrowheads="1"/>
          </p:cNvSpPr>
          <p:nvPr/>
        </p:nvSpPr>
        <p:spPr bwMode="auto">
          <a:xfrm>
            <a:off x="374848" y="3284984"/>
            <a:ext cx="8382000" cy="15841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ctr" rtl="0" eaLnBrk="1" fontAlgn="base" hangingPunct="1">
              <a:spcBef>
                <a:spcPct val="0"/>
              </a:spcBef>
              <a:spcAft>
                <a:spcPct val="0"/>
              </a:spcAft>
              <a:defRPr sz="5800">
                <a:solidFill>
                  <a:schemeClr val="tx2"/>
                </a:solidFill>
                <a:latin typeface="+mj-lt"/>
                <a:ea typeface="+mj-ea"/>
                <a:cs typeface="+mj-cs"/>
              </a:defRPr>
            </a:lvl1pPr>
            <a:lvl2pPr algn="l" rtl="0" eaLnBrk="1" fontAlgn="base" hangingPunct="1">
              <a:spcBef>
                <a:spcPct val="0"/>
              </a:spcBef>
              <a:spcAft>
                <a:spcPct val="0"/>
              </a:spcAft>
              <a:defRPr sz="4400">
                <a:solidFill>
                  <a:schemeClr val="tx2"/>
                </a:solidFill>
                <a:latin typeface="Garamond" pitchFamily="18" charset="0"/>
                <a:cs typeface="Arial" charset="0"/>
              </a:defRPr>
            </a:lvl2pPr>
            <a:lvl3pPr algn="l" rtl="0" eaLnBrk="1" fontAlgn="base" hangingPunct="1">
              <a:spcBef>
                <a:spcPct val="0"/>
              </a:spcBef>
              <a:spcAft>
                <a:spcPct val="0"/>
              </a:spcAft>
              <a:defRPr sz="4400">
                <a:solidFill>
                  <a:schemeClr val="tx2"/>
                </a:solidFill>
                <a:latin typeface="Garamond" pitchFamily="18" charset="0"/>
                <a:cs typeface="Arial" charset="0"/>
              </a:defRPr>
            </a:lvl3pPr>
            <a:lvl4pPr algn="l" rtl="0" eaLnBrk="1" fontAlgn="base" hangingPunct="1">
              <a:spcBef>
                <a:spcPct val="0"/>
              </a:spcBef>
              <a:spcAft>
                <a:spcPct val="0"/>
              </a:spcAft>
              <a:defRPr sz="4400">
                <a:solidFill>
                  <a:schemeClr val="tx2"/>
                </a:solidFill>
                <a:latin typeface="Garamond" pitchFamily="18" charset="0"/>
                <a:cs typeface="Arial" charset="0"/>
              </a:defRPr>
            </a:lvl4pPr>
            <a:lvl5pPr algn="l" rtl="0" eaLnBrk="1" fontAlgn="base" hangingPunct="1">
              <a:spcBef>
                <a:spcPct val="0"/>
              </a:spcBef>
              <a:spcAft>
                <a:spcPct val="0"/>
              </a:spcAft>
              <a:defRPr sz="4400">
                <a:solidFill>
                  <a:schemeClr val="tx2"/>
                </a:solidFill>
                <a:latin typeface="Garamond" pitchFamily="18" charset="0"/>
                <a:cs typeface="Arial" charset="0"/>
              </a:defRPr>
            </a:lvl5pPr>
            <a:lvl6pPr marL="457200" algn="l" rtl="0" eaLnBrk="1" fontAlgn="base" hangingPunct="1">
              <a:spcBef>
                <a:spcPct val="0"/>
              </a:spcBef>
              <a:spcAft>
                <a:spcPct val="0"/>
              </a:spcAft>
              <a:defRPr sz="4400">
                <a:solidFill>
                  <a:schemeClr val="tx2"/>
                </a:solidFill>
                <a:latin typeface="Garamond" pitchFamily="18" charset="0"/>
                <a:cs typeface="Arial" charset="0"/>
              </a:defRPr>
            </a:lvl6pPr>
            <a:lvl7pPr marL="914400" algn="l" rtl="0" eaLnBrk="1" fontAlgn="base" hangingPunct="1">
              <a:spcBef>
                <a:spcPct val="0"/>
              </a:spcBef>
              <a:spcAft>
                <a:spcPct val="0"/>
              </a:spcAft>
              <a:defRPr sz="4400">
                <a:solidFill>
                  <a:schemeClr val="tx2"/>
                </a:solidFill>
                <a:latin typeface="Garamond" pitchFamily="18" charset="0"/>
                <a:cs typeface="Arial" charset="0"/>
              </a:defRPr>
            </a:lvl7pPr>
            <a:lvl8pPr marL="1371600" algn="l" rtl="0" eaLnBrk="1" fontAlgn="base" hangingPunct="1">
              <a:spcBef>
                <a:spcPct val="0"/>
              </a:spcBef>
              <a:spcAft>
                <a:spcPct val="0"/>
              </a:spcAft>
              <a:defRPr sz="4400">
                <a:solidFill>
                  <a:schemeClr val="tx2"/>
                </a:solidFill>
                <a:latin typeface="Garamond" pitchFamily="18" charset="0"/>
                <a:cs typeface="Arial" charset="0"/>
              </a:defRPr>
            </a:lvl8pPr>
            <a:lvl9pPr marL="1828800" algn="l" rtl="0" eaLnBrk="1" fontAlgn="base" hangingPunct="1">
              <a:spcBef>
                <a:spcPct val="0"/>
              </a:spcBef>
              <a:spcAft>
                <a:spcPct val="0"/>
              </a:spcAft>
              <a:defRPr sz="4400">
                <a:solidFill>
                  <a:schemeClr val="tx2"/>
                </a:solidFill>
                <a:latin typeface="Garamond" pitchFamily="18" charset="0"/>
                <a:cs typeface="Arial" charset="0"/>
              </a:defRPr>
            </a:lvl9pPr>
          </a:lstStyle>
          <a:p>
            <a:pPr marL="14288">
              <a:lnSpc>
                <a:spcPct val="150000"/>
              </a:lnSpc>
            </a:pPr>
            <a:r>
              <a:rPr lang="en-US" sz="7200" b="1" dirty="0">
                <a:latin typeface="Comic Sans MS" panose="030F0702030302020204" pitchFamily="66" charset="0"/>
              </a:rPr>
              <a:t>CAREERS IN ICT</a:t>
            </a:r>
            <a:endParaRPr lang="en-US" sz="7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3588524"/>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r>
              <a:rPr lang="en-US" sz="8800" b="1" dirty="0">
                <a:latin typeface="Times New Roman" panose="02020603050405020304" pitchFamily="18" charset="0"/>
                <a:cs typeface="Times New Roman" panose="02020603050405020304" pitchFamily="18" charset="0"/>
              </a:rPr>
              <a:t>CAREERS</a:t>
            </a:r>
          </a:p>
        </p:txBody>
      </p:sp>
      <p:sp>
        <p:nvSpPr>
          <p:cNvPr id="5" name="Rectangle 3"/>
          <p:cNvSpPr txBox="1">
            <a:spLocks noChangeArrowheads="1"/>
          </p:cNvSpPr>
          <p:nvPr/>
        </p:nvSpPr>
        <p:spPr bwMode="auto">
          <a:xfrm>
            <a:off x="467544" y="2060848"/>
            <a:ext cx="4104456" cy="4464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365125" indent="-365125">
              <a:lnSpc>
                <a:spcPct val="150000"/>
              </a:lnSpc>
              <a:buFont typeface="Wingdings" panose="05000000000000000000" pitchFamily="2" charset="2"/>
              <a:buChar char="q"/>
            </a:pPr>
            <a:r>
              <a:rPr lang="en-US" sz="2300" b="1" dirty="0" smtClean="0">
                <a:latin typeface="Times New Roman" panose="02020603050405020304" pitchFamily="18" charset="0"/>
                <a:cs typeface="Times New Roman" panose="02020603050405020304" pitchFamily="18" charset="0"/>
              </a:rPr>
              <a:t>Webmaster</a:t>
            </a:r>
            <a:endParaRPr lang="en-US" sz="2300" b="1" dirty="0">
              <a:latin typeface="Times New Roman" panose="02020603050405020304" pitchFamily="18" charset="0"/>
              <a:cs typeface="Times New Roman" panose="02020603050405020304" pitchFamily="18" charset="0"/>
            </a:endParaRPr>
          </a:p>
          <a:p>
            <a:pPr marL="365125" indent="-365125">
              <a:lnSpc>
                <a:spcPct val="150000"/>
              </a:lnSpc>
              <a:buFont typeface="Wingdings" panose="05000000000000000000" pitchFamily="2" charset="2"/>
              <a:buChar char="q"/>
            </a:pPr>
            <a:r>
              <a:rPr lang="en-US" sz="2300" b="1" dirty="0" smtClean="0">
                <a:latin typeface="Times New Roman" panose="02020603050405020304" pitchFamily="18" charset="0"/>
                <a:cs typeface="Times New Roman" panose="02020603050405020304" pitchFamily="18" charset="0"/>
              </a:rPr>
              <a:t>Computer </a:t>
            </a:r>
            <a:r>
              <a:rPr lang="en-US" sz="2300" b="1" dirty="0">
                <a:latin typeface="Times New Roman" panose="02020603050405020304" pitchFamily="18" charset="0"/>
                <a:cs typeface="Times New Roman" panose="02020603050405020304" pitchFamily="18" charset="0"/>
              </a:rPr>
              <a:t>Trainers</a:t>
            </a:r>
          </a:p>
          <a:p>
            <a:pPr marL="365125" indent="-365125">
              <a:lnSpc>
                <a:spcPct val="150000"/>
              </a:lnSpc>
              <a:buFont typeface="Wingdings" panose="05000000000000000000" pitchFamily="2" charset="2"/>
              <a:buChar char="q"/>
            </a:pPr>
            <a:r>
              <a:rPr lang="en-US" sz="2300" b="1" dirty="0" smtClean="0">
                <a:latin typeface="Times New Roman" panose="02020603050405020304" pitchFamily="18" charset="0"/>
                <a:cs typeface="Times New Roman" panose="02020603050405020304" pitchFamily="18" charset="0"/>
              </a:rPr>
              <a:t>Desktop </a:t>
            </a:r>
            <a:r>
              <a:rPr lang="en-US" sz="2300" b="1" dirty="0">
                <a:latin typeface="Times New Roman" panose="02020603050405020304" pitchFamily="18" charset="0"/>
                <a:cs typeface="Times New Roman" panose="02020603050405020304" pitchFamily="18" charset="0"/>
              </a:rPr>
              <a:t>publisher</a:t>
            </a:r>
          </a:p>
          <a:p>
            <a:pPr marL="365125" indent="-365125">
              <a:lnSpc>
                <a:spcPct val="150000"/>
              </a:lnSpc>
              <a:buFont typeface="Wingdings" panose="05000000000000000000" pitchFamily="2" charset="2"/>
              <a:buChar char="q"/>
            </a:pPr>
            <a:r>
              <a:rPr lang="en-US" sz="2300" b="1" dirty="0" smtClean="0">
                <a:latin typeface="Times New Roman" panose="02020603050405020304" pitchFamily="18" charset="0"/>
                <a:cs typeface="Times New Roman" panose="02020603050405020304" pitchFamily="18" charset="0"/>
              </a:rPr>
              <a:t>Computer </a:t>
            </a:r>
            <a:r>
              <a:rPr lang="en-US" sz="2300" b="1" dirty="0">
                <a:latin typeface="Times New Roman" panose="02020603050405020304" pitchFamily="18" charset="0"/>
                <a:cs typeface="Times New Roman" panose="02020603050405020304" pitchFamily="18" charset="0"/>
              </a:rPr>
              <a:t>support </a:t>
            </a:r>
            <a:r>
              <a:rPr lang="en-US" sz="2300" b="1" dirty="0" smtClean="0">
                <a:latin typeface="Times New Roman" panose="02020603050405020304" pitchFamily="18" charset="0"/>
                <a:cs typeface="Times New Roman" panose="02020603050405020304" pitchFamily="18" charset="0"/>
              </a:rPr>
              <a:t>specialist</a:t>
            </a:r>
          </a:p>
          <a:p>
            <a:pPr marL="365125" indent="-365125">
              <a:lnSpc>
                <a:spcPct val="150000"/>
              </a:lnSpc>
              <a:buFont typeface="Wingdings" panose="05000000000000000000" pitchFamily="2" charset="2"/>
              <a:buChar char="q"/>
            </a:pPr>
            <a:r>
              <a:rPr lang="en-US" sz="2300" b="1" dirty="0" smtClean="0">
                <a:latin typeface="Times New Roman" panose="02020603050405020304" pitchFamily="18" charset="0"/>
                <a:cs typeface="Times New Roman" panose="02020603050405020304" pitchFamily="18" charset="0"/>
              </a:rPr>
              <a:t>Computer technician</a:t>
            </a:r>
          </a:p>
          <a:p>
            <a:pPr marL="365125" indent="-365125">
              <a:lnSpc>
                <a:spcPct val="150000"/>
              </a:lnSpc>
              <a:buFont typeface="Wingdings" panose="05000000000000000000" pitchFamily="2" charset="2"/>
              <a:buChar char="q"/>
            </a:pPr>
            <a:r>
              <a:rPr lang="en-US" sz="2300" b="1" dirty="0" smtClean="0">
                <a:latin typeface="Times New Roman" panose="02020603050405020304" pitchFamily="18" charset="0"/>
                <a:cs typeface="Times New Roman" panose="02020603050405020304" pitchFamily="18" charset="0"/>
              </a:rPr>
              <a:t>Data entry</a:t>
            </a:r>
          </a:p>
          <a:p>
            <a:pPr marL="365125" indent="-365125">
              <a:lnSpc>
                <a:spcPct val="150000"/>
              </a:lnSpc>
              <a:buFont typeface="Wingdings" panose="05000000000000000000" pitchFamily="2" charset="2"/>
              <a:buChar char="q"/>
            </a:pPr>
            <a:r>
              <a:rPr lang="en-US" sz="2300" b="1" dirty="0" smtClean="0">
                <a:latin typeface="Times New Roman" panose="02020603050405020304" pitchFamily="18" charset="0"/>
                <a:cs typeface="Times New Roman" panose="02020603050405020304" pitchFamily="18" charset="0"/>
              </a:rPr>
              <a:t>Technical writers</a:t>
            </a:r>
          </a:p>
        </p:txBody>
      </p:sp>
      <p:sp>
        <p:nvSpPr>
          <p:cNvPr id="6" name="Rectangle 3"/>
          <p:cNvSpPr txBox="1">
            <a:spLocks noChangeArrowheads="1"/>
          </p:cNvSpPr>
          <p:nvPr/>
        </p:nvSpPr>
        <p:spPr bwMode="auto">
          <a:xfrm>
            <a:off x="4139952" y="2060847"/>
            <a:ext cx="4824536" cy="4464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900113" indent="-365125">
              <a:lnSpc>
                <a:spcPct val="150000"/>
              </a:lnSpc>
              <a:buFont typeface="Wingdings" panose="05000000000000000000" pitchFamily="2" charset="2"/>
              <a:buChar char="q"/>
            </a:pPr>
            <a:r>
              <a:rPr lang="en-US" sz="2300" b="1" dirty="0" smtClean="0">
                <a:latin typeface="Times New Roman" panose="02020603050405020304" pitchFamily="18" charset="0"/>
                <a:cs typeface="Times New Roman" panose="02020603050405020304" pitchFamily="18" charset="0"/>
              </a:rPr>
              <a:t>Software engineers</a:t>
            </a:r>
          </a:p>
          <a:p>
            <a:pPr marL="900113" indent="-365125">
              <a:lnSpc>
                <a:spcPct val="150000"/>
              </a:lnSpc>
              <a:buFont typeface="Wingdings" panose="05000000000000000000" pitchFamily="2" charset="2"/>
              <a:buChar char="q"/>
            </a:pPr>
            <a:r>
              <a:rPr lang="en-US" sz="2300" b="1" dirty="0" smtClean="0">
                <a:latin typeface="Times New Roman" panose="02020603050405020304" pitchFamily="18" charset="0"/>
                <a:cs typeface="Times New Roman" panose="02020603050405020304" pitchFamily="18" charset="0"/>
              </a:rPr>
              <a:t>Network administrator</a:t>
            </a:r>
          </a:p>
          <a:p>
            <a:pPr marL="900113" indent="-365125">
              <a:lnSpc>
                <a:spcPct val="150000"/>
              </a:lnSpc>
              <a:buFont typeface="Wingdings" panose="05000000000000000000" pitchFamily="2" charset="2"/>
              <a:buChar char="q"/>
            </a:pPr>
            <a:r>
              <a:rPr lang="en-US" sz="2300" b="1" dirty="0" smtClean="0">
                <a:latin typeface="Times New Roman" panose="02020603050405020304" pitchFamily="18" charset="0"/>
                <a:cs typeface="Times New Roman" panose="02020603050405020304" pitchFamily="18" charset="0"/>
              </a:rPr>
              <a:t>Cryptographer</a:t>
            </a:r>
          </a:p>
          <a:p>
            <a:pPr marL="900113" indent="-365125">
              <a:lnSpc>
                <a:spcPct val="150000"/>
              </a:lnSpc>
              <a:buFont typeface="Wingdings" panose="05000000000000000000" pitchFamily="2" charset="2"/>
              <a:buChar char="q"/>
            </a:pPr>
            <a:r>
              <a:rPr lang="en-US" sz="2300" b="1" dirty="0" smtClean="0">
                <a:latin typeface="Times New Roman" panose="02020603050405020304" pitchFamily="18" charset="0"/>
                <a:cs typeface="Times New Roman" panose="02020603050405020304" pitchFamily="18" charset="0"/>
              </a:rPr>
              <a:t>Information </a:t>
            </a:r>
            <a:r>
              <a:rPr lang="en-US" sz="2300" b="1" dirty="0">
                <a:latin typeface="Times New Roman" panose="02020603050405020304" pitchFamily="18" charset="0"/>
                <a:cs typeface="Times New Roman" panose="02020603050405020304" pitchFamily="18" charset="0"/>
              </a:rPr>
              <a:t>system </a:t>
            </a:r>
            <a:r>
              <a:rPr lang="en-US" sz="2300" b="1" dirty="0" smtClean="0">
                <a:latin typeface="Times New Roman" panose="02020603050405020304" pitchFamily="18" charset="0"/>
                <a:cs typeface="Times New Roman" panose="02020603050405020304" pitchFamily="18" charset="0"/>
              </a:rPr>
              <a:t>manager</a:t>
            </a:r>
          </a:p>
          <a:p>
            <a:pPr marL="900113" indent="-365125">
              <a:lnSpc>
                <a:spcPct val="150000"/>
              </a:lnSpc>
              <a:buFont typeface="Wingdings" panose="05000000000000000000" pitchFamily="2" charset="2"/>
              <a:buChar char="q"/>
            </a:pPr>
            <a:r>
              <a:rPr lang="en-US" sz="2300" b="1" dirty="0" smtClean="0">
                <a:latin typeface="Times New Roman" panose="02020603050405020304" pitchFamily="18" charset="0"/>
                <a:cs typeface="Times New Roman" panose="02020603050405020304" pitchFamily="18" charset="0"/>
              </a:rPr>
              <a:t>Database administrators</a:t>
            </a:r>
          </a:p>
          <a:p>
            <a:pPr marL="900113" indent="-365125">
              <a:lnSpc>
                <a:spcPct val="150000"/>
              </a:lnSpc>
              <a:buFont typeface="Wingdings" panose="05000000000000000000" pitchFamily="2" charset="2"/>
              <a:buChar char="q"/>
            </a:pPr>
            <a:r>
              <a:rPr lang="en-US" sz="2300" b="1" dirty="0" smtClean="0">
                <a:latin typeface="Times New Roman" panose="02020603050405020304" pitchFamily="18" charset="0"/>
                <a:cs typeface="Times New Roman" panose="02020603050405020304" pitchFamily="18" charset="0"/>
              </a:rPr>
              <a:t>Systems analyst</a:t>
            </a:r>
          </a:p>
          <a:p>
            <a:pPr marL="900113" indent="-365125">
              <a:lnSpc>
                <a:spcPct val="150000"/>
              </a:lnSpc>
              <a:buFont typeface="Wingdings" panose="05000000000000000000" pitchFamily="2" charset="2"/>
              <a:buChar char="q"/>
            </a:pPr>
            <a:r>
              <a:rPr lang="en-US" sz="2300" b="1" dirty="0" smtClean="0">
                <a:latin typeface="Times New Roman" panose="02020603050405020304" pitchFamily="18" charset="0"/>
                <a:cs typeface="Times New Roman" panose="02020603050405020304" pitchFamily="18" charset="0"/>
              </a:rPr>
              <a:t>Computer </a:t>
            </a:r>
            <a:r>
              <a:rPr lang="en-US" sz="2300" b="1" dirty="0">
                <a:latin typeface="Times New Roman" panose="02020603050405020304" pitchFamily="18" charset="0"/>
                <a:cs typeface="Times New Roman" panose="02020603050405020304" pitchFamily="18" charset="0"/>
              </a:rPr>
              <a:t>programmers</a:t>
            </a:r>
          </a:p>
        </p:txBody>
      </p:sp>
      <p:sp>
        <p:nvSpPr>
          <p:cNvPr id="7" name="Rectangle 3"/>
          <p:cNvSpPr txBox="1">
            <a:spLocks noChangeArrowheads="1"/>
          </p:cNvSpPr>
          <p:nvPr/>
        </p:nvSpPr>
        <p:spPr bwMode="auto">
          <a:xfrm>
            <a:off x="619944" y="1484784"/>
            <a:ext cx="7840488" cy="720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0" indent="0">
              <a:buNone/>
            </a:pPr>
            <a:r>
              <a:rPr lang="en-US" sz="3200" dirty="0" smtClean="0">
                <a:latin typeface="Times New Roman" panose="02020603050405020304" pitchFamily="18" charset="0"/>
                <a:cs typeface="Times New Roman" panose="02020603050405020304" pitchFamily="18" charset="0"/>
              </a:rPr>
              <a:t>A </a:t>
            </a:r>
            <a:r>
              <a:rPr lang="en-US" sz="3200" dirty="0">
                <a:latin typeface="Times New Roman" panose="02020603050405020304" pitchFamily="18" charset="0"/>
                <a:cs typeface="Times New Roman" panose="02020603050405020304" pitchFamily="18" charset="0"/>
              </a:rPr>
              <a:t>few important career development paths are</a:t>
            </a:r>
            <a:r>
              <a:rPr lang="en-US" sz="3200" dirty="0" smtClean="0">
                <a:latin typeface="Times New Roman" panose="02020603050405020304" pitchFamily="18" charset="0"/>
                <a:cs typeface="Times New Roman" panose="02020603050405020304" pitchFamily="18" charset="0"/>
              </a:rPr>
              <a:t>:</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608058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r>
              <a:rPr lang="en-US" sz="8800" b="1" dirty="0">
                <a:latin typeface="Times New Roman" panose="02020603050405020304" pitchFamily="18" charset="0"/>
                <a:cs typeface="Times New Roman" panose="02020603050405020304" pitchFamily="18" charset="0"/>
              </a:rPr>
              <a:t>Webmaster</a:t>
            </a:r>
          </a:p>
        </p:txBody>
      </p:sp>
      <p:sp>
        <p:nvSpPr>
          <p:cNvPr id="5" name="Rectangle 3"/>
          <p:cNvSpPr txBox="1">
            <a:spLocks noChangeArrowheads="1"/>
          </p:cNvSpPr>
          <p:nvPr/>
        </p:nvSpPr>
        <p:spPr bwMode="auto">
          <a:xfrm>
            <a:off x="467544" y="1440160"/>
            <a:ext cx="8147248" cy="52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100" dirty="0" smtClean="0">
                <a:latin typeface="Times New Roman" panose="02020603050405020304" pitchFamily="18" charset="0"/>
                <a:cs typeface="Times New Roman" panose="02020603050405020304" pitchFamily="18" charset="0"/>
              </a:rPr>
              <a:t>Webmasters </a:t>
            </a:r>
            <a:r>
              <a:rPr lang="en-US" sz="2100" dirty="0">
                <a:latin typeface="Times New Roman" panose="02020603050405020304" pitchFamily="18" charset="0"/>
                <a:cs typeface="Times New Roman" panose="02020603050405020304" pitchFamily="18" charset="0"/>
              </a:rPr>
              <a:t>develop and maintain Web sites and web resources. </a:t>
            </a:r>
            <a:endParaRPr lang="en-US" sz="2100" dirty="0" smtClean="0">
              <a:latin typeface="Times New Roman" panose="02020603050405020304" pitchFamily="18" charset="0"/>
              <a:cs typeface="Times New Roman" panose="02020603050405020304" pitchFamily="18" charset="0"/>
            </a:endParaRPr>
          </a:p>
          <a:p>
            <a:pPr>
              <a:lnSpc>
                <a:spcPct val="150000"/>
              </a:lnSpc>
            </a:pPr>
            <a:r>
              <a:rPr lang="en-US" sz="2100" dirty="0" smtClean="0">
                <a:latin typeface="Times New Roman" panose="02020603050405020304" pitchFamily="18" charset="0"/>
                <a:cs typeface="Times New Roman" panose="02020603050405020304" pitchFamily="18" charset="0"/>
              </a:rPr>
              <a:t>The </a:t>
            </a:r>
            <a:r>
              <a:rPr lang="en-US" sz="2100" dirty="0">
                <a:latin typeface="Times New Roman" panose="02020603050405020304" pitchFamily="18" charset="0"/>
                <a:cs typeface="Times New Roman" panose="02020603050405020304" pitchFamily="18" charset="0"/>
              </a:rPr>
              <a:t>job may include </a:t>
            </a:r>
            <a:r>
              <a:rPr lang="en-US" sz="2100" dirty="0" smtClean="0">
                <a:latin typeface="Times New Roman" panose="02020603050405020304" pitchFamily="18" charset="0"/>
                <a:cs typeface="Times New Roman" panose="02020603050405020304" pitchFamily="18" charset="0"/>
              </a:rPr>
              <a:t>backup of </a:t>
            </a:r>
            <a:r>
              <a:rPr lang="en-US" sz="2100" dirty="0">
                <a:latin typeface="Times New Roman" panose="02020603050405020304" pitchFamily="18" charset="0"/>
                <a:cs typeface="Times New Roman" panose="02020603050405020304" pitchFamily="18" charset="0"/>
              </a:rPr>
              <a:t>the company Web site, updating resources, or developing of new resources. </a:t>
            </a:r>
            <a:endParaRPr lang="en-US" sz="2100" dirty="0" smtClean="0">
              <a:latin typeface="Times New Roman" panose="02020603050405020304" pitchFamily="18" charset="0"/>
              <a:cs typeface="Times New Roman" panose="02020603050405020304" pitchFamily="18" charset="0"/>
            </a:endParaRPr>
          </a:p>
          <a:p>
            <a:pPr>
              <a:lnSpc>
                <a:spcPct val="150000"/>
              </a:lnSpc>
            </a:pPr>
            <a:r>
              <a:rPr lang="en-US" sz="2100" dirty="0" smtClean="0">
                <a:latin typeface="Times New Roman" panose="02020603050405020304" pitchFamily="18" charset="0"/>
                <a:cs typeface="Times New Roman" panose="02020603050405020304" pitchFamily="18" charset="0"/>
              </a:rPr>
              <a:t>Webmasters are </a:t>
            </a:r>
            <a:r>
              <a:rPr lang="en-US" sz="2100" dirty="0">
                <a:latin typeface="Times New Roman" panose="02020603050405020304" pitchFamily="18" charset="0"/>
                <a:cs typeface="Times New Roman" panose="02020603050405020304" pitchFamily="18" charset="0"/>
              </a:rPr>
              <a:t>involved in the design and development of website. Part of their job may also </a:t>
            </a:r>
            <a:r>
              <a:rPr lang="en-US" sz="2100" dirty="0" smtClean="0">
                <a:latin typeface="Times New Roman" panose="02020603050405020304" pitchFamily="18" charset="0"/>
                <a:cs typeface="Times New Roman" panose="02020603050405020304" pitchFamily="18" charset="0"/>
              </a:rPr>
              <a:t>include monitoring </a:t>
            </a:r>
            <a:r>
              <a:rPr lang="en-US" sz="2100" dirty="0">
                <a:latin typeface="Times New Roman" panose="02020603050405020304" pitchFamily="18" charset="0"/>
                <a:cs typeface="Times New Roman" panose="02020603050405020304" pitchFamily="18" charset="0"/>
              </a:rPr>
              <a:t>and updating the interface design. </a:t>
            </a:r>
            <a:endParaRPr lang="en-US" sz="2100" dirty="0" smtClean="0">
              <a:latin typeface="Times New Roman" panose="02020603050405020304" pitchFamily="18" charset="0"/>
              <a:cs typeface="Times New Roman" panose="02020603050405020304" pitchFamily="18" charset="0"/>
            </a:endParaRPr>
          </a:p>
          <a:p>
            <a:pPr>
              <a:lnSpc>
                <a:spcPct val="150000"/>
              </a:lnSpc>
            </a:pPr>
            <a:r>
              <a:rPr lang="en-US" sz="2100" dirty="0" smtClean="0">
                <a:latin typeface="Times New Roman" panose="02020603050405020304" pitchFamily="18" charset="0"/>
                <a:cs typeface="Times New Roman" panose="02020603050405020304" pitchFamily="18" charset="0"/>
              </a:rPr>
              <a:t>Some </a:t>
            </a:r>
            <a:r>
              <a:rPr lang="en-US" sz="2100" dirty="0">
                <a:latin typeface="Times New Roman" panose="02020603050405020304" pitchFamily="18" charset="0"/>
                <a:cs typeface="Times New Roman" panose="02020603050405020304" pitchFamily="18" charset="0"/>
              </a:rPr>
              <a:t>webmasters monitor traffic on site.</a:t>
            </a:r>
          </a:p>
          <a:p>
            <a:pPr>
              <a:lnSpc>
                <a:spcPct val="150000"/>
              </a:lnSpc>
            </a:pPr>
            <a:r>
              <a:rPr lang="en-US" sz="2100" dirty="0">
                <a:latin typeface="Times New Roman" panose="02020603050405020304" pitchFamily="18" charset="0"/>
                <a:cs typeface="Times New Roman" panose="02020603050405020304" pitchFamily="18" charset="0"/>
              </a:rPr>
              <a:t>Webmasters may also work with marketing personnel to increase the site traffic and may </a:t>
            </a:r>
            <a:r>
              <a:rPr lang="en-US" sz="2100" dirty="0" smtClean="0">
                <a:latin typeface="Times New Roman" panose="02020603050405020304" pitchFamily="18" charset="0"/>
                <a:cs typeface="Times New Roman" panose="02020603050405020304" pitchFamily="18" charset="0"/>
              </a:rPr>
              <a:t>be involved </a:t>
            </a:r>
            <a:r>
              <a:rPr lang="en-US" sz="2100" dirty="0">
                <a:latin typeface="Times New Roman" panose="02020603050405020304" pitchFamily="18" charset="0"/>
                <a:cs typeface="Times New Roman" panose="02020603050405020304" pitchFamily="18" charset="0"/>
              </a:rPr>
              <a:t>in development of Web promotions.</a:t>
            </a:r>
          </a:p>
          <a:p>
            <a:pPr>
              <a:lnSpc>
                <a:spcPct val="150000"/>
              </a:lnSpc>
            </a:pPr>
            <a:endParaRPr lang="en-US" sz="21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0070558"/>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r>
              <a:rPr lang="en-US" sz="7200" b="1" dirty="0">
                <a:latin typeface="Times New Roman" panose="02020603050405020304" pitchFamily="18" charset="0"/>
                <a:cs typeface="Times New Roman" panose="02020603050405020304" pitchFamily="18" charset="0"/>
              </a:rPr>
              <a:t>Computer Trainers</a:t>
            </a:r>
          </a:p>
        </p:txBody>
      </p:sp>
      <p:sp>
        <p:nvSpPr>
          <p:cNvPr id="5" name="Rectangle 3"/>
          <p:cNvSpPr txBox="1">
            <a:spLocks noChangeArrowheads="1"/>
          </p:cNvSpPr>
          <p:nvPr/>
        </p:nvSpPr>
        <p:spPr bwMode="auto">
          <a:xfrm>
            <a:off x="467544" y="1440160"/>
            <a:ext cx="8147248" cy="458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100" dirty="0" smtClean="0">
                <a:latin typeface="Times New Roman" panose="02020603050405020304" pitchFamily="18" charset="0"/>
                <a:cs typeface="Times New Roman" panose="02020603050405020304" pitchFamily="18" charset="0"/>
              </a:rPr>
              <a:t>Computer </a:t>
            </a:r>
            <a:r>
              <a:rPr lang="en-US" sz="2100" dirty="0">
                <a:latin typeface="Times New Roman" panose="02020603050405020304" pitchFamily="18" charset="0"/>
                <a:cs typeface="Times New Roman" panose="02020603050405020304" pitchFamily="18" charset="0"/>
              </a:rPr>
              <a:t>trainers instruct new user on the latest software or hardware. They are </a:t>
            </a:r>
            <a:r>
              <a:rPr lang="en-US" sz="2100" dirty="0" smtClean="0">
                <a:latin typeface="Times New Roman" panose="02020603050405020304" pitchFamily="18" charset="0"/>
                <a:cs typeface="Times New Roman" panose="02020603050405020304" pitchFamily="18" charset="0"/>
              </a:rPr>
              <a:t>usually expected </a:t>
            </a:r>
            <a:r>
              <a:rPr lang="en-US" sz="2100" dirty="0">
                <a:latin typeface="Times New Roman" panose="02020603050405020304" pitchFamily="18" charset="0"/>
                <a:cs typeface="Times New Roman" panose="02020603050405020304" pitchFamily="18" charset="0"/>
              </a:rPr>
              <a:t>to prepare new materials for instruction and may be asked to write and </a:t>
            </a:r>
            <a:r>
              <a:rPr lang="en-US" sz="2100" dirty="0" smtClean="0">
                <a:latin typeface="Times New Roman" panose="02020603050405020304" pitchFamily="18" charset="0"/>
                <a:cs typeface="Times New Roman" panose="02020603050405020304" pitchFamily="18" charset="0"/>
              </a:rPr>
              <a:t>maintain course </a:t>
            </a:r>
            <a:r>
              <a:rPr lang="en-US" sz="2100" dirty="0">
                <a:latin typeface="Times New Roman" panose="02020603050405020304" pitchFamily="18" charset="0"/>
                <a:cs typeface="Times New Roman" panose="02020603050405020304" pitchFamily="18" charset="0"/>
              </a:rPr>
              <a:t>manual. </a:t>
            </a:r>
            <a:endParaRPr lang="en-US" sz="2100" dirty="0" smtClean="0">
              <a:latin typeface="Times New Roman" panose="02020603050405020304" pitchFamily="18" charset="0"/>
              <a:cs typeface="Times New Roman" panose="02020603050405020304" pitchFamily="18" charset="0"/>
            </a:endParaRPr>
          </a:p>
          <a:p>
            <a:pPr>
              <a:lnSpc>
                <a:spcPct val="150000"/>
              </a:lnSpc>
            </a:pPr>
            <a:r>
              <a:rPr lang="en-US" sz="2100" dirty="0" smtClean="0">
                <a:latin typeface="Times New Roman" panose="02020603050405020304" pitchFamily="18" charset="0"/>
                <a:cs typeface="Times New Roman" panose="02020603050405020304" pitchFamily="18" charset="0"/>
              </a:rPr>
              <a:t>A </a:t>
            </a:r>
            <a:r>
              <a:rPr lang="en-US" sz="2100" dirty="0">
                <a:latin typeface="Times New Roman" panose="02020603050405020304" pitchFamily="18" charset="0"/>
                <a:cs typeface="Times New Roman" panose="02020603050405020304" pitchFamily="18" charset="0"/>
              </a:rPr>
              <a:t>position may also include design and development of a website for </a:t>
            </a:r>
            <a:r>
              <a:rPr lang="en-US" sz="2100" dirty="0" smtClean="0">
                <a:latin typeface="Times New Roman" panose="02020603050405020304" pitchFamily="18" charset="0"/>
                <a:cs typeface="Times New Roman" panose="02020603050405020304" pitchFamily="18" charset="0"/>
              </a:rPr>
              <a:t>the course</a:t>
            </a:r>
            <a:r>
              <a:rPr lang="en-US" sz="2100" dirty="0">
                <a:latin typeface="Times New Roman" panose="02020603050405020304" pitchFamily="18" charset="0"/>
                <a:cs typeface="Times New Roman" panose="02020603050405020304" pitchFamily="18" charset="0"/>
              </a:rPr>
              <a:t>. </a:t>
            </a:r>
            <a:endParaRPr lang="en-US" sz="2100" dirty="0" smtClean="0">
              <a:latin typeface="Times New Roman" panose="02020603050405020304" pitchFamily="18" charset="0"/>
              <a:cs typeface="Times New Roman" panose="02020603050405020304" pitchFamily="18" charset="0"/>
            </a:endParaRPr>
          </a:p>
          <a:p>
            <a:pPr>
              <a:lnSpc>
                <a:spcPct val="150000"/>
              </a:lnSpc>
            </a:pPr>
            <a:r>
              <a:rPr lang="en-US" sz="2100" dirty="0" smtClean="0">
                <a:latin typeface="Times New Roman" panose="02020603050405020304" pitchFamily="18" charset="0"/>
                <a:cs typeface="Times New Roman" panose="02020603050405020304" pitchFamily="18" charset="0"/>
              </a:rPr>
              <a:t>Computer </a:t>
            </a:r>
            <a:r>
              <a:rPr lang="en-US" sz="2100" dirty="0">
                <a:latin typeface="Times New Roman" panose="02020603050405020304" pitchFamily="18" charset="0"/>
                <a:cs typeface="Times New Roman" panose="02020603050405020304" pitchFamily="18" charset="0"/>
              </a:rPr>
              <a:t>trainers typically teach new users how to use the latest software </a:t>
            </a:r>
            <a:r>
              <a:rPr lang="en-US" sz="2100" dirty="0" smtClean="0">
                <a:latin typeface="Times New Roman" panose="02020603050405020304" pitchFamily="18" charset="0"/>
                <a:cs typeface="Times New Roman" panose="02020603050405020304" pitchFamily="18" charset="0"/>
              </a:rPr>
              <a:t>and hardware</a:t>
            </a:r>
            <a:r>
              <a:rPr lang="en-US" sz="2100" dirty="0">
                <a:latin typeface="Times New Roman" panose="02020603050405020304" pitchFamily="18" charset="0"/>
                <a:cs typeface="Times New Roman" panose="02020603050405020304" pitchFamily="18" charset="0"/>
              </a:rPr>
              <a:t>. </a:t>
            </a:r>
            <a:endParaRPr lang="en-US" sz="2100" dirty="0" smtClean="0">
              <a:latin typeface="Times New Roman" panose="02020603050405020304" pitchFamily="18" charset="0"/>
              <a:cs typeface="Times New Roman" panose="02020603050405020304" pitchFamily="18" charset="0"/>
            </a:endParaRPr>
          </a:p>
          <a:p>
            <a:pPr>
              <a:lnSpc>
                <a:spcPct val="150000"/>
              </a:lnSpc>
            </a:pPr>
            <a:r>
              <a:rPr lang="en-US" sz="2100" dirty="0" smtClean="0">
                <a:latin typeface="Times New Roman" panose="02020603050405020304" pitchFamily="18" charset="0"/>
                <a:cs typeface="Times New Roman" panose="02020603050405020304" pitchFamily="18" charset="0"/>
              </a:rPr>
              <a:t>Experience </a:t>
            </a:r>
            <a:r>
              <a:rPr lang="en-US" sz="2100" dirty="0">
                <a:latin typeface="Times New Roman" panose="02020603050405020304" pitchFamily="18" charset="0"/>
                <a:cs typeface="Times New Roman" panose="02020603050405020304" pitchFamily="18" charset="0"/>
              </a:rPr>
              <a:t>with the most popular business software is an advantage</a:t>
            </a:r>
            <a:r>
              <a:rPr lang="en-US" sz="2100" dirty="0" smtClean="0">
                <a:latin typeface="Times New Roman" panose="02020603050405020304" pitchFamily="18" charset="0"/>
                <a:cs typeface="Times New Roman" panose="02020603050405020304" pitchFamily="18" charset="0"/>
              </a:rPr>
              <a:t>.</a:t>
            </a:r>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6645539"/>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484785"/>
          </a:xfrm>
        </p:spPr>
        <p:txBody>
          <a:bodyPr>
            <a:noAutofit/>
          </a:bodyPr>
          <a:lstStyle/>
          <a:p>
            <a:pPr algn="ctr">
              <a:lnSpc>
                <a:spcPct val="150000"/>
              </a:lnSpc>
            </a:pPr>
            <a:r>
              <a:rPr lang="en-US" sz="3600" b="1" dirty="0">
                <a:latin typeface="Times New Roman" panose="02020603050405020304" pitchFamily="18" charset="0"/>
                <a:cs typeface="Times New Roman" panose="02020603050405020304" pitchFamily="18" charset="0"/>
              </a:rPr>
              <a:t>Desktop </a:t>
            </a:r>
            <a:r>
              <a:rPr lang="en-US" sz="3600" b="1" dirty="0" smtClean="0">
                <a:latin typeface="Times New Roman" panose="02020603050405020304" pitchFamily="18" charset="0"/>
                <a:cs typeface="Times New Roman" panose="02020603050405020304" pitchFamily="18" charset="0"/>
              </a:rPr>
              <a:t>Publisher &amp; </a:t>
            </a:r>
            <a:br>
              <a:rPr lang="en-US" sz="3600" b="1" dirty="0" smtClean="0">
                <a:latin typeface="Times New Roman" panose="02020603050405020304" pitchFamily="18" charset="0"/>
                <a:cs typeface="Times New Roman" panose="02020603050405020304" pitchFamily="18" charset="0"/>
              </a:rPr>
            </a:br>
            <a:r>
              <a:rPr lang="en-US" sz="3600" b="1" dirty="0" smtClean="0">
                <a:latin typeface="Times New Roman" panose="02020603050405020304" pitchFamily="18" charset="0"/>
                <a:cs typeface="Times New Roman" panose="02020603050405020304" pitchFamily="18" charset="0"/>
              </a:rPr>
              <a:t>Computer </a:t>
            </a:r>
            <a:r>
              <a:rPr lang="en-US" sz="3600" b="1" dirty="0">
                <a:latin typeface="Times New Roman" panose="02020603050405020304" pitchFamily="18" charset="0"/>
                <a:cs typeface="Times New Roman" panose="02020603050405020304" pitchFamily="18" charset="0"/>
              </a:rPr>
              <a:t>Support Specialist</a:t>
            </a:r>
            <a:endParaRPr lang="en-US" sz="3600" b="1" dirty="0">
              <a:latin typeface="Times New Roman" panose="02020603050405020304" pitchFamily="18" charset="0"/>
              <a:cs typeface="Times New Roman" panose="02020603050405020304" pitchFamily="18" charset="0"/>
            </a:endParaRPr>
          </a:p>
        </p:txBody>
      </p:sp>
      <p:sp>
        <p:nvSpPr>
          <p:cNvPr id="5" name="Rectangle 3"/>
          <p:cNvSpPr txBox="1">
            <a:spLocks noChangeArrowheads="1"/>
          </p:cNvSpPr>
          <p:nvPr/>
        </p:nvSpPr>
        <p:spPr bwMode="auto">
          <a:xfrm>
            <a:off x="407963" y="1440160"/>
            <a:ext cx="8412509" cy="5301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US" sz="2000" b="1" dirty="0">
                <a:latin typeface="Times New Roman" panose="02020603050405020304" pitchFamily="18" charset="0"/>
                <a:cs typeface="Times New Roman" panose="02020603050405020304" pitchFamily="18" charset="0"/>
              </a:rPr>
              <a:t>Desktop </a:t>
            </a:r>
            <a:r>
              <a:rPr lang="en-US" sz="2000" b="1" dirty="0" smtClean="0">
                <a:latin typeface="Times New Roman" panose="02020603050405020304" pitchFamily="18" charset="0"/>
                <a:cs typeface="Times New Roman" panose="02020603050405020304" pitchFamily="18" charset="0"/>
              </a:rPr>
              <a:t>Publisher: </a:t>
            </a:r>
            <a:endParaRPr lang="en-US" sz="20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Desktop </a:t>
            </a:r>
            <a:r>
              <a:rPr lang="en-US" sz="2000" dirty="0">
                <a:latin typeface="Times New Roman" panose="02020603050405020304" pitchFamily="18" charset="0"/>
                <a:cs typeface="Times New Roman" panose="02020603050405020304" pitchFamily="18" charset="0"/>
              </a:rPr>
              <a:t>publishers use computers to format and create </a:t>
            </a:r>
            <a:r>
              <a:rPr lang="en-US" sz="2000" dirty="0" smtClean="0">
                <a:latin typeface="Times New Roman" panose="02020603050405020304" pitchFamily="18" charset="0"/>
                <a:cs typeface="Times New Roman" panose="02020603050405020304" pitchFamily="18" charset="0"/>
              </a:rPr>
              <a:t>publication-ready </a:t>
            </a:r>
            <a:r>
              <a:rPr lang="en-US" sz="2000" dirty="0">
                <a:latin typeface="Times New Roman" panose="02020603050405020304" pitchFamily="18" charset="0"/>
                <a:cs typeface="Times New Roman" panose="02020603050405020304" pitchFamily="18" charset="0"/>
              </a:rPr>
              <a:t>material. </a:t>
            </a:r>
            <a:endParaRPr lang="en-US" sz="20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They may create </a:t>
            </a:r>
            <a:r>
              <a:rPr lang="en-US" sz="2000" dirty="0">
                <a:latin typeface="Times New Roman" panose="02020603050405020304" pitchFamily="18" charset="0"/>
                <a:cs typeface="Times New Roman" panose="02020603050405020304" pitchFamily="18" charset="0"/>
              </a:rPr>
              <a:t>books, magazines newsletter, and newspapers on computers using special </a:t>
            </a:r>
            <a:r>
              <a:rPr lang="en-US" sz="2000" dirty="0" smtClean="0">
                <a:latin typeface="Times New Roman" panose="02020603050405020304" pitchFamily="18" charset="0"/>
                <a:cs typeface="Times New Roman" panose="02020603050405020304" pitchFamily="18" charset="0"/>
              </a:rPr>
              <a:t>applications software’s </a:t>
            </a:r>
            <a:r>
              <a:rPr lang="en-US" sz="2000" dirty="0">
                <a:latin typeface="Times New Roman" panose="02020603050405020304" pitchFamily="18" charset="0"/>
                <a:cs typeface="Times New Roman" panose="02020603050405020304" pitchFamily="18" charset="0"/>
              </a:rPr>
              <a:t>large part of the job is designing page layout, importing text, and </a:t>
            </a:r>
            <a:r>
              <a:rPr lang="en-US" sz="2000" dirty="0" smtClean="0">
                <a:latin typeface="Times New Roman" panose="02020603050405020304" pitchFamily="18" charset="0"/>
                <a:cs typeface="Times New Roman" panose="02020603050405020304" pitchFamily="18" charset="0"/>
              </a:rPr>
              <a:t>manipulating graphics</a:t>
            </a:r>
            <a:r>
              <a:rPr lang="en-US" sz="2000" dirty="0">
                <a:latin typeface="Times New Roman" panose="02020603050405020304" pitchFamily="18" charset="0"/>
                <a:cs typeface="Times New Roman" panose="02020603050405020304" pitchFamily="18" charset="0"/>
              </a:rPr>
              <a:t>. </a:t>
            </a:r>
            <a:endParaRPr lang="en-US" sz="20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dirty="0" smtClean="0">
                <a:latin typeface="Times New Roman" panose="02020603050405020304" pitchFamily="18" charset="0"/>
                <a:cs typeface="Times New Roman" panose="02020603050405020304" pitchFamily="18" charset="0"/>
              </a:rPr>
              <a:t>Most </a:t>
            </a:r>
            <a:r>
              <a:rPr lang="en-US" sz="2000" dirty="0">
                <a:latin typeface="Times New Roman" panose="02020603050405020304" pitchFamily="18" charset="0"/>
                <a:cs typeface="Times New Roman" panose="02020603050405020304" pitchFamily="18" charset="0"/>
              </a:rPr>
              <a:t>desktop publishers work for companies that handle commercial </a:t>
            </a:r>
            <a:r>
              <a:rPr lang="en-US" sz="2000" dirty="0" smtClean="0">
                <a:latin typeface="Times New Roman" panose="02020603050405020304" pitchFamily="18" charset="0"/>
                <a:cs typeface="Times New Roman" panose="02020603050405020304" pitchFamily="18" charset="0"/>
              </a:rPr>
              <a:t>printing accounts</a:t>
            </a:r>
            <a:r>
              <a:rPr lang="en-US" sz="2000" dirty="0">
                <a:latin typeface="Times New Roman" panose="02020603050405020304" pitchFamily="18" charset="0"/>
                <a:cs typeface="Times New Roman" panose="02020603050405020304" pitchFamily="18" charset="0"/>
              </a:rPr>
              <a:t>.</a:t>
            </a:r>
          </a:p>
          <a:p>
            <a:pPr>
              <a:lnSpc>
                <a:spcPct val="150000"/>
              </a:lnSpc>
              <a:buFont typeface="Wingdings" panose="05000000000000000000" pitchFamily="2" charset="2"/>
              <a:buChar char="q"/>
            </a:pPr>
            <a:r>
              <a:rPr lang="en-US" sz="2000" b="1" dirty="0">
                <a:latin typeface="Times New Roman" panose="02020603050405020304" pitchFamily="18" charset="0"/>
                <a:cs typeface="Times New Roman" panose="02020603050405020304" pitchFamily="18" charset="0"/>
              </a:rPr>
              <a:t>Computer Support </a:t>
            </a:r>
            <a:r>
              <a:rPr lang="en-US" sz="2000" b="1" dirty="0" smtClean="0">
                <a:latin typeface="Times New Roman" panose="02020603050405020304" pitchFamily="18" charset="0"/>
                <a:cs typeface="Times New Roman" panose="02020603050405020304" pitchFamily="18" charset="0"/>
              </a:rPr>
              <a:t>Specialist</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Computer support specialists provide technical support to customers and other users. </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They may also be called technical support specialist or help desk technicians. </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They manage the everyday problems faced by computer users. </a:t>
            </a:r>
          </a:p>
          <a:p>
            <a:pPr>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They resolve common networking problems and may use troubleshooting programs to diagnose problems.</a:t>
            </a:r>
            <a:endParaRPr lang="en-US" sz="2000" kern="0" dirty="0">
              <a:latin typeface="Times New Roman" panose="02020603050405020304" pitchFamily="18" charset="0"/>
              <a:cs typeface="Times New Roman" panose="02020603050405020304" pitchFamily="18" charset="0"/>
            </a:endParaRPr>
          </a:p>
          <a:p>
            <a:pPr marL="0" indent="0">
              <a:lnSpc>
                <a:spcPct val="150000"/>
              </a:lnSpc>
              <a:buNone/>
            </a:pPr>
            <a:endParaRPr lang="en-US" sz="21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4822666"/>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r>
              <a:rPr lang="en-US" sz="6600" b="1" dirty="0">
                <a:latin typeface="Times New Roman" panose="02020603050405020304" pitchFamily="18" charset="0"/>
                <a:cs typeface="Times New Roman" panose="02020603050405020304" pitchFamily="18" charset="0"/>
              </a:rPr>
              <a:t>Computer </a:t>
            </a:r>
            <a:r>
              <a:rPr lang="en-US" sz="6600" b="1" dirty="0" smtClean="0">
                <a:latin typeface="Times New Roman" panose="02020603050405020304" pitchFamily="18" charset="0"/>
                <a:cs typeface="Times New Roman" panose="02020603050405020304" pitchFamily="18" charset="0"/>
              </a:rPr>
              <a:t>Technician</a:t>
            </a:r>
            <a:endParaRPr lang="en-US" sz="6600" b="1" dirty="0">
              <a:latin typeface="Times New Roman" panose="02020603050405020304" pitchFamily="18" charset="0"/>
              <a:cs typeface="Times New Roman" panose="02020603050405020304" pitchFamily="18" charset="0"/>
            </a:endParaRPr>
          </a:p>
        </p:txBody>
      </p:sp>
      <p:sp>
        <p:nvSpPr>
          <p:cNvPr id="5" name="Rectangle 3"/>
          <p:cNvSpPr txBox="1">
            <a:spLocks noChangeArrowheads="1"/>
          </p:cNvSpPr>
          <p:nvPr/>
        </p:nvSpPr>
        <p:spPr bwMode="auto">
          <a:xfrm>
            <a:off x="467544" y="1440160"/>
            <a:ext cx="8147248" cy="458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US" sz="2100" dirty="0" smtClean="0">
                <a:latin typeface="Times New Roman" panose="02020603050405020304" pitchFamily="18" charset="0"/>
                <a:cs typeface="Times New Roman" panose="02020603050405020304" pitchFamily="18" charset="0"/>
              </a:rPr>
              <a:t>Computer </a:t>
            </a:r>
            <a:r>
              <a:rPr lang="en-US" sz="2100" dirty="0">
                <a:latin typeface="Times New Roman" panose="02020603050405020304" pitchFamily="18" charset="0"/>
                <a:cs typeface="Times New Roman" panose="02020603050405020304" pitchFamily="18" charset="0"/>
              </a:rPr>
              <a:t>technicians may repair and install computer components and systems. </a:t>
            </a:r>
            <a:endParaRPr lang="en-US" sz="2100" dirty="0" smtClean="0">
              <a:latin typeface="Times New Roman" panose="02020603050405020304" pitchFamily="18" charset="0"/>
              <a:cs typeface="Times New Roman" panose="02020603050405020304" pitchFamily="18" charset="0"/>
            </a:endParaRPr>
          </a:p>
          <a:p>
            <a:r>
              <a:rPr lang="en-US" sz="2100" dirty="0" smtClean="0">
                <a:latin typeface="Times New Roman" panose="02020603050405020304" pitchFamily="18" charset="0"/>
                <a:cs typeface="Times New Roman" panose="02020603050405020304" pitchFamily="18" charset="0"/>
              </a:rPr>
              <a:t>They may work </a:t>
            </a:r>
            <a:r>
              <a:rPr lang="en-US" sz="2100" dirty="0">
                <a:latin typeface="Times New Roman" panose="02020603050405020304" pitchFamily="18" charset="0"/>
                <a:cs typeface="Times New Roman" panose="02020603050405020304" pitchFamily="18" charset="0"/>
              </a:rPr>
              <a:t>on everything from personal computers to mainframe servers or printers. </a:t>
            </a:r>
            <a:endParaRPr lang="en-US" sz="2100" dirty="0" smtClean="0">
              <a:latin typeface="Times New Roman" panose="02020603050405020304" pitchFamily="18" charset="0"/>
              <a:cs typeface="Times New Roman" panose="02020603050405020304" pitchFamily="18" charset="0"/>
            </a:endParaRPr>
          </a:p>
          <a:p>
            <a:r>
              <a:rPr lang="en-US" sz="2100" dirty="0" smtClean="0">
                <a:latin typeface="Times New Roman" panose="02020603050405020304" pitchFamily="18" charset="0"/>
                <a:cs typeface="Times New Roman" panose="02020603050405020304" pitchFamily="18" charset="0"/>
              </a:rPr>
              <a:t>Some Computer </a:t>
            </a:r>
            <a:r>
              <a:rPr lang="en-US" sz="2100" dirty="0">
                <a:latin typeface="Times New Roman" panose="02020603050405020304" pitchFamily="18" charset="0"/>
                <a:cs typeface="Times New Roman" panose="02020603050405020304" pitchFamily="18" charset="0"/>
              </a:rPr>
              <a:t>technicians are responsible for setting up and maintaining computer networks.</a:t>
            </a:r>
          </a:p>
          <a:p>
            <a:r>
              <a:rPr lang="en-US" sz="2100" dirty="0">
                <a:latin typeface="Times New Roman" panose="02020603050405020304" pitchFamily="18" charset="0"/>
                <a:cs typeface="Times New Roman" panose="02020603050405020304" pitchFamily="18" charset="0"/>
              </a:rPr>
              <a:t>Experience computer technicians may work with computer engineers to diagnose </a:t>
            </a:r>
            <a:r>
              <a:rPr lang="en-US" sz="2100" dirty="0" smtClean="0">
                <a:latin typeface="Times New Roman" panose="02020603050405020304" pitchFamily="18" charset="0"/>
                <a:cs typeface="Times New Roman" panose="02020603050405020304" pitchFamily="18" charset="0"/>
              </a:rPr>
              <a:t>problems and </a:t>
            </a:r>
            <a:r>
              <a:rPr lang="en-US" sz="2100" dirty="0">
                <a:latin typeface="Times New Roman" panose="02020603050405020304" pitchFamily="18" charset="0"/>
                <a:cs typeface="Times New Roman" panose="02020603050405020304" pitchFamily="18" charset="0"/>
              </a:rPr>
              <a:t>run routine maintenance on complex systems.</a:t>
            </a:r>
          </a:p>
          <a:p>
            <a:r>
              <a:rPr lang="en-US" sz="2100" b="1" i="1" dirty="0">
                <a:latin typeface="Times New Roman" panose="02020603050405020304" pitchFamily="18" charset="0"/>
                <a:cs typeface="Times New Roman" panose="02020603050405020304" pitchFamily="18" charset="0"/>
              </a:rPr>
              <a:t>Certification </a:t>
            </a:r>
            <a:r>
              <a:rPr lang="en-US" sz="2100" dirty="0">
                <a:latin typeface="Times New Roman" panose="02020603050405020304" pitchFamily="18" charset="0"/>
                <a:cs typeface="Times New Roman" panose="02020603050405020304" pitchFamily="18" charset="0"/>
              </a:rPr>
              <a:t>– CompTIA’s A+ hardware examination and Network</a:t>
            </a:r>
            <a:r>
              <a:rPr lang="en-US" sz="2100" dirty="0" smtClean="0">
                <a:latin typeface="Times New Roman" panose="02020603050405020304" pitchFamily="18" charset="0"/>
                <a:cs typeface="Times New Roman" panose="02020603050405020304" pitchFamily="18" charset="0"/>
              </a:rPr>
              <a:t>+</a:t>
            </a:r>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8948380"/>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484785"/>
          </a:xfrm>
        </p:spPr>
        <p:txBody>
          <a:bodyPr>
            <a:noAutofit/>
          </a:bodyPr>
          <a:lstStyle/>
          <a:p>
            <a:pPr algn="ctr"/>
            <a:r>
              <a:rPr lang="en-US" sz="5400" b="1" dirty="0">
                <a:latin typeface="Times New Roman" panose="02020603050405020304" pitchFamily="18" charset="0"/>
                <a:cs typeface="Times New Roman" panose="02020603050405020304" pitchFamily="18" charset="0"/>
              </a:rPr>
              <a:t>Data </a:t>
            </a:r>
            <a:r>
              <a:rPr lang="en-US" sz="5400" b="1" dirty="0" smtClean="0">
                <a:latin typeface="Times New Roman" panose="02020603050405020304" pitchFamily="18" charset="0"/>
                <a:cs typeface="Times New Roman" panose="02020603050405020304" pitchFamily="18" charset="0"/>
              </a:rPr>
              <a:t>Entry &amp; </a:t>
            </a:r>
            <a:br>
              <a:rPr lang="en-US" sz="5400" b="1" dirty="0" smtClean="0">
                <a:latin typeface="Times New Roman" panose="02020603050405020304" pitchFamily="18" charset="0"/>
                <a:cs typeface="Times New Roman" panose="02020603050405020304" pitchFamily="18" charset="0"/>
              </a:rPr>
            </a:br>
            <a:r>
              <a:rPr lang="en-US" sz="5400" b="1" dirty="0" smtClean="0">
                <a:latin typeface="Times New Roman" panose="02020603050405020304" pitchFamily="18" charset="0"/>
                <a:cs typeface="Times New Roman" panose="02020603050405020304" pitchFamily="18" charset="0"/>
              </a:rPr>
              <a:t>Technical Writers</a:t>
            </a:r>
            <a:endParaRPr lang="en-US" sz="5400" b="1" dirty="0">
              <a:latin typeface="Times New Roman" panose="02020603050405020304" pitchFamily="18" charset="0"/>
              <a:cs typeface="Times New Roman" panose="02020603050405020304" pitchFamily="18" charset="0"/>
            </a:endParaRPr>
          </a:p>
        </p:txBody>
      </p:sp>
      <p:sp>
        <p:nvSpPr>
          <p:cNvPr id="5" name="Rectangle 3"/>
          <p:cNvSpPr txBox="1">
            <a:spLocks noChangeArrowheads="1"/>
          </p:cNvSpPr>
          <p:nvPr/>
        </p:nvSpPr>
        <p:spPr bwMode="auto">
          <a:xfrm>
            <a:off x="467544" y="1440160"/>
            <a:ext cx="8147248" cy="5417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US" sz="2300" b="1" dirty="0">
                <a:latin typeface="Times New Roman" panose="02020603050405020304" pitchFamily="18" charset="0"/>
                <a:cs typeface="Times New Roman" panose="02020603050405020304" pitchFamily="18" charset="0"/>
              </a:rPr>
              <a:t>Data E</a:t>
            </a:r>
            <a:r>
              <a:rPr lang="en-US" sz="2300" b="1" dirty="0" smtClean="0">
                <a:latin typeface="Times New Roman" panose="02020603050405020304" pitchFamily="18" charset="0"/>
                <a:cs typeface="Times New Roman" panose="02020603050405020304" pitchFamily="18" charset="0"/>
              </a:rPr>
              <a:t>ntry:</a:t>
            </a:r>
          </a:p>
          <a:p>
            <a:pPr>
              <a:buFont typeface="Wingdings" panose="05000000000000000000" pitchFamily="2" charset="2"/>
              <a:buChar char="Ø"/>
            </a:pPr>
            <a:r>
              <a:rPr lang="en-US" sz="2300" dirty="0" smtClean="0">
                <a:latin typeface="Times New Roman" panose="02020603050405020304" pitchFamily="18" charset="0"/>
                <a:cs typeface="Times New Roman" panose="02020603050405020304" pitchFamily="18" charset="0"/>
              </a:rPr>
              <a:t>Data </a:t>
            </a:r>
            <a:r>
              <a:rPr lang="en-US" sz="2300" dirty="0">
                <a:latin typeface="Times New Roman" panose="02020603050405020304" pitchFamily="18" charset="0"/>
                <a:cs typeface="Times New Roman" panose="02020603050405020304" pitchFamily="18" charset="0"/>
              </a:rPr>
              <a:t>entry workers input customer information, lists, and other type of data. </a:t>
            </a:r>
            <a:endParaRPr lang="en-US" sz="23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300" dirty="0" smtClean="0">
                <a:latin typeface="Times New Roman" panose="02020603050405020304" pitchFamily="18" charset="0"/>
                <a:cs typeface="Times New Roman" panose="02020603050405020304" pitchFamily="18" charset="0"/>
              </a:rPr>
              <a:t>Input </a:t>
            </a:r>
            <a:r>
              <a:rPr lang="en-US" sz="2300" dirty="0">
                <a:latin typeface="Times New Roman" panose="02020603050405020304" pitchFamily="18" charset="0"/>
                <a:cs typeface="Times New Roman" panose="02020603050405020304" pitchFamily="18" charset="0"/>
              </a:rPr>
              <a:t>devices </a:t>
            </a:r>
            <a:r>
              <a:rPr lang="en-US" sz="2300" dirty="0" smtClean="0">
                <a:latin typeface="Times New Roman" panose="02020603050405020304" pitchFamily="18" charset="0"/>
                <a:cs typeface="Times New Roman" panose="02020603050405020304" pitchFamily="18" charset="0"/>
              </a:rPr>
              <a:t>are typically </a:t>
            </a:r>
            <a:r>
              <a:rPr lang="en-US" sz="2300" dirty="0">
                <a:latin typeface="Times New Roman" panose="02020603050405020304" pitchFamily="18" charset="0"/>
                <a:cs typeface="Times New Roman" panose="02020603050405020304" pitchFamily="18" charset="0"/>
              </a:rPr>
              <a:t>limited to keyboards, mice, and scanners. </a:t>
            </a:r>
            <a:endParaRPr lang="en-US" sz="2300" dirty="0" smtClean="0">
              <a:latin typeface="Times New Roman" panose="02020603050405020304" pitchFamily="18" charset="0"/>
              <a:cs typeface="Times New Roman" panose="02020603050405020304" pitchFamily="18" charset="0"/>
            </a:endParaRPr>
          </a:p>
          <a:p>
            <a:pPr marL="365125" indent="0">
              <a:buNone/>
            </a:pPr>
            <a:r>
              <a:rPr lang="en-US" sz="2300" dirty="0" smtClean="0">
                <a:latin typeface="Times New Roman" panose="02020603050405020304" pitchFamily="18" charset="0"/>
                <a:cs typeface="Times New Roman" panose="02020603050405020304" pitchFamily="18" charset="0"/>
              </a:rPr>
              <a:t>Because </a:t>
            </a:r>
            <a:r>
              <a:rPr lang="en-US" sz="2300" dirty="0">
                <a:latin typeface="Times New Roman" panose="02020603050405020304" pitchFamily="18" charset="0"/>
                <a:cs typeface="Times New Roman" panose="02020603050405020304" pitchFamily="18" charset="0"/>
              </a:rPr>
              <a:t>the accuracy of recorded data </a:t>
            </a:r>
            <a:r>
              <a:rPr lang="en-US" sz="2300" dirty="0" smtClean="0">
                <a:latin typeface="Times New Roman" panose="02020603050405020304" pitchFamily="18" charset="0"/>
                <a:cs typeface="Times New Roman" panose="02020603050405020304" pitchFamily="18" charset="0"/>
              </a:rPr>
              <a:t>is so </a:t>
            </a:r>
            <a:r>
              <a:rPr lang="en-US" sz="2300" dirty="0">
                <a:latin typeface="Times New Roman" panose="02020603050405020304" pitchFamily="18" charset="0"/>
                <a:cs typeface="Times New Roman" panose="02020603050405020304" pitchFamily="18" charset="0"/>
              </a:rPr>
              <a:t>Important, data entry workers are often required to verify the accuracy of data they </a:t>
            </a:r>
            <a:r>
              <a:rPr lang="en-US" sz="2300" dirty="0" smtClean="0">
                <a:latin typeface="Times New Roman" panose="02020603050405020304" pitchFamily="18" charset="0"/>
                <a:cs typeface="Times New Roman" panose="02020603050405020304" pitchFamily="18" charset="0"/>
              </a:rPr>
              <a:t>and others </a:t>
            </a:r>
            <a:r>
              <a:rPr lang="en-US" sz="2300" dirty="0">
                <a:latin typeface="Times New Roman" panose="02020603050405020304" pitchFamily="18" charset="0"/>
                <a:cs typeface="Times New Roman" panose="02020603050405020304" pitchFamily="18" charset="0"/>
              </a:rPr>
              <a:t>have entered</a:t>
            </a:r>
            <a:r>
              <a:rPr lang="en-US" sz="2300" dirty="0" smtClean="0">
                <a:latin typeface="Times New Roman" panose="02020603050405020304" pitchFamily="18" charset="0"/>
                <a:cs typeface="Times New Roman" panose="02020603050405020304" pitchFamily="18" charset="0"/>
              </a:rPr>
              <a:t>.</a:t>
            </a:r>
          </a:p>
          <a:p>
            <a:endParaRPr lang="en-US" sz="2300" dirty="0">
              <a:latin typeface="Times New Roman" panose="02020603050405020304" pitchFamily="18" charset="0"/>
              <a:cs typeface="Times New Roman" panose="02020603050405020304" pitchFamily="18" charset="0"/>
            </a:endParaRPr>
          </a:p>
          <a:p>
            <a:r>
              <a:rPr lang="en-US" sz="2300" b="1" dirty="0" smtClean="0">
                <a:latin typeface="Times New Roman" panose="02020603050405020304" pitchFamily="18" charset="0"/>
                <a:cs typeface="Times New Roman" panose="02020603050405020304" pitchFamily="18" charset="0"/>
              </a:rPr>
              <a:t>Technical writers:</a:t>
            </a:r>
            <a:endParaRPr lang="en-US" sz="23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300" dirty="0">
                <a:latin typeface="Times New Roman" panose="02020603050405020304" pitchFamily="18" charset="0"/>
                <a:cs typeface="Times New Roman" panose="02020603050405020304" pitchFamily="18" charset="0"/>
              </a:rPr>
              <a:t>Technical writers prepare instructional manuals, technical reports, and other scientific </a:t>
            </a:r>
            <a:r>
              <a:rPr lang="en-US" sz="2300" dirty="0" smtClean="0">
                <a:latin typeface="Times New Roman" panose="02020603050405020304" pitchFamily="18" charset="0"/>
                <a:cs typeface="Times New Roman" panose="02020603050405020304" pitchFamily="18" charset="0"/>
              </a:rPr>
              <a:t>or technical </a:t>
            </a:r>
            <a:r>
              <a:rPr lang="en-US" sz="2300" dirty="0">
                <a:latin typeface="Times New Roman" panose="02020603050405020304" pitchFamily="18" charset="0"/>
                <a:cs typeface="Times New Roman" panose="02020603050405020304" pitchFamily="18" charset="0"/>
              </a:rPr>
              <a:t>documents. </a:t>
            </a:r>
            <a:endParaRPr lang="en-US" sz="23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300" dirty="0" smtClean="0">
                <a:latin typeface="Times New Roman" panose="02020603050405020304" pitchFamily="18" charset="0"/>
                <a:cs typeface="Times New Roman" panose="02020603050405020304" pitchFamily="18" charset="0"/>
              </a:rPr>
              <a:t>Most </a:t>
            </a:r>
            <a:r>
              <a:rPr lang="en-US" sz="2300" dirty="0">
                <a:latin typeface="Times New Roman" panose="02020603050405020304" pitchFamily="18" charset="0"/>
                <a:cs typeface="Times New Roman" panose="02020603050405020304" pitchFamily="18" charset="0"/>
              </a:rPr>
              <a:t>Technical writers work for software firms, government agencies</a:t>
            </a:r>
            <a:r>
              <a:rPr lang="en-US" sz="2300" dirty="0" smtClean="0">
                <a:latin typeface="Times New Roman" panose="02020603050405020304" pitchFamily="18" charset="0"/>
                <a:cs typeface="Times New Roman" panose="02020603050405020304" pitchFamily="18" charset="0"/>
              </a:rPr>
              <a:t>, and </a:t>
            </a:r>
            <a:r>
              <a:rPr lang="en-US" sz="2300" dirty="0">
                <a:latin typeface="Times New Roman" panose="02020603050405020304" pitchFamily="18" charset="0"/>
                <a:cs typeface="Times New Roman" panose="02020603050405020304" pitchFamily="18" charset="0"/>
              </a:rPr>
              <a:t>research institutions</a:t>
            </a:r>
            <a:r>
              <a:rPr lang="en-US" sz="2300" dirty="0" smtClean="0">
                <a:latin typeface="Times New Roman" panose="02020603050405020304" pitchFamily="18" charset="0"/>
                <a:cs typeface="Times New Roman" panose="02020603050405020304" pitchFamily="18" charset="0"/>
              </a:rPr>
              <a:t>.</a:t>
            </a:r>
            <a:endParaRPr lang="en-US" sz="23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1544544"/>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r>
              <a:rPr lang="en-US" sz="7200" b="1" dirty="0">
                <a:latin typeface="Times New Roman" panose="02020603050405020304" pitchFamily="18" charset="0"/>
                <a:cs typeface="Times New Roman" panose="02020603050405020304" pitchFamily="18" charset="0"/>
              </a:rPr>
              <a:t>Software </a:t>
            </a:r>
            <a:r>
              <a:rPr lang="en-US" sz="7200" b="1" dirty="0" smtClean="0">
                <a:latin typeface="Times New Roman" panose="02020603050405020304" pitchFamily="18" charset="0"/>
                <a:cs typeface="Times New Roman" panose="02020603050405020304" pitchFamily="18" charset="0"/>
              </a:rPr>
              <a:t>Engineers</a:t>
            </a:r>
            <a:endParaRPr lang="en-US" sz="7200" b="1" dirty="0">
              <a:latin typeface="Times New Roman" panose="02020603050405020304" pitchFamily="18" charset="0"/>
              <a:cs typeface="Times New Roman" panose="02020603050405020304" pitchFamily="18" charset="0"/>
            </a:endParaRPr>
          </a:p>
        </p:txBody>
      </p:sp>
      <p:sp>
        <p:nvSpPr>
          <p:cNvPr id="5" name="Rectangle 3"/>
          <p:cNvSpPr txBox="1">
            <a:spLocks noChangeArrowheads="1"/>
          </p:cNvSpPr>
          <p:nvPr/>
        </p:nvSpPr>
        <p:spPr bwMode="auto">
          <a:xfrm>
            <a:off x="467544" y="1440160"/>
            <a:ext cx="8147248" cy="458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2300" dirty="0" smtClean="0">
                <a:latin typeface="Times New Roman" panose="02020603050405020304" pitchFamily="18" charset="0"/>
                <a:cs typeface="Times New Roman" panose="02020603050405020304" pitchFamily="18" charset="0"/>
              </a:rPr>
              <a:t>Most </a:t>
            </a:r>
            <a:r>
              <a:rPr lang="en-US" sz="2300" dirty="0">
                <a:latin typeface="Times New Roman" panose="02020603050405020304" pitchFamily="18" charset="0"/>
                <a:cs typeface="Times New Roman" panose="02020603050405020304" pitchFamily="18" charset="0"/>
              </a:rPr>
              <a:t>Software engineers </a:t>
            </a:r>
            <a:r>
              <a:rPr lang="en-US" sz="2300" dirty="0" smtClean="0">
                <a:latin typeface="Times New Roman" panose="02020603050405020304" pitchFamily="18" charset="0"/>
                <a:cs typeface="Times New Roman" panose="02020603050405020304" pitchFamily="18" charset="0"/>
              </a:rPr>
              <a:t>analyze </a:t>
            </a:r>
            <a:r>
              <a:rPr lang="en-US" sz="2300" dirty="0">
                <a:latin typeface="Times New Roman" panose="02020603050405020304" pitchFamily="18" charset="0"/>
                <a:cs typeface="Times New Roman" panose="02020603050405020304" pitchFamily="18" charset="0"/>
              </a:rPr>
              <a:t>user need and create application software. </a:t>
            </a:r>
            <a:endParaRPr lang="en-US" sz="2300" dirty="0" smtClean="0">
              <a:latin typeface="Times New Roman" panose="02020603050405020304" pitchFamily="18" charset="0"/>
              <a:cs typeface="Times New Roman" panose="02020603050405020304" pitchFamily="18" charset="0"/>
            </a:endParaRPr>
          </a:p>
          <a:p>
            <a:pPr>
              <a:lnSpc>
                <a:spcPct val="200000"/>
              </a:lnSpc>
            </a:pPr>
            <a:r>
              <a:rPr lang="en-US" sz="2300" dirty="0" smtClean="0">
                <a:latin typeface="Times New Roman" panose="02020603050405020304" pitchFamily="18" charset="0"/>
                <a:cs typeface="Times New Roman" panose="02020603050405020304" pitchFamily="18" charset="0"/>
              </a:rPr>
              <a:t>Software engineers </a:t>
            </a:r>
            <a:r>
              <a:rPr lang="en-US" sz="2300" dirty="0">
                <a:latin typeface="Times New Roman" panose="02020603050405020304" pitchFamily="18" charset="0"/>
                <a:cs typeface="Times New Roman" panose="02020603050405020304" pitchFamily="18" charset="0"/>
              </a:rPr>
              <a:t>usually have experience in programming, but focus on the design and </a:t>
            </a:r>
            <a:r>
              <a:rPr lang="en-US" sz="2300" dirty="0" smtClean="0">
                <a:latin typeface="Times New Roman" panose="02020603050405020304" pitchFamily="18" charset="0"/>
                <a:cs typeface="Times New Roman" panose="02020603050405020304" pitchFamily="18" charset="0"/>
              </a:rPr>
              <a:t>development of </a:t>
            </a:r>
            <a:r>
              <a:rPr lang="en-US" sz="2300" dirty="0">
                <a:latin typeface="Times New Roman" panose="02020603050405020304" pitchFamily="18" charset="0"/>
                <a:cs typeface="Times New Roman" panose="02020603050405020304" pitchFamily="18" charset="0"/>
              </a:rPr>
              <a:t>programs using the principles of mathematics and engineering. </a:t>
            </a:r>
            <a:endParaRPr lang="en-US" sz="2300" dirty="0" smtClean="0">
              <a:latin typeface="Times New Roman" panose="02020603050405020304" pitchFamily="18" charset="0"/>
              <a:cs typeface="Times New Roman" panose="02020603050405020304" pitchFamily="18" charset="0"/>
            </a:endParaRPr>
          </a:p>
          <a:p>
            <a:pPr>
              <a:lnSpc>
                <a:spcPct val="200000"/>
              </a:lnSpc>
            </a:pPr>
            <a:r>
              <a:rPr lang="en-US" sz="2300" dirty="0" smtClean="0">
                <a:latin typeface="Times New Roman" panose="02020603050405020304" pitchFamily="18" charset="0"/>
                <a:cs typeface="Times New Roman" panose="02020603050405020304" pitchFamily="18" charset="0"/>
              </a:rPr>
              <a:t>They </a:t>
            </a:r>
            <a:r>
              <a:rPr lang="en-US" sz="2300" dirty="0">
                <a:latin typeface="Times New Roman" panose="02020603050405020304" pitchFamily="18" charset="0"/>
                <a:cs typeface="Times New Roman" panose="02020603050405020304" pitchFamily="18" charset="0"/>
              </a:rPr>
              <a:t>rarely write </a:t>
            </a:r>
            <a:r>
              <a:rPr lang="en-US" sz="2300" dirty="0" smtClean="0">
                <a:latin typeface="Times New Roman" panose="02020603050405020304" pitchFamily="18" charset="0"/>
                <a:cs typeface="Times New Roman" panose="02020603050405020304" pitchFamily="18" charset="0"/>
              </a:rPr>
              <a:t>codes themselves.</a:t>
            </a:r>
          </a:p>
        </p:txBody>
      </p:sp>
    </p:spTree>
    <p:extLst>
      <p:ext uri="{BB962C8B-B14F-4D97-AF65-F5344CB8AC3E}">
        <p14:creationId xmlns:p14="http://schemas.microsoft.com/office/powerpoint/2010/main" val="4043568817"/>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r>
              <a:rPr lang="en-US" sz="6000" b="1" dirty="0">
                <a:latin typeface="Times New Roman" panose="02020603050405020304" pitchFamily="18" charset="0"/>
                <a:cs typeface="Times New Roman" panose="02020603050405020304" pitchFamily="18" charset="0"/>
              </a:rPr>
              <a:t>Network </a:t>
            </a:r>
            <a:r>
              <a:rPr lang="en-US" sz="6000" b="1" dirty="0" smtClean="0">
                <a:latin typeface="Times New Roman" panose="02020603050405020304" pitchFamily="18" charset="0"/>
                <a:cs typeface="Times New Roman" panose="02020603050405020304" pitchFamily="18" charset="0"/>
              </a:rPr>
              <a:t>Administrator</a:t>
            </a:r>
            <a:endParaRPr lang="en-US" sz="6000" b="1" dirty="0">
              <a:latin typeface="Times New Roman" panose="02020603050405020304" pitchFamily="18" charset="0"/>
              <a:cs typeface="Times New Roman" panose="02020603050405020304" pitchFamily="18" charset="0"/>
            </a:endParaRPr>
          </a:p>
        </p:txBody>
      </p:sp>
      <p:sp>
        <p:nvSpPr>
          <p:cNvPr id="5" name="Rectangle 3"/>
          <p:cNvSpPr txBox="1">
            <a:spLocks noChangeArrowheads="1"/>
          </p:cNvSpPr>
          <p:nvPr/>
        </p:nvSpPr>
        <p:spPr bwMode="auto">
          <a:xfrm>
            <a:off x="467544" y="1440160"/>
            <a:ext cx="8147248" cy="458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000" dirty="0" smtClean="0">
                <a:latin typeface="Times New Roman" panose="02020603050405020304" pitchFamily="18" charset="0"/>
                <a:cs typeface="Times New Roman" panose="02020603050405020304" pitchFamily="18" charset="0"/>
              </a:rPr>
              <a:t>Network </a:t>
            </a:r>
            <a:r>
              <a:rPr lang="en-US" sz="2000" dirty="0">
                <a:latin typeface="Times New Roman" panose="02020603050405020304" pitchFamily="18" charset="0"/>
                <a:cs typeface="Times New Roman" panose="02020603050405020304" pitchFamily="18" charset="0"/>
              </a:rPr>
              <a:t>administrator manages a company’s LAN and WAN networks. </a:t>
            </a:r>
            <a:endParaRPr lang="en-US" sz="2000" dirty="0" smtClean="0">
              <a:latin typeface="Times New Roman" panose="02020603050405020304" pitchFamily="18" charset="0"/>
              <a:cs typeface="Times New Roman" panose="02020603050405020304" pitchFamily="18" charset="0"/>
            </a:endParaRPr>
          </a:p>
          <a:p>
            <a:pPr>
              <a:lnSpc>
                <a:spcPct val="150000"/>
              </a:lnSpc>
            </a:pPr>
            <a:r>
              <a:rPr lang="en-US" sz="2000" dirty="0" smtClean="0">
                <a:latin typeface="Times New Roman" panose="02020603050405020304" pitchFamily="18" charset="0"/>
                <a:cs typeface="Times New Roman" panose="02020603050405020304" pitchFamily="18" charset="0"/>
              </a:rPr>
              <a:t>They </a:t>
            </a:r>
            <a:r>
              <a:rPr lang="en-US" sz="2000" dirty="0">
                <a:latin typeface="Times New Roman" panose="02020603050405020304" pitchFamily="18" charset="0"/>
                <a:cs typeface="Times New Roman" panose="02020603050405020304" pitchFamily="18" charset="0"/>
              </a:rPr>
              <a:t>may </a:t>
            </a:r>
            <a:r>
              <a:rPr lang="en-US" sz="2000" dirty="0" smtClean="0">
                <a:latin typeface="Times New Roman" panose="02020603050405020304" pitchFamily="18" charset="0"/>
                <a:cs typeface="Times New Roman" panose="02020603050405020304" pitchFamily="18" charset="0"/>
              </a:rPr>
              <a:t>be responsible </a:t>
            </a:r>
            <a:r>
              <a:rPr lang="en-US" sz="2000" dirty="0">
                <a:latin typeface="Times New Roman" panose="02020603050405020304" pitchFamily="18" charset="0"/>
                <a:cs typeface="Times New Roman" panose="02020603050405020304" pitchFamily="18" charset="0"/>
              </a:rPr>
              <a:t>for the design, implementation and maintenance of networks. </a:t>
            </a:r>
            <a:endParaRPr lang="en-US" sz="2000" dirty="0" smtClean="0">
              <a:latin typeface="Times New Roman" panose="02020603050405020304" pitchFamily="18" charset="0"/>
              <a:cs typeface="Times New Roman" panose="02020603050405020304" pitchFamily="18" charset="0"/>
            </a:endParaRPr>
          </a:p>
          <a:p>
            <a:pPr>
              <a:lnSpc>
                <a:spcPct val="150000"/>
              </a:lnSpc>
            </a:pPr>
            <a:r>
              <a:rPr lang="en-US" sz="2000" dirty="0" smtClean="0">
                <a:latin typeface="Times New Roman" panose="02020603050405020304" pitchFamily="18" charset="0"/>
                <a:cs typeface="Times New Roman" panose="02020603050405020304" pitchFamily="18" charset="0"/>
              </a:rPr>
              <a:t>Responsibilities usually </a:t>
            </a:r>
            <a:r>
              <a:rPr lang="en-US" sz="2000" dirty="0">
                <a:latin typeface="Times New Roman" panose="02020603050405020304" pitchFamily="18" charset="0"/>
                <a:cs typeface="Times New Roman" panose="02020603050405020304" pitchFamily="18" charset="0"/>
              </a:rPr>
              <a:t>include the maintenance of both hardware and software relating to a </a:t>
            </a:r>
            <a:r>
              <a:rPr lang="en-US" sz="2000" dirty="0" smtClean="0">
                <a:latin typeface="Times New Roman" panose="02020603050405020304" pitchFamily="18" charset="0"/>
                <a:cs typeface="Times New Roman" panose="02020603050405020304" pitchFamily="18" charset="0"/>
              </a:rPr>
              <a:t>company’s intranet </a:t>
            </a:r>
            <a:r>
              <a:rPr lang="en-US" sz="2000" dirty="0">
                <a:latin typeface="Times New Roman" panose="02020603050405020304" pitchFamily="18" charset="0"/>
                <a:cs typeface="Times New Roman" panose="02020603050405020304" pitchFamily="18" charset="0"/>
              </a:rPr>
              <a:t>and internet networks. </a:t>
            </a:r>
            <a:endParaRPr lang="en-US" sz="2000" dirty="0" smtClean="0">
              <a:latin typeface="Times New Roman" panose="02020603050405020304" pitchFamily="18" charset="0"/>
              <a:cs typeface="Times New Roman" panose="02020603050405020304" pitchFamily="18" charset="0"/>
            </a:endParaRPr>
          </a:p>
          <a:p>
            <a:pPr>
              <a:lnSpc>
                <a:spcPct val="150000"/>
              </a:lnSpc>
            </a:pPr>
            <a:r>
              <a:rPr lang="en-US" sz="2000" dirty="0" smtClean="0">
                <a:latin typeface="Times New Roman" panose="02020603050405020304" pitchFamily="18" charset="0"/>
                <a:cs typeface="Times New Roman" panose="02020603050405020304" pitchFamily="18" charset="0"/>
              </a:rPr>
              <a:t>Some </a:t>
            </a:r>
            <a:r>
              <a:rPr lang="en-US" sz="2000" dirty="0">
                <a:latin typeface="Times New Roman" panose="02020603050405020304" pitchFamily="18" charset="0"/>
                <a:cs typeface="Times New Roman" panose="02020603050405020304" pitchFamily="18" charset="0"/>
              </a:rPr>
              <a:t>are responsible for planning and implementing </a:t>
            </a:r>
            <a:r>
              <a:rPr lang="en-US" sz="2000" dirty="0" smtClean="0">
                <a:latin typeface="Times New Roman" panose="02020603050405020304" pitchFamily="18" charset="0"/>
                <a:cs typeface="Times New Roman" panose="02020603050405020304" pitchFamily="18" charset="0"/>
              </a:rPr>
              <a:t>the security </a:t>
            </a:r>
            <a:r>
              <a:rPr lang="en-US" sz="2000" dirty="0">
                <a:latin typeface="Times New Roman" panose="02020603050405020304" pitchFamily="18" charset="0"/>
                <a:cs typeface="Times New Roman" panose="02020603050405020304" pitchFamily="18" charset="0"/>
              </a:rPr>
              <a:t>measures as well.</a:t>
            </a:r>
          </a:p>
          <a:p>
            <a:pPr>
              <a:lnSpc>
                <a:spcPct val="150000"/>
              </a:lnSpc>
            </a:pPr>
            <a:r>
              <a:rPr lang="en-US" sz="2000" b="1" i="1" dirty="0">
                <a:latin typeface="Times New Roman" panose="02020603050405020304" pitchFamily="18" charset="0"/>
                <a:cs typeface="Times New Roman" panose="02020603050405020304" pitchFamily="18" charset="0"/>
              </a:rPr>
              <a:t>Certification </a:t>
            </a:r>
            <a:r>
              <a:rPr lang="en-US" sz="2000" dirty="0">
                <a:latin typeface="Times New Roman" panose="02020603050405020304" pitchFamily="18" charset="0"/>
                <a:cs typeface="Times New Roman" panose="02020603050405020304" pitchFamily="18" charset="0"/>
              </a:rPr>
              <a:t>- Microsoft Certified Systems Engineer (MCSE), Certified </a:t>
            </a:r>
            <a:r>
              <a:rPr lang="en-US" sz="2000" dirty="0" smtClean="0">
                <a:latin typeface="Times New Roman" panose="02020603050405020304" pitchFamily="18" charset="0"/>
                <a:cs typeface="Times New Roman" panose="02020603050405020304" pitchFamily="18" charset="0"/>
              </a:rPr>
              <a:t>Novell Administrator </a:t>
            </a:r>
            <a:r>
              <a:rPr lang="en-US" sz="2000" dirty="0">
                <a:latin typeface="Times New Roman" panose="02020603050405020304" pitchFamily="18" charset="0"/>
                <a:cs typeface="Times New Roman" panose="02020603050405020304" pitchFamily="18" charset="0"/>
              </a:rPr>
              <a:t>(CNA), and Certified Novell Engineer (CNE</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5841314"/>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r>
              <a:rPr lang="en-US" sz="8800" b="1" dirty="0">
                <a:latin typeface="Times New Roman" panose="02020603050405020304" pitchFamily="18" charset="0"/>
                <a:cs typeface="Times New Roman" panose="02020603050405020304" pitchFamily="18" charset="0"/>
              </a:rPr>
              <a:t>Cryptographer</a:t>
            </a:r>
            <a:endParaRPr lang="en-US" sz="8800" b="1" dirty="0">
              <a:latin typeface="Times New Roman" panose="02020603050405020304" pitchFamily="18" charset="0"/>
              <a:cs typeface="Times New Roman" panose="02020603050405020304" pitchFamily="18" charset="0"/>
            </a:endParaRPr>
          </a:p>
        </p:txBody>
      </p:sp>
      <p:sp>
        <p:nvSpPr>
          <p:cNvPr id="5" name="Rectangle 3"/>
          <p:cNvSpPr txBox="1">
            <a:spLocks noChangeArrowheads="1"/>
          </p:cNvSpPr>
          <p:nvPr/>
        </p:nvSpPr>
        <p:spPr bwMode="auto">
          <a:xfrm>
            <a:off x="467544" y="1440160"/>
            <a:ext cx="8147248" cy="458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100" dirty="0" smtClean="0">
                <a:latin typeface="Times New Roman" panose="02020603050405020304" pitchFamily="18" charset="0"/>
                <a:cs typeface="Times New Roman" panose="02020603050405020304" pitchFamily="18" charset="0"/>
              </a:rPr>
              <a:t>Cryptography </a:t>
            </a:r>
            <a:r>
              <a:rPr lang="en-US" sz="2100" dirty="0">
                <a:latin typeface="Times New Roman" panose="02020603050405020304" pitchFamily="18" charset="0"/>
                <a:cs typeface="Times New Roman" panose="02020603050405020304" pitchFamily="18" charset="0"/>
              </a:rPr>
              <a:t>is the science of disguising and revealing encrypted information. </a:t>
            </a:r>
            <a:endParaRPr lang="en-US" sz="2100" dirty="0" smtClean="0">
              <a:latin typeface="Times New Roman" panose="02020603050405020304" pitchFamily="18" charset="0"/>
              <a:cs typeface="Times New Roman" panose="02020603050405020304" pitchFamily="18" charset="0"/>
            </a:endParaRPr>
          </a:p>
          <a:p>
            <a:pPr>
              <a:lnSpc>
                <a:spcPct val="150000"/>
              </a:lnSpc>
            </a:pPr>
            <a:r>
              <a:rPr lang="en-US" sz="2100" dirty="0" smtClean="0">
                <a:latin typeface="Times New Roman" panose="02020603050405020304" pitchFamily="18" charset="0"/>
                <a:cs typeface="Times New Roman" panose="02020603050405020304" pitchFamily="18" charset="0"/>
              </a:rPr>
              <a:t>In ICT cryptography </a:t>
            </a:r>
            <a:r>
              <a:rPr lang="en-US" sz="2100" dirty="0">
                <a:latin typeface="Times New Roman" panose="02020603050405020304" pitchFamily="18" charset="0"/>
                <a:cs typeface="Times New Roman" panose="02020603050405020304" pitchFamily="18" charset="0"/>
              </a:rPr>
              <a:t>means keeping any intercepted information private. </a:t>
            </a:r>
            <a:endParaRPr lang="en-US" sz="2100" dirty="0" smtClean="0">
              <a:latin typeface="Times New Roman" panose="02020603050405020304" pitchFamily="18" charset="0"/>
              <a:cs typeface="Times New Roman" panose="02020603050405020304" pitchFamily="18" charset="0"/>
            </a:endParaRPr>
          </a:p>
          <a:p>
            <a:pPr>
              <a:lnSpc>
                <a:spcPct val="150000"/>
              </a:lnSpc>
            </a:pPr>
            <a:r>
              <a:rPr lang="en-US" sz="2100" dirty="0" smtClean="0">
                <a:latin typeface="Times New Roman" panose="02020603050405020304" pitchFamily="18" charset="0"/>
                <a:cs typeface="Times New Roman" panose="02020603050405020304" pitchFamily="18" charset="0"/>
              </a:rPr>
              <a:t>For </a:t>
            </a:r>
            <a:r>
              <a:rPr lang="en-US" sz="2100" dirty="0">
                <a:latin typeface="Times New Roman" panose="02020603050405020304" pitchFamily="18" charset="0"/>
                <a:cs typeface="Times New Roman" panose="02020603050405020304" pitchFamily="18" charset="0"/>
              </a:rPr>
              <a:t>example </a:t>
            </a:r>
            <a:r>
              <a:rPr lang="en-US" sz="2100" dirty="0" smtClean="0">
                <a:latin typeface="Times New Roman" panose="02020603050405020304" pitchFamily="18" charset="0"/>
                <a:cs typeface="Times New Roman" panose="02020603050405020304" pitchFamily="18" charset="0"/>
              </a:rPr>
              <a:t>information like </a:t>
            </a:r>
            <a:r>
              <a:rPr lang="en-US" sz="2100" dirty="0">
                <a:latin typeface="Times New Roman" panose="02020603050405020304" pitchFamily="18" charset="0"/>
                <a:cs typeface="Times New Roman" panose="02020603050405020304" pitchFamily="18" charset="0"/>
              </a:rPr>
              <a:t>financial data, banking and credit card information used in online shopping or private </a:t>
            </a:r>
            <a:r>
              <a:rPr lang="en-US" sz="2100" dirty="0" smtClean="0">
                <a:latin typeface="Times New Roman" panose="02020603050405020304" pitchFamily="18" charset="0"/>
                <a:cs typeface="Times New Roman" panose="02020603050405020304" pitchFamily="18" charset="0"/>
              </a:rPr>
              <a:t>email and </a:t>
            </a:r>
            <a:r>
              <a:rPr lang="en-US" sz="2100" dirty="0">
                <a:latin typeface="Times New Roman" panose="02020603050405020304" pitchFamily="18" charset="0"/>
                <a:cs typeface="Times New Roman" panose="02020603050405020304" pitchFamily="18" charset="0"/>
              </a:rPr>
              <a:t>correspondence. </a:t>
            </a:r>
            <a:endParaRPr lang="en-US" sz="2100" dirty="0" smtClean="0">
              <a:latin typeface="Times New Roman" panose="02020603050405020304" pitchFamily="18" charset="0"/>
              <a:cs typeface="Times New Roman" panose="02020603050405020304" pitchFamily="18" charset="0"/>
            </a:endParaRPr>
          </a:p>
          <a:p>
            <a:pPr>
              <a:lnSpc>
                <a:spcPct val="150000"/>
              </a:lnSpc>
            </a:pPr>
            <a:r>
              <a:rPr lang="en-US" sz="2100" dirty="0" smtClean="0">
                <a:latin typeface="Times New Roman" panose="02020603050405020304" pitchFamily="18" charset="0"/>
                <a:cs typeface="Times New Roman" panose="02020603050405020304" pitchFamily="18" charset="0"/>
              </a:rPr>
              <a:t>Cryptographers </a:t>
            </a:r>
            <a:r>
              <a:rPr lang="en-US" sz="2100" dirty="0">
                <a:latin typeface="Times New Roman" panose="02020603050405020304" pitchFamily="18" charset="0"/>
                <a:cs typeface="Times New Roman" panose="02020603050405020304" pitchFamily="18" charset="0"/>
              </a:rPr>
              <a:t>design systems, break systems, and do research </a:t>
            </a:r>
            <a:r>
              <a:rPr lang="en-US" sz="2100" dirty="0" smtClean="0">
                <a:latin typeface="Times New Roman" panose="02020603050405020304" pitchFamily="18" charset="0"/>
                <a:cs typeface="Times New Roman" panose="02020603050405020304" pitchFamily="18" charset="0"/>
              </a:rPr>
              <a:t>on encryption.</a:t>
            </a:r>
            <a:endParaRPr lang="en-US"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94729083"/>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r>
              <a:rPr lang="en-US" b="1" dirty="0">
                <a:latin typeface="Times New Roman" panose="02020603050405020304" pitchFamily="18" charset="0"/>
                <a:cs typeface="Times New Roman" panose="02020603050405020304" pitchFamily="18" charset="0"/>
              </a:rPr>
              <a:t>Information </a:t>
            </a:r>
            <a:r>
              <a:rPr lang="en-US" b="1" dirty="0" smtClean="0">
                <a:latin typeface="Times New Roman" panose="02020603050405020304" pitchFamily="18" charset="0"/>
                <a:cs typeface="Times New Roman" panose="02020603050405020304" pitchFamily="18" charset="0"/>
              </a:rPr>
              <a:t>System Manager &amp; </a:t>
            </a:r>
            <a:r>
              <a:rPr lang="en-US" b="1" dirty="0">
                <a:latin typeface="Times New Roman" panose="02020603050405020304" pitchFamily="18" charset="0"/>
                <a:cs typeface="Times New Roman" panose="02020603050405020304" pitchFamily="18" charset="0"/>
              </a:rPr>
              <a:t>Database </a:t>
            </a:r>
            <a:r>
              <a:rPr lang="en-US" b="1" dirty="0" smtClean="0">
                <a:latin typeface="Times New Roman" panose="02020603050405020304" pitchFamily="18" charset="0"/>
                <a:cs typeface="Times New Roman" panose="02020603050405020304" pitchFamily="18" charset="0"/>
              </a:rPr>
              <a:t>Administrators</a:t>
            </a:r>
            <a:endParaRPr lang="en-US" b="1" dirty="0">
              <a:latin typeface="Times New Roman" panose="02020603050405020304" pitchFamily="18" charset="0"/>
              <a:cs typeface="Times New Roman" panose="02020603050405020304" pitchFamily="18" charset="0"/>
            </a:endParaRPr>
          </a:p>
        </p:txBody>
      </p:sp>
      <p:sp>
        <p:nvSpPr>
          <p:cNvPr id="5" name="Rectangle 3"/>
          <p:cNvSpPr txBox="1">
            <a:spLocks noChangeArrowheads="1"/>
          </p:cNvSpPr>
          <p:nvPr/>
        </p:nvSpPr>
        <p:spPr bwMode="auto">
          <a:xfrm>
            <a:off x="467544" y="1440160"/>
            <a:ext cx="8147248" cy="5301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US" sz="2200" b="1" dirty="0" smtClean="0">
                <a:latin typeface="Times New Roman" panose="02020603050405020304" pitchFamily="18" charset="0"/>
                <a:cs typeface="Times New Roman" panose="02020603050405020304" pitchFamily="18" charset="0"/>
              </a:rPr>
              <a:t>Information </a:t>
            </a:r>
            <a:r>
              <a:rPr lang="en-US" sz="2200" b="1" dirty="0">
                <a:latin typeface="Times New Roman" panose="02020603050405020304" pitchFamily="18" charset="0"/>
                <a:cs typeface="Times New Roman" panose="02020603050405020304" pitchFamily="18" charset="0"/>
              </a:rPr>
              <a:t>system manager</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Information system managers oversee the work of programmers, computer specialists, </a:t>
            </a:r>
            <a:r>
              <a:rPr lang="en-US" sz="2200" dirty="0" smtClean="0">
                <a:latin typeface="Times New Roman" panose="02020603050405020304" pitchFamily="18" charset="0"/>
                <a:cs typeface="Times New Roman" panose="02020603050405020304" pitchFamily="18" charset="0"/>
              </a:rPr>
              <a:t>system analysts</a:t>
            </a:r>
            <a:r>
              <a:rPr lang="en-US" sz="2200" dirty="0">
                <a:latin typeface="Times New Roman" panose="02020603050405020304" pitchFamily="18" charset="0"/>
                <a:cs typeface="Times New Roman" panose="02020603050405020304" pitchFamily="18" charset="0"/>
              </a:rPr>
              <a:t>, and other computer professionals. </a:t>
            </a:r>
            <a:endParaRPr lang="en-US" sz="22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200" dirty="0" smtClean="0">
                <a:latin typeface="Times New Roman" panose="02020603050405020304" pitchFamily="18" charset="0"/>
                <a:cs typeface="Times New Roman" panose="02020603050405020304" pitchFamily="18" charset="0"/>
              </a:rPr>
              <a:t>They </a:t>
            </a:r>
            <a:r>
              <a:rPr lang="en-US" sz="2200" dirty="0">
                <a:latin typeface="Times New Roman" panose="02020603050405020304" pitchFamily="18" charset="0"/>
                <a:cs typeface="Times New Roman" panose="02020603050405020304" pitchFamily="18" charset="0"/>
              </a:rPr>
              <a:t>create and implement corporate </a:t>
            </a:r>
            <a:r>
              <a:rPr lang="en-US" sz="2200" dirty="0" smtClean="0">
                <a:latin typeface="Times New Roman" panose="02020603050405020304" pitchFamily="18" charset="0"/>
                <a:cs typeface="Times New Roman" panose="02020603050405020304" pitchFamily="18" charset="0"/>
              </a:rPr>
              <a:t>computer policy </a:t>
            </a:r>
            <a:r>
              <a:rPr lang="en-US" sz="2200" dirty="0">
                <a:latin typeface="Times New Roman" panose="02020603050405020304" pitchFamily="18" charset="0"/>
                <a:cs typeface="Times New Roman" panose="02020603050405020304" pitchFamily="18" charset="0"/>
              </a:rPr>
              <a:t>and systems. </a:t>
            </a:r>
            <a:endParaRPr lang="en-US" sz="22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200" dirty="0" smtClean="0">
                <a:latin typeface="Times New Roman" panose="02020603050405020304" pitchFamily="18" charset="0"/>
                <a:cs typeface="Times New Roman" panose="02020603050405020304" pitchFamily="18" charset="0"/>
              </a:rPr>
              <a:t>These </a:t>
            </a:r>
            <a:r>
              <a:rPr lang="en-US" sz="2200" dirty="0">
                <a:latin typeface="Times New Roman" panose="02020603050405020304" pitchFamily="18" charset="0"/>
                <a:cs typeface="Times New Roman" panose="02020603050405020304" pitchFamily="18" charset="0"/>
              </a:rPr>
              <a:t>professionals consult with management, staff and customers </a:t>
            </a:r>
            <a:r>
              <a:rPr lang="en-US" sz="2200" dirty="0" smtClean="0">
                <a:latin typeface="Times New Roman" panose="02020603050405020304" pitchFamily="18" charset="0"/>
                <a:cs typeface="Times New Roman" panose="02020603050405020304" pitchFamily="18" charset="0"/>
              </a:rPr>
              <a:t>to achieve </a:t>
            </a:r>
            <a:r>
              <a:rPr lang="en-US" sz="2200" dirty="0">
                <a:latin typeface="Times New Roman" panose="02020603050405020304" pitchFamily="18" charset="0"/>
                <a:cs typeface="Times New Roman" panose="02020603050405020304" pitchFamily="18" charset="0"/>
              </a:rPr>
              <a:t>goals</a:t>
            </a:r>
            <a:r>
              <a:rPr lang="en-US" sz="2200" dirty="0" smtClean="0">
                <a:latin typeface="Times New Roman" panose="02020603050405020304" pitchFamily="18" charset="0"/>
                <a:cs typeface="Times New Roman" panose="02020603050405020304" pitchFamily="18" charset="0"/>
              </a:rPr>
              <a:t>.</a:t>
            </a:r>
          </a:p>
          <a:p>
            <a:r>
              <a:rPr lang="en-US" sz="2200" b="1" dirty="0" smtClean="0">
                <a:latin typeface="Times New Roman" panose="02020603050405020304" pitchFamily="18" charset="0"/>
                <a:cs typeface="Times New Roman" panose="02020603050405020304" pitchFamily="18" charset="0"/>
              </a:rPr>
              <a:t>Database </a:t>
            </a:r>
            <a:r>
              <a:rPr lang="en-US" sz="2200" b="1" dirty="0">
                <a:latin typeface="Times New Roman" panose="02020603050405020304" pitchFamily="18" charset="0"/>
                <a:cs typeface="Times New Roman" panose="02020603050405020304" pitchFamily="18" charset="0"/>
              </a:rPr>
              <a:t>administrators</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Database administrators use database management software to determine the most </a:t>
            </a:r>
            <a:r>
              <a:rPr lang="en-US" sz="2200" dirty="0" smtClean="0">
                <a:latin typeface="Times New Roman" panose="02020603050405020304" pitchFamily="18" charset="0"/>
                <a:cs typeface="Times New Roman" panose="02020603050405020304" pitchFamily="18" charset="0"/>
              </a:rPr>
              <a:t>efficient ways </a:t>
            </a:r>
            <a:r>
              <a:rPr lang="en-US" sz="2200" dirty="0">
                <a:latin typeface="Times New Roman" panose="02020603050405020304" pitchFamily="18" charset="0"/>
                <a:cs typeface="Times New Roman" panose="02020603050405020304" pitchFamily="18" charset="0"/>
              </a:rPr>
              <a:t>to organize and access a company’s data. </a:t>
            </a:r>
            <a:endParaRPr lang="en-US" sz="2200"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200" dirty="0" smtClean="0">
                <a:latin typeface="Times New Roman" panose="02020603050405020304" pitchFamily="18" charset="0"/>
                <a:cs typeface="Times New Roman" panose="02020603050405020304" pitchFamily="18" charset="0"/>
              </a:rPr>
              <a:t>They </a:t>
            </a:r>
            <a:r>
              <a:rPr lang="en-US" sz="2200" dirty="0">
                <a:latin typeface="Times New Roman" panose="02020603050405020304" pitchFamily="18" charset="0"/>
                <a:cs typeface="Times New Roman" panose="02020603050405020304" pitchFamily="18" charset="0"/>
              </a:rPr>
              <a:t>are responsible for maintaining </a:t>
            </a:r>
            <a:r>
              <a:rPr lang="en-US" sz="2200" dirty="0" smtClean="0">
                <a:latin typeface="Times New Roman" panose="02020603050405020304" pitchFamily="18" charset="0"/>
                <a:cs typeface="Times New Roman" panose="02020603050405020304" pitchFamily="18" charset="0"/>
              </a:rPr>
              <a:t>database security </a:t>
            </a:r>
            <a:r>
              <a:rPr lang="en-US" sz="2200" dirty="0">
                <a:latin typeface="Times New Roman" panose="02020603050405020304" pitchFamily="18" charset="0"/>
                <a:cs typeface="Times New Roman" panose="02020603050405020304" pitchFamily="18" charset="0"/>
              </a:rPr>
              <a:t>and backing up systems.</a:t>
            </a:r>
          </a:p>
          <a:p>
            <a:pPr>
              <a:buFont typeface="Wingdings" panose="05000000000000000000" pitchFamily="2" charset="2"/>
              <a:buChar char="Ø"/>
            </a:pPr>
            <a:r>
              <a:rPr lang="en-US" sz="2200" b="1" i="1" dirty="0">
                <a:latin typeface="Times New Roman" panose="02020603050405020304" pitchFamily="18" charset="0"/>
                <a:cs typeface="Times New Roman" panose="02020603050405020304" pitchFamily="18" charset="0"/>
              </a:rPr>
              <a:t>Certifications – </a:t>
            </a:r>
            <a:r>
              <a:rPr lang="en-US" sz="2200" dirty="0">
                <a:latin typeface="Times New Roman" panose="02020603050405020304" pitchFamily="18" charset="0"/>
                <a:cs typeface="Times New Roman" panose="02020603050405020304" pitchFamily="18" charset="0"/>
              </a:rPr>
              <a:t>MySQL Server, Oracle, and Sybase.</a:t>
            </a:r>
            <a:endParaRPr lang="en-US" sz="22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062996"/>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484785"/>
          </a:xfrm>
        </p:spPr>
        <p:txBody>
          <a:bodyPr>
            <a:noAutofit/>
          </a:bodyPr>
          <a:lstStyle/>
          <a:p>
            <a:pPr algn="ctr"/>
            <a:r>
              <a:rPr lang="en-US" sz="4800" b="1" dirty="0">
                <a:latin typeface="Times New Roman" panose="02020603050405020304" pitchFamily="18" charset="0"/>
                <a:cs typeface="Times New Roman" panose="02020603050405020304" pitchFamily="18" charset="0"/>
              </a:rPr>
              <a:t>Systems </a:t>
            </a:r>
            <a:r>
              <a:rPr lang="en-US" sz="4800" b="1" dirty="0" smtClean="0">
                <a:latin typeface="Times New Roman" panose="02020603050405020304" pitchFamily="18" charset="0"/>
                <a:cs typeface="Times New Roman" panose="02020603050405020304" pitchFamily="18" charset="0"/>
              </a:rPr>
              <a:t>Analyst</a:t>
            </a:r>
            <a:r>
              <a:rPr lang="en-US" sz="4800" b="1" dirty="0">
                <a:latin typeface="Times New Roman" panose="02020603050405020304" pitchFamily="18" charset="0"/>
                <a:cs typeface="Times New Roman" panose="02020603050405020304" pitchFamily="18" charset="0"/>
              </a:rPr>
              <a:t/>
            </a:r>
            <a:br>
              <a:rPr lang="en-US" sz="4800" b="1" dirty="0">
                <a:latin typeface="Times New Roman" panose="02020603050405020304" pitchFamily="18" charset="0"/>
                <a:cs typeface="Times New Roman" panose="02020603050405020304" pitchFamily="18" charset="0"/>
              </a:rPr>
            </a:br>
            <a:r>
              <a:rPr lang="en-US" sz="4800" b="1" dirty="0" smtClean="0">
                <a:latin typeface="Times New Roman" panose="02020603050405020304" pitchFamily="18" charset="0"/>
                <a:cs typeface="Times New Roman" panose="02020603050405020304" pitchFamily="18" charset="0"/>
              </a:rPr>
              <a:t>&amp; </a:t>
            </a:r>
            <a:r>
              <a:rPr lang="en-US" sz="4800" b="1" dirty="0">
                <a:latin typeface="Times New Roman" panose="02020603050405020304" pitchFamily="18" charset="0"/>
                <a:cs typeface="Times New Roman" panose="02020603050405020304" pitchFamily="18" charset="0"/>
              </a:rPr>
              <a:t>Computer </a:t>
            </a:r>
            <a:r>
              <a:rPr lang="en-US" sz="4800" b="1" dirty="0" smtClean="0">
                <a:latin typeface="Times New Roman" panose="02020603050405020304" pitchFamily="18" charset="0"/>
                <a:cs typeface="Times New Roman" panose="02020603050405020304" pitchFamily="18" charset="0"/>
              </a:rPr>
              <a:t>Programmers</a:t>
            </a:r>
            <a:endParaRPr lang="en-US" sz="4800" b="1" dirty="0">
              <a:latin typeface="Times New Roman" panose="02020603050405020304" pitchFamily="18" charset="0"/>
              <a:cs typeface="Times New Roman" panose="02020603050405020304" pitchFamily="18" charset="0"/>
            </a:endParaRPr>
          </a:p>
        </p:txBody>
      </p:sp>
      <p:sp>
        <p:nvSpPr>
          <p:cNvPr id="5" name="Rectangle 3"/>
          <p:cNvSpPr txBox="1">
            <a:spLocks noChangeArrowheads="1"/>
          </p:cNvSpPr>
          <p:nvPr/>
        </p:nvSpPr>
        <p:spPr bwMode="auto">
          <a:xfrm>
            <a:off x="467544" y="1440160"/>
            <a:ext cx="8147248" cy="5301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100" b="1" dirty="0" smtClean="0">
                <a:latin typeface="Times New Roman" panose="02020603050405020304" pitchFamily="18" charset="0"/>
                <a:cs typeface="Times New Roman" panose="02020603050405020304" pitchFamily="18" charset="0"/>
              </a:rPr>
              <a:t>Systems </a:t>
            </a:r>
            <a:r>
              <a:rPr lang="en-US" sz="2100" b="1" dirty="0">
                <a:latin typeface="Times New Roman" panose="02020603050405020304" pitchFamily="18" charset="0"/>
                <a:cs typeface="Times New Roman" panose="02020603050405020304" pitchFamily="18" charset="0"/>
              </a:rPr>
              <a:t>analyst</a:t>
            </a:r>
          </a:p>
          <a:p>
            <a:pPr>
              <a:lnSpc>
                <a:spcPct val="150000"/>
              </a:lnSpc>
              <a:buFont typeface="Wingdings" panose="05000000000000000000" pitchFamily="2" charset="2"/>
              <a:buChar char="Ø"/>
            </a:pPr>
            <a:r>
              <a:rPr lang="en-US" sz="2100" dirty="0">
                <a:latin typeface="Times New Roman" panose="02020603050405020304" pitchFamily="18" charset="0"/>
                <a:cs typeface="Times New Roman" panose="02020603050405020304" pitchFamily="18" charset="0"/>
              </a:rPr>
              <a:t>A Systems analyst follows the steps described in the systems development life cycle.</a:t>
            </a:r>
          </a:p>
          <a:p>
            <a:pPr>
              <a:lnSpc>
                <a:spcPct val="150000"/>
              </a:lnSpc>
              <a:buFont typeface="Wingdings" panose="05000000000000000000" pitchFamily="2" charset="2"/>
              <a:buChar char="Ø"/>
            </a:pPr>
            <a:r>
              <a:rPr lang="en-US" sz="2100" dirty="0">
                <a:latin typeface="Times New Roman" panose="02020603050405020304" pitchFamily="18" charset="0"/>
                <a:cs typeface="Times New Roman" panose="02020603050405020304" pitchFamily="18" charset="0"/>
              </a:rPr>
              <a:t>Analysts plan and design new systems or reorganize a company’s computer resources to </a:t>
            </a:r>
            <a:r>
              <a:rPr lang="en-US" sz="2100" dirty="0" smtClean="0">
                <a:latin typeface="Times New Roman" panose="02020603050405020304" pitchFamily="18" charset="0"/>
                <a:cs typeface="Times New Roman" panose="02020603050405020304" pitchFamily="18" charset="0"/>
              </a:rPr>
              <a:t>best utilize </a:t>
            </a:r>
            <a:r>
              <a:rPr lang="en-US" sz="2100" dirty="0">
                <a:latin typeface="Times New Roman" panose="02020603050405020304" pitchFamily="18" charset="0"/>
                <a:cs typeface="Times New Roman" panose="02020603050405020304" pitchFamily="18" charset="0"/>
              </a:rPr>
              <a:t>them</a:t>
            </a:r>
            <a:r>
              <a:rPr lang="en-US" sz="2100" dirty="0" smtClean="0">
                <a:latin typeface="Times New Roman" panose="02020603050405020304" pitchFamily="18" charset="0"/>
                <a:cs typeface="Times New Roman" panose="02020603050405020304" pitchFamily="18" charset="0"/>
              </a:rPr>
              <a:t>.</a:t>
            </a:r>
          </a:p>
          <a:p>
            <a:pPr>
              <a:lnSpc>
                <a:spcPct val="150000"/>
              </a:lnSpc>
            </a:pPr>
            <a:r>
              <a:rPr lang="en-US" sz="2100" b="1" dirty="0" smtClean="0">
                <a:latin typeface="Times New Roman" panose="02020603050405020304" pitchFamily="18" charset="0"/>
                <a:cs typeface="Times New Roman" panose="02020603050405020304" pitchFamily="18" charset="0"/>
              </a:rPr>
              <a:t>Computer </a:t>
            </a:r>
            <a:r>
              <a:rPr lang="en-US" sz="2100" b="1" dirty="0">
                <a:latin typeface="Times New Roman" panose="02020603050405020304" pitchFamily="18" charset="0"/>
                <a:cs typeface="Times New Roman" panose="02020603050405020304" pitchFamily="18" charset="0"/>
              </a:rPr>
              <a:t>programmers</a:t>
            </a:r>
          </a:p>
          <a:p>
            <a:pPr>
              <a:lnSpc>
                <a:spcPct val="150000"/>
              </a:lnSpc>
            </a:pPr>
            <a:r>
              <a:rPr lang="en-US" sz="2100" dirty="0">
                <a:latin typeface="Times New Roman" panose="02020603050405020304" pitchFamily="18" charset="0"/>
                <a:cs typeface="Times New Roman" panose="02020603050405020304" pitchFamily="18" charset="0"/>
              </a:rPr>
              <a:t>Computer programmers create, test, and troubleshoot programs used by computers.</a:t>
            </a:r>
          </a:p>
          <a:p>
            <a:pPr>
              <a:lnSpc>
                <a:spcPct val="150000"/>
              </a:lnSpc>
            </a:pPr>
            <a:r>
              <a:rPr lang="en-US" sz="2100" dirty="0">
                <a:latin typeface="Times New Roman" panose="02020603050405020304" pitchFamily="18" charset="0"/>
                <a:cs typeface="Times New Roman" panose="02020603050405020304" pitchFamily="18" charset="0"/>
              </a:rPr>
              <a:t>Programmers may also update and repair existing programs.</a:t>
            </a:r>
          </a:p>
          <a:p>
            <a:pPr>
              <a:lnSpc>
                <a:spcPct val="150000"/>
              </a:lnSpc>
            </a:pPr>
            <a:r>
              <a:rPr lang="en-US" sz="2100" b="1" dirty="0">
                <a:latin typeface="Times New Roman" panose="02020603050405020304" pitchFamily="18" charset="0"/>
                <a:cs typeface="Times New Roman" panose="02020603050405020304" pitchFamily="18" charset="0"/>
              </a:rPr>
              <a:t>Certifications </a:t>
            </a:r>
            <a:r>
              <a:rPr lang="en-US" sz="2100" dirty="0">
                <a:latin typeface="Times New Roman" panose="02020603050405020304" pitchFamily="18" charset="0"/>
                <a:cs typeface="Times New Roman" panose="02020603050405020304" pitchFamily="18" charset="0"/>
              </a:rPr>
              <a:t>– Java, C++, Visual Basic and knowledge of SQL.</a:t>
            </a:r>
            <a:endParaRPr lang="en-US" sz="21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7466965"/>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484785"/>
          </a:xfrm>
        </p:spPr>
        <p:txBody>
          <a:bodyPr>
            <a:noAutofit/>
          </a:bodyPr>
          <a:lstStyle/>
          <a:p>
            <a:pPr algn="ctr"/>
            <a:r>
              <a:rPr lang="en-US" sz="4000" b="1" dirty="0">
                <a:latin typeface="Times New Roman" panose="02020603050405020304" pitchFamily="18" charset="0"/>
                <a:cs typeface="Times New Roman" panose="02020603050405020304" pitchFamily="18" charset="0"/>
              </a:rPr>
              <a:t>OTHER AREAS OF EXPERTISE/ORGANAISATION</a:t>
            </a:r>
            <a:endParaRPr lang="en-US" sz="4000" b="1" dirty="0">
              <a:latin typeface="Times New Roman" panose="02020603050405020304" pitchFamily="18" charset="0"/>
              <a:cs typeface="Times New Roman" panose="02020603050405020304" pitchFamily="18" charset="0"/>
            </a:endParaRPr>
          </a:p>
        </p:txBody>
      </p:sp>
      <p:sp>
        <p:nvSpPr>
          <p:cNvPr id="5" name="Rectangle 3"/>
          <p:cNvSpPr txBox="1">
            <a:spLocks noChangeArrowheads="1"/>
          </p:cNvSpPr>
          <p:nvPr/>
        </p:nvSpPr>
        <p:spPr bwMode="auto">
          <a:xfrm>
            <a:off x="467544" y="1440160"/>
            <a:ext cx="4032448" cy="5301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300" dirty="0" smtClean="0">
                <a:latin typeface="Times New Roman" panose="02020603050405020304" pitchFamily="18" charset="0"/>
                <a:cs typeface="Times New Roman" panose="02020603050405020304" pitchFamily="18" charset="0"/>
              </a:rPr>
              <a:t>Hardware</a:t>
            </a:r>
            <a:endParaRPr lang="en-US" sz="2300" dirty="0">
              <a:latin typeface="Times New Roman" panose="02020603050405020304" pitchFamily="18" charset="0"/>
              <a:cs typeface="Times New Roman" panose="02020603050405020304" pitchFamily="18" charset="0"/>
            </a:endParaRPr>
          </a:p>
          <a:p>
            <a:pPr marL="717550">
              <a:lnSpc>
                <a:spcPct val="150000"/>
              </a:lnSpc>
              <a:buFont typeface="Wingdings" panose="05000000000000000000" pitchFamily="2" charset="2"/>
              <a:buChar char="Ø"/>
            </a:pPr>
            <a:r>
              <a:rPr lang="en-US" sz="2300" dirty="0" smtClean="0">
                <a:latin typeface="Times New Roman" panose="02020603050405020304" pitchFamily="18" charset="0"/>
                <a:cs typeface="Times New Roman" panose="02020603050405020304" pitchFamily="18" charset="0"/>
              </a:rPr>
              <a:t>Cisco </a:t>
            </a:r>
            <a:r>
              <a:rPr lang="en-US" sz="2300" dirty="0">
                <a:latin typeface="Times New Roman" panose="02020603050405020304" pitchFamily="18" charset="0"/>
                <a:cs typeface="Times New Roman" panose="02020603050405020304" pitchFamily="18" charset="0"/>
              </a:rPr>
              <a:t>Products</a:t>
            </a:r>
          </a:p>
          <a:p>
            <a:pPr marL="717550">
              <a:lnSpc>
                <a:spcPct val="150000"/>
              </a:lnSpc>
              <a:buFont typeface="Wingdings" panose="05000000000000000000" pitchFamily="2" charset="2"/>
              <a:buChar char="Ø"/>
            </a:pPr>
            <a:r>
              <a:rPr lang="en-US" sz="2300" dirty="0" smtClean="0">
                <a:latin typeface="Times New Roman" panose="02020603050405020304" pitchFamily="18" charset="0"/>
                <a:cs typeface="Times New Roman" panose="02020603050405020304" pitchFamily="18" charset="0"/>
              </a:rPr>
              <a:t>D-link</a:t>
            </a:r>
            <a:endParaRPr lang="en-US" sz="2300" dirty="0">
              <a:latin typeface="Times New Roman" panose="02020603050405020304" pitchFamily="18" charset="0"/>
              <a:cs typeface="Times New Roman" panose="02020603050405020304" pitchFamily="18" charset="0"/>
            </a:endParaRPr>
          </a:p>
          <a:p>
            <a:pPr marL="717550">
              <a:lnSpc>
                <a:spcPct val="150000"/>
              </a:lnSpc>
              <a:buFont typeface="Wingdings" panose="05000000000000000000" pitchFamily="2" charset="2"/>
              <a:buChar char="Ø"/>
            </a:pPr>
            <a:r>
              <a:rPr lang="en-US" sz="2300" dirty="0" smtClean="0">
                <a:latin typeface="Times New Roman" panose="02020603050405020304" pitchFamily="18" charset="0"/>
                <a:cs typeface="Times New Roman" panose="02020603050405020304" pitchFamily="18" charset="0"/>
              </a:rPr>
              <a:t>Linksys</a:t>
            </a:r>
            <a:endParaRPr lang="en-US" sz="2300" dirty="0">
              <a:latin typeface="Times New Roman" panose="02020603050405020304" pitchFamily="18" charset="0"/>
              <a:cs typeface="Times New Roman" panose="02020603050405020304" pitchFamily="18" charset="0"/>
            </a:endParaRPr>
          </a:p>
          <a:p>
            <a:pPr>
              <a:lnSpc>
                <a:spcPct val="150000"/>
              </a:lnSpc>
            </a:pPr>
            <a:r>
              <a:rPr lang="en-US" sz="2300" dirty="0" smtClean="0">
                <a:latin typeface="Times New Roman" panose="02020603050405020304" pitchFamily="18" charset="0"/>
                <a:cs typeface="Times New Roman" panose="02020603050405020304" pitchFamily="18" charset="0"/>
              </a:rPr>
              <a:t>Software</a:t>
            </a:r>
            <a:endParaRPr lang="en-US" sz="2300" dirty="0">
              <a:latin typeface="Times New Roman" panose="02020603050405020304" pitchFamily="18" charset="0"/>
              <a:cs typeface="Times New Roman" panose="02020603050405020304" pitchFamily="18" charset="0"/>
            </a:endParaRPr>
          </a:p>
          <a:p>
            <a:pPr marL="717550">
              <a:lnSpc>
                <a:spcPct val="150000"/>
              </a:lnSpc>
              <a:buFont typeface="Wingdings" panose="05000000000000000000" pitchFamily="2" charset="2"/>
              <a:buChar char="Ø"/>
            </a:pPr>
            <a:r>
              <a:rPr lang="en-US" sz="2300" dirty="0" smtClean="0">
                <a:latin typeface="Times New Roman" panose="02020603050405020304" pitchFamily="18" charset="0"/>
                <a:cs typeface="Times New Roman" panose="02020603050405020304" pitchFamily="18" charset="0"/>
              </a:rPr>
              <a:t>Microsoft </a:t>
            </a:r>
            <a:r>
              <a:rPr lang="en-US" sz="2300" dirty="0">
                <a:latin typeface="Times New Roman" panose="02020603050405020304" pitchFamily="18" charset="0"/>
                <a:cs typeface="Times New Roman" panose="02020603050405020304" pitchFamily="18" charset="0"/>
              </a:rPr>
              <a:t>Products</a:t>
            </a:r>
          </a:p>
          <a:p>
            <a:pPr marL="717550">
              <a:lnSpc>
                <a:spcPct val="150000"/>
              </a:lnSpc>
              <a:buFont typeface="Wingdings" panose="05000000000000000000" pitchFamily="2" charset="2"/>
              <a:buChar char="Ø"/>
            </a:pPr>
            <a:r>
              <a:rPr lang="en-US" sz="2300" dirty="0" smtClean="0">
                <a:latin typeface="Times New Roman" panose="02020603050405020304" pitchFamily="18" charset="0"/>
                <a:cs typeface="Times New Roman" panose="02020603050405020304" pitchFamily="18" charset="0"/>
              </a:rPr>
              <a:t>Linux </a:t>
            </a:r>
            <a:r>
              <a:rPr lang="en-US" sz="2300" dirty="0">
                <a:latin typeface="Times New Roman" panose="02020603050405020304" pitchFamily="18" charset="0"/>
                <a:cs typeface="Times New Roman" panose="02020603050405020304" pitchFamily="18" charset="0"/>
              </a:rPr>
              <a:t>(Red Hat, </a:t>
            </a:r>
            <a:r>
              <a:rPr lang="en-US" sz="2300" dirty="0" err="1">
                <a:latin typeface="Times New Roman" panose="02020603050405020304" pitchFamily="18" charset="0"/>
                <a:cs typeface="Times New Roman" panose="02020603050405020304" pitchFamily="18" charset="0"/>
              </a:rPr>
              <a:t>Unbutu</a:t>
            </a:r>
            <a:r>
              <a:rPr lang="en-US" sz="2300" dirty="0">
                <a:latin typeface="Times New Roman" panose="02020603050405020304" pitchFamily="18" charset="0"/>
                <a:cs typeface="Times New Roman" panose="02020603050405020304" pitchFamily="18" charset="0"/>
              </a:rPr>
              <a:t>, and Fedora) </a:t>
            </a:r>
            <a:endParaRPr lang="en-US" sz="2300" dirty="0" smtClean="0">
              <a:latin typeface="Times New Roman" panose="02020603050405020304" pitchFamily="18" charset="0"/>
              <a:cs typeface="Times New Roman" panose="02020603050405020304" pitchFamily="18" charset="0"/>
            </a:endParaRPr>
          </a:p>
          <a:p>
            <a:pPr marL="717550">
              <a:lnSpc>
                <a:spcPct val="150000"/>
              </a:lnSpc>
              <a:buFont typeface="Wingdings" panose="05000000000000000000" pitchFamily="2" charset="2"/>
              <a:buChar char="Ø"/>
            </a:pPr>
            <a:r>
              <a:rPr lang="en-US" sz="2300" dirty="0" smtClean="0">
                <a:latin typeface="Times New Roman" panose="02020603050405020304" pitchFamily="18" charset="0"/>
                <a:cs typeface="Times New Roman" panose="02020603050405020304" pitchFamily="18" charset="0"/>
              </a:rPr>
              <a:t>Open </a:t>
            </a:r>
            <a:r>
              <a:rPr lang="en-US" sz="2300" dirty="0">
                <a:latin typeface="Times New Roman" panose="02020603050405020304" pitchFamily="18" charset="0"/>
                <a:cs typeface="Times New Roman" panose="02020603050405020304" pitchFamily="18" charset="0"/>
              </a:rPr>
              <a:t>Source: </a:t>
            </a:r>
            <a:r>
              <a:rPr lang="en-US" sz="2300" dirty="0" smtClean="0">
                <a:latin typeface="Times New Roman" panose="02020603050405020304" pitchFamily="18" charset="0"/>
                <a:cs typeface="Times New Roman" panose="02020603050405020304" pitchFamily="18" charset="0"/>
              </a:rPr>
              <a:t>Free</a:t>
            </a:r>
          </a:p>
        </p:txBody>
      </p:sp>
      <p:sp>
        <p:nvSpPr>
          <p:cNvPr id="4" name="Rectangle 3"/>
          <p:cNvSpPr txBox="1">
            <a:spLocks noChangeArrowheads="1"/>
          </p:cNvSpPr>
          <p:nvPr/>
        </p:nvSpPr>
        <p:spPr bwMode="auto">
          <a:xfrm>
            <a:off x="4572000" y="1484784"/>
            <a:ext cx="4032448" cy="5301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sz="2300" dirty="0" smtClean="0">
                <a:latin typeface="Times New Roman" panose="02020603050405020304" pitchFamily="18" charset="0"/>
                <a:cs typeface="Times New Roman" panose="02020603050405020304" pitchFamily="18" charset="0"/>
              </a:rPr>
              <a:t>Database</a:t>
            </a:r>
            <a:endParaRPr lang="en-US" sz="2300" dirty="0">
              <a:latin typeface="Times New Roman" panose="02020603050405020304" pitchFamily="18" charset="0"/>
              <a:cs typeface="Times New Roman" panose="02020603050405020304" pitchFamily="18" charset="0"/>
            </a:endParaRPr>
          </a:p>
          <a:p>
            <a:pPr marL="717550">
              <a:lnSpc>
                <a:spcPct val="150000"/>
              </a:lnSpc>
              <a:buFont typeface="Wingdings" panose="05000000000000000000" pitchFamily="2" charset="2"/>
              <a:buChar char="Ø"/>
              <a:tabLst>
                <a:tab pos="717550" algn="l"/>
              </a:tabLst>
            </a:pPr>
            <a:r>
              <a:rPr lang="en-US" sz="2300" dirty="0" smtClean="0">
                <a:latin typeface="Times New Roman" panose="02020603050405020304" pitchFamily="18" charset="0"/>
                <a:cs typeface="Times New Roman" panose="02020603050405020304" pitchFamily="18" charset="0"/>
              </a:rPr>
              <a:t>Oracle</a:t>
            </a:r>
            <a:endParaRPr lang="en-US" sz="2300" dirty="0">
              <a:latin typeface="Times New Roman" panose="02020603050405020304" pitchFamily="18" charset="0"/>
              <a:cs typeface="Times New Roman" panose="02020603050405020304" pitchFamily="18" charset="0"/>
            </a:endParaRPr>
          </a:p>
          <a:p>
            <a:pPr marL="717550">
              <a:lnSpc>
                <a:spcPct val="150000"/>
              </a:lnSpc>
              <a:buFont typeface="Wingdings" panose="05000000000000000000" pitchFamily="2" charset="2"/>
              <a:buChar char="Ø"/>
              <a:tabLst>
                <a:tab pos="717550" algn="l"/>
              </a:tabLst>
            </a:pPr>
            <a:r>
              <a:rPr lang="en-US" sz="2300" dirty="0" smtClean="0">
                <a:latin typeface="Times New Roman" panose="02020603050405020304" pitchFamily="18" charset="0"/>
                <a:cs typeface="Times New Roman" panose="02020603050405020304" pitchFamily="18" charset="0"/>
              </a:rPr>
              <a:t>MySQL </a:t>
            </a:r>
          </a:p>
          <a:p>
            <a:pPr marL="717550">
              <a:lnSpc>
                <a:spcPct val="150000"/>
              </a:lnSpc>
              <a:buFont typeface="Wingdings" panose="05000000000000000000" pitchFamily="2" charset="2"/>
              <a:buChar char="Ø"/>
              <a:tabLst>
                <a:tab pos="717550" algn="l"/>
              </a:tabLst>
            </a:pPr>
            <a:r>
              <a:rPr lang="en-US" sz="2300" dirty="0" smtClean="0">
                <a:latin typeface="Times New Roman" panose="02020603050405020304" pitchFamily="18" charset="0"/>
                <a:cs typeface="Times New Roman" panose="02020603050405020304" pitchFamily="18" charset="0"/>
              </a:rPr>
              <a:t>Open </a:t>
            </a:r>
            <a:r>
              <a:rPr lang="en-US" sz="2300" dirty="0">
                <a:latin typeface="Times New Roman" panose="02020603050405020304" pitchFamily="18" charset="0"/>
                <a:cs typeface="Times New Roman" panose="02020603050405020304" pitchFamily="18" charset="0"/>
              </a:rPr>
              <a:t>Source: Free</a:t>
            </a:r>
          </a:p>
          <a:p>
            <a:pPr>
              <a:lnSpc>
                <a:spcPct val="150000"/>
              </a:lnSpc>
            </a:pPr>
            <a:r>
              <a:rPr lang="en-US" sz="2300" dirty="0" smtClean="0">
                <a:latin typeface="Times New Roman" panose="02020603050405020304" pitchFamily="18" charset="0"/>
                <a:cs typeface="Times New Roman" panose="02020603050405020304" pitchFamily="18" charset="0"/>
              </a:rPr>
              <a:t>Web </a:t>
            </a:r>
            <a:r>
              <a:rPr lang="en-US" sz="2300" dirty="0">
                <a:latin typeface="Times New Roman" panose="02020603050405020304" pitchFamily="18" charset="0"/>
                <a:cs typeface="Times New Roman" panose="02020603050405020304" pitchFamily="18" charset="0"/>
              </a:rPr>
              <a:t>design</a:t>
            </a:r>
          </a:p>
          <a:p>
            <a:pPr marL="717550">
              <a:lnSpc>
                <a:spcPct val="150000"/>
              </a:lnSpc>
              <a:buFont typeface="Wingdings" panose="05000000000000000000" pitchFamily="2" charset="2"/>
              <a:buChar char="Ø"/>
              <a:tabLst>
                <a:tab pos="717550" algn="l"/>
              </a:tabLst>
            </a:pPr>
            <a:r>
              <a:rPr lang="en-US" sz="2300" dirty="0" smtClean="0">
                <a:latin typeface="Times New Roman" panose="02020603050405020304" pitchFamily="18" charset="0"/>
                <a:cs typeface="Times New Roman" panose="02020603050405020304" pitchFamily="18" charset="0"/>
              </a:rPr>
              <a:t>PHP </a:t>
            </a:r>
            <a:r>
              <a:rPr lang="en-US" sz="2300" dirty="0">
                <a:latin typeface="Times New Roman" panose="02020603050405020304" pitchFamily="18" charset="0"/>
                <a:cs typeface="Times New Roman" panose="02020603050405020304" pitchFamily="18" charset="0"/>
              </a:rPr>
              <a:t>- Open Source: Free</a:t>
            </a:r>
          </a:p>
          <a:p>
            <a:pPr marL="717550">
              <a:lnSpc>
                <a:spcPct val="150000"/>
              </a:lnSpc>
              <a:buFont typeface="Wingdings" panose="05000000000000000000" pitchFamily="2" charset="2"/>
              <a:buChar char="Ø"/>
              <a:tabLst>
                <a:tab pos="717550" algn="l"/>
              </a:tabLst>
            </a:pPr>
            <a:r>
              <a:rPr lang="en-US" sz="2300" dirty="0" smtClean="0">
                <a:latin typeface="Times New Roman" panose="02020603050405020304" pitchFamily="18" charset="0"/>
                <a:cs typeface="Times New Roman" panose="02020603050405020304" pitchFamily="18" charset="0"/>
              </a:rPr>
              <a:t>Dream </a:t>
            </a:r>
            <a:r>
              <a:rPr lang="en-US" sz="2300" dirty="0">
                <a:latin typeface="Times New Roman" panose="02020603050405020304" pitchFamily="18" charset="0"/>
                <a:cs typeface="Times New Roman" panose="02020603050405020304" pitchFamily="18" charset="0"/>
              </a:rPr>
              <a:t>Weaver</a:t>
            </a:r>
            <a:endParaRPr lang="en-US" sz="23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59482494"/>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r>
              <a:rPr lang="en-US" sz="8800" b="1" dirty="0"/>
              <a:t>CONCLUSION</a:t>
            </a:r>
          </a:p>
        </p:txBody>
      </p:sp>
      <p:sp>
        <p:nvSpPr>
          <p:cNvPr id="5" name="Rectangle 3"/>
          <p:cNvSpPr txBox="1">
            <a:spLocks noChangeArrowheads="1"/>
          </p:cNvSpPr>
          <p:nvPr/>
        </p:nvSpPr>
        <p:spPr bwMode="auto">
          <a:xfrm>
            <a:off x="467544" y="1440160"/>
            <a:ext cx="8147248" cy="458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200000"/>
              </a:lnSpc>
            </a:pPr>
            <a:r>
              <a:rPr lang="en-US" sz="2500" dirty="0">
                <a:latin typeface="Times New Roman" panose="02020603050405020304" pitchFamily="18" charset="0"/>
                <a:cs typeface="Times New Roman" panose="02020603050405020304" pitchFamily="18" charset="0"/>
              </a:rPr>
              <a:t>Knowing the ICT positions and their responsibilities help you to prepare your CV and </a:t>
            </a:r>
            <a:r>
              <a:rPr lang="en-US" sz="2500" dirty="0" smtClean="0">
                <a:latin typeface="Times New Roman" panose="02020603050405020304" pitchFamily="18" charset="0"/>
                <a:cs typeface="Times New Roman" panose="02020603050405020304" pitchFamily="18" charset="0"/>
              </a:rPr>
              <a:t>make yourself </a:t>
            </a:r>
            <a:r>
              <a:rPr lang="en-US" sz="2500" dirty="0">
                <a:latin typeface="Times New Roman" panose="02020603050405020304" pitchFamily="18" charset="0"/>
                <a:cs typeface="Times New Roman" panose="02020603050405020304" pitchFamily="18" charset="0"/>
              </a:rPr>
              <a:t>marketable.</a:t>
            </a:r>
            <a:endParaRPr lang="en-US" sz="25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9662372"/>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60649"/>
            <a:ext cx="8229600" cy="1224136"/>
          </a:xfrm>
        </p:spPr>
        <p:txBody>
          <a:bodyPr>
            <a:noAutofit/>
          </a:bodyPr>
          <a:lstStyle/>
          <a:p>
            <a:pPr algn="ctr"/>
            <a:r>
              <a:rPr lang="en-US" sz="9600" b="1" dirty="0"/>
              <a:t>SUMMARY</a:t>
            </a:r>
          </a:p>
        </p:txBody>
      </p:sp>
      <p:sp>
        <p:nvSpPr>
          <p:cNvPr id="5" name="Rectangle 3"/>
          <p:cNvSpPr txBox="1">
            <a:spLocks noChangeArrowheads="1"/>
          </p:cNvSpPr>
          <p:nvPr/>
        </p:nvSpPr>
        <p:spPr bwMode="auto">
          <a:xfrm>
            <a:off x="467544" y="1440160"/>
            <a:ext cx="8147248" cy="5157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a:lnSpc>
                <a:spcPct val="150000"/>
              </a:lnSpc>
            </a:pPr>
            <a:r>
              <a:rPr lang="en-US" dirty="0">
                <a:latin typeface="Times New Roman" panose="02020603050405020304" pitchFamily="18" charset="0"/>
                <a:cs typeface="Times New Roman" panose="02020603050405020304" pitchFamily="18" charset="0"/>
              </a:rPr>
              <a:t>In this unit we learnt that</a:t>
            </a:r>
          </a:p>
          <a:p>
            <a:pPr marL="900113">
              <a:lnSpc>
                <a:spcPct val="150000"/>
              </a:lnSpc>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Most </a:t>
            </a:r>
            <a:r>
              <a:rPr lang="en-US" dirty="0">
                <a:latin typeface="Times New Roman" panose="02020603050405020304" pitchFamily="18" charset="0"/>
                <a:cs typeface="Times New Roman" panose="02020603050405020304" pitchFamily="18" charset="0"/>
              </a:rPr>
              <a:t>ICT professions does not require a degree in Computer Science</a:t>
            </a:r>
          </a:p>
          <a:p>
            <a:pPr marL="900113">
              <a:lnSpc>
                <a:spcPct val="150000"/>
              </a:lnSpc>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Professional </a:t>
            </a:r>
            <a:r>
              <a:rPr lang="en-US" dirty="0">
                <a:latin typeface="Times New Roman" panose="02020603050405020304" pitchFamily="18" charset="0"/>
                <a:cs typeface="Times New Roman" panose="02020603050405020304" pitchFamily="18" charset="0"/>
              </a:rPr>
              <a:t>Certifications will boost your CV.</a:t>
            </a:r>
          </a:p>
          <a:p>
            <a:pPr marL="900113">
              <a:lnSpc>
                <a:spcPct val="150000"/>
              </a:lnSpc>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You </a:t>
            </a:r>
            <a:r>
              <a:rPr lang="en-US" dirty="0">
                <a:latin typeface="Times New Roman" panose="02020603050405020304" pitchFamily="18" charset="0"/>
                <a:cs typeface="Times New Roman" panose="02020603050405020304" pitchFamily="18" charset="0"/>
              </a:rPr>
              <a:t>can start today and develop a career in ICT</a:t>
            </a:r>
          </a:p>
          <a:p>
            <a:pPr marL="900113">
              <a:lnSpc>
                <a:spcPct val="150000"/>
              </a:lnSpc>
              <a:buFont typeface="Wingdings" panose="05000000000000000000" pitchFamily="2" charset="2"/>
              <a:buChar char="Ø"/>
            </a:pPr>
            <a:r>
              <a:rPr lang="en-US" dirty="0" smtClean="0">
                <a:latin typeface="Times New Roman" panose="02020603050405020304" pitchFamily="18" charset="0"/>
                <a:cs typeface="Times New Roman" panose="02020603050405020304" pitchFamily="18" charset="0"/>
              </a:rPr>
              <a:t>Some </a:t>
            </a:r>
            <a:r>
              <a:rPr lang="en-US" dirty="0">
                <a:latin typeface="Times New Roman" panose="02020603050405020304" pitchFamily="18" charset="0"/>
                <a:cs typeface="Times New Roman" panose="02020603050405020304" pitchFamily="18" charset="0"/>
              </a:rPr>
              <a:t>key position requires knowledge in two or three field.</a:t>
            </a:r>
            <a:endParaRPr lang="en-US" sz="23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6158877"/>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0"/>
            <a:ext cx="8229600" cy="1484785"/>
          </a:xfrm>
        </p:spPr>
        <p:txBody>
          <a:bodyPr>
            <a:noAutofit/>
          </a:bodyPr>
          <a:lstStyle/>
          <a:p>
            <a:pPr algn="ctr"/>
            <a:r>
              <a:rPr lang="en-US" sz="9600" b="1" dirty="0" smtClean="0"/>
              <a:t>EXERCISE</a:t>
            </a:r>
            <a:endParaRPr lang="en-US" sz="9600" b="1" dirty="0"/>
          </a:p>
        </p:txBody>
      </p:sp>
      <p:sp>
        <p:nvSpPr>
          <p:cNvPr id="5" name="Rectangle 3"/>
          <p:cNvSpPr txBox="1">
            <a:spLocks noChangeArrowheads="1"/>
          </p:cNvSpPr>
          <p:nvPr/>
        </p:nvSpPr>
        <p:spPr bwMode="auto">
          <a:xfrm>
            <a:off x="467544" y="1440160"/>
            <a:ext cx="8147248" cy="5157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pPr marL="0" indent="0" algn="ctr">
              <a:lnSpc>
                <a:spcPct val="200000"/>
              </a:lnSpc>
              <a:buNone/>
            </a:pPr>
            <a:r>
              <a:rPr lang="en-US" sz="4000" dirty="0" smtClean="0">
                <a:latin typeface="Times New Roman" panose="02020603050405020304" pitchFamily="18" charset="0"/>
                <a:cs typeface="Times New Roman" panose="02020603050405020304" pitchFamily="18" charset="0"/>
              </a:rPr>
              <a:t>Briefly explain the </a:t>
            </a:r>
            <a:r>
              <a:rPr lang="en-US" sz="4000" dirty="0">
                <a:latin typeface="Times New Roman" panose="02020603050405020304" pitchFamily="18" charset="0"/>
                <a:cs typeface="Times New Roman" panose="02020603050405020304" pitchFamily="18" charset="0"/>
              </a:rPr>
              <a:t>measures taken to ensure ICT service </a:t>
            </a:r>
            <a:r>
              <a:rPr lang="en-US" sz="4000" dirty="0" smtClean="0">
                <a:latin typeface="Times New Roman" panose="02020603050405020304" pitchFamily="18" charset="0"/>
                <a:cs typeface="Times New Roman" panose="02020603050405020304" pitchFamily="18" charset="0"/>
              </a:rPr>
              <a:t>reliability.</a:t>
            </a:r>
            <a:endParaRPr lang="en-US" sz="40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25580697"/>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16632"/>
            <a:ext cx="8229600" cy="1368153"/>
          </a:xfrm>
        </p:spPr>
        <p:txBody>
          <a:bodyPr>
            <a:noAutofit/>
          </a:bodyPr>
          <a:lstStyle/>
          <a:p>
            <a:pPr algn="ctr"/>
            <a:r>
              <a:rPr lang="en-US" sz="9600" b="1" dirty="0" smtClean="0"/>
              <a:t>ANSWER</a:t>
            </a:r>
            <a:endParaRPr lang="en-US" sz="9600" b="1" dirty="0"/>
          </a:p>
        </p:txBody>
      </p:sp>
      <p:sp>
        <p:nvSpPr>
          <p:cNvPr id="5" name="Rectangle 3"/>
          <p:cNvSpPr txBox="1">
            <a:spLocks noChangeArrowheads="1"/>
          </p:cNvSpPr>
          <p:nvPr/>
        </p:nvSpPr>
        <p:spPr bwMode="auto">
          <a:xfrm>
            <a:off x="323528" y="1440160"/>
            <a:ext cx="8712968" cy="5301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1" fontAlgn="base" hangingPunct="1">
              <a:spcBef>
                <a:spcPct val="20000"/>
              </a:spcBef>
              <a:spcAft>
                <a:spcPct val="0"/>
              </a:spcAft>
              <a:buClr>
                <a:schemeClr val="bg2"/>
              </a:buClr>
              <a:buSzPct val="75000"/>
              <a:buFont typeface="Wingdings" panose="05000000000000000000" pitchFamily="2" charset="2"/>
              <a:buChar char="p"/>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tx2"/>
              </a:buClr>
              <a:buSzPct val="75000"/>
              <a:buFont typeface="Wingdings" panose="05000000000000000000" pitchFamily="2" charset="2"/>
              <a:buChar char="n"/>
              <a:defRPr sz="2400">
                <a:solidFill>
                  <a:schemeClr val="tx1"/>
                </a:solidFill>
                <a:latin typeface="+mn-lt"/>
                <a:cs typeface="+mn-cs"/>
              </a:defRPr>
            </a:lvl2pPr>
            <a:lvl3pPr marL="1143000" indent="-228600" algn="l" rtl="0" eaLnBrk="1" fontAlgn="base" hangingPunct="1">
              <a:spcBef>
                <a:spcPct val="20000"/>
              </a:spcBef>
              <a:spcAft>
                <a:spcPct val="0"/>
              </a:spcAft>
              <a:buClr>
                <a:schemeClr val="accent1"/>
              </a:buClr>
              <a:buSzPct val="65000"/>
              <a:buFont typeface="Wingdings" panose="05000000000000000000" pitchFamily="2" charset="2"/>
              <a:buChar char="p"/>
              <a:defRPr sz="2000">
                <a:solidFill>
                  <a:schemeClr val="tx1"/>
                </a:solidFill>
                <a:latin typeface="+mn-lt"/>
                <a:cs typeface="+mn-cs"/>
              </a:defRPr>
            </a:lvl3pPr>
            <a:lvl4pPr marL="1600200" indent="-228600" algn="l" rtl="0" eaLnBrk="1" fontAlgn="base" hangingPunct="1">
              <a:spcBef>
                <a:spcPct val="20000"/>
              </a:spcBef>
              <a:spcAft>
                <a:spcPct val="0"/>
              </a:spcAft>
              <a:buClr>
                <a:schemeClr val="bg2"/>
              </a:buClr>
              <a:buFont typeface="Wingdings" panose="05000000000000000000" pitchFamily="2" charset="2"/>
              <a:buChar char="§"/>
              <a:defRPr sz="2000">
                <a:solidFill>
                  <a:schemeClr val="tx1"/>
                </a:solidFill>
                <a:latin typeface="+mn-lt"/>
                <a:cs typeface="+mn-cs"/>
              </a:defRPr>
            </a:lvl4pPr>
            <a:lvl5pPr marL="2057400" indent="-228600" algn="l" rtl="0" eaLnBrk="1" fontAlgn="base" hangingPunct="1">
              <a:spcBef>
                <a:spcPct val="20000"/>
              </a:spcBef>
              <a:spcAft>
                <a:spcPct val="0"/>
              </a:spcAft>
              <a:buClr>
                <a:schemeClr val="tx2"/>
              </a:buClr>
              <a:buSzPct val="80000"/>
              <a:buFont typeface="Wingdings" panose="05000000000000000000" pitchFamily="2" charset="2"/>
              <a:buChar char="§"/>
              <a:defRPr sz="2000">
                <a:solidFill>
                  <a:schemeClr val="tx1"/>
                </a:solidFill>
                <a:latin typeface="+mn-lt"/>
                <a:cs typeface="+mn-cs"/>
              </a:defRPr>
            </a:lvl5pPr>
            <a:lvl6pPr marL="25146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9718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34290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3886200" indent="-228600" algn="l" rtl="0" eaLnBrk="1" fontAlgn="base"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a:lstStyle>
          <a:p>
            <a:r>
              <a:rPr lang="en-US" sz="2100" dirty="0">
                <a:latin typeface="Times New Roman" panose="02020603050405020304" pitchFamily="18" charset="0"/>
                <a:cs typeface="Times New Roman" panose="02020603050405020304" pitchFamily="18" charset="0"/>
              </a:rPr>
              <a:t>The measures taken to ensuring </a:t>
            </a:r>
            <a:r>
              <a:rPr lang="en-US" sz="2100" dirty="0" smtClean="0">
                <a:latin typeface="Times New Roman" panose="02020603050405020304" pitchFamily="18" charset="0"/>
                <a:cs typeface="Times New Roman" panose="02020603050405020304" pitchFamily="18" charset="0"/>
              </a:rPr>
              <a:t>IT </a:t>
            </a:r>
            <a:r>
              <a:rPr lang="en-US" sz="2100" dirty="0">
                <a:latin typeface="Times New Roman" panose="02020603050405020304" pitchFamily="18" charset="0"/>
                <a:cs typeface="Times New Roman" panose="02020603050405020304" pitchFamily="18" charset="0"/>
              </a:rPr>
              <a:t>service reliability are:</a:t>
            </a:r>
          </a:p>
          <a:p>
            <a:pPr marL="717550">
              <a:buFont typeface="Wingdings" panose="05000000000000000000" pitchFamily="2" charset="2"/>
              <a:buChar char="Ø"/>
            </a:pPr>
            <a:r>
              <a:rPr lang="en-US" sz="2100" b="1" i="1" dirty="0" smtClean="0">
                <a:latin typeface="Times New Roman" panose="02020603050405020304" pitchFamily="18" charset="0"/>
                <a:cs typeface="Times New Roman" panose="02020603050405020304" pitchFamily="18" charset="0"/>
              </a:rPr>
              <a:t>Fault-tolerant </a:t>
            </a:r>
            <a:r>
              <a:rPr lang="en-US" sz="2100" b="1" i="1" dirty="0">
                <a:latin typeface="Times New Roman" panose="02020603050405020304" pitchFamily="18" charset="0"/>
                <a:cs typeface="Times New Roman" panose="02020603050405020304" pitchFamily="18" charset="0"/>
              </a:rPr>
              <a:t>Computer: </a:t>
            </a:r>
            <a:r>
              <a:rPr lang="en-US" sz="2100" dirty="0">
                <a:latin typeface="Times New Roman" panose="02020603050405020304" pitchFamily="18" charset="0"/>
                <a:cs typeface="Times New Roman" panose="02020603050405020304" pitchFamily="18" charset="0"/>
              </a:rPr>
              <a:t>A computer designed with duplicate components to </a:t>
            </a:r>
            <a:r>
              <a:rPr lang="en-US" sz="2100" dirty="0" smtClean="0">
                <a:latin typeface="Times New Roman" panose="02020603050405020304" pitchFamily="18" charset="0"/>
                <a:cs typeface="Times New Roman" panose="02020603050405020304" pitchFamily="18" charset="0"/>
              </a:rPr>
              <a:t>ensure reliability</a:t>
            </a:r>
            <a:r>
              <a:rPr lang="en-US" sz="2100" dirty="0">
                <a:latin typeface="Times New Roman" panose="02020603050405020304" pitchFamily="18" charset="0"/>
                <a:cs typeface="Times New Roman" panose="02020603050405020304" pitchFamily="18" charset="0"/>
              </a:rPr>
              <a:t>.</a:t>
            </a:r>
          </a:p>
          <a:p>
            <a:pPr marL="717550">
              <a:buFont typeface="Wingdings" panose="05000000000000000000" pitchFamily="2" charset="2"/>
              <a:buChar char="Ø"/>
            </a:pPr>
            <a:r>
              <a:rPr lang="en-US" sz="2100" b="1" i="1" dirty="0" smtClean="0">
                <a:latin typeface="Times New Roman" panose="02020603050405020304" pitchFamily="18" charset="0"/>
                <a:cs typeface="Times New Roman" panose="02020603050405020304" pitchFamily="18" charset="0"/>
              </a:rPr>
              <a:t>Uninterruptible </a:t>
            </a:r>
            <a:r>
              <a:rPr lang="en-US" sz="2100" b="1" i="1" dirty="0">
                <a:latin typeface="Times New Roman" panose="02020603050405020304" pitchFamily="18" charset="0"/>
                <a:cs typeface="Times New Roman" panose="02020603050405020304" pitchFamily="18" charset="0"/>
              </a:rPr>
              <a:t>Power Supply (UPS) System</a:t>
            </a:r>
            <a:r>
              <a:rPr lang="en-US" sz="2100" i="1" dirty="0">
                <a:latin typeface="Times New Roman" panose="02020603050405020304" pitchFamily="18" charset="0"/>
                <a:cs typeface="Times New Roman" panose="02020603050405020304" pitchFamily="18" charset="0"/>
              </a:rPr>
              <a:t>: </a:t>
            </a:r>
            <a:r>
              <a:rPr lang="en-US" sz="2100" dirty="0">
                <a:latin typeface="Times New Roman" panose="02020603050405020304" pitchFamily="18" charset="0"/>
                <a:cs typeface="Times New Roman" panose="02020603050405020304" pitchFamily="18" charset="0"/>
              </a:rPr>
              <a:t>A system that ensures the continued </a:t>
            </a:r>
            <a:r>
              <a:rPr lang="en-US" sz="2100" dirty="0" smtClean="0">
                <a:latin typeface="Times New Roman" panose="02020603050405020304" pitchFamily="18" charset="0"/>
                <a:cs typeface="Times New Roman" panose="02020603050405020304" pitchFamily="18" charset="0"/>
              </a:rPr>
              <a:t>flow of </a:t>
            </a:r>
            <a:r>
              <a:rPr lang="en-US" sz="2100" dirty="0">
                <a:latin typeface="Times New Roman" panose="02020603050405020304" pitchFamily="18" charset="0"/>
                <a:cs typeface="Times New Roman" panose="02020603050405020304" pitchFamily="18" charset="0"/>
              </a:rPr>
              <a:t>electricity when the primary source of power fails.</a:t>
            </a:r>
          </a:p>
          <a:p>
            <a:pPr marL="717550">
              <a:buFont typeface="Wingdings" panose="05000000000000000000" pitchFamily="2" charset="2"/>
              <a:buChar char="Ø"/>
            </a:pPr>
            <a:r>
              <a:rPr lang="en-US" sz="2100" b="1" i="1" dirty="0" smtClean="0">
                <a:latin typeface="Times New Roman" panose="02020603050405020304" pitchFamily="18" charset="0"/>
                <a:cs typeface="Times New Roman" panose="02020603050405020304" pitchFamily="18" charset="0"/>
              </a:rPr>
              <a:t>Disaster </a:t>
            </a:r>
            <a:r>
              <a:rPr lang="en-US" sz="2100" b="1" i="1" dirty="0">
                <a:latin typeface="Times New Roman" panose="02020603050405020304" pitchFamily="18" charset="0"/>
                <a:cs typeface="Times New Roman" panose="02020603050405020304" pitchFamily="18" charset="0"/>
              </a:rPr>
              <a:t>Recovery Plan: </a:t>
            </a:r>
            <a:r>
              <a:rPr lang="en-US" sz="2100" dirty="0">
                <a:latin typeface="Times New Roman" panose="02020603050405020304" pitchFamily="18" charset="0"/>
                <a:cs typeface="Times New Roman" panose="02020603050405020304" pitchFamily="18" charset="0"/>
              </a:rPr>
              <a:t>A procedure for restoring data lost when a system </a:t>
            </a:r>
            <a:r>
              <a:rPr lang="en-US" sz="2100" dirty="0" smtClean="0">
                <a:latin typeface="Times New Roman" panose="02020603050405020304" pitchFamily="18" charset="0"/>
                <a:cs typeface="Times New Roman" panose="02020603050405020304" pitchFamily="18" charset="0"/>
              </a:rPr>
              <a:t>stops functioning</a:t>
            </a:r>
            <a:r>
              <a:rPr lang="en-US" sz="2100" dirty="0">
                <a:latin typeface="Times New Roman" panose="02020603050405020304" pitchFamily="18" charset="0"/>
                <a:cs typeface="Times New Roman" panose="02020603050405020304" pitchFamily="18" charset="0"/>
              </a:rPr>
              <a:t>.</a:t>
            </a:r>
          </a:p>
          <a:p>
            <a:pPr marL="717550">
              <a:buFont typeface="Wingdings" panose="05000000000000000000" pitchFamily="2" charset="2"/>
              <a:buChar char="Ø"/>
            </a:pPr>
            <a:r>
              <a:rPr lang="en-US" sz="2100" b="1" i="1" dirty="0" smtClean="0">
                <a:latin typeface="Times New Roman" panose="02020603050405020304" pitchFamily="18" charset="0"/>
                <a:cs typeface="Times New Roman" panose="02020603050405020304" pitchFamily="18" charset="0"/>
              </a:rPr>
              <a:t>Off-site </a:t>
            </a:r>
            <a:r>
              <a:rPr lang="en-US" sz="2100" b="1" i="1" dirty="0">
                <a:latin typeface="Times New Roman" panose="02020603050405020304" pitchFamily="18" charset="0"/>
                <a:cs typeface="Times New Roman" panose="02020603050405020304" pitchFamily="18" charset="0"/>
              </a:rPr>
              <a:t>Backup Facility: </a:t>
            </a:r>
            <a:r>
              <a:rPr lang="en-US" sz="2100" dirty="0">
                <a:latin typeface="Times New Roman" panose="02020603050405020304" pitchFamily="18" charset="0"/>
                <a:cs typeface="Times New Roman" panose="02020603050405020304" pitchFamily="18" charset="0"/>
              </a:rPr>
              <a:t>A backup computer center located away from a </a:t>
            </a:r>
            <a:r>
              <a:rPr lang="en-US" sz="2100" dirty="0" smtClean="0">
                <a:latin typeface="Times New Roman" panose="02020603050405020304" pitchFamily="18" charset="0"/>
                <a:cs typeface="Times New Roman" panose="02020603050405020304" pitchFamily="18" charset="0"/>
              </a:rPr>
              <a:t>company’s main </a:t>
            </a:r>
            <a:r>
              <a:rPr lang="en-US" sz="2100" dirty="0">
                <a:latin typeface="Times New Roman" panose="02020603050405020304" pitchFamily="18" charset="0"/>
                <a:cs typeface="Times New Roman" panose="02020603050405020304" pitchFamily="18" charset="0"/>
              </a:rPr>
              <a:t>facility.</a:t>
            </a:r>
          </a:p>
          <a:p>
            <a:pPr marL="1252538">
              <a:buFont typeface="Wingdings" panose="05000000000000000000" pitchFamily="2" charset="2"/>
              <a:buChar char="§"/>
            </a:pPr>
            <a:r>
              <a:rPr lang="en-US" sz="2000" b="1" i="1" dirty="0" smtClean="0">
                <a:latin typeface="Times New Roman" panose="02020603050405020304" pitchFamily="18" charset="0"/>
                <a:cs typeface="Times New Roman" panose="02020603050405020304" pitchFamily="18" charset="0"/>
              </a:rPr>
              <a:t>Hot </a:t>
            </a:r>
            <a:r>
              <a:rPr lang="en-US" sz="2000" b="1" i="1" dirty="0">
                <a:latin typeface="Times New Roman" panose="02020603050405020304" pitchFamily="18" charset="0"/>
                <a:cs typeface="Times New Roman" panose="02020603050405020304" pitchFamily="18" charset="0"/>
              </a:rPr>
              <a:t>Site: </a:t>
            </a:r>
            <a:r>
              <a:rPr lang="en-US" sz="2000" dirty="0">
                <a:latin typeface="Times New Roman" panose="02020603050405020304" pitchFamily="18" charset="0"/>
                <a:cs typeface="Times New Roman" panose="02020603050405020304" pitchFamily="18" charset="0"/>
              </a:rPr>
              <a:t>A fully equipped backup computer center to which a company </a:t>
            </a:r>
            <a:r>
              <a:rPr lang="en-US" sz="2000" dirty="0" smtClean="0">
                <a:latin typeface="Times New Roman" panose="02020603050405020304" pitchFamily="18" charset="0"/>
                <a:cs typeface="Times New Roman" panose="02020603050405020304" pitchFamily="18" charset="0"/>
              </a:rPr>
              <a:t>can take </a:t>
            </a:r>
            <a:r>
              <a:rPr lang="en-US" sz="2000" dirty="0">
                <a:latin typeface="Times New Roman" panose="02020603050405020304" pitchFamily="18" charset="0"/>
                <a:cs typeface="Times New Roman" panose="02020603050405020304" pitchFamily="18" charset="0"/>
              </a:rPr>
              <a:t>its backup copies of data and software and resume processing.</a:t>
            </a:r>
          </a:p>
          <a:p>
            <a:pPr marL="1252538">
              <a:buFont typeface="Wingdings" panose="05000000000000000000" pitchFamily="2" charset="2"/>
              <a:buChar char="§"/>
            </a:pPr>
            <a:r>
              <a:rPr lang="en-US" sz="2000" b="1" i="1" dirty="0" smtClean="0">
                <a:latin typeface="Times New Roman" panose="02020603050405020304" pitchFamily="18" charset="0"/>
                <a:cs typeface="Times New Roman" panose="02020603050405020304" pitchFamily="18" charset="0"/>
              </a:rPr>
              <a:t>Cold </a:t>
            </a:r>
            <a:r>
              <a:rPr lang="en-US" sz="2000" b="1" i="1" dirty="0">
                <a:latin typeface="Times New Roman" panose="02020603050405020304" pitchFamily="18" charset="0"/>
                <a:cs typeface="Times New Roman" panose="02020603050405020304" pitchFamily="18" charset="0"/>
              </a:rPr>
              <a:t>Site: </a:t>
            </a:r>
            <a:r>
              <a:rPr lang="en-US" sz="2000" dirty="0">
                <a:latin typeface="Times New Roman" panose="02020603050405020304" pitchFamily="18" charset="0"/>
                <a:cs typeface="Times New Roman" panose="02020603050405020304" pitchFamily="18" charset="0"/>
              </a:rPr>
              <a:t>A backup facility outfitted with electrical power and </a:t>
            </a:r>
            <a:r>
              <a:rPr lang="en-US" sz="2000" dirty="0" smtClean="0">
                <a:latin typeface="Times New Roman" panose="02020603050405020304" pitchFamily="18" charset="0"/>
                <a:cs typeface="Times New Roman" panose="02020603050405020304" pitchFamily="18" charset="0"/>
              </a:rPr>
              <a:t>environmental controls </a:t>
            </a:r>
            <a:r>
              <a:rPr lang="en-US" sz="2000" dirty="0">
                <a:latin typeface="Times New Roman" panose="02020603050405020304" pitchFamily="18" charset="0"/>
                <a:cs typeface="Times New Roman" panose="02020603050405020304" pitchFamily="18" charset="0"/>
              </a:rPr>
              <a:t>so that it is ready for a company to install a computer system.</a:t>
            </a:r>
            <a:endParaRPr lang="en-US" sz="20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99473172"/>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Lst>
</file>

<file path=ppt/theme/theme1.xml><?xml version="1.0" encoding="utf-8"?>
<a:theme xmlns:a="http://schemas.openxmlformats.org/drawingml/2006/main" name="Level">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Garamond"/>
        <a:ea typeface=""/>
        <a:cs typeface="Arial"/>
      </a:majorFont>
      <a:minorFont>
        <a:latin typeface="Verdana"/>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1_MIT809-Topic1</Template>
  <TotalTime>5362</TotalTime>
  <Words>5121</Words>
  <Application>Microsoft Office PowerPoint</Application>
  <PresentationFormat>On-screen Show (4:3)</PresentationFormat>
  <Paragraphs>518</Paragraphs>
  <Slides>87</Slides>
  <Notes>10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87</vt:i4>
      </vt:variant>
    </vt:vector>
  </HeadingPairs>
  <TitlesOfParts>
    <vt:vector size="96" baseType="lpstr">
      <vt:lpstr>ＭＳ Ｐゴシック</vt:lpstr>
      <vt:lpstr>ＭＳ Ｐゴシック</vt:lpstr>
      <vt:lpstr>Arial</vt:lpstr>
      <vt:lpstr>Comic Sans MS</vt:lpstr>
      <vt:lpstr>Garamond</vt:lpstr>
      <vt:lpstr>Times New Roman</vt:lpstr>
      <vt:lpstr>Verdana</vt:lpstr>
      <vt:lpstr>Wingdings</vt:lpstr>
      <vt:lpstr>Level</vt:lpstr>
      <vt:lpstr>PowerPoint Presentation</vt:lpstr>
      <vt:lpstr>PowerPoint Presentation</vt:lpstr>
      <vt:lpstr>Course Schedule </vt:lpstr>
      <vt:lpstr>Learning Outcomes</vt:lpstr>
      <vt:lpstr>Course Contents</vt:lpstr>
      <vt:lpstr>Course Module</vt:lpstr>
      <vt:lpstr>Course Outline</vt:lpstr>
      <vt:lpstr>Books and References</vt:lpstr>
      <vt:lpstr>Pre-Requisite </vt:lpstr>
      <vt:lpstr>Course Evaluation</vt:lpstr>
      <vt:lpstr>PowerPoint Presentation</vt:lpstr>
      <vt:lpstr>Presentation Outline  </vt:lpstr>
      <vt:lpstr>APPLICATION SERVICE PROVIDER (ASPS)</vt:lpstr>
      <vt:lpstr>HOW WEB-BASED APPLICATION WORK</vt:lpstr>
      <vt:lpstr>Step 1: Connect</vt:lpstr>
      <vt:lpstr>Step 2: Download</vt:lpstr>
      <vt:lpstr>Step 3: Run</vt:lpstr>
      <vt:lpstr>Step 4: Save and Exit</vt:lpstr>
      <vt:lpstr>Step 5: Remove Application</vt:lpstr>
      <vt:lpstr>PROCEDURES OF USING WEB-BASED APPLICATION</vt:lpstr>
      <vt:lpstr>PROCEDURES OF USING WEB-BASED APPLICATION</vt:lpstr>
      <vt:lpstr>PROCEDURES OF USING WEB-BASED APPLICATION</vt:lpstr>
      <vt:lpstr>FORCES BEHIND WEB-ENABLED SYSTEMS</vt:lpstr>
      <vt:lpstr>FORCES BEHIND WEB-ENABLED SYSTEMS</vt:lpstr>
      <vt:lpstr>FORCES BEHIND WEB-ENABLED SYSTEMS</vt:lpstr>
      <vt:lpstr>CONCLUSION</vt:lpstr>
      <vt:lpstr>SUMMARY</vt:lpstr>
      <vt:lpstr>PowerPoint Presentation</vt:lpstr>
      <vt:lpstr>INFORMATION SYSTEM</vt:lpstr>
      <vt:lpstr>ENTERPRISE INFORMATION SYSTEMS</vt:lpstr>
      <vt:lpstr>THE TRANSACTION-PROCESSING SEQUENCE AND TPS OUTPUT AND REPORTS</vt:lpstr>
      <vt:lpstr>THE TRANSACTION-PROCESSING SEQUENCE AND TPS OUTPUT AND REPORTS</vt:lpstr>
      <vt:lpstr>Characteristics of TPS</vt:lpstr>
      <vt:lpstr>The Transaction-Processing Sequence and TPS Output</vt:lpstr>
      <vt:lpstr>PowerPoint Presentation</vt:lpstr>
      <vt:lpstr>Presentation Outline  </vt:lpstr>
      <vt:lpstr>OBJECTIVES</vt:lpstr>
      <vt:lpstr>SECURITY</vt:lpstr>
      <vt:lpstr>SECURITY</vt:lpstr>
      <vt:lpstr>TYPES OF SECURITY BREACH</vt:lpstr>
      <vt:lpstr>RESULTS OF SECURITY BREACH</vt:lpstr>
      <vt:lpstr>RESULTS OF SECURITY BREACH</vt:lpstr>
      <vt:lpstr>RESULTS OF SECURITY BREACH</vt:lpstr>
      <vt:lpstr>SOURCES OF SECURITY BREACH</vt:lpstr>
      <vt:lpstr>SOURCES OF SECURITY BREACH</vt:lpstr>
      <vt:lpstr>SECURITY MEASURES</vt:lpstr>
      <vt:lpstr>SECURITY POLICIES AND PROCEDURES</vt:lpstr>
      <vt:lpstr>SECURITY POLICIES AND PROCEDURES</vt:lpstr>
      <vt:lpstr>ENCRYPTION PROCEDURE FOR PROTECTING DATA AND MESSAGES</vt:lpstr>
      <vt:lpstr>METHODS OF ENCRYPTION</vt:lpstr>
      <vt:lpstr>METHODS OF ENCRYPTION</vt:lpstr>
      <vt:lpstr>METHODS OF ENCRYPTION</vt:lpstr>
      <vt:lpstr>SECURITY POLICIES AND PROCEDURES</vt:lpstr>
      <vt:lpstr>RELIABILITY</vt:lpstr>
      <vt:lpstr>RELIABILITY</vt:lpstr>
      <vt:lpstr>ETHICS</vt:lpstr>
      <vt:lpstr>ETHICS AND ICT USAGE IN BUSINESS</vt:lpstr>
      <vt:lpstr>ETHICS CHALLENGE</vt:lpstr>
      <vt:lpstr>PRIVACY</vt:lpstr>
      <vt:lpstr>PRIVACY</vt:lpstr>
      <vt:lpstr>PRIVACY</vt:lpstr>
      <vt:lpstr>PRIVATE NETWORKS</vt:lpstr>
      <vt:lpstr>DIGITAL PIRACY</vt:lpstr>
      <vt:lpstr>PUBLIC DOMAIN SOFTWARE</vt:lpstr>
      <vt:lpstr>ERGONOMICS</vt:lpstr>
      <vt:lpstr>THE ENVIRONMENT</vt:lpstr>
      <vt:lpstr>The Green PC</vt:lpstr>
      <vt:lpstr>Personal Responsibility</vt:lpstr>
      <vt:lpstr>CONCLUSION</vt:lpstr>
      <vt:lpstr>SUMMARY</vt:lpstr>
      <vt:lpstr>PowerPoint Presentation</vt:lpstr>
      <vt:lpstr>CAREERS</vt:lpstr>
      <vt:lpstr>Webmaster</vt:lpstr>
      <vt:lpstr>Computer Trainers</vt:lpstr>
      <vt:lpstr>Desktop Publisher &amp;  Computer Support Specialist</vt:lpstr>
      <vt:lpstr>Computer Technician</vt:lpstr>
      <vt:lpstr>Data Entry &amp;  Technical Writers</vt:lpstr>
      <vt:lpstr>Software Engineers</vt:lpstr>
      <vt:lpstr>Network Administrator</vt:lpstr>
      <vt:lpstr>Cryptographer</vt:lpstr>
      <vt:lpstr>Information System Manager &amp; Database Administrators</vt:lpstr>
      <vt:lpstr>Systems Analyst &amp; Computer Programmers</vt:lpstr>
      <vt:lpstr>OTHER AREAS OF EXPERTISE/ORGANAISATION</vt:lpstr>
      <vt:lpstr>CONCLUSION</vt:lpstr>
      <vt:lpstr>SUMMARY</vt:lpstr>
      <vt:lpstr>EXERCISE</vt:lpstr>
      <vt:lpstr>ANSWER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CISE 301</dc:subject>
  <dc:creator>Administrator</dc:creator>
  <cp:lastModifiedBy>Administrator</cp:lastModifiedBy>
  <cp:revision>668</cp:revision>
  <dcterms:created xsi:type="dcterms:W3CDTF">2022-01-09T18:11:19Z</dcterms:created>
  <dcterms:modified xsi:type="dcterms:W3CDTF">2026-02-05T16:43:01Z</dcterms:modified>
</cp:coreProperties>
</file>