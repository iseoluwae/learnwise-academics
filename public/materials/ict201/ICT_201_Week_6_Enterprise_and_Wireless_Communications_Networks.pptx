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53"/>
  </p:notesMasterIdLst>
  <p:handoutMasterIdLst>
    <p:handoutMasterId r:id="rId54"/>
  </p:handoutMasterIdLst>
  <p:sldIdLst>
    <p:sldId id="256" r:id="rId2"/>
    <p:sldId id="526" r:id="rId3"/>
    <p:sldId id="527" r:id="rId4"/>
    <p:sldId id="879" r:id="rId5"/>
    <p:sldId id="519" r:id="rId6"/>
    <p:sldId id="878" r:id="rId7"/>
    <p:sldId id="915" r:id="rId8"/>
    <p:sldId id="880" r:id="rId9"/>
    <p:sldId id="514" r:id="rId10"/>
    <p:sldId id="565" r:id="rId11"/>
    <p:sldId id="1052" r:id="rId12"/>
    <p:sldId id="1053" r:id="rId13"/>
    <p:sldId id="1054" r:id="rId14"/>
    <p:sldId id="1055" r:id="rId15"/>
    <p:sldId id="1056" r:id="rId16"/>
    <p:sldId id="1058" r:id="rId17"/>
    <p:sldId id="1057" r:id="rId18"/>
    <p:sldId id="1059" r:id="rId19"/>
    <p:sldId id="1060" r:id="rId20"/>
    <p:sldId id="1061" r:id="rId21"/>
    <p:sldId id="1062" r:id="rId22"/>
    <p:sldId id="1063" r:id="rId23"/>
    <p:sldId id="1064" r:id="rId24"/>
    <p:sldId id="1065" r:id="rId25"/>
    <p:sldId id="1066" r:id="rId26"/>
    <p:sldId id="1067" r:id="rId27"/>
    <p:sldId id="1068" r:id="rId28"/>
    <p:sldId id="1069" r:id="rId29"/>
    <p:sldId id="1070" r:id="rId30"/>
    <p:sldId id="1071" r:id="rId31"/>
    <p:sldId id="1072" r:id="rId32"/>
    <p:sldId id="1073" r:id="rId33"/>
    <p:sldId id="1074" r:id="rId34"/>
    <p:sldId id="1075" r:id="rId35"/>
    <p:sldId id="1076" r:id="rId36"/>
    <p:sldId id="1077" r:id="rId37"/>
    <p:sldId id="1078" r:id="rId38"/>
    <p:sldId id="1079" r:id="rId39"/>
    <p:sldId id="1080" r:id="rId40"/>
    <p:sldId id="1081" r:id="rId41"/>
    <p:sldId id="1082" r:id="rId42"/>
    <p:sldId id="1083" r:id="rId43"/>
    <p:sldId id="1084" r:id="rId44"/>
    <p:sldId id="1085" r:id="rId45"/>
    <p:sldId id="1086" r:id="rId46"/>
    <p:sldId id="1087" r:id="rId47"/>
    <p:sldId id="1088" r:id="rId48"/>
    <p:sldId id="1089" r:id="rId49"/>
    <p:sldId id="1090" r:id="rId50"/>
    <p:sldId id="1091" r:id="rId51"/>
    <p:sldId id="1092" r:id="rId52"/>
  </p:sldIdLst>
  <p:sldSz cx="9144000" cy="6858000" type="screen4x3"/>
  <p:notesSz cx="7315200" cy="9601200"/>
  <p:custDataLst>
    <p:tags r:id="rId55"/>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1/23/2026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1/23/2026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1/23/2026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1/23/2026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1/23/2026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1/23/2026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1/23/2026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1/23/2026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1/23/2026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1/23/2026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1/23/2026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1/23/2026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1/23/2026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1/23/2026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6</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140968"/>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smtClean="0">
                <a:latin typeface="Comic Sans MS" panose="030F0702030302020204" pitchFamily="66" charset="0"/>
              </a:rPr>
              <a:t>ENTERPRISE AND WIRELESS COMMUNICATIONS NETWORKS</a:t>
            </a:r>
            <a:endParaRPr lang="en-US" sz="3200" b="1" dirty="0">
              <a:latin typeface="Comic Sans MS" panose="030F0702030302020204" pitchFamily="66" charset="0"/>
            </a:endParaRPr>
          </a:p>
        </p:txBody>
      </p:sp>
    </p:spTree>
    <p:extLst>
      <p:ext uri="{BB962C8B-B14F-4D97-AF65-F5344CB8AC3E}">
        <p14:creationId xmlns:p14="http://schemas.microsoft.com/office/powerpoint/2010/main" val="2367654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buFont typeface="Wingdings" panose="05000000000000000000" pitchFamily="2" charset="2"/>
              <a:buChar char="§"/>
            </a:pPr>
            <a:r>
              <a:rPr lang="en-US" dirty="0"/>
              <a:t>Wireless Communications </a:t>
            </a:r>
            <a:r>
              <a:rPr lang="en-US" dirty="0" smtClean="0"/>
              <a:t>Networks</a:t>
            </a:r>
          </a:p>
          <a:p>
            <a:pPr>
              <a:lnSpc>
                <a:spcPct val="150000"/>
              </a:lnSpc>
              <a:buFont typeface="Wingdings" panose="05000000000000000000" pitchFamily="2" charset="2"/>
              <a:buChar char="§"/>
            </a:pPr>
            <a:r>
              <a:rPr lang="en-US" dirty="0"/>
              <a:t>Network Operating </a:t>
            </a:r>
            <a:r>
              <a:rPr lang="en-US" dirty="0" smtClean="0"/>
              <a:t>Systems</a:t>
            </a:r>
          </a:p>
          <a:p>
            <a:pPr>
              <a:lnSpc>
                <a:spcPct val="150000"/>
              </a:lnSpc>
              <a:buFont typeface="Wingdings" panose="05000000000000000000" pitchFamily="2" charset="2"/>
              <a:buChar char="§"/>
            </a:pPr>
            <a:r>
              <a:rPr lang="en-US" dirty="0"/>
              <a:t>Enterprise Architectures</a:t>
            </a:r>
            <a:endParaRPr lang="en-US" sz="2100" kern="0" dirty="0"/>
          </a:p>
        </p:txBody>
      </p:sp>
    </p:spTree>
    <p:extLst>
      <p:ext uri="{BB962C8B-B14F-4D97-AF65-F5344CB8AC3E}">
        <p14:creationId xmlns:p14="http://schemas.microsoft.com/office/powerpoint/2010/main" val="2434814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8800" b="1" dirty="0"/>
              <a:t>OBJECTIVES</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a:t>By the end of this unit you should be able to:</a:t>
            </a:r>
          </a:p>
          <a:p>
            <a:pPr marL="900113">
              <a:lnSpc>
                <a:spcPct val="150000"/>
              </a:lnSpc>
              <a:buFont typeface="Wingdings" panose="05000000000000000000" pitchFamily="2" charset="2"/>
              <a:buChar char="Ø"/>
            </a:pPr>
            <a:r>
              <a:rPr lang="en-US" sz="2100" dirty="0" smtClean="0"/>
              <a:t>Describe </a:t>
            </a:r>
            <a:r>
              <a:rPr lang="en-US" sz="2100" dirty="0"/>
              <a:t>the four forms of wireless communications.</a:t>
            </a:r>
          </a:p>
          <a:p>
            <a:pPr marL="900113">
              <a:lnSpc>
                <a:spcPct val="150000"/>
              </a:lnSpc>
              <a:buFont typeface="Wingdings" panose="05000000000000000000" pitchFamily="2" charset="2"/>
              <a:buChar char="Ø"/>
            </a:pPr>
            <a:r>
              <a:rPr lang="en-US" sz="2100" dirty="0" smtClean="0"/>
              <a:t>Explain </a:t>
            </a:r>
            <a:r>
              <a:rPr lang="en-US" sz="2100" dirty="0"/>
              <a:t>the role of a network operating system.</a:t>
            </a:r>
          </a:p>
          <a:p>
            <a:pPr marL="900113">
              <a:lnSpc>
                <a:spcPct val="150000"/>
              </a:lnSpc>
              <a:buFont typeface="Wingdings" panose="05000000000000000000" pitchFamily="2" charset="2"/>
              <a:buChar char="Ø"/>
            </a:pPr>
            <a:r>
              <a:rPr lang="en-US" sz="2100" dirty="0" smtClean="0"/>
              <a:t>Discuss </a:t>
            </a:r>
            <a:r>
              <a:rPr lang="en-US" sz="2100" dirty="0"/>
              <a:t>the activities involved in network administration.</a:t>
            </a:r>
          </a:p>
          <a:p>
            <a:pPr marL="900113">
              <a:lnSpc>
                <a:spcPct val="150000"/>
              </a:lnSpc>
              <a:buFont typeface="Wingdings" panose="05000000000000000000" pitchFamily="2" charset="2"/>
              <a:buChar char="Ø"/>
            </a:pPr>
            <a:r>
              <a:rPr lang="en-US" sz="2100" dirty="0" smtClean="0"/>
              <a:t>Explain </a:t>
            </a:r>
            <a:r>
              <a:rPr lang="en-US" sz="2100" dirty="0"/>
              <a:t>the three types of enterprise architectures and the advantages offered by each.</a:t>
            </a:r>
            <a:endParaRPr lang="en-US" sz="2100" kern="0" dirty="0"/>
          </a:p>
        </p:txBody>
      </p:sp>
    </p:spTree>
    <p:extLst>
      <p:ext uri="{BB962C8B-B14F-4D97-AF65-F5344CB8AC3E}">
        <p14:creationId xmlns:p14="http://schemas.microsoft.com/office/powerpoint/2010/main" val="797159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sz="4000" b="1" dirty="0"/>
              <a:t>WIRELESS COMMUNICATIONS NETWORKS</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a:t>Wireless communication has gained a lot of interest for a wide range of ICT applications. </a:t>
            </a:r>
            <a:endParaRPr lang="en-US" sz="2100" dirty="0" smtClean="0"/>
          </a:p>
          <a:p>
            <a:pPr>
              <a:lnSpc>
                <a:spcPct val="200000"/>
              </a:lnSpc>
            </a:pPr>
            <a:r>
              <a:rPr lang="en-US" sz="2100" dirty="0" smtClean="0"/>
              <a:t>The four </a:t>
            </a:r>
            <a:r>
              <a:rPr lang="en-US" sz="2100" dirty="0"/>
              <a:t>wireless forms of interest are:</a:t>
            </a:r>
          </a:p>
          <a:p>
            <a:pPr marL="900113">
              <a:lnSpc>
                <a:spcPct val="200000"/>
              </a:lnSpc>
              <a:buFont typeface="Wingdings" panose="05000000000000000000" pitchFamily="2" charset="2"/>
              <a:buChar char="Ø"/>
            </a:pPr>
            <a:r>
              <a:rPr lang="en-US" sz="1900" dirty="0" smtClean="0"/>
              <a:t>Cellular </a:t>
            </a:r>
            <a:r>
              <a:rPr lang="en-US" sz="1900" dirty="0"/>
              <a:t>Communication Service</a:t>
            </a:r>
          </a:p>
          <a:p>
            <a:pPr marL="900113">
              <a:lnSpc>
                <a:spcPct val="200000"/>
              </a:lnSpc>
              <a:buFont typeface="Wingdings" panose="05000000000000000000" pitchFamily="2" charset="2"/>
              <a:buChar char="Ø"/>
            </a:pPr>
            <a:r>
              <a:rPr lang="en-US" sz="1900" dirty="0" smtClean="0"/>
              <a:t>Wireless </a:t>
            </a:r>
            <a:r>
              <a:rPr lang="en-US" sz="1900" dirty="0"/>
              <a:t>LAN (WLAN)</a:t>
            </a:r>
          </a:p>
          <a:p>
            <a:pPr marL="900113">
              <a:lnSpc>
                <a:spcPct val="200000"/>
              </a:lnSpc>
              <a:buFont typeface="Wingdings" panose="05000000000000000000" pitchFamily="2" charset="2"/>
              <a:buChar char="Ø"/>
            </a:pPr>
            <a:r>
              <a:rPr lang="en-US" sz="1900" dirty="0" smtClean="0"/>
              <a:t>Bluetooth </a:t>
            </a:r>
            <a:r>
              <a:rPr lang="en-US" sz="1900" dirty="0"/>
              <a:t>Personal Area Network/Personal Area Network</a:t>
            </a:r>
          </a:p>
          <a:p>
            <a:pPr marL="900113">
              <a:lnSpc>
                <a:spcPct val="200000"/>
              </a:lnSpc>
              <a:buFont typeface="Wingdings" panose="05000000000000000000" pitchFamily="2" charset="2"/>
              <a:buChar char="Ø"/>
            </a:pPr>
            <a:r>
              <a:rPr lang="en-US" sz="1900" dirty="0" smtClean="0"/>
              <a:t>Wireless </a:t>
            </a:r>
            <a:r>
              <a:rPr lang="en-US" sz="1900" dirty="0"/>
              <a:t>Data Networks</a:t>
            </a:r>
            <a:endParaRPr lang="en-US" sz="1900" kern="0" dirty="0"/>
          </a:p>
        </p:txBody>
      </p:sp>
    </p:spTree>
    <p:extLst>
      <p:ext uri="{BB962C8B-B14F-4D97-AF65-F5344CB8AC3E}">
        <p14:creationId xmlns:p14="http://schemas.microsoft.com/office/powerpoint/2010/main" val="1726185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b="1" dirty="0"/>
              <a:t>CELLULAR COMMUNICATION SERVICE</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075240"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200000"/>
              </a:lnSpc>
            </a:pPr>
            <a:r>
              <a:rPr lang="en-US" sz="1900" b="1" i="1" dirty="0" smtClean="0"/>
              <a:t>Cellular </a:t>
            </a:r>
            <a:r>
              <a:rPr lang="en-US" sz="1900" b="1" i="1" dirty="0"/>
              <a:t>Communications Service: </a:t>
            </a:r>
            <a:r>
              <a:rPr lang="en-US" sz="1900" dirty="0"/>
              <a:t>A wireless technology that transmits </a:t>
            </a:r>
            <a:r>
              <a:rPr lang="en-US" sz="1900" dirty="0" smtClean="0"/>
              <a:t>radio messages </a:t>
            </a:r>
            <a:r>
              <a:rPr lang="en-US" sz="1900" dirty="0"/>
              <a:t>between a mobile device (such as mobile telephone, PDA, or </a:t>
            </a:r>
            <a:r>
              <a:rPr lang="en-US" sz="1900" dirty="0" smtClean="0"/>
              <a:t>wireless laptop</a:t>
            </a:r>
            <a:r>
              <a:rPr lang="en-US" sz="1900" dirty="0"/>
              <a:t>) and a cell site.</a:t>
            </a:r>
          </a:p>
          <a:p>
            <a:pPr algn="just">
              <a:lnSpc>
                <a:spcPct val="200000"/>
              </a:lnSpc>
            </a:pPr>
            <a:r>
              <a:rPr lang="en-US" sz="1900" b="1" dirty="0" smtClean="0"/>
              <a:t>Cellular </a:t>
            </a:r>
            <a:r>
              <a:rPr lang="en-US" sz="1900" b="1" dirty="0"/>
              <a:t>Radio System</a:t>
            </a:r>
          </a:p>
          <a:p>
            <a:pPr marL="900113" algn="just">
              <a:lnSpc>
                <a:spcPct val="200000"/>
              </a:lnSpc>
              <a:buFont typeface="Wingdings" panose="05000000000000000000" pitchFamily="2" charset="2"/>
              <a:buChar char="Ø"/>
            </a:pPr>
            <a:r>
              <a:rPr lang="en-US" sz="1900" b="1" i="1" dirty="0" smtClean="0"/>
              <a:t>Mobile </a:t>
            </a:r>
            <a:r>
              <a:rPr lang="en-US" sz="1900" b="1" i="1" dirty="0"/>
              <a:t>Telecommunications Switching Office (MTSO): </a:t>
            </a:r>
            <a:r>
              <a:rPr lang="en-US" sz="1900" dirty="0"/>
              <a:t>The switch used in </a:t>
            </a:r>
            <a:r>
              <a:rPr lang="en-US" sz="1900" dirty="0" smtClean="0"/>
              <a:t>a cellular </a:t>
            </a:r>
            <a:r>
              <a:rPr lang="en-US" sz="1900" dirty="0"/>
              <a:t>(mobile) telephone system that links the cell tower to a </a:t>
            </a:r>
            <a:r>
              <a:rPr lang="en-US" sz="1900" dirty="0" smtClean="0"/>
              <a:t>traditional telephone </a:t>
            </a:r>
            <a:r>
              <a:rPr lang="en-US" sz="1900" dirty="0"/>
              <a:t>switch in the public switched telephone network (PSTN</a:t>
            </a:r>
            <a:r>
              <a:rPr lang="en-US" sz="1900" dirty="0" smtClean="0"/>
              <a:t>).</a:t>
            </a:r>
          </a:p>
        </p:txBody>
      </p:sp>
    </p:spTree>
    <p:extLst>
      <p:ext uri="{BB962C8B-B14F-4D97-AF65-F5344CB8AC3E}">
        <p14:creationId xmlns:p14="http://schemas.microsoft.com/office/powerpoint/2010/main" val="3241520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sz="6000" b="1" dirty="0"/>
              <a:t>A Cellular Radio System</a:t>
            </a:r>
            <a:endParaRPr lang="en-GB" sz="6000" b="1" dirty="0">
              <a:latin typeface="Comic Sans MS" panose="030F0702030302020204" pitchFamily="66" charset="0"/>
            </a:endParaRPr>
          </a:p>
        </p:txBody>
      </p:sp>
      <p:pic>
        <p:nvPicPr>
          <p:cNvPr id="3" name="Picture 2"/>
          <p:cNvPicPr>
            <a:picLocks noChangeAspect="1"/>
          </p:cNvPicPr>
          <p:nvPr/>
        </p:nvPicPr>
        <p:blipFill>
          <a:blip r:embed="rId2"/>
          <a:stretch>
            <a:fillRect/>
          </a:stretch>
        </p:blipFill>
        <p:spPr>
          <a:xfrm>
            <a:off x="457200" y="1561839"/>
            <a:ext cx="8229600" cy="5296161"/>
          </a:xfrm>
          <a:prstGeom prst="rect">
            <a:avLst/>
          </a:prstGeom>
        </p:spPr>
      </p:pic>
    </p:spTree>
    <p:extLst>
      <p:ext uri="{BB962C8B-B14F-4D97-AF65-F5344CB8AC3E}">
        <p14:creationId xmlns:p14="http://schemas.microsoft.com/office/powerpoint/2010/main" val="1878982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b="1" dirty="0"/>
              <a:t>CELLULAR COMMUNICATION SERVICE</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323528" y="1484784"/>
            <a:ext cx="8363272"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7550">
              <a:lnSpc>
                <a:spcPct val="150000"/>
              </a:lnSpc>
              <a:buFont typeface="Wingdings" panose="05000000000000000000" pitchFamily="2" charset="2"/>
              <a:buChar char="Ø"/>
            </a:pPr>
            <a:r>
              <a:rPr lang="en-US" sz="1800" b="1" dirty="0" smtClean="0"/>
              <a:t>Analog </a:t>
            </a:r>
            <a:r>
              <a:rPr lang="en-US" sz="1800" b="1" dirty="0"/>
              <a:t>and Digital Cellular Service</a:t>
            </a:r>
          </a:p>
          <a:p>
            <a:pPr marL="1252538" defTabSz="1252538">
              <a:lnSpc>
                <a:spcPct val="150000"/>
              </a:lnSpc>
              <a:buFont typeface="Wingdings" panose="05000000000000000000" pitchFamily="2" charset="2"/>
              <a:buChar char="§"/>
            </a:pPr>
            <a:r>
              <a:rPr lang="en-US" sz="1800" b="1" i="1" dirty="0" smtClean="0"/>
              <a:t>Time </a:t>
            </a:r>
            <a:r>
              <a:rPr lang="en-US" sz="1800" b="1" i="1" dirty="0"/>
              <a:t>Division Multiple Access (TDMA): </a:t>
            </a:r>
            <a:r>
              <a:rPr lang="en-US" sz="1800" dirty="0"/>
              <a:t>A digital cellular </a:t>
            </a:r>
            <a:r>
              <a:rPr lang="en-US" sz="1800" dirty="0" smtClean="0"/>
              <a:t>transmission technology </a:t>
            </a:r>
            <a:r>
              <a:rPr lang="en-US" sz="1800" dirty="0"/>
              <a:t>that divides a radio frequency into time slots and then </a:t>
            </a:r>
            <a:r>
              <a:rPr lang="en-US" sz="1800" dirty="0" smtClean="0"/>
              <a:t>allocates slots </a:t>
            </a:r>
            <a:r>
              <a:rPr lang="en-US" sz="1800" dirty="0"/>
              <a:t>to an individual device’s conversation or message, thereby </a:t>
            </a:r>
            <a:r>
              <a:rPr lang="en-US" sz="1800" dirty="0" smtClean="0"/>
              <a:t>distinguishing it </a:t>
            </a:r>
            <a:r>
              <a:rPr lang="en-US" sz="1800" dirty="0"/>
              <a:t>from other transmissions.</a:t>
            </a:r>
          </a:p>
          <a:p>
            <a:pPr marL="1252538" defTabSz="1252538">
              <a:lnSpc>
                <a:spcPct val="150000"/>
              </a:lnSpc>
              <a:buFont typeface="Wingdings" panose="05000000000000000000" pitchFamily="2" charset="2"/>
              <a:buChar char="§"/>
            </a:pPr>
            <a:r>
              <a:rPr lang="en-US" sz="1800" b="1" i="1" dirty="0" smtClean="0"/>
              <a:t>Code </a:t>
            </a:r>
            <a:r>
              <a:rPr lang="en-US" sz="1800" b="1" i="1" dirty="0"/>
              <a:t>Division Multiple Access (CDMA): </a:t>
            </a:r>
            <a:r>
              <a:rPr lang="en-US" sz="1800" dirty="0"/>
              <a:t>A digital cellular </a:t>
            </a:r>
            <a:r>
              <a:rPr lang="en-US" sz="1800" dirty="0" smtClean="0"/>
              <a:t>transmission technology </a:t>
            </a:r>
            <a:r>
              <a:rPr lang="en-US" sz="1800" dirty="0"/>
              <a:t>that encodes each device’s conversation or message with a </a:t>
            </a:r>
            <a:r>
              <a:rPr lang="en-US" sz="1800" dirty="0" smtClean="0"/>
              <a:t>unique identification </a:t>
            </a:r>
            <a:r>
              <a:rPr lang="en-US" sz="1800" dirty="0"/>
              <a:t>code to distinguish it from other transmissions</a:t>
            </a:r>
            <a:r>
              <a:rPr lang="en-US" sz="1900" dirty="0" smtClean="0"/>
              <a:t>.</a:t>
            </a:r>
            <a:endParaRPr lang="en-US" sz="1900" dirty="0"/>
          </a:p>
        </p:txBody>
      </p:sp>
    </p:spTree>
    <p:extLst>
      <p:ext uri="{BB962C8B-B14F-4D97-AF65-F5344CB8AC3E}">
        <p14:creationId xmlns:p14="http://schemas.microsoft.com/office/powerpoint/2010/main" val="1459160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368152"/>
          </a:xfrm>
        </p:spPr>
        <p:txBody>
          <a:bodyPr>
            <a:noAutofit/>
          </a:bodyPr>
          <a:lstStyle/>
          <a:p>
            <a:pPr algn="ctr">
              <a:defRPr/>
            </a:pPr>
            <a:r>
              <a:rPr lang="en-US" b="1" dirty="0"/>
              <a:t>CELLULAR COMMUNICATION SERVICE</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457200" y="1484784"/>
            <a:ext cx="822960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800" b="1" dirty="0" smtClean="0"/>
              <a:t>Next </a:t>
            </a:r>
            <a:r>
              <a:rPr lang="en-US" sz="1800" b="1" dirty="0"/>
              <a:t>Generation Cellular Service</a:t>
            </a:r>
          </a:p>
          <a:p>
            <a:pPr marL="717550">
              <a:lnSpc>
                <a:spcPct val="150000"/>
              </a:lnSpc>
              <a:buFont typeface="Wingdings" panose="05000000000000000000" pitchFamily="2" charset="2"/>
              <a:buChar char="Ø"/>
            </a:pPr>
            <a:r>
              <a:rPr lang="en-US" sz="1800" b="1" i="1" dirty="0" smtClean="0"/>
              <a:t>Generalized </a:t>
            </a:r>
            <a:r>
              <a:rPr lang="en-US" sz="1800" b="1" i="1" dirty="0"/>
              <a:t>Packet Radio Service (GPRS): </a:t>
            </a:r>
            <a:r>
              <a:rPr lang="en-US" sz="1800" dirty="0"/>
              <a:t>GPRS (</a:t>
            </a:r>
            <a:r>
              <a:rPr lang="en-US" sz="1800" dirty="0" smtClean="0"/>
              <a:t>or 2.5G</a:t>
            </a:r>
            <a:r>
              <a:rPr lang="en-US" sz="1800" dirty="0"/>
              <a:t>) features </a:t>
            </a:r>
            <a:r>
              <a:rPr lang="en-US" sz="1800" dirty="0" smtClean="0"/>
              <a:t>higher speed </a:t>
            </a:r>
            <a:r>
              <a:rPr lang="en-US" sz="1800" dirty="0"/>
              <a:t>transmission rates than preceding telecom generations and uses </a:t>
            </a:r>
            <a:r>
              <a:rPr lang="en-US" sz="1800" dirty="0" smtClean="0"/>
              <a:t>packet switching </a:t>
            </a:r>
            <a:r>
              <a:rPr lang="en-US" sz="1800" dirty="0"/>
              <a:t>rather than circuit switching, to transmit messages.</a:t>
            </a:r>
          </a:p>
          <a:p>
            <a:pPr marL="717550">
              <a:lnSpc>
                <a:spcPct val="150000"/>
              </a:lnSpc>
              <a:buFont typeface="Wingdings" panose="05000000000000000000" pitchFamily="2" charset="2"/>
              <a:buChar char="Ø"/>
            </a:pPr>
            <a:r>
              <a:rPr lang="en-US" sz="1800" b="1" i="1" dirty="0" smtClean="0"/>
              <a:t>Third-generation </a:t>
            </a:r>
            <a:r>
              <a:rPr lang="en-US" sz="1800" b="1" i="1" dirty="0"/>
              <a:t>Service (3G): </a:t>
            </a:r>
            <a:r>
              <a:rPr lang="en-US" sz="1800" dirty="0"/>
              <a:t>Uses packet switching and transmits at </a:t>
            </a:r>
            <a:r>
              <a:rPr lang="en-US" sz="1800" dirty="0" smtClean="0"/>
              <a:t>higher bandwidths </a:t>
            </a:r>
            <a:r>
              <a:rPr lang="en-US" sz="1800" dirty="0"/>
              <a:t>that provide faster downloads of information – rates ranging </a:t>
            </a:r>
            <a:r>
              <a:rPr lang="en-US" sz="1800" dirty="0" smtClean="0"/>
              <a:t>from 384 </a:t>
            </a:r>
            <a:r>
              <a:rPr lang="en-US" sz="1800" dirty="0" err="1"/>
              <a:t>Kbs</a:t>
            </a:r>
            <a:r>
              <a:rPr lang="en-US" sz="1800" dirty="0"/>
              <a:t> to 2 </a:t>
            </a:r>
            <a:r>
              <a:rPr lang="en-US" sz="1800" dirty="0" err="1"/>
              <a:t>Mbs</a:t>
            </a:r>
            <a:r>
              <a:rPr lang="en-US" sz="1800" dirty="0"/>
              <a:t>, depending on the location of the user</a:t>
            </a:r>
          </a:p>
          <a:p>
            <a:pPr marL="717550">
              <a:lnSpc>
                <a:spcPct val="150000"/>
              </a:lnSpc>
              <a:buFont typeface="Wingdings" panose="05000000000000000000" pitchFamily="2" charset="2"/>
              <a:buChar char="Ø"/>
            </a:pPr>
            <a:r>
              <a:rPr lang="en-US" sz="1800" b="1" dirty="0" smtClean="0"/>
              <a:t>Global </a:t>
            </a:r>
            <a:r>
              <a:rPr lang="en-US" sz="1800" b="1" dirty="0"/>
              <a:t>Positioning System (GPS): </a:t>
            </a:r>
            <a:r>
              <a:rPr lang="en-US" sz="1800" dirty="0"/>
              <a:t>A satellite navigation system and </a:t>
            </a:r>
            <a:r>
              <a:rPr lang="en-US" sz="1800" dirty="0" smtClean="0"/>
              <a:t>a worldwide </a:t>
            </a:r>
            <a:r>
              <a:rPr lang="en-US" sz="1800" dirty="0"/>
              <a:t>navigation system that uses information received from </a:t>
            </a:r>
            <a:r>
              <a:rPr lang="en-US" sz="1800" dirty="0" smtClean="0"/>
              <a:t>orbiting satellites</a:t>
            </a:r>
            <a:endParaRPr lang="en-US" sz="1800" kern="0" dirty="0"/>
          </a:p>
        </p:txBody>
      </p:sp>
    </p:spTree>
    <p:extLst>
      <p:ext uri="{BB962C8B-B14F-4D97-AF65-F5344CB8AC3E}">
        <p14:creationId xmlns:p14="http://schemas.microsoft.com/office/powerpoint/2010/main" val="2402081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5"/>
          </a:xfrm>
        </p:spPr>
        <p:txBody>
          <a:bodyPr>
            <a:noAutofit/>
          </a:bodyPr>
          <a:lstStyle/>
          <a:p>
            <a:pPr algn="ctr">
              <a:defRPr/>
            </a:pPr>
            <a:r>
              <a:rPr lang="en-US" b="1" dirty="0"/>
              <a:t>WIRELESS LAN (</a:t>
            </a:r>
            <a:r>
              <a:rPr lang="en-US" b="1" dirty="0" smtClean="0"/>
              <a:t>WLAN)</a:t>
            </a:r>
            <a:endParaRPr lang="en-GB" sz="4000" b="1" dirty="0">
              <a:latin typeface="Comic Sans MS" panose="030F0702030302020204" pitchFamily="66" charset="0"/>
            </a:endParaRPr>
          </a:p>
        </p:txBody>
      </p:sp>
      <p:sp>
        <p:nvSpPr>
          <p:cNvPr id="5" name="Rectangle 3"/>
          <p:cNvSpPr txBox="1">
            <a:spLocks noChangeArrowheads="1"/>
          </p:cNvSpPr>
          <p:nvPr/>
        </p:nvSpPr>
        <p:spPr bwMode="auto">
          <a:xfrm>
            <a:off x="539552" y="1541054"/>
            <a:ext cx="7992888"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1800" dirty="0"/>
              <a:t>Local area networks that transmit data using radio frequencies instead of cables.</a:t>
            </a:r>
          </a:p>
          <a:p>
            <a:pPr>
              <a:buFont typeface="Wingdings" panose="05000000000000000000" pitchFamily="2" charset="2"/>
              <a:buChar char="§"/>
            </a:pPr>
            <a:r>
              <a:rPr lang="en-US" sz="1800" b="1" dirty="0"/>
              <a:t>Components</a:t>
            </a:r>
          </a:p>
          <a:p>
            <a:pPr marL="900113">
              <a:buFont typeface="Wingdings" panose="05000000000000000000" pitchFamily="2" charset="2"/>
              <a:buChar char="Ø"/>
            </a:pPr>
            <a:r>
              <a:rPr lang="en-US" sz="1800" b="1" i="1" dirty="0"/>
              <a:t>Access Point: </a:t>
            </a:r>
            <a:r>
              <a:rPr lang="en-US" sz="1800" dirty="0"/>
              <a:t>A device that converts wired LAN signals into radio frequency.</a:t>
            </a:r>
          </a:p>
          <a:p>
            <a:pPr marL="900113">
              <a:buFont typeface="Wingdings" panose="05000000000000000000" pitchFamily="2" charset="2"/>
              <a:buChar char="Ø"/>
            </a:pPr>
            <a:r>
              <a:rPr lang="en-US" sz="1800" b="1" dirty="0"/>
              <a:t>802.11 Wireless Ethernet</a:t>
            </a:r>
          </a:p>
          <a:p>
            <a:pPr>
              <a:buFont typeface="Wingdings" panose="05000000000000000000" pitchFamily="2" charset="2"/>
              <a:buChar char="§"/>
            </a:pPr>
            <a:r>
              <a:rPr lang="en-US" sz="1800" b="1" dirty="0"/>
              <a:t>Wireless LAN Security</a:t>
            </a:r>
          </a:p>
          <a:p>
            <a:pPr marL="900113">
              <a:buFont typeface="Wingdings" panose="05000000000000000000" pitchFamily="2" charset="2"/>
              <a:buChar char="Ø"/>
            </a:pPr>
            <a:r>
              <a:rPr lang="en-US" sz="1800" b="1" i="1" dirty="0"/>
              <a:t>Wired Equivalent Privacy (WEP): </a:t>
            </a:r>
            <a:r>
              <a:rPr lang="en-US" sz="1800" dirty="0"/>
              <a:t>A system of security protection that is a standard for encrypting data (converting the data into a protective code) over an 802.11 b wireless network.</a:t>
            </a:r>
          </a:p>
          <a:p>
            <a:pPr marL="900113">
              <a:buFont typeface="Wingdings" panose="05000000000000000000" pitchFamily="2" charset="2"/>
              <a:buChar char="Ø"/>
            </a:pPr>
            <a:r>
              <a:rPr lang="en-US" sz="1800" b="1" i="1" dirty="0"/>
              <a:t>Service Set Identity (SSID): </a:t>
            </a:r>
            <a:r>
              <a:rPr lang="en-US" sz="1800" dirty="0"/>
              <a:t>An encrypted code keyed into the LAN devices, so that only devices with similar code can access the network resources.</a:t>
            </a:r>
            <a:endParaRPr lang="en-US" sz="1800" kern="0" dirty="0"/>
          </a:p>
        </p:txBody>
      </p:sp>
    </p:spTree>
    <p:extLst>
      <p:ext uri="{BB962C8B-B14F-4D97-AF65-F5344CB8AC3E}">
        <p14:creationId xmlns:p14="http://schemas.microsoft.com/office/powerpoint/2010/main" val="26209120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5"/>
          </a:xfrm>
        </p:spPr>
        <p:txBody>
          <a:bodyPr>
            <a:noAutofit/>
          </a:bodyPr>
          <a:lstStyle/>
          <a:p>
            <a:pPr algn="ctr"/>
            <a:r>
              <a:rPr lang="en-US" sz="3000" b="1" dirty="0"/>
              <a:t>BLUETOOTH PERSONAL AREA NETWORK/PERSONAL </a:t>
            </a:r>
            <a:r>
              <a:rPr lang="en-US" sz="3000" b="1" dirty="0" smtClean="0"/>
              <a:t>AREA NETWORK</a:t>
            </a:r>
            <a:endParaRPr lang="en-GB" sz="3000" b="1" dirty="0">
              <a:latin typeface="Comic Sans MS" panose="030F0702030302020204" pitchFamily="66" charset="0"/>
            </a:endParaRPr>
          </a:p>
        </p:txBody>
      </p:sp>
      <p:sp>
        <p:nvSpPr>
          <p:cNvPr id="5" name="Rectangle 3"/>
          <p:cNvSpPr txBox="1">
            <a:spLocks noChangeArrowheads="1"/>
          </p:cNvSpPr>
          <p:nvPr/>
        </p:nvSpPr>
        <p:spPr bwMode="auto">
          <a:xfrm>
            <a:off x="467544" y="1484784"/>
            <a:ext cx="8280920"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dirty="0"/>
              <a:t>A wireless technology for communicating between devices that enable short-range radio </a:t>
            </a:r>
            <a:r>
              <a:rPr lang="en-US" sz="2000" dirty="0" smtClean="0"/>
              <a:t>links (</a:t>
            </a:r>
            <a:r>
              <a:rPr lang="en-US" sz="2000" dirty="0"/>
              <a:t>30 feet or 10 meters) between devices, such as between a PC and a laptop, or a PDA and </a:t>
            </a:r>
            <a:r>
              <a:rPr lang="en-US" sz="2000" dirty="0" smtClean="0"/>
              <a:t>a printer</a:t>
            </a:r>
            <a:r>
              <a:rPr lang="en-US" sz="2000" dirty="0"/>
              <a:t>.</a:t>
            </a:r>
            <a:endParaRPr lang="en-US" sz="2000" kern="0" dirty="0"/>
          </a:p>
        </p:txBody>
      </p:sp>
    </p:spTree>
    <p:extLst>
      <p:ext uri="{BB962C8B-B14F-4D97-AF65-F5344CB8AC3E}">
        <p14:creationId xmlns:p14="http://schemas.microsoft.com/office/powerpoint/2010/main" val="3740923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5"/>
          </a:xfrm>
        </p:spPr>
        <p:txBody>
          <a:bodyPr>
            <a:noAutofit/>
          </a:bodyPr>
          <a:lstStyle/>
          <a:p>
            <a:pPr algn="ctr"/>
            <a:r>
              <a:rPr lang="en-US" b="1" dirty="0"/>
              <a:t>WIRELESS DATA NETWORKS</a:t>
            </a:r>
            <a:endParaRPr lang="en-GB" sz="3000" b="1" dirty="0">
              <a:latin typeface="Comic Sans MS" panose="030F0702030302020204" pitchFamily="66" charset="0"/>
            </a:endParaRPr>
          </a:p>
        </p:txBody>
      </p:sp>
      <p:sp>
        <p:nvSpPr>
          <p:cNvPr id="5" name="Rectangle 3"/>
          <p:cNvSpPr txBox="1">
            <a:spLocks noChangeArrowheads="1"/>
          </p:cNvSpPr>
          <p:nvPr/>
        </p:nvSpPr>
        <p:spPr bwMode="auto">
          <a:xfrm>
            <a:off x="467544" y="1484784"/>
            <a:ext cx="8280920"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1900" b="1" i="1" dirty="0" smtClean="0"/>
              <a:t>Wireless </a:t>
            </a:r>
            <a:r>
              <a:rPr lang="en-US" sz="1900" b="1" i="1" dirty="0"/>
              <a:t>Data Networks (WDNs): </a:t>
            </a:r>
            <a:r>
              <a:rPr lang="en-US" sz="1900" dirty="0"/>
              <a:t>Networks that use cellular </a:t>
            </a:r>
            <a:r>
              <a:rPr lang="en-US" sz="1900" dirty="0" smtClean="0"/>
              <a:t>communications services </a:t>
            </a:r>
            <a:r>
              <a:rPr lang="en-US" sz="1900" dirty="0"/>
              <a:t>to support mobile users seeking to interconnect with networks using </a:t>
            </a:r>
            <a:r>
              <a:rPr lang="en-US" sz="1900" dirty="0" smtClean="0"/>
              <a:t>wireless laptops </a:t>
            </a:r>
            <a:r>
              <a:rPr lang="en-US" sz="1900" dirty="0"/>
              <a:t>and PDAs.</a:t>
            </a:r>
          </a:p>
          <a:p>
            <a:pPr>
              <a:lnSpc>
                <a:spcPct val="200000"/>
              </a:lnSpc>
            </a:pPr>
            <a:r>
              <a:rPr lang="en-US" sz="1900" b="1" i="1" dirty="0" smtClean="0"/>
              <a:t>Virtual </a:t>
            </a:r>
            <a:r>
              <a:rPr lang="en-US" sz="1900" b="1" i="1" dirty="0"/>
              <a:t>Private Network (VPN): </a:t>
            </a:r>
            <a:r>
              <a:rPr lang="en-US" sz="1900" dirty="0"/>
              <a:t>A </a:t>
            </a:r>
            <a:r>
              <a:rPr lang="en-US" sz="1900" dirty="0" smtClean="0"/>
              <a:t>network constructed </a:t>
            </a:r>
            <a:r>
              <a:rPr lang="en-US" sz="1900" dirty="0"/>
              <a:t>of public channels to </a:t>
            </a:r>
            <a:r>
              <a:rPr lang="en-US" sz="1900" dirty="0" smtClean="0"/>
              <a:t>connect client </a:t>
            </a:r>
            <a:r>
              <a:rPr lang="en-US" sz="1900" dirty="0"/>
              <a:t>computers to server, incorporating encryption and other security mechanisms </a:t>
            </a:r>
            <a:r>
              <a:rPr lang="en-US" sz="1900" dirty="0" smtClean="0"/>
              <a:t>to ensure </a:t>
            </a:r>
            <a:r>
              <a:rPr lang="en-US" sz="1900" dirty="0"/>
              <a:t>that only authorized users can gain access and that the data cannot </a:t>
            </a:r>
            <a:r>
              <a:rPr lang="en-US" sz="1900" dirty="0" smtClean="0"/>
              <a:t>be intercepted</a:t>
            </a:r>
            <a:endParaRPr lang="en-US" sz="1900" kern="0" dirty="0"/>
          </a:p>
        </p:txBody>
      </p:sp>
    </p:spTree>
    <p:extLst>
      <p:ext uri="{BB962C8B-B14F-4D97-AF65-F5344CB8AC3E}">
        <p14:creationId xmlns:p14="http://schemas.microsoft.com/office/powerpoint/2010/main" val="423635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72007"/>
            <a:ext cx="8229600" cy="1484785"/>
          </a:xfrm>
        </p:spPr>
        <p:txBody>
          <a:bodyPr>
            <a:noAutofit/>
          </a:bodyPr>
          <a:lstStyle/>
          <a:p>
            <a:pPr algn="ctr"/>
            <a:r>
              <a:rPr lang="en-US" sz="4800" b="1" dirty="0"/>
              <a:t>A Virtual </a:t>
            </a:r>
            <a:r>
              <a:rPr lang="en-US" sz="4800" b="1" dirty="0" smtClean="0"/>
              <a:t>Private</a:t>
            </a:r>
            <a:br>
              <a:rPr lang="en-US" sz="4800" b="1" dirty="0" smtClean="0"/>
            </a:br>
            <a:r>
              <a:rPr lang="en-US" sz="4800" b="1" dirty="0" smtClean="0"/>
              <a:t>Network </a:t>
            </a:r>
            <a:r>
              <a:rPr lang="en-US" sz="4800" b="1" dirty="0"/>
              <a:t>Architecture</a:t>
            </a:r>
            <a:endParaRPr lang="en-GB" sz="4800" b="1" dirty="0">
              <a:latin typeface="Comic Sans MS" panose="030F0702030302020204" pitchFamily="66" charset="0"/>
            </a:endParaRPr>
          </a:p>
        </p:txBody>
      </p:sp>
      <p:pic>
        <p:nvPicPr>
          <p:cNvPr id="2" name="Picture 1"/>
          <p:cNvPicPr>
            <a:picLocks noChangeAspect="1"/>
          </p:cNvPicPr>
          <p:nvPr/>
        </p:nvPicPr>
        <p:blipFill>
          <a:blip r:embed="rId2"/>
          <a:stretch>
            <a:fillRect/>
          </a:stretch>
        </p:blipFill>
        <p:spPr>
          <a:xfrm>
            <a:off x="467544" y="1484784"/>
            <a:ext cx="8075240" cy="5112568"/>
          </a:xfrm>
          <a:prstGeom prst="rect">
            <a:avLst/>
          </a:prstGeom>
        </p:spPr>
      </p:pic>
    </p:spTree>
    <p:extLst>
      <p:ext uri="{BB962C8B-B14F-4D97-AF65-F5344CB8AC3E}">
        <p14:creationId xmlns:p14="http://schemas.microsoft.com/office/powerpoint/2010/main" val="2280788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NETWORK OPERATING SYSTEMS</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800" b="1" i="1" dirty="0" smtClean="0"/>
              <a:t>Network </a:t>
            </a:r>
            <a:r>
              <a:rPr lang="en-US" sz="1800" b="1" i="1" dirty="0"/>
              <a:t>Operating System (NOS): </a:t>
            </a:r>
            <a:r>
              <a:rPr lang="en-US" sz="1800" dirty="0"/>
              <a:t>A software program that runs in conjunction with </a:t>
            </a:r>
            <a:r>
              <a:rPr lang="en-US" sz="1800" dirty="0" smtClean="0"/>
              <a:t>the computer’s </a:t>
            </a:r>
            <a:r>
              <a:rPr lang="en-US" sz="1800" dirty="0"/>
              <a:t>operating system and applications programs and manages the network.</a:t>
            </a:r>
          </a:p>
          <a:p>
            <a:pPr marL="717550">
              <a:lnSpc>
                <a:spcPct val="150000"/>
              </a:lnSpc>
              <a:buFont typeface="Wingdings" panose="05000000000000000000" pitchFamily="2" charset="2"/>
              <a:buChar char="§"/>
            </a:pPr>
            <a:r>
              <a:rPr lang="en-US" sz="1800" b="1" dirty="0" smtClean="0"/>
              <a:t>Protocol </a:t>
            </a:r>
            <a:r>
              <a:rPr lang="en-US" sz="1800" b="1" dirty="0"/>
              <a:t>and Communications Control</a:t>
            </a:r>
          </a:p>
          <a:p>
            <a:pPr marL="909638" indent="0">
              <a:lnSpc>
                <a:spcPct val="150000"/>
              </a:lnSpc>
              <a:buNone/>
            </a:pPr>
            <a:r>
              <a:rPr lang="en-US" sz="1800" dirty="0" smtClean="0"/>
              <a:t>– </a:t>
            </a:r>
            <a:r>
              <a:rPr lang="en-US" sz="1800" b="1" i="1" dirty="0" smtClean="0"/>
              <a:t>Protocol</a:t>
            </a:r>
            <a:r>
              <a:rPr lang="en-US" sz="1800" b="1" i="1" dirty="0"/>
              <a:t>: </a:t>
            </a:r>
            <a:r>
              <a:rPr lang="en-US" sz="1800" dirty="0"/>
              <a:t>The rules and conventions guiding data communications, </a:t>
            </a:r>
            <a:r>
              <a:rPr lang="en-US" sz="1800" dirty="0" smtClean="0"/>
              <a:t>embedded as </a:t>
            </a:r>
            <a:r>
              <a:rPr lang="en-US" sz="1800" dirty="0"/>
              <a:t>coded instructions in the network software.</a:t>
            </a:r>
          </a:p>
          <a:p>
            <a:pPr marL="717550">
              <a:lnSpc>
                <a:spcPct val="150000"/>
              </a:lnSpc>
              <a:buFont typeface="Wingdings" panose="05000000000000000000" pitchFamily="2" charset="2"/>
              <a:buChar char="§"/>
            </a:pPr>
            <a:r>
              <a:rPr lang="en-US" sz="1800" b="1" i="1" dirty="0" smtClean="0"/>
              <a:t>Network </a:t>
            </a:r>
            <a:r>
              <a:rPr lang="en-US" sz="1800" b="1" i="1" dirty="0"/>
              <a:t>Administration/Network Management: </a:t>
            </a:r>
            <a:r>
              <a:rPr lang="en-US" sz="1800" dirty="0"/>
              <a:t>The management of a network</a:t>
            </a:r>
            <a:r>
              <a:rPr lang="en-US" sz="1800" dirty="0" smtClean="0"/>
              <a:t>, consisting </a:t>
            </a:r>
            <a:r>
              <a:rPr lang="en-US" sz="1800" dirty="0"/>
              <a:t>of those procedures and services that keep the network running properly</a:t>
            </a:r>
            <a:r>
              <a:rPr lang="en-US" sz="1800" dirty="0" smtClean="0"/>
              <a:t>. </a:t>
            </a:r>
          </a:p>
          <a:p>
            <a:pPr marL="717550" indent="0">
              <a:lnSpc>
                <a:spcPct val="150000"/>
              </a:lnSpc>
              <a:buNone/>
            </a:pPr>
            <a:r>
              <a:rPr lang="en-US" sz="1800" dirty="0" smtClean="0"/>
              <a:t>The </a:t>
            </a:r>
            <a:r>
              <a:rPr lang="en-US" sz="1800" dirty="0"/>
              <a:t>ICT professional responsible for this job is called a Network Administrator.</a:t>
            </a:r>
            <a:endParaRPr lang="en-US" sz="1800" kern="0" dirty="0"/>
          </a:p>
        </p:txBody>
      </p:sp>
    </p:spTree>
    <p:extLst>
      <p:ext uri="{BB962C8B-B14F-4D97-AF65-F5344CB8AC3E}">
        <p14:creationId xmlns:p14="http://schemas.microsoft.com/office/powerpoint/2010/main" val="40507917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ENTERPRISE ARCHITECTURES</a:t>
            </a:r>
          </a:p>
        </p:txBody>
      </p:sp>
      <p:sp>
        <p:nvSpPr>
          <p:cNvPr id="5" name="Rectangle 3"/>
          <p:cNvSpPr txBox="1">
            <a:spLocks noChangeArrowheads="1"/>
          </p:cNvSpPr>
          <p:nvPr/>
        </p:nvSpPr>
        <p:spPr bwMode="auto">
          <a:xfrm>
            <a:off x="467544" y="1484784"/>
            <a:ext cx="828092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b="1" i="1" dirty="0" smtClean="0"/>
              <a:t>Architecture</a:t>
            </a:r>
            <a:r>
              <a:rPr lang="en-US" sz="1900" b="1" i="1" dirty="0"/>
              <a:t>: </a:t>
            </a:r>
            <a:r>
              <a:rPr lang="en-US" sz="1900" dirty="0"/>
              <a:t>The structure of a communications network, which determines how the </a:t>
            </a:r>
            <a:r>
              <a:rPr lang="en-US" sz="1900" dirty="0" smtClean="0"/>
              <a:t>various components </a:t>
            </a:r>
            <a:r>
              <a:rPr lang="en-US" sz="1900" dirty="0"/>
              <a:t>of the network are structured, how they interact, and when cooperation </a:t>
            </a:r>
            <a:r>
              <a:rPr lang="en-US" sz="1900" dirty="0" smtClean="0"/>
              <a:t>between the </a:t>
            </a:r>
            <a:r>
              <a:rPr lang="en-US" sz="1900" dirty="0"/>
              <a:t>system’s components is needed.</a:t>
            </a:r>
          </a:p>
          <a:p>
            <a:pPr>
              <a:lnSpc>
                <a:spcPct val="150000"/>
              </a:lnSpc>
            </a:pPr>
            <a:r>
              <a:rPr lang="en-US" sz="1900" b="1" i="1" dirty="0"/>
              <a:t>Centralized Architecture</a:t>
            </a:r>
          </a:p>
          <a:p>
            <a:pPr marL="900113">
              <a:lnSpc>
                <a:spcPct val="150000"/>
              </a:lnSpc>
              <a:buFont typeface="Wingdings" panose="05000000000000000000" pitchFamily="2" charset="2"/>
              <a:buChar char="Ø"/>
            </a:pPr>
            <a:r>
              <a:rPr lang="en-US" sz="1900" b="1" i="1" dirty="0" smtClean="0"/>
              <a:t>Centralized </a:t>
            </a:r>
            <a:r>
              <a:rPr lang="en-US" sz="1900" b="1" i="1" dirty="0"/>
              <a:t>Architecture: </a:t>
            </a:r>
            <a:r>
              <a:rPr lang="en-US" sz="1900" dirty="0"/>
              <a:t>A communications architecture in which a computer at </a:t>
            </a:r>
            <a:r>
              <a:rPr lang="en-US" sz="1900" dirty="0" smtClean="0"/>
              <a:t>a central </a:t>
            </a:r>
            <a:r>
              <a:rPr lang="en-US" sz="1900" dirty="0"/>
              <a:t>site hosts all of the network’s hardware and software, performs all of </a:t>
            </a:r>
            <a:r>
              <a:rPr lang="en-US" sz="1900" dirty="0" smtClean="0"/>
              <a:t>the processing</a:t>
            </a:r>
            <a:r>
              <a:rPr lang="en-US" sz="1900" dirty="0"/>
              <a:t>, and manages the network</a:t>
            </a:r>
            <a:r>
              <a:rPr lang="en-US" sz="1900" dirty="0" smtClean="0"/>
              <a:t>.</a:t>
            </a:r>
          </a:p>
          <a:p>
            <a:pPr marL="900113">
              <a:lnSpc>
                <a:spcPct val="150000"/>
              </a:lnSpc>
              <a:buFont typeface="Wingdings" panose="05000000000000000000" pitchFamily="2" charset="2"/>
              <a:buChar char="Ø"/>
            </a:pPr>
            <a:r>
              <a:rPr lang="en-US" sz="1900" b="1" i="1" dirty="0" smtClean="0"/>
              <a:t>Host-based </a:t>
            </a:r>
            <a:r>
              <a:rPr lang="en-US" sz="1900" b="1" i="1" dirty="0"/>
              <a:t>Computing: </a:t>
            </a:r>
            <a:r>
              <a:rPr lang="en-US" sz="1900" dirty="0"/>
              <a:t>Centralized computing</a:t>
            </a:r>
            <a:r>
              <a:rPr lang="en-US" sz="1900" dirty="0" smtClean="0"/>
              <a:t>.</a:t>
            </a:r>
            <a:endParaRPr lang="en-US" sz="1900" dirty="0"/>
          </a:p>
        </p:txBody>
      </p:sp>
    </p:spTree>
    <p:extLst>
      <p:ext uri="{BB962C8B-B14F-4D97-AF65-F5344CB8AC3E}">
        <p14:creationId xmlns:p14="http://schemas.microsoft.com/office/powerpoint/2010/main" val="25661859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ENTERPRISE ARCHITECTURES</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nSpc>
                <a:spcPct val="150000"/>
              </a:lnSpc>
              <a:buFont typeface="Wingdings" panose="05000000000000000000" pitchFamily="2" charset="2"/>
              <a:buChar char="Ø"/>
            </a:pPr>
            <a:r>
              <a:rPr lang="en-US" sz="1900" b="1" i="1" dirty="0" smtClean="0"/>
              <a:t>Teleprocessing</a:t>
            </a:r>
            <a:r>
              <a:rPr lang="en-US" sz="1900" b="1" i="1" dirty="0"/>
              <a:t>: </a:t>
            </a:r>
            <a:r>
              <a:rPr lang="en-US" sz="1900" dirty="0"/>
              <a:t>The processing capability made possible by connecting </a:t>
            </a:r>
            <a:r>
              <a:rPr lang="en-US" sz="1900" dirty="0" smtClean="0"/>
              <a:t>desktop computers </a:t>
            </a:r>
            <a:r>
              <a:rPr lang="en-US" sz="1900" dirty="0"/>
              <a:t>to a remote computer through telephone lines.</a:t>
            </a:r>
          </a:p>
          <a:p>
            <a:pPr marL="900113">
              <a:lnSpc>
                <a:spcPct val="150000"/>
              </a:lnSpc>
              <a:buFont typeface="Wingdings" panose="05000000000000000000" pitchFamily="2" charset="2"/>
              <a:buChar char="Ø"/>
            </a:pPr>
            <a:r>
              <a:rPr lang="en-US" sz="1900" b="1" i="1" dirty="0" smtClean="0"/>
              <a:t>Front-end </a:t>
            </a:r>
            <a:r>
              <a:rPr lang="en-US" sz="1900" b="1" i="1" dirty="0"/>
              <a:t>Computer: </a:t>
            </a:r>
            <a:r>
              <a:rPr lang="en-US" sz="1900" dirty="0"/>
              <a:t>In a centralized system, </a:t>
            </a:r>
            <a:r>
              <a:rPr lang="en-US" sz="1900" dirty="0" smtClean="0"/>
              <a:t>a minicomputer </a:t>
            </a:r>
            <a:r>
              <a:rPr lang="en-US" sz="1900" dirty="0"/>
              <a:t>loaded with </a:t>
            </a:r>
            <a:r>
              <a:rPr lang="en-US" sz="1900" dirty="0" smtClean="0"/>
              <a:t>specific programs </a:t>
            </a:r>
            <a:r>
              <a:rPr lang="en-US" sz="1900" dirty="0"/>
              <a:t>to handle all incoming and outgoing communications traffic.</a:t>
            </a:r>
            <a:endParaRPr lang="en-US" sz="1900" kern="0" dirty="0"/>
          </a:p>
        </p:txBody>
      </p:sp>
    </p:spTree>
    <p:extLst>
      <p:ext uri="{BB962C8B-B14F-4D97-AF65-F5344CB8AC3E}">
        <p14:creationId xmlns:p14="http://schemas.microsoft.com/office/powerpoint/2010/main" val="1423062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A Centralized Architecture</a:t>
            </a:r>
          </a:p>
        </p:txBody>
      </p:sp>
      <p:pic>
        <p:nvPicPr>
          <p:cNvPr id="2" name="Picture 1"/>
          <p:cNvPicPr>
            <a:picLocks noChangeAspect="1"/>
          </p:cNvPicPr>
          <p:nvPr/>
        </p:nvPicPr>
        <p:blipFill>
          <a:blip r:embed="rId2"/>
          <a:stretch>
            <a:fillRect/>
          </a:stretch>
        </p:blipFill>
        <p:spPr>
          <a:xfrm>
            <a:off x="611560" y="1484785"/>
            <a:ext cx="7848872" cy="5112567"/>
          </a:xfrm>
          <a:prstGeom prst="rect">
            <a:avLst/>
          </a:prstGeom>
        </p:spPr>
      </p:pic>
    </p:spTree>
    <p:extLst>
      <p:ext uri="{BB962C8B-B14F-4D97-AF65-F5344CB8AC3E}">
        <p14:creationId xmlns:p14="http://schemas.microsoft.com/office/powerpoint/2010/main" val="25656372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6000" b="1" dirty="0"/>
              <a:t>Distributed Architecture</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1900" b="1" i="1" dirty="0" smtClean="0"/>
              <a:t>Distributed </a:t>
            </a:r>
            <a:r>
              <a:rPr lang="en-US" sz="1900" b="1" i="1" dirty="0"/>
              <a:t>Architecture: </a:t>
            </a:r>
            <a:r>
              <a:rPr lang="en-US" sz="1900" dirty="0"/>
              <a:t>A communications architecture in which the </a:t>
            </a:r>
            <a:r>
              <a:rPr lang="en-US" sz="1900" dirty="0" smtClean="0"/>
              <a:t>computers reside </a:t>
            </a:r>
            <a:r>
              <a:rPr lang="en-US" sz="1900" dirty="0"/>
              <a:t>at different locations and are interconnected by a communications network.</a:t>
            </a:r>
          </a:p>
          <a:p>
            <a:pPr>
              <a:lnSpc>
                <a:spcPct val="200000"/>
              </a:lnSpc>
            </a:pPr>
            <a:r>
              <a:rPr lang="en-US" sz="1900" b="1" i="1" dirty="0" smtClean="0"/>
              <a:t>Distributed </a:t>
            </a:r>
            <a:r>
              <a:rPr lang="en-US" sz="1900" b="1" i="1" dirty="0"/>
              <a:t>Processing: </a:t>
            </a:r>
            <a:r>
              <a:rPr lang="en-US" sz="1900" dirty="0"/>
              <a:t>Processing in which an application runs on one or </a:t>
            </a:r>
            <a:r>
              <a:rPr lang="en-US" sz="1900" dirty="0" smtClean="0"/>
              <a:t>more locations </a:t>
            </a:r>
            <a:r>
              <a:rPr lang="en-US" sz="1900" dirty="0"/>
              <a:t>of the network simultaneously.</a:t>
            </a:r>
          </a:p>
          <a:p>
            <a:pPr>
              <a:lnSpc>
                <a:spcPct val="200000"/>
              </a:lnSpc>
            </a:pPr>
            <a:r>
              <a:rPr lang="en-US" sz="1900" b="1" i="1" dirty="0" smtClean="0"/>
              <a:t>Distributed </a:t>
            </a:r>
            <a:r>
              <a:rPr lang="en-US" sz="1900" b="1" i="1" dirty="0"/>
              <a:t>Database: </a:t>
            </a:r>
            <a:r>
              <a:rPr lang="en-US" sz="1900" dirty="0"/>
              <a:t>A database that resides in more than one system in </a:t>
            </a:r>
            <a:r>
              <a:rPr lang="en-US" sz="1900" dirty="0" smtClean="0"/>
              <a:t>a distributed </a:t>
            </a:r>
            <a:r>
              <a:rPr lang="en-US" sz="1900" dirty="0"/>
              <a:t>network. Each component of the database can be retrieved from any </a:t>
            </a:r>
            <a:r>
              <a:rPr lang="en-US" sz="1900" dirty="0" smtClean="0"/>
              <a:t>node in </a:t>
            </a:r>
            <a:r>
              <a:rPr lang="en-US" sz="1900" dirty="0"/>
              <a:t>the network.</a:t>
            </a:r>
            <a:endParaRPr lang="en-US" sz="1900" kern="0" dirty="0"/>
          </a:p>
        </p:txBody>
      </p:sp>
    </p:spTree>
    <p:extLst>
      <p:ext uri="{BB962C8B-B14F-4D97-AF65-F5344CB8AC3E}">
        <p14:creationId xmlns:p14="http://schemas.microsoft.com/office/powerpoint/2010/main" val="5861301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b="1" dirty="0"/>
              <a:t>A Distributed Architecture with Distributed Processing</a:t>
            </a:r>
            <a:endParaRPr lang="en-US" sz="6000" b="1" dirty="0"/>
          </a:p>
        </p:txBody>
      </p:sp>
      <p:pic>
        <p:nvPicPr>
          <p:cNvPr id="2" name="Picture 1"/>
          <p:cNvPicPr>
            <a:picLocks noChangeAspect="1"/>
          </p:cNvPicPr>
          <p:nvPr/>
        </p:nvPicPr>
        <p:blipFill>
          <a:blip r:embed="rId2"/>
          <a:stretch>
            <a:fillRect/>
          </a:stretch>
        </p:blipFill>
        <p:spPr>
          <a:xfrm>
            <a:off x="611560" y="1484784"/>
            <a:ext cx="8075240" cy="5184576"/>
          </a:xfrm>
          <a:prstGeom prst="rect">
            <a:avLst/>
          </a:prstGeom>
        </p:spPr>
      </p:pic>
    </p:spTree>
    <p:extLst>
      <p:ext uri="{BB962C8B-B14F-4D97-AF65-F5344CB8AC3E}">
        <p14:creationId xmlns:p14="http://schemas.microsoft.com/office/powerpoint/2010/main" val="9577905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Combining Architectures</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b="1" i="1" dirty="0" smtClean="0"/>
              <a:t>Hybrid </a:t>
            </a:r>
            <a:r>
              <a:rPr lang="en-US" sz="2000" b="1" i="1" dirty="0"/>
              <a:t>Network: </a:t>
            </a:r>
            <a:r>
              <a:rPr lang="en-US" sz="2000" dirty="0"/>
              <a:t>A communications architecture that combines centralized </a:t>
            </a:r>
            <a:r>
              <a:rPr lang="en-US" sz="2000" dirty="0" smtClean="0"/>
              <a:t>and distributed </a:t>
            </a:r>
            <a:r>
              <a:rPr lang="en-US" sz="2000" dirty="0"/>
              <a:t>architectures to take advantage of the strengths of both.</a:t>
            </a:r>
          </a:p>
          <a:p>
            <a:pPr>
              <a:lnSpc>
                <a:spcPct val="200000"/>
              </a:lnSpc>
            </a:pPr>
            <a:r>
              <a:rPr lang="en-US" sz="2000" b="1" i="1" dirty="0" smtClean="0"/>
              <a:t>Virtual </a:t>
            </a:r>
            <a:r>
              <a:rPr lang="en-US" sz="2000" b="1" i="1" dirty="0"/>
              <a:t>Company: </a:t>
            </a:r>
            <a:r>
              <a:rPr lang="en-US" sz="2000" dirty="0"/>
              <a:t>A company that joins with another company operationally, but </a:t>
            </a:r>
            <a:r>
              <a:rPr lang="en-US" sz="2000" dirty="0" smtClean="0"/>
              <a:t>not physically</a:t>
            </a:r>
            <a:r>
              <a:rPr lang="en-US" sz="2000" dirty="0"/>
              <a:t>, to design and manufacture a product.</a:t>
            </a:r>
            <a:endParaRPr lang="en-US" sz="2000" kern="0" dirty="0"/>
          </a:p>
        </p:txBody>
      </p:sp>
    </p:spTree>
    <p:extLst>
      <p:ext uri="{BB962C8B-B14F-4D97-AF65-F5344CB8AC3E}">
        <p14:creationId xmlns:p14="http://schemas.microsoft.com/office/powerpoint/2010/main" val="2755820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7200" b="1" dirty="0"/>
              <a:t>Hybrid Architecture</a:t>
            </a:r>
          </a:p>
        </p:txBody>
      </p:sp>
      <p:pic>
        <p:nvPicPr>
          <p:cNvPr id="2" name="Picture 1"/>
          <p:cNvPicPr>
            <a:picLocks noChangeAspect="1"/>
          </p:cNvPicPr>
          <p:nvPr/>
        </p:nvPicPr>
        <p:blipFill>
          <a:blip r:embed="rId2"/>
          <a:stretch>
            <a:fillRect/>
          </a:stretch>
        </p:blipFill>
        <p:spPr>
          <a:xfrm>
            <a:off x="539552" y="1484785"/>
            <a:ext cx="7992887" cy="5256583"/>
          </a:xfrm>
          <a:prstGeom prst="rect">
            <a:avLst/>
          </a:prstGeom>
        </p:spPr>
      </p:pic>
    </p:spTree>
    <p:extLst>
      <p:ext uri="{BB962C8B-B14F-4D97-AF65-F5344CB8AC3E}">
        <p14:creationId xmlns:p14="http://schemas.microsoft.com/office/powerpoint/2010/main" val="31567154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CONCLUSION</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smtClean="0"/>
              <a:t>Wireless </a:t>
            </a:r>
            <a:r>
              <a:rPr lang="en-US" sz="2100" dirty="0"/>
              <a:t>communication networks are mostly used to implement enterprise networks</a:t>
            </a:r>
            <a:r>
              <a:rPr lang="en-US" sz="2100" dirty="0" smtClean="0"/>
              <a:t>, because </a:t>
            </a:r>
            <a:r>
              <a:rPr lang="en-US" sz="2100" dirty="0"/>
              <a:t>it is easier and faster to connect branch offices at different cities over a wide </a:t>
            </a:r>
            <a:r>
              <a:rPr lang="en-US" sz="2100" dirty="0" smtClean="0"/>
              <a:t>distance to </a:t>
            </a:r>
            <a:r>
              <a:rPr lang="en-US" sz="2100" dirty="0"/>
              <a:t>share resources.</a:t>
            </a:r>
            <a:endParaRPr lang="en-US" sz="2100" kern="0" dirty="0"/>
          </a:p>
        </p:txBody>
      </p:sp>
    </p:spTree>
    <p:extLst>
      <p:ext uri="{BB962C8B-B14F-4D97-AF65-F5344CB8AC3E}">
        <p14:creationId xmlns:p14="http://schemas.microsoft.com/office/powerpoint/2010/main" val="22560339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8800" b="1" dirty="0"/>
              <a:t>SUMMARY</a:t>
            </a:r>
          </a:p>
        </p:txBody>
      </p:sp>
      <p:sp>
        <p:nvSpPr>
          <p:cNvPr id="5" name="Rectangle 3"/>
          <p:cNvSpPr txBox="1">
            <a:spLocks noChangeArrowheads="1"/>
          </p:cNvSpPr>
          <p:nvPr/>
        </p:nvSpPr>
        <p:spPr bwMode="auto">
          <a:xfrm>
            <a:off x="467544" y="1484784"/>
            <a:ext cx="8280920"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dirty="0"/>
              <a:t>In this unit you learnt about:</a:t>
            </a:r>
          </a:p>
          <a:p>
            <a:pPr>
              <a:lnSpc>
                <a:spcPct val="150000"/>
              </a:lnSpc>
            </a:pPr>
            <a:r>
              <a:rPr lang="en-US" sz="1900" dirty="0" smtClean="0"/>
              <a:t>the </a:t>
            </a:r>
            <a:r>
              <a:rPr lang="en-US" sz="1900" dirty="0"/>
              <a:t>four types of wireless communication networks</a:t>
            </a:r>
          </a:p>
          <a:p>
            <a:pPr marL="717550">
              <a:lnSpc>
                <a:spcPct val="150000"/>
              </a:lnSpc>
              <a:buFont typeface="Wingdings" panose="05000000000000000000" pitchFamily="2" charset="2"/>
              <a:buChar char="Ø"/>
            </a:pPr>
            <a:r>
              <a:rPr lang="en-US" sz="1900" dirty="0" smtClean="0"/>
              <a:t>Cellular </a:t>
            </a:r>
            <a:r>
              <a:rPr lang="en-US" sz="1900" dirty="0"/>
              <a:t>Communication Service</a:t>
            </a:r>
          </a:p>
          <a:p>
            <a:pPr marL="717550">
              <a:lnSpc>
                <a:spcPct val="150000"/>
              </a:lnSpc>
              <a:buFont typeface="Wingdings" panose="05000000000000000000" pitchFamily="2" charset="2"/>
              <a:buChar char="Ø"/>
            </a:pPr>
            <a:r>
              <a:rPr lang="en-US" sz="1900" dirty="0" smtClean="0"/>
              <a:t>Wireless </a:t>
            </a:r>
            <a:r>
              <a:rPr lang="en-US" sz="1900" dirty="0"/>
              <a:t>LAN (WLAN)</a:t>
            </a:r>
          </a:p>
          <a:p>
            <a:pPr marL="717550">
              <a:lnSpc>
                <a:spcPct val="150000"/>
              </a:lnSpc>
              <a:buFont typeface="Wingdings" panose="05000000000000000000" pitchFamily="2" charset="2"/>
              <a:buChar char="Ø"/>
            </a:pPr>
            <a:r>
              <a:rPr lang="en-US" sz="1900" dirty="0" smtClean="0"/>
              <a:t>Bluetooth </a:t>
            </a:r>
            <a:r>
              <a:rPr lang="en-US" sz="1900" dirty="0"/>
              <a:t>Personal Area Network/Personal Area Network</a:t>
            </a:r>
          </a:p>
          <a:p>
            <a:pPr marL="717550">
              <a:lnSpc>
                <a:spcPct val="150000"/>
              </a:lnSpc>
              <a:buFont typeface="Wingdings" panose="05000000000000000000" pitchFamily="2" charset="2"/>
              <a:buChar char="Ø"/>
            </a:pPr>
            <a:r>
              <a:rPr lang="en-US" sz="1900" dirty="0" smtClean="0"/>
              <a:t>Wireless </a:t>
            </a:r>
            <a:r>
              <a:rPr lang="en-US" sz="1900" dirty="0"/>
              <a:t>Data Networks</a:t>
            </a:r>
          </a:p>
          <a:p>
            <a:pPr>
              <a:lnSpc>
                <a:spcPct val="150000"/>
              </a:lnSpc>
            </a:pPr>
            <a:r>
              <a:rPr lang="en-US" sz="1900" dirty="0" smtClean="0"/>
              <a:t>the </a:t>
            </a:r>
            <a:r>
              <a:rPr lang="en-US" sz="1900" dirty="0"/>
              <a:t>three types of Enterprise Architectures</a:t>
            </a:r>
          </a:p>
          <a:p>
            <a:pPr marL="717550">
              <a:lnSpc>
                <a:spcPct val="150000"/>
              </a:lnSpc>
              <a:buFont typeface="Wingdings" panose="05000000000000000000" pitchFamily="2" charset="2"/>
              <a:buChar char="Ø"/>
            </a:pPr>
            <a:r>
              <a:rPr lang="en-US" sz="1900" dirty="0" smtClean="0"/>
              <a:t>Centralized </a:t>
            </a:r>
            <a:r>
              <a:rPr lang="en-US" sz="1900" dirty="0"/>
              <a:t>Architecture</a:t>
            </a:r>
          </a:p>
          <a:p>
            <a:pPr marL="717550">
              <a:lnSpc>
                <a:spcPct val="150000"/>
              </a:lnSpc>
              <a:buFont typeface="Wingdings" panose="05000000000000000000" pitchFamily="2" charset="2"/>
              <a:buChar char="Ø"/>
            </a:pPr>
            <a:r>
              <a:rPr lang="en-US" sz="1900" dirty="0" smtClean="0"/>
              <a:t>Distributed </a:t>
            </a:r>
            <a:r>
              <a:rPr lang="en-US" sz="1900" dirty="0"/>
              <a:t>Architecture</a:t>
            </a:r>
          </a:p>
          <a:p>
            <a:pPr marL="717550">
              <a:lnSpc>
                <a:spcPct val="150000"/>
              </a:lnSpc>
              <a:buFont typeface="Wingdings" panose="05000000000000000000" pitchFamily="2" charset="2"/>
              <a:buChar char="Ø"/>
            </a:pPr>
            <a:r>
              <a:rPr lang="en-US" sz="1900" dirty="0" smtClean="0"/>
              <a:t>Combining </a:t>
            </a:r>
            <a:r>
              <a:rPr lang="en-US" sz="1900" dirty="0"/>
              <a:t>Architectures (Hybrid Network: combines centralized and </a:t>
            </a:r>
            <a:r>
              <a:rPr lang="en-US" sz="1900" dirty="0" smtClean="0"/>
              <a:t>distributed architectures </a:t>
            </a:r>
            <a:r>
              <a:rPr lang="en-US" sz="1900" dirty="0"/>
              <a:t>)</a:t>
            </a:r>
            <a:endParaRPr lang="en-US" sz="1900" kern="0" dirty="0"/>
          </a:p>
        </p:txBody>
      </p:sp>
    </p:spTree>
    <p:extLst>
      <p:ext uri="{BB962C8B-B14F-4D97-AF65-F5344CB8AC3E}">
        <p14:creationId xmlns:p14="http://schemas.microsoft.com/office/powerpoint/2010/main" val="37682335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7</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4000" b="1" dirty="0" smtClean="0">
                <a:latin typeface="Comic Sans MS" panose="030F0702030302020204" pitchFamily="66" charset="0"/>
              </a:rPr>
              <a:t>ESSENTIALS OF THE INTERNET</a:t>
            </a:r>
            <a:endParaRPr lang="en-US" sz="4000" b="1" dirty="0">
              <a:latin typeface="Comic Sans MS" panose="030F0702030302020204" pitchFamily="66" charset="0"/>
            </a:endParaRPr>
          </a:p>
        </p:txBody>
      </p:sp>
    </p:spTree>
    <p:extLst>
      <p:ext uri="{BB962C8B-B14F-4D97-AF65-F5344CB8AC3E}">
        <p14:creationId xmlns:p14="http://schemas.microsoft.com/office/powerpoint/2010/main" val="2541380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q"/>
            </a:pPr>
            <a:r>
              <a:rPr lang="en-US" sz="2100" dirty="0"/>
              <a:t>The </a:t>
            </a:r>
            <a:r>
              <a:rPr lang="en-US" sz="2100" dirty="0" smtClean="0"/>
              <a:t>Internet: </a:t>
            </a:r>
            <a:r>
              <a:rPr lang="en-US" sz="2100" dirty="0" smtClean="0"/>
              <a:t>Basic </a:t>
            </a:r>
            <a:r>
              <a:rPr lang="en-US" sz="2100" dirty="0"/>
              <a:t>Concepts</a:t>
            </a:r>
          </a:p>
          <a:p>
            <a:pPr>
              <a:lnSpc>
                <a:spcPct val="200000"/>
              </a:lnSpc>
              <a:buFont typeface="Wingdings" panose="05000000000000000000" pitchFamily="2" charset="2"/>
              <a:buChar char="q"/>
            </a:pPr>
            <a:r>
              <a:rPr lang="en-US" sz="2100" dirty="0" smtClean="0"/>
              <a:t>The </a:t>
            </a:r>
            <a:r>
              <a:rPr lang="en-US" sz="2100" dirty="0"/>
              <a:t>Origins of the Internet</a:t>
            </a:r>
          </a:p>
          <a:p>
            <a:pPr>
              <a:lnSpc>
                <a:spcPct val="200000"/>
              </a:lnSpc>
              <a:buFont typeface="Wingdings" panose="05000000000000000000" pitchFamily="2" charset="2"/>
              <a:buChar char="q"/>
            </a:pPr>
            <a:r>
              <a:rPr lang="en-US" sz="2100" dirty="0" smtClean="0"/>
              <a:t>Computers </a:t>
            </a:r>
            <a:r>
              <a:rPr lang="en-US" sz="2100" dirty="0"/>
              <a:t>on the Internet</a:t>
            </a:r>
          </a:p>
          <a:p>
            <a:pPr>
              <a:lnSpc>
                <a:spcPct val="200000"/>
              </a:lnSpc>
              <a:buFont typeface="Wingdings" panose="05000000000000000000" pitchFamily="2" charset="2"/>
              <a:buChar char="q"/>
            </a:pPr>
            <a:r>
              <a:rPr lang="en-US" sz="2100" dirty="0" smtClean="0"/>
              <a:t>Capabilities </a:t>
            </a:r>
            <a:r>
              <a:rPr lang="en-US" sz="2100" dirty="0"/>
              <a:t>of the Internet</a:t>
            </a:r>
          </a:p>
          <a:p>
            <a:pPr>
              <a:lnSpc>
                <a:spcPct val="200000"/>
              </a:lnSpc>
              <a:buFont typeface="Wingdings" panose="05000000000000000000" pitchFamily="2" charset="2"/>
              <a:buChar char="q"/>
            </a:pPr>
            <a:r>
              <a:rPr lang="en-US" sz="2100" dirty="0" smtClean="0"/>
              <a:t>The </a:t>
            </a:r>
            <a:r>
              <a:rPr lang="en-US" sz="2100" dirty="0"/>
              <a:t>Internet </a:t>
            </a:r>
            <a:r>
              <a:rPr lang="en-US" sz="2100" dirty="0" smtClean="0"/>
              <a:t>Community</a:t>
            </a:r>
            <a:endParaRPr lang="en-US" sz="2100" dirty="0"/>
          </a:p>
        </p:txBody>
      </p:sp>
    </p:spTree>
    <p:extLst>
      <p:ext uri="{BB962C8B-B14F-4D97-AF65-F5344CB8AC3E}">
        <p14:creationId xmlns:p14="http://schemas.microsoft.com/office/powerpoint/2010/main" val="238075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8800" b="1" dirty="0"/>
              <a:t>OBJECTIVES</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a:t>By the end of this unit you should be able to:</a:t>
            </a:r>
          </a:p>
          <a:p>
            <a:pPr marL="717550">
              <a:lnSpc>
                <a:spcPct val="150000"/>
              </a:lnSpc>
              <a:buFont typeface="Wingdings" panose="05000000000000000000" pitchFamily="2" charset="2"/>
              <a:buChar char="Ø"/>
            </a:pPr>
            <a:r>
              <a:rPr lang="en-US" sz="2100" dirty="0" smtClean="0"/>
              <a:t>Discuss </a:t>
            </a:r>
            <a:r>
              <a:rPr lang="en-US" sz="2100" dirty="0"/>
              <a:t>the origin and uses of the Internet</a:t>
            </a:r>
          </a:p>
          <a:p>
            <a:pPr marL="717550">
              <a:lnSpc>
                <a:spcPct val="150000"/>
              </a:lnSpc>
              <a:buFont typeface="Wingdings" panose="05000000000000000000" pitchFamily="2" charset="2"/>
              <a:buChar char="Ø"/>
            </a:pPr>
            <a:r>
              <a:rPr lang="en-US" sz="2100" dirty="0" smtClean="0"/>
              <a:t>Describe </a:t>
            </a:r>
            <a:r>
              <a:rPr lang="en-US" sz="2100" dirty="0"/>
              <a:t>the three types of capabilities of the Internet.</a:t>
            </a:r>
          </a:p>
          <a:p>
            <a:pPr marL="717550">
              <a:lnSpc>
                <a:spcPct val="150000"/>
              </a:lnSpc>
              <a:buFont typeface="Wingdings" panose="05000000000000000000" pitchFamily="2" charset="2"/>
              <a:buChar char="Ø"/>
            </a:pPr>
            <a:r>
              <a:rPr lang="en-US" sz="2100" dirty="0" smtClean="0"/>
              <a:t>Identify </a:t>
            </a:r>
            <a:r>
              <a:rPr lang="en-US" sz="2100" dirty="0"/>
              <a:t>the principal communication and retrieval capabilities of the Internet.</a:t>
            </a:r>
          </a:p>
          <a:p>
            <a:pPr marL="717550">
              <a:lnSpc>
                <a:spcPct val="150000"/>
              </a:lnSpc>
              <a:buFont typeface="Wingdings" panose="05000000000000000000" pitchFamily="2" charset="2"/>
              <a:buChar char="Ø"/>
            </a:pPr>
            <a:r>
              <a:rPr lang="en-US" sz="2100" dirty="0" smtClean="0"/>
              <a:t>Know </a:t>
            </a:r>
            <a:r>
              <a:rPr lang="en-US" sz="2100" dirty="0"/>
              <a:t>the difference between Intranets, Extranets and Internet.</a:t>
            </a:r>
            <a:endParaRPr lang="en-US" sz="2100" kern="0" dirty="0"/>
          </a:p>
        </p:txBody>
      </p:sp>
    </p:spTree>
    <p:extLst>
      <p:ext uri="{BB962C8B-B14F-4D97-AF65-F5344CB8AC3E}">
        <p14:creationId xmlns:p14="http://schemas.microsoft.com/office/powerpoint/2010/main" val="210936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8800" b="1" dirty="0" smtClean="0"/>
              <a:t>Introduction </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dirty="0"/>
              <a:t>A network is a communication system connecting two or more computers. </a:t>
            </a:r>
            <a:endParaRPr lang="en-US" sz="2000" dirty="0" smtClean="0"/>
          </a:p>
          <a:p>
            <a:pPr>
              <a:lnSpc>
                <a:spcPct val="200000"/>
              </a:lnSpc>
            </a:pPr>
            <a:r>
              <a:rPr lang="en-US" sz="2000" dirty="0" smtClean="0"/>
              <a:t>Networks connect people </a:t>
            </a:r>
            <a:r>
              <a:rPr lang="en-US" sz="2000" dirty="0"/>
              <a:t>as close as the next office and as far away as halfway around the world. </a:t>
            </a:r>
            <a:endParaRPr lang="en-US" sz="2000" dirty="0" smtClean="0"/>
          </a:p>
          <a:p>
            <a:pPr>
              <a:lnSpc>
                <a:spcPct val="200000"/>
              </a:lnSpc>
            </a:pPr>
            <a:r>
              <a:rPr lang="en-US" sz="2000" dirty="0" smtClean="0"/>
              <a:t>The largest network </a:t>
            </a:r>
            <a:r>
              <a:rPr lang="en-US" sz="2000" dirty="0"/>
              <a:t>in the world is the Internet. </a:t>
            </a:r>
            <a:endParaRPr lang="en-US" sz="2000" dirty="0" smtClean="0"/>
          </a:p>
          <a:p>
            <a:pPr>
              <a:lnSpc>
                <a:spcPct val="200000"/>
              </a:lnSpc>
            </a:pPr>
            <a:r>
              <a:rPr lang="en-US" sz="2000" dirty="0" smtClean="0"/>
              <a:t>The </a:t>
            </a:r>
            <a:r>
              <a:rPr lang="en-US" sz="2000" dirty="0"/>
              <a:t>internet is a huge computer network available </a:t>
            </a:r>
            <a:r>
              <a:rPr lang="en-US" sz="2000" dirty="0" smtClean="0"/>
              <a:t>to nearly </a:t>
            </a:r>
            <a:r>
              <a:rPr lang="en-US" sz="2000" dirty="0"/>
              <a:t>everyone with a microcomputer and a means to connect to it.</a:t>
            </a:r>
            <a:endParaRPr lang="en-US" sz="2000" kern="0" dirty="0"/>
          </a:p>
        </p:txBody>
      </p:sp>
    </p:spTree>
    <p:extLst>
      <p:ext uri="{BB962C8B-B14F-4D97-AF65-F5344CB8AC3E}">
        <p14:creationId xmlns:p14="http://schemas.microsoft.com/office/powerpoint/2010/main" val="3247490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sz="8800" b="1" dirty="0"/>
              <a:t>INTERNET</a:t>
            </a:r>
            <a:r>
              <a:rPr lang="en-US" sz="8800" b="1" dirty="0" smtClean="0"/>
              <a:t> </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1900" dirty="0"/>
              <a:t>The internet is often referred to as the information Superhighway; it is </a:t>
            </a:r>
            <a:r>
              <a:rPr lang="en-US" sz="1900" dirty="0" smtClean="0"/>
              <a:t>a </a:t>
            </a:r>
            <a:r>
              <a:rPr lang="en-US" sz="1900" dirty="0"/>
              <a:t>highway </a:t>
            </a:r>
            <a:r>
              <a:rPr lang="en-US" sz="1900" dirty="0" smtClean="0"/>
              <a:t>that connects to </a:t>
            </a:r>
            <a:r>
              <a:rPr lang="en-US" sz="1900" dirty="0"/>
              <a:t>millions of other people and organizations. </a:t>
            </a:r>
            <a:endParaRPr lang="en-US" sz="1900" dirty="0" smtClean="0"/>
          </a:p>
          <a:p>
            <a:pPr>
              <a:lnSpc>
                <a:spcPct val="200000"/>
              </a:lnSpc>
            </a:pPr>
            <a:r>
              <a:rPr lang="en-US" sz="1900" dirty="0" smtClean="0"/>
              <a:t>the </a:t>
            </a:r>
            <a:r>
              <a:rPr lang="en-US" sz="1900" dirty="0"/>
              <a:t>internet moves your ideas </a:t>
            </a:r>
            <a:r>
              <a:rPr lang="en-US" sz="1900" dirty="0" smtClean="0"/>
              <a:t>and information</a:t>
            </a:r>
            <a:r>
              <a:rPr lang="en-US" sz="1900" dirty="0"/>
              <a:t>. </a:t>
            </a:r>
            <a:endParaRPr lang="en-US" sz="1900" dirty="0" smtClean="0"/>
          </a:p>
          <a:p>
            <a:pPr>
              <a:lnSpc>
                <a:spcPct val="200000"/>
              </a:lnSpc>
            </a:pPr>
            <a:r>
              <a:rPr lang="en-US" sz="1900" dirty="0" smtClean="0"/>
              <a:t>Rather </a:t>
            </a:r>
            <a:r>
              <a:rPr lang="en-US" sz="1900" dirty="0"/>
              <a:t>the moving through geographic space, you move through </a:t>
            </a:r>
            <a:r>
              <a:rPr lang="en-US" sz="1900" dirty="0" smtClean="0"/>
              <a:t>cyberspace-the space </a:t>
            </a:r>
            <a:r>
              <a:rPr lang="en-US" sz="1900" dirty="0"/>
              <a:t>of electronic movement of ideas and information.</a:t>
            </a:r>
            <a:endParaRPr lang="en-US" sz="1900" kern="0" dirty="0"/>
          </a:p>
        </p:txBody>
      </p:sp>
    </p:spTree>
    <p:extLst>
      <p:ext uri="{BB962C8B-B14F-4D97-AF65-F5344CB8AC3E}">
        <p14:creationId xmlns:p14="http://schemas.microsoft.com/office/powerpoint/2010/main" val="23626848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BASIC </a:t>
            </a:r>
            <a:r>
              <a:rPr lang="en-US" b="1" dirty="0" smtClean="0"/>
              <a:t>CONCEPTS</a:t>
            </a:r>
            <a:r>
              <a:rPr lang="en-US" sz="8800" b="1" dirty="0" smtClean="0"/>
              <a:t> </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3600" b="1" dirty="0" smtClean="0">
                <a:latin typeface="Times New Roman" panose="02020603050405020304" pitchFamily="18" charset="0"/>
                <a:cs typeface="Times New Roman" panose="02020603050405020304" pitchFamily="18" charset="0"/>
              </a:rPr>
              <a:t>Connectivity</a:t>
            </a:r>
            <a:endParaRPr lang="en-US" sz="3600" dirty="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Connectivity is the capability of </a:t>
            </a: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microcomputer to share information with </a:t>
            </a:r>
            <a:r>
              <a:rPr lang="en-US" sz="2200" dirty="0" smtClean="0">
                <a:latin typeface="Times New Roman" panose="02020603050405020304" pitchFamily="18" charset="0"/>
                <a:cs typeface="Times New Roman" panose="02020603050405020304" pitchFamily="18" charset="0"/>
              </a:rPr>
              <a:t>other computers</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Data </a:t>
            </a:r>
            <a:r>
              <a:rPr lang="en-US" sz="2200" dirty="0">
                <a:latin typeface="Times New Roman" panose="02020603050405020304" pitchFamily="18" charset="0"/>
                <a:cs typeface="Times New Roman" panose="02020603050405020304" pitchFamily="18" charset="0"/>
              </a:rPr>
              <a:t>and information can be sent over telephone lines or cable and through air.</a:t>
            </a:r>
          </a:p>
          <a:p>
            <a:pPr marL="7175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This means that, </a:t>
            </a:r>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microcomputer can be connected to other computers, to the internet</a:t>
            </a:r>
            <a:r>
              <a:rPr lang="en-US" sz="2200" dirty="0" smtClean="0">
                <a:latin typeface="Times New Roman" panose="02020603050405020304" pitchFamily="18" charset="0"/>
                <a:cs typeface="Times New Roman" panose="02020603050405020304" pitchFamily="18" charset="0"/>
              </a:rPr>
              <a:t>, and </a:t>
            </a:r>
            <a:r>
              <a:rPr lang="en-US" sz="2200" dirty="0">
                <a:latin typeface="Times New Roman" panose="02020603050405020304" pitchFamily="18" charset="0"/>
                <a:cs typeface="Times New Roman" panose="02020603050405020304" pitchFamily="18" charset="0"/>
              </a:rPr>
              <a:t>too many computerized data banks and other sources of information worldwide.</a:t>
            </a:r>
          </a:p>
          <a:p>
            <a:pPr marL="717550">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most dramatic change in connectivity in the past decade has been the widespread use </a:t>
            </a:r>
            <a:r>
              <a:rPr lang="en-US" sz="2200" dirty="0" smtClean="0">
                <a:latin typeface="Times New Roman" panose="02020603050405020304" pitchFamily="18" charset="0"/>
                <a:cs typeface="Times New Roman" panose="02020603050405020304" pitchFamily="18" charset="0"/>
              </a:rPr>
              <a:t>of mobile </a:t>
            </a:r>
            <a:r>
              <a:rPr lang="en-US" sz="2200" dirty="0">
                <a:latin typeface="Times New Roman" panose="02020603050405020304" pitchFamily="18" charset="0"/>
                <a:cs typeface="Times New Roman" panose="02020603050405020304" pitchFamily="18" charset="0"/>
              </a:rPr>
              <a:t>and wireless communication devices. </a:t>
            </a:r>
            <a:endParaRPr lang="en-US" sz="2200" dirty="0" smtClean="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It </a:t>
            </a:r>
            <a:r>
              <a:rPr lang="en-US" sz="2200" dirty="0">
                <a:latin typeface="Times New Roman" panose="02020603050405020304" pitchFamily="18" charset="0"/>
                <a:cs typeface="Times New Roman" panose="02020603050405020304" pitchFamily="18" charset="0"/>
              </a:rPr>
              <a:t>was used in the past for </a:t>
            </a:r>
            <a:r>
              <a:rPr lang="en-US" sz="2200" dirty="0" smtClean="0">
                <a:latin typeface="Times New Roman" panose="02020603050405020304" pitchFamily="18" charset="0"/>
                <a:cs typeface="Times New Roman" panose="02020603050405020304" pitchFamily="18" charset="0"/>
              </a:rPr>
              <a:t>telephone communications</a:t>
            </a:r>
            <a:r>
              <a:rPr lang="en-US" sz="2200" dirty="0">
                <a:latin typeface="Times New Roman" panose="02020603050405020304" pitchFamily="18" charset="0"/>
                <a:cs typeface="Times New Roman" panose="02020603050405020304" pitchFamily="18" charset="0"/>
              </a:rPr>
              <a:t>, these devices are widely used to connect people and computers </a:t>
            </a:r>
            <a:r>
              <a:rPr lang="en-US" sz="2200" dirty="0" smtClean="0">
                <a:latin typeface="Times New Roman" panose="02020603050405020304" pitchFamily="18" charset="0"/>
                <a:cs typeface="Times New Roman" panose="02020603050405020304" pitchFamily="18" charset="0"/>
              </a:rPr>
              <a:t>located almost </a:t>
            </a:r>
            <a:r>
              <a:rPr lang="en-US" sz="2200" dirty="0">
                <a:latin typeface="Times New Roman" panose="02020603050405020304" pitchFamily="18" charset="0"/>
                <a:cs typeface="Times New Roman" panose="02020603050405020304" pitchFamily="18" charset="0"/>
              </a:rPr>
              <a:t>anywhere in the world.</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14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BASIC </a:t>
            </a:r>
            <a:r>
              <a:rPr lang="en-US" b="1" dirty="0" smtClean="0"/>
              <a:t>CONCEPTS</a:t>
            </a:r>
            <a:r>
              <a:rPr lang="en-US" sz="8800" b="1" dirty="0" smtClean="0"/>
              <a:t> </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3600" b="1" dirty="0" smtClean="0">
                <a:latin typeface="Times New Roman" panose="02020603050405020304" pitchFamily="18" charset="0"/>
                <a:cs typeface="Times New Roman" panose="02020603050405020304" pitchFamily="18" charset="0"/>
              </a:rPr>
              <a:t>Wireless Revolution</a:t>
            </a:r>
            <a:endParaRPr lang="en-US" sz="36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The telephone, mobile and wireless communication systems are the beginning of </a:t>
            </a:r>
            <a:r>
              <a:rPr lang="en-US" sz="2100" dirty="0" smtClean="0">
                <a:latin typeface="Times New Roman" panose="02020603050405020304" pitchFamily="18" charset="0"/>
                <a:cs typeface="Times New Roman" panose="02020603050405020304" pitchFamily="18" charset="0"/>
              </a:rPr>
              <a:t>wireless revolution</a:t>
            </a:r>
            <a:r>
              <a:rPr lang="en-US" sz="2100" dirty="0">
                <a:latin typeface="Times New Roman" panose="02020603050405020304" pitchFamily="18" charset="0"/>
                <a:cs typeface="Times New Roman" panose="02020603050405020304" pitchFamily="18" charset="0"/>
              </a:rPr>
              <a:t>, a revolution that is expected to dramatically affect the way we communicate </a:t>
            </a:r>
            <a:r>
              <a:rPr lang="en-US" sz="2100" dirty="0" smtClean="0">
                <a:latin typeface="Times New Roman" panose="02020603050405020304" pitchFamily="18" charset="0"/>
                <a:cs typeface="Times New Roman" panose="02020603050405020304" pitchFamily="18" charset="0"/>
              </a:rPr>
              <a:t>and use </a:t>
            </a:r>
            <a:r>
              <a:rPr lang="en-US" sz="2100" dirty="0">
                <a:latin typeface="Times New Roman" panose="02020603050405020304" pitchFamily="18" charset="0"/>
                <a:cs typeface="Times New Roman" panose="02020603050405020304" pitchFamily="18" charset="0"/>
              </a:rPr>
              <a:t>computer technology. </a:t>
            </a:r>
            <a:endParaRPr lang="en-US" sz="21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Connectivity </a:t>
            </a:r>
            <a:r>
              <a:rPr lang="en-US" sz="2100" dirty="0">
                <a:latin typeface="Times New Roman" panose="02020603050405020304" pitchFamily="18" charset="0"/>
                <a:cs typeface="Times New Roman" panose="02020603050405020304" pitchFamily="18" charset="0"/>
              </a:rPr>
              <a:t>and the wireless revolution are </a:t>
            </a:r>
            <a:r>
              <a:rPr lang="en-US" sz="2100" dirty="0" smtClean="0">
                <a:latin typeface="Times New Roman" panose="02020603050405020304" pitchFamily="18" charset="0"/>
                <a:cs typeface="Times New Roman" panose="02020603050405020304" pitchFamily="18" charset="0"/>
              </a:rPr>
              <a:t>significant developments</a:t>
            </a:r>
            <a:r>
              <a:rPr lang="en-US" sz="2100" dirty="0">
                <a:latin typeface="Times New Roman" panose="02020603050405020304" pitchFamily="18" charset="0"/>
                <a:cs typeface="Times New Roman" panose="02020603050405020304" pitchFamily="18" charset="0"/>
              </a:rPr>
              <a:t>, for they expand the uses of the microcomputer several fold. </a:t>
            </a:r>
            <a:endParaRPr lang="en-US" sz="21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Central </a:t>
            </a:r>
            <a:r>
              <a:rPr lang="en-US" sz="2100" dirty="0">
                <a:latin typeface="Times New Roman" panose="02020603050405020304" pitchFamily="18" charset="0"/>
                <a:cs typeface="Times New Roman" panose="02020603050405020304" pitchFamily="18" charset="0"/>
              </a:rPr>
              <a:t>to </a:t>
            </a:r>
            <a:r>
              <a:rPr lang="en-US" sz="2100" dirty="0" smtClean="0">
                <a:latin typeface="Times New Roman" panose="02020603050405020304" pitchFamily="18" charset="0"/>
                <a:cs typeface="Times New Roman" panose="02020603050405020304" pitchFamily="18" charset="0"/>
              </a:rPr>
              <a:t>the concept </a:t>
            </a:r>
            <a:r>
              <a:rPr lang="en-US" sz="2100" dirty="0">
                <a:latin typeface="Times New Roman" panose="02020603050405020304" pitchFamily="18" charset="0"/>
                <a:cs typeface="Times New Roman" panose="02020603050405020304" pitchFamily="18" charset="0"/>
              </a:rPr>
              <a:t>of connectivity is the network or computer network.</a:t>
            </a:r>
          </a:p>
        </p:txBody>
      </p:sp>
    </p:spTree>
    <p:extLst>
      <p:ext uri="{BB962C8B-B14F-4D97-AF65-F5344CB8AC3E}">
        <p14:creationId xmlns:p14="http://schemas.microsoft.com/office/powerpoint/2010/main" val="3262000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defRPr/>
            </a:pPr>
            <a:r>
              <a:rPr lang="en-US" b="1" dirty="0"/>
              <a:t>ORIGINS OF THE INTERNET</a:t>
            </a:r>
            <a:endParaRPr lang="en-GB" sz="8800" b="1" dirty="0">
              <a:latin typeface="Comic Sans MS" panose="030F0702030302020204" pitchFamily="66" charset="0"/>
            </a:endParaRPr>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a:latin typeface="Times New Roman" panose="02020603050405020304" pitchFamily="18" charset="0"/>
                <a:cs typeface="Times New Roman" panose="02020603050405020304" pitchFamily="18" charset="0"/>
              </a:rPr>
              <a:t>The Internet, or the Net, was launched in 1969 when the United States funded a project </a:t>
            </a:r>
            <a:r>
              <a:rPr lang="en-US" sz="2300" dirty="0" smtClean="0">
                <a:latin typeface="Times New Roman" panose="02020603050405020304" pitchFamily="18" charset="0"/>
                <a:cs typeface="Times New Roman" panose="02020603050405020304" pitchFamily="18" charset="0"/>
              </a:rPr>
              <a:t>that developed </a:t>
            </a:r>
            <a:r>
              <a:rPr lang="en-US" sz="2300" dirty="0">
                <a:latin typeface="Times New Roman" panose="02020603050405020304" pitchFamily="18" charset="0"/>
                <a:cs typeface="Times New Roman" panose="02020603050405020304" pitchFamily="18" charset="0"/>
              </a:rPr>
              <a:t>a national computer network called Advanced Research Agency </a:t>
            </a:r>
            <a:r>
              <a:rPr lang="en-US" sz="2300" dirty="0" smtClean="0">
                <a:latin typeface="Times New Roman" panose="02020603050405020304" pitchFamily="18" charset="0"/>
                <a:cs typeface="Times New Roman" panose="02020603050405020304" pitchFamily="18" charset="0"/>
              </a:rPr>
              <a:t>Network (</a:t>
            </a:r>
            <a:r>
              <a:rPr lang="en-US" sz="2300" dirty="0">
                <a:latin typeface="Times New Roman" panose="02020603050405020304" pitchFamily="18" charset="0"/>
                <a:cs typeface="Times New Roman" panose="02020603050405020304" pitchFamily="18" charset="0"/>
              </a:rPr>
              <a:t>ARPANET).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Internet is a large network that connects smaller networks all over </a:t>
            </a:r>
            <a:r>
              <a:rPr lang="en-US" sz="2300" dirty="0" smtClean="0">
                <a:latin typeface="Times New Roman" panose="02020603050405020304" pitchFamily="18" charset="0"/>
                <a:cs typeface="Times New Roman" panose="02020603050405020304" pitchFamily="18" charset="0"/>
              </a:rPr>
              <a:t>the globe </a:t>
            </a:r>
            <a:r>
              <a:rPr lang="en-US" sz="2300" dirty="0">
                <a:latin typeface="Times New Roman" panose="02020603050405020304" pitchFamily="18" charset="0"/>
                <a:cs typeface="Times New Roman" panose="02020603050405020304" pitchFamily="18" charset="0"/>
              </a:rPr>
              <a:t>together.</a:t>
            </a:r>
          </a:p>
        </p:txBody>
      </p:sp>
    </p:spTree>
    <p:extLst>
      <p:ext uri="{BB962C8B-B14F-4D97-AF65-F5344CB8AC3E}">
        <p14:creationId xmlns:p14="http://schemas.microsoft.com/office/powerpoint/2010/main" val="41673503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40"/>
            <a:ext cx="8229600" cy="1296145"/>
          </a:xfrm>
        </p:spPr>
        <p:txBody>
          <a:bodyPr>
            <a:noAutofit/>
          </a:bodyPr>
          <a:lstStyle/>
          <a:p>
            <a:pPr algn="ctr"/>
            <a:r>
              <a:rPr lang="en-US" b="1" dirty="0"/>
              <a:t>COMPUTERS ON THE INTERNET</a:t>
            </a:r>
            <a:endParaRPr lang="en-US" dirty="0"/>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i="1" dirty="0" smtClean="0">
                <a:latin typeface="Times New Roman" panose="02020603050405020304" pitchFamily="18" charset="0"/>
                <a:cs typeface="Times New Roman" panose="02020603050405020304" pitchFamily="18" charset="0"/>
              </a:rPr>
              <a:t>Client </a:t>
            </a:r>
            <a:r>
              <a:rPr lang="en-US" sz="2100" b="1" i="1" dirty="0">
                <a:latin typeface="Times New Roman" panose="02020603050405020304" pitchFamily="18" charset="0"/>
                <a:cs typeface="Times New Roman" panose="02020603050405020304" pitchFamily="18" charset="0"/>
              </a:rPr>
              <a:t>Computer</a:t>
            </a:r>
            <a:r>
              <a:rPr lang="en-US" sz="2100" i="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The computer that accesses the information stored on a </a:t>
            </a:r>
            <a:r>
              <a:rPr lang="en-US" sz="2100" dirty="0" smtClean="0">
                <a:latin typeface="Times New Roman" panose="02020603050405020304" pitchFamily="18" charset="0"/>
                <a:cs typeface="Times New Roman" panose="02020603050405020304" pitchFamily="18" charset="0"/>
              </a:rPr>
              <a:t>server computer</a:t>
            </a:r>
            <a:r>
              <a:rPr lang="en-US" sz="2100" dirty="0">
                <a:latin typeface="Times New Roman" panose="02020603050405020304" pitchFamily="18" charset="0"/>
                <a:cs typeface="Times New Roman" panose="02020603050405020304" pitchFamily="18" charset="0"/>
              </a:rPr>
              <a:t>.</a:t>
            </a:r>
          </a:p>
          <a:p>
            <a:pPr>
              <a:lnSpc>
                <a:spcPct val="150000"/>
              </a:lnSpc>
            </a:pPr>
            <a:r>
              <a:rPr lang="en-US" sz="2100" b="1" i="1" dirty="0" smtClean="0">
                <a:latin typeface="Times New Roman" panose="02020603050405020304" pitchFamily="18" charset="0"/>
                <a:cs typeface="Times New Roman" panose="02020603050405020304" pitchFamily="18" charset="0"/>
              </a:rPr>
              <a:t>Server </a:t>
            </a:r>
            <a:r>
              <a:rPr lang="en-US" sz="2100" b="1" i="1" dirty="0">
                <a:latin typeface="Times New Roman" panose="02020603050405020304" pitchFamily="18" charset="0"/>
                <a:cs typeface="Times New Roman" panose="02020603050405020304" pitchFamily="18" charset="0"/>
              </a:rPr>
              <a:t>Computer: </a:t>
            </a:r>
            <a:r>
              <a:rPr lang="en-US" sz="2100" dirty="0">
                <a:latin typeface="Times New Roman" panose="02020603050405020304" pitchFamily="18" charset="0"/>
                <a:cs typeface="Times New Roman" panose="02020603050405020304" pitchFamily="18" charset="0"/>
              </a:rPr>
              <a:t>The computer that contains data and information that can </a:t>
            </a:r>
            <a:r>
              <a:rPr lang="en-US" sz="2100" dirty="0" smtClean="0">
                <a:latin typeface="Times New Roman" panose="02020603050405020304" pitchFamily="18" charset="0"/>
                <a:cs typeface="Times New Roman" panose="02020603050405020304" pitchFamily="18" charset="0"/>
              </a:rPr>
              <a:t>be accessed </a:t>
            </a:r>
            <a:r>
              <a:rPr lang="en-US" sz="2100" dirty="0">
                <a:latin typeface="Times New Roman" panose="02020603050405020304" pitchFamily="18" charset="0"/>
                <a:cs typeface="Times New Roman" panose="02020603050405020304" pitchFamily="18" charset="0"/>
              </a:rPr>
              <a:t>by a client computer.</a:t>
            </a:r>
          </a:p>
          <a:p>
            <a:pPr>
              <a:lnSpc>
                <a:spcPct val="150000"/>
              </a:lnSpc>
            </a:pPr>
            <a:r>
              <a:rPr lang="en-US" sz="2100" b="1" i="1" dirty="0" smtClean="0">
                <a:latin typeface="Times New Roman" panose="02020603050405020304" pitchFamily="18" charset="0"/>
                <a:cs typeface="Times New Roman" panose="02020603050405020304" pitchFamily="18" charset="0"/>
              </a:rPr>
              <a:t>Client-server </a:t>
            </a:r>
            <a:r>
              <a:rPr lang="en-US" sz="2100" b="1" i="1" dirty="0">
                <a:latin typeface="Times New Roman" panose="02020603050405020304" pitchFamily="18" charset="0"/>
                <a:cs typeface="Times New Roman" panose="02020603050405020304" pitchFamily="18" charset="0"/>
              </a:rPr>
              <a:t>Computing: </a:t>
            </a:r>
            <a:r>
              <a:rPr lang="en-US" sz="2100" dirty="0">
                <a:latin typeface="Times New Roman" panose="02020603050405020304" pitchFamily="18" charset="0"/>
                <a:cs typeface="Times New Roman" panose="02020603050405020304" pitchFamily="18" charset="0"/>
              </a:rPr>
              <a:t>A type of computing in which all data and </a:t>
            </a:r>
            <a:r>
              <a:rPr lang="en-US" sz="2100" dirty="0" smtClean="0">
                <a:latin typeface="Times New Roman" panose="02020603050405020304" pitchFamily="18" charset="0"/>
                <a:cs typeface="Times New Roman" panose="02020603050405020304" pitchFamily="18" charset="0"/>
              </a:rPr>
              <a:t>information retrieval </a:t>
            </a:r>
            <a:r>
              <a:rPr lang="en-US" sz="2100" dirty="0">
                <a:latin typeface="Times New Roman" panose="02020603050405020304" pitchFamily="18" charset="0"/>
                <a:cs typeface="Times New Roman" panose="02020603050405020304" pitchFamily="18" charset="0"/>
              </a:rPr>
              <a:t>requests and responses pass over a network. Much of the processing </a:t>
            </a:r>
            <a:r>
              <a:rPr lang="en-US" sz="2100" dirty="0" smtClean="0">
                <a:latin typeface="Times New Roman" panose="02020603050405020304" pitchFamily="18" charset="0"/>
                <a:cs typeface="Times New Roman" panose="02020603050405020304" pitchFamily="18" charset="0"/>
              </a:rPr>
              <a:t>is performed </a:t>
            </a:r>
            <a:r>
              <a:rPr lang="en-US" sz="2100" dirty="0">
                <a:latin typeface="Times New Roman" panose="02020603050405020304" pitchFamily="18" charset="0"/>
                <a:cs typeface="Times New Roman" panose="02020603050405020304" pitchFamily="18" charset="0"/>
              </a:rPr>
              <a:t>on the server and the results of the processing are transmitted to the client.</a:t>
            </a:r>
          </a:p>
          <a:p>
            <a:pPr>
              <a:lnSpc>
                <a:spcPct val="150000"/>
              </a:lnSpc>
            </a:pPr>
            <a:r>
              <a:rPr lang="en-US" sz="2100" b="1" i="1" dirty="0" smtClean="0">
                <a:latin typeface="Times New Roman" panose="02020603050405020304" pitchFamily="18" charset="0"/>
                <a:cs typeface="Times New Roman" panose="02020603050405020304" pitchFamily="18" charset="0"/>
              </a:rPr>
              <a:t>Surf </a:t>
            </a:r>
            <a:r>
              <a:rPr lang="en-US" sz="2100" b="1" i="1" dirty="0">
                <a:latin typeface="Times New Roman" panose="02020603050405020304" pitchFamily="18" charset="0"/>
                <a:cs typeface="Times New Roman" panose="02020603050405020304" pitchFamily="18" charset="0"/>
              </a:rPr>
              <a:t>or Surfing: </a:t>
            </a:r>
            <a:r>
              <a:rPr lang="en-US" sz="2100" dirty="0">
                <a:latin typeface="Times New Roman" panose="02020603050405020304" pitchFamily="18" charset="0"/>
                <a:cs typeface="Times New Roman" panose="02020603050405020304" pitchFamily="18" charset="0"/>
              </a:rPr>
              <a:t>Moving among a number of networks that are linked together, </a:t>
            </a:r>
            <a:r>
              <a:rPr lang="en-US" sz="2100" dirty="0" smtClean="0">
                <a:latin typeface="Times New Roman" panose="02020603050405020304" pitchFamily="18" charset="0"/>
                <a:cs typeface="Times New Roman" panose="02020603050405020304" pitchFamily="18" charset="0"/>
              </a:rPr>
              <a:t>or inter-networked</a:t>
            </a:r>
            <a:r>
              <a:rPr lang="en-US" sz="2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3051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40"/>
            <a:ext cx="8229600" cy="1296145"/>
          </a:xfrm>
        </p:spPr>
        <p:txBody>
          <a:bodyPr>
            <a:noAutofit/>
          </a:bodyPr>
          <a:lstStyle/>
          <a:p>
            <a:pPr algn="ctr"/>
            <a:r>
              <a:rPr lang="en-US" sz="6000" b="1" dirty="0"/>
              <a:t>Structure of the Internet</a:t>
            </a:r>
          </a:p>
        </p:txBody>
      </p:sp>
      <p:pic>
        <p:nvPicPr>
          <p:cNvPr id="2" name="Picture 1"/>
          <p:cNvPicPr>
            <a:picLocks noChangeAspect="1"/>
          </p:cNvPicPr>
          <p:nvPr/>
        </p:nvPicPr>
        <p:blipFill>
          <a:blip r:embed="rId2"/>
          <a:stretch>
            <a:fillRect/>
          </a:stretch>
        </p:blipFill>
        <p:spPr>
          <a:xfrm>
            <a:off x="539552" y="1484785"/>
            <a:ext cx="8147248" cy="5256583"/>
          </a:xfrm>
          <a:prstGeom prst="rect">
            <a:avLst/>
          </a:prstGeom>
        </p:spPr>
      </p:pic>
    </p:spTree>
    <p:extLst>
      <p:ext uri="{BB962C8B-B14F-4D97-AF65-F5344CB8AC3E}">
        <p14:creationId xmlns:p14="http://schemas.microsoft.com/office/powerpoint/2010/main" val="29733088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40"/>
            <a:ext cx="8229600" cy="1296145"/>
          </a:xfrm>
        </p:spPr>
        <p:txBody>
          <a:bodyPr>
            <a:noAutofit/>
          </a:bodyPr>
          <a:lstStyle/>
          <a:p>
            <a:pPr algn="ctr"/>
            <a:r>
              <a:rPr lang="en-US" sz="5400" b="1" dirty="0" smtClean="0"/>
              <a:t>Client/Server Computing</a:t>
            </a:r>
            <a:endParaRPr lang="en-US" sz="5400" b="1" dirty="0"/>
          </a:p>
        </p:txBody>
      </p:sp>
      <p:pic>
        <p:nvPicPr>
          <p:cNvPr id="3" name="Picture 2"/>
          <p:cNvPicPr>
            <a:picLocks noChangeAspect="1"/>
          </p:cNvPicPr>
          <p:nvPr/>
        </p:nvPicPr>
        <p:blipFill>
          <a:blip r:embed="rId2"/>
          <a:stretch>
            <a:fillRect/>
          </a:stretch>
        </p:blipFill>
        <p:spPr>
          <a:xfrm>
            <a:off x="457200" y="1484785"/>
            <a:ext cx="8229599" cy="4464495"/>
          </a:xfrm>
          <a:prstGeom prst="rect">
            <a:avLst/>
          </a:prstGeom>
        </p:spPr>
      </p:pic>
    </p:spTree>
    <p:extLst>
      <p:ext uri="{BB962C8B-B14F-4D97-AF65-F5344CB8AC3E}">
        <p14:creationId xmlns:p14="http://schemas.microsoft.com/office/powerpoint/2010/main" val="1805910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40"/>
            <a:ext cx="8229600" cy="1296145"/>
          </a:xfrm>
        </p:spPr>
        <p:txBody>
          <a:bodyPr>
            <a:noAutofit/>
          </a:bodyPr>
          <a:lstStyle/>
          <a:p>
            <a:pPr algn="ctr"/>
            <a:r>
              <a:rPr lang="en-US" b="1" dirty="0"/>
              <a:t>CAPABILITIES OF THE INTERNET</a:t>
            </a:r>
            <a:endParaRPr lang="en-US" dirty="0"/>
          </a:p>
        </p:txBody>
      </p:sp>
      <p:sp>
        <p:nvSpPr>
          <p:cNvPr id="5" name="Rectangle 3"/>
          <p:cNvSpPr txBox="1">
            <a:spLocks noChangeArrowheads="1"/>
          </p:cNvSpPr>
          <p:nvPr/>
        </p:nvSpPr>
        <p:spPr bwMode="auto">
          <a:xfrm>
            <a:off x="539552"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a:latin typeface="Times New Roman" panose="02020603050405020304" pitchFamily="18" charset="0"/>
                <a:cs typeface="Times New Roman" panose="02020603050405020304" pitchFamily="18" charset="0"/>
              </a:rPr>
              <a:t>The Internet is used by billion of users in different countries in the world to perform </a:t>
            </a:r>
            <a:r>
              <a:rPr lang="en-US" sz="2100" dirty="0" smtClean="0">
                <a:latin typeface="Times New Roman" panose="02020603050405020304" pitchFamily="18" charset="0"/>
                <a:cs typeface="Times New Roman" panose="02020603050405020304" pitchFamily="18" charset="0"/>
              </a:rPr>
              <a:t>the following </a:t>
            </a:r>
            <a:r>
              <a:rPr lang="en-US" sz="2100" dirty="0">
                <a:latin typeface="Times New Roman" panose="02020603050405020304" pitchFamily="18" charset="0"/>
                <a:cs typeface="Times New Roman" panose="02020603050405020304" pitchFamily="18" charset="0"/>
              </a:rPr>
              <a:t>activities;</a:t>
            </a:r>
          </a:p>
          <a:p>
            <a:pPr marL="1082675">
              <a:lnSpc>
                <a:spcPct val="20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Communicate</a:t>
            </a:r>
            <a:endParaRPr lang="en-US" sz="2100" b="1" dirty="0">
              <a:latin typeface="Times New Roman" panose="02020603050405020304" pitchFamily="18" charset="0"/>
              <a:cs typeface="Times New Roman" panose="02020603050405020304" pitchFamily="18" charset="0"/>
            </a:endParaRPr>
          </a:p>
          <a:p>
            <a:pPr marL="1082675">
              <a:lnSpc>
                <a:spcPct val="20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Retrieve</a:t>
            </a:r>
            <a:endParaRPr lang="en-US" sz="2100" b="1" dirty="0">
              <a:latin typeface="Times New Roman" panose="02020603050405020304" pitchFamily="18" charset="0"/>
              <a:cs typeface="Times New Roman" panose="02020603050405020304" pitchFamily="18" charset="0"/>
            </a:endParaRPr>
          </a:p>
          <a:p>
            <a:pPr marL="1082675">
              <a:lnSpc>
                <a:spcPct val="20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Research </a:t>
            </a:r>
            <a:r>
              <a:rPr lang="en-US" sz="2100" b="1" dirty="0">
                <a:latin typeface="Times New Roman" panose="02020603050405020304" pitchFamily="18" charset="0"/>
                <a:cs typeface="Times New Roman" panose="02020603050405020304" pitchFamily="18" charset="0"/>
              </a:rPr>
              <a:t>on the Web</a:t>
            </a:r>
          </a:p>
          <a:p>
            <a:pPr marL="1082675">
              <a:lnSpc>
                <a:spcPct val="20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Shopping </a:t>
            </a:r>
            <a:r>
              <a:rPr lang="en-US" sz="2100" b="1" dirty="0">
                <a:latin typeface="Times New Roman" panose="02020603050405020304" pitchFamily="18" charset="0"/>
                <a:cs typeface="Times New Roman" panose="02020603050405020304" pitchFamily="18" charset="0"/>
              </a:rPr>
              <a:t>or Cybermalls</a:t>
            </a:r>
          </a:p>
        </p:txBody>
      </p:sp>
    </p:spTree>
    <p:extLst>
      <p:ext uri="{BB962C8B-B14F-4D97-AF65-F5344CB8AC3E}">
        <p14:creationId xmlns:p14="http://schemas.microsoft.com/office/powerpoint/2010/main" val="399940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39"/>
            <a:ext cx="8229600" cy="1368153"/>
          </a:xfrm>
        </p:spPr>
        <p:txBody>
          <a:bodyPr>
            <a:noAutofit/>
          </a:bodyPr>
          <a:lstStyle/>
          <a:p>
            <a:pPr marL="1082675" algn="ctr"/>
            <a:r>
              <a:rPr lang="en-US" sz="5400" b="1" dirty="0">
                <a:latin typeface="Times New Roman" panose="02020603050405020304" pitchFamily="18" charset="0"/>
                <a:cs typeface="Times New Roman" panose="02020603050405020304" pitchFamily="18" charset="0"/>
              </a:rPr>
              <a:t>Communications Capabilities</a:t>
            </a:r>
            <a:endParaRPr lang="en-US" sz="5400"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575556" y="1484784"/>
            <a:ext cx="7992888"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b="1" i="1" dirty="0">
                <a:latin typeface="Times New Roman" panose="02020603050405020304" pitchFamily="18" charset="0"/>
                <a:cs typeface="Times New Roman" panose="02020603050405020304" pitchFamily="18" charset="0"/>
              </a:rPr>
              <a:t>E-mail or Electronic </a:t>
            </a:r>
            <a:r>
              <a:rPr lang="en-US" sz="2200" b="1" i="1" dirty="0" smtClean="0">
                <a:latin typeface="Times New Roman" panose="02020603050405020304" pitchFamily="18" charset="0"/>
                <a:cs typeface="Times New Roman" panose="02020603050405020304" pitchFamily="18" charset="0"/>
              </a:rPr>
              <a:t>Mail</a:t>
            </a:r>
          </a:p>
          <a:p>
            <a:pPr>
              <a:lnSpc>
                <a:spcPct val="150000"/>
              </a:lnSpc>
            </a:pPr>
            <a:r>
              <a:rPr lang="en-US" sz="2200" b="1" i="1" dirty="0">
                <a:latin typeface="Times New Roman" panose="02020603050405020304" pitchFamily="18" charset="0"/>
                <a:cs typeface="Times New Roman" panose="02020603050405020304" pitchFamily="18" charset="0"/>
              </a:rPr>
              <a:t>Mailing </a:t>
            </a:r>
            <a:r>
              <a:rPr lang="en-US" sz="2200" b="1" i="1" dirty="0" smtClean="0">
                <a:latin typeface="Times New Roman" panose="02020603050405020304" pitchFamily="18" charset="0"/>
                <a:cs typeface="Times New Roman" panose="02020603050405020304" pitchFamily="18" charset="0"/>
              </a:rPr>
              <a:t>Lists</a:t>
            </a:r>
          </a:p>
          <a:p>
            <a:pPr>
              <a:lnSpc>
                <a:spcPct val="150000"/>
              </a:lnSpc>
            </a:pPr>
            <a:r>
              <a:rPr lang="en-US" sz="2200" b="1" i="1" dirty="0" smtClean="0">
                <a:latin typeface="Times New Roman" panose="02020603050405020304" pitchFamily="18" charset="0"/>
                <a:cs typeface="Times New Roman" panose="02020603050405020304" pitchFamily="18" charset="0"/>
              </a:rPr>
              <a:t>Newsgroups</a:t>
            </a:r>
          </a:p>
          <a:p>
            <a:pPr>
              <a:lnSpc>
                <a:spcPct val="150000"/>
              </a:lnSpc>
            </a:pPr>
            <a:r>
              <a:rPr lang="en-US" sz="2200" b="1" i="1" dirty="0">
                <a:latin typeface="Times New Roman" panose="02020603050405020304" pitchFamily="18" charset="0"/>
                <a:cs typeface="Times New Roman" panose="02020603050405020304" pitchFamily="18" charset="0"/>
              </a:rPr>
              <a:t>Chat Session or Internet Relay Chat (IRC</a:t>
            </a:r>
            <a:r>
              <a:rPr lang="en-US" sz="2200" b="1" i="1" dirty="0" smtClean="0">
                <a:latin typeface="Times New Roman" panose="02020603050405020304" pitchFamily="18" charset="0"/>
                <a:cs typeface="Times New Roman" panose="02020603050405020304" pitchFamily="18" charset="0"/>
              </a:rPr>
              <a:t>)</a:t>
            </a:r>
          </a:p>
          <a:p>
            <a:pPr>
              <a:lnSpc>
                <a:spcPct val="150000"/>
              </a:lnSpc>
            </a:pPr>
            <a:r>
              <a:rPr lang="en-US" sz="2200" b="1" i="1" dirty="0">
                <a:latin typeface="Times New Roman" panose="02020603050405020304" pitchFamily="18" charset="0"/>
                <a:cs typeface="Times New Roman" panose="02020603050405020304" pitchFamily="18" charset="0"/>
              </a:rPr>
              <a:t>Instant </a:t>
            </a:r>
            <a:r>
              <a:rPr lang="en-US" sz="2200" b="1" i="1" dirty="0" smtClean="0">
                <a:latin typeface="Times New Roman" panose="02020603050405020304" pitchFamily="18" charset="0"/>
                <a:cs typeface="Times New Roman" panose="02020603050405020304" pitchFamily="18" charset="0"/>
              </a:rPr>
              <a:t>Messages</a:t>
            </a:r>
          </a:p>
          <a:p>
            <a:pPr>
              <a:lnSpc>
                <a:spcPct val="150000"/>
              </a:lnSpc>
            </a:pPr>
            <a:r>
              <a:rPr lang="en-US" sz="2200" b="1" i="1" dirty="0">
                <a:latin typeface="Times New Roman" panose="02020603050405020304" pitchFamily="18" charset="0"/>
                <a:cs typeface="Times New Roman" panose="02020603050405020304" pitchFamily="18" charset="0"/>
              </a:rPr>
              <a:t>Internet Telephony or Voice Over the Internet or Voice over </a:t>
            </a:r>
            <a:r>
              <a:rPr lang="en-US" sz="2200" b="1" i="1" dirty="0" smtClean="0">
                <a:latin typeface="Times New Roman" panose="02020603050405020304" pitchFamily="18" charset="0"/>
                <a:cs typeface="Times New Roman" panose="02020603050405020304" pitchFamily="18" charset="0"/>
              </a:rPr>
              <a:t>IP</a:t>
            </a:r>
          </a:p>
          <a:p>
            <a:pPr>
              <a:lnSpc>
                <a:spcPct val="150000"/>
              </a:lnSpc>
            </a:pPr>
            <a:r>
              <a:rPr lang="en-US" sz="2200" b="1" i="1" dirty="0" smtClean="0">
                <a:latin typeface="Times New Roman" panose="02020603050405020304" pitchFamily="18" charset="0"/>
                <a:cs typeface="Times New Roman" panose="02020603050405020304" pitchFamily="18" charset="0"/>
              </a:rPr>
              <a:t>Telnet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053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628800"/>
          </a:xfrm>
        </p:spPr>
        <p:txBody>
          <a:bodyPr>
            <a:noAutofit/>
          </a:bodyPr>
          <a:lstStyle/>
          <a:p>
            <a:pPr marL="1082675" algn="ctr"/>
            <a:r>
              <a:rPr lang="en-US" sz="6000" b="1" dirty="0">
                <a:latin typeface="Times New Roman" panose="02020603050405020304" pitchFamily="18" charset="0"/>
                <a:cs typeface="Times New Roman" panose="02020603050405020304" pitchFamily="18" charset="0"/>
              </a:rPr>
              <a:t>Retrieval Capabilities</a:t>
            </a:r>
            <a:endParaRPr lang="en-US" sz="6000"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575556" y="1484784"/>
            <a:ext cx="7992888"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b="1" i="1" dirty="0">
                <a:latin typeface="Times New Roman" panose="02020603050405020304" pitchFamily="18" charset="0"/>
                <a:cs typeface="Times New Roman" panose="02020603050405020304" pitchFamily="18" charset="0"/>
              </a:rPr>
              <a:t>FTP (File Transfer Protocol</a:t>
            </a:r>
            <a:r>
              <a:rPr lang="en-US" b="1" i="1" dirty="0" smtClean="0">
                <a:latin typeface="Times New Roman" panose="02020603050405020304" pitchFamily="18" charset="0"/>
                <a:cs typeface="Times New Roman" panose="02020603050405020304" pitchFamily="18" charset="0"/>
              </a:rPr>
              <a:t>)</a:t>
            </a:r>
          </a:p>
          <a:p>
            <a:pPr>
              <a:lnSpc>
                <a:spcPct val="150000"/>
              </a:lnSpc>
            </a:pPr>
            <a:r>
              <a:rPr lang="en-US" b="1" i="1" dirty="0">
                <a:latin typeface="Times New Roman" panose="02020603050405020304" pitchFamily="18" charset="0"/>
                <a:cs typeface="Times New Roman" panose="02020603050405020304" pitchFamily="18" charset="0"/>
              </a:rPr>
              <a:t>Web </a:t>
            </a:r>
            <a:r>
              <a:rPr lang="en-US" b="1" i="1" dirty="0" smtClean="0">
                <a:latin typeface="Times New Roman" panose="02020603050405020304" pitchFamily="18" charset="0"/>
                <a:cs typeface="Times New Roman" panose="02020603050405020304" pitchFamily="18" charset="0"/>
              </a:rPr>
              <a:t>Directory</a:t>
            </a:r>
          </a:p>
          <a:p>
            <a:pPr>
              <a:lnSpc>
                <a:spcPct val="150000"/>
              </a:lnSpc>
            </a:pPr>
            <a:r>
              <a:rPr lang="en-US" b="1" i="1" dirty="0">
                <a:latin typeface="Times New Roman" panose="02020603050405020304" pitchFamily="18" charset="0"/>
                <a:cs typeface="Times New Roman" panose="02020603050405020304" pitchFamily="18" charset="0"/>
              </a:rPr>
              <a:t>Search </a:t>
            </a:r>
            <a:r>
              <a:rPr lang="en-US" b="1" i="1" dirty="0" smtClean="0">
                <a:latin typeface="Times New Roman" panose="02020603050405020304" pitchFamily="18" charset="0"/>
                <a:cs typeface="Times New Roman" panose="02020603050405020304" pitchFamily="18" charset="0"/>
              </a:rPr>
              <a:t>Engines</a:t>
            </a:r>
          </a:p>
          <a:p>
            <a:pPr>
              <a:lnSpc>
                <a:spcPct val="150000"/>
              </a:lnSpc>
            </a:pPr>
            <a:r>
              <a:rPr lang="en-US" b="1" i="1" dirty="0" smtClean="0">
                <a:latin typeface="Times New Roman" panose="02020603050405020304" pitchFamily="18" charset="0"/>
                <a:cs typeface="Times New Roman" panose="02020603050405020304" pitchFamily="18" charset="0"/>
              </a:rPr>
              <a:t>Portal</a:t>
            </a:r>
          </a:p>
          <a:p>
            <a:pPr>
              <a:lnSpc>
                <a:spcPct val="150000"/>
              </a:lnSpc>
            </a:pPr>
            <a:r>
              <a:rPr lang="en-US" b="1" i="1" dirty="0" smtClean="0">
                <a:latin typeface="Times New Roman" panose="02020603050405020304" pitchFamily="18" charset="0"/>
                <a:cs typeface="Times New Roman" panose="02020603050405020304" pitchFamily="18" charset="0"/>
              </a:rPr>
              <a:t>Webcasting</a:t>
            </a:r>
          </a:p>
          <a:p>
            <a:pPr>
              <a:lnSpc>
                <a:spcPct val="150000"/>
              </a:lnSpc>
            </a:pPr>
            <a:r>
              <a:rPr lang="en-US" b="1" i="1" dirty="0" smtClean="0">
                <a:latin typeface="Times New Roman" panose="02020603050405020304" pitchFamily="18" charset="0"/>
                <a:cs typeface="Times New Roman" panose="02020603050405020304" pitchFamily="18" charset="0"/>
              </a:rPr>
              <a:t>Streaming</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693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39"/>
            <a:ext cx="8229600" cy="1368153"/>
          </a:xfrm>
        </p:spPr>
        <p:txBody>
          <a:bodyPr>
            <a:noAutofit/>
          </a:bodyPr>
          <a:lstStyle/>
          <a:p>
            <a:pPr marL="1082675" algn="ctr"/>
            <a:r>
              <a:rPr lang="en-US" sz="6000" b="1" dirty="0">
                <a:latin typeface="Times New Roman" panose="02020603050405020304" pitchFamily="18" charset="0"/>
                <a:cs typeface="Times New Roman" panose="02020603050405020304" pitchFamily="18" charset="0"/>
              </a:rPr>
              <a:t>Research on the Web</a:t>
            </a:r>
            <a:endParaRPr lang="en-US" sz="6000"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575556" y="1484784"/>
            <a:ext cx="7992888"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200" dirty="0">
                <a:latin typeface="Times New Roman" panose="02020603050405020304" pitchFamily="18" charset="0"/>
                <a:cs typeface="Times New Roman" panose="02020603050405020304" pitchFamily="18" charset="0"/>
              </a:rPr>
              <a:t>The Web being an </a:t>
            </a:r>
            <a:r>
              <a:rPr lang="en-US" sz="2200" dirty="0" smtClean="0">
                <a:latin typeface="Times New Roman" panose="02020603050405020304" pitchFamily="18" charset="0"/>
                <a:cs typeface="Times New Roman" panose="02020603050405020304" pitchFamily="18" charset="0"/>
              </a:rPr>
              <a:t>important </a:t>
            </a:r>
            <a:r>
              <a:rPr lang="en-US" sz="2200" dirty="0">
                <a:latin typeface="Times New Roman" panose="02020603050405020304" pitchFamily="18" charset="0"/>
                <a:cs typeface="Times New Roman" panose="02020603050405020304" pitchFamily="18" charset="0"/>
              </a:rPr>
              <a:t>research tool for materials to write thesis, has three </a:t>
            </a:r>
            <a:r>
              <a:rPr lang="en-US" sz="2200" dirty="0" smtClean="0">
                <a:latin typeface="Times New Roman" panose="02020603050405020304" pitchFamily="18" charset="0"/>
                <a:cs typeface="Times New Roman" panose="02020603050405020304" pitchFamily="18" charset="0"/>
              </a:rPr>
              <a:t>basic procedures</a:t>
            </a: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locating information, evaluating the information and citing references</a:t>
            </a:r>
            <a:r>
              <a:rPr lang="en-US" sz="2200" dirty="0">
                <a:latin typeface="Times New Roman" panose="02020603050405020304" pitchFamily="18" charset="0"/>
                <a:cs typeface="Times New Roman" panose="02020603050405020304" pitchFamily="18" charset="0"/>
              </a:rPr>
              <a:t>.</a:t>
            </a:r>
          </a:p>
          <a:p>
            <a:pPr marL="717550">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Locating </a:t>
            </a:r>
            <a:r>
              <a:rPr lang="en-US" sz="2200" b="1" i="1" dirty="0">
                <a:latin typeface="Times New Roman" panose="02020603050405020304" pitchFamily="18" charset="0"/>
                <a:cs typeface="Times New Roman" panose="02020603050405020304" pitchFamily="18" charset="0"/>
              </a:rPr>
              <a:t>information: </a:t>
            </a:r>
            <a:r>
              <a:rPr lang="en-US" sz="2200" dirty="0">
                <a:latin typeface="Times New Roman" panose="02020603050405020304" pitchFamily="18" charset="0"/>
                <a:cs typeface="Times New Roman" panose="02020603050405020304" pitchFamily="18" charset="0"/>
              </a:rPr>
              <a:t>with all the numerous information available on </a:t>
            </a:r>
            <a:r>
              <a:rPr lang="en-US" sz="2200" dirty="0" smtClean="0">
                <a:latin typeface="Times New Roman" panose="02020603050405020304" pitchFamily="18" charset="0"/>
                <a:cs typeface="Times New Roman" panose="02020603050405020304" pitchFamily="18" charset="0"/>
              </a:rPr>
              <a:t>the Web</a:t>
            </a:r>
            <a:r>
              <a:rPr lang="en-US" sz="2200" dirty="0">
                <a:latin typeface="Times New Roman" panose="02020603050405020304" pitchFamily="18" charset="0"/>
                <a:cs typeface="Times New Roman" panose="02020603050405020304" pitchFamily="18" charset="0"/>
              </a:rPr>
              <a:t>, it is very difficult for you to locate the right material you are looking for</a:t>
            </a:r>
            <a:r>
              <a:rPr lang="en-US" sz="2200" dirty="0" smtClean="0">
                <a:latin typeface="Times New Roman" panose="02020603050405020304" pitchFamily="18" charset="0"/>
                <a:cs typeface="Times New Roman" panose="02020603050405020304" pitchFamily="18" charset="0"/>
              </a:rPr>
              <a:t>. Discussion </a:t>
            </a:r>
            <a:r>
              <a:rPr lang="en-US" sz="2200" dirty="0">
                <a:latin typeface="Times New Roman" panose="02020603050405020304" pitchFamily="18" charset="0"/>
                <a:cs typeface="Times New Roman" panose="02020603050405020304" pitchFamily="18" charset="0"/>
              </a:rPr>
              <a:t>groups (www.liszt.com) that can link you to experts are </a:t>
            </a:r>
            <a:r>
              <a:rPr lang="en-US" sz="2200" dirty="0" smtClean="0">
                <a:latin typeface="Times New Roman" panose="02020603050405020304" pitchFamily="18" charset="0"/>
                <a:cs typeface="Times New Roman" panose="02020603050405020304" pitchFamily="18" charset="0"/>
              </a:rPr>
              <a:t>being overlooked.</a:t>
            </a:r>
          </a:p>
          <a:p>
            <a:pPr marL="717550">
              <a:buFont typeface="Wingdings" panose="05000000000000000000" pitchFamily="2" charset="2"/>
              <a:buChar char="Ø"/>
            </a:pPr>
            <a:r>
              <a:rPr lang="en-US" sz="2200" b="1" i="1" dirty="0">
                <a:latin typeface="Times New Roman" panose="02020603050405020304" pitchFamily="18" charset="0"/>
                <a:cs typeface="Times New Roman" panose="02020603050405020304" pitchFamily="18" charset="0"/>
              </a:rPr>
              <a:t>Evaluating the information: </a:t>
            </a:r>
            <a:r>
              <a:rPr lang="en-US" sz="2200" dirty="0">
                <a:latin typeface="Times New Roman" panose="02020603050405020304" pitchFamily="18" charset="0"/>
                <a:cs typeface="Times New Roman" panose="02020603050405020304" pitchFamily="18" charset="0"/>
              </a:rPr>
              <a:t>locating information is not all because not </a:t>
            </a:r>
            <a:r>
              <a:rPr lang="en-US" sz="2200" dirty="0" smtClean="0">
                <a:latin typeface="Times New Roman" panose="02020603050405020304" pitchFamily="18" charset="0"/>
                <a:cs typeface="Times New Roman" panose="02020603050405020304" pitchFamily="18" charset="0"/>
              </a:rPr>
              <a:t>everything you </a:t>
            </a:r>
            <a:r>
              <a:rPr lang="en-US" sz="2200" dirty="0">
                <a:latin typeface="Times New Roman" panose="02020603050405020304" pitchFamily="18" charset="0"/>
                <a:cs typeface="Times New Roman" panose="02020603050405020304" pitchFamily="18" charset="0"/>
              </a:rPr>
              <a:t>find on the Web is useful, nearly anyone can publish anything</a:t>
            </a:r>
            <a:r>
              <a:rPr lang="en-US" sz="2200" dirty="0" smtClean="0">
                <a:latin typeface="Times New Roman" panose="02020603050405020304" pitchFamily="18" charset="0"/>
                <a:cs typeface="Times New Roman" panose="02020603050405020304" pitchFamily="18" charset="0"/>
              </a:rPr>
              <a:t>.</a:t>
            </a:r>
          </a:p>
          <a:p>
            <a:pPr marL="717550">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Citing </a:t>
            </a:r>
            <a:r>
              <a:rPr lang="en-US" sz="2200" b="1" i="1" dirty="0">
                <a:latin typeface="Times New Roman" panose="02020603050405020304" pitchFamily="18" charset="0"/>
                <a:cs typeface="Times New Roman" panose="02020603050405020304" pitchFamily="18" charset="0"/>
              </a:rPr>
              <a:t>references: </a:t>
            </a:r>
            <a:r>
              <a:rPr lang="en-US" sz="2200" dirty="0">
                <a:latin typeface="Times New Roman" panose="02020603050405020304" pitchFamily="18" charset="0"/>
                <a:cs typeface="Times New Roman" panose="02020603050405020304" pitchFamily="18" charset="0"/>
              </a:rPr>
              <a:t>Plagiarism is the illegal copying of someone else’s words or ideas</a:t>
            </a:r>
            <a:r>
              <a:rPr lang="en-US" sz="2200" dirty="0" smtClean="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marL="717550" indent="0">
              <a:buNone/>
            </a:pPr>
            <a:r>
              <a:rPr lang="en-US" sz="2200" dirty="0" smtClean="0">
                <a:latin typeface="Times New Roman" panose="02020603050405020304" pitchFamily="18" charset="0"/>
                <a:cs typeface="Times New Roman" panose="02020603050405020304" pitchFamily="18" charset="0"/>
              </a:rPr>
              <a:t>You </a:t>
            </a:r>
            <a:r>
              <a:rPr lang="en-US" sz="2200" dirty="0">
                <a:latin typeface="Times New Roman" panose="02020603050405020304" pitchFamily="18" charset="0"/>
                <a:cs typeface="Times New Roman" panose="02020603050405020304" pitchFamily="18" charset="0"/>
              </a:rPr>
              <a:t>can use someone’s words or ideas without committing plagiarism by </a:t>
            </a:r>
            <a:r>
              <a:rPr lang="en-US" sz="2200" dirty="0" smtClean="0">
                <a:latin typeface="Times New Roman" panose="02020603050405020304" pitchFamily="18" charset="0"/>
                <a:cs typeface="Times New Roman" panose="02020603050405020304" pitchFamily="18" charset="0"/>
              </a:rPr>
              <a:t>simply acknowledging </a:t>
            </a:r>
            <a:r>
              <a:rPr lang="en-US" sz="2200" dirty="0">
                <a:latin typeface="Times New Roman" panose="02020603050405020304" pitchFamily="18" charset="0"/>
                <a:cs typeface="Times New Roman" panose="02020603050405020304" pitchFamily="18" charset="0"/>
              </a:rPr>
              <a:t>or citing the source</a:t>
            </a:r>
            <a:r>
              <a:rPr lang="en-US"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34230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39"/>
            <a:ext cx="8229600" cy="1296145"/>
          </a:xfrm>
        </p:spPr>
        <p:txBody>
          <a:bodyPr>
            <a:noAutofit/>
          </a:bodyPr>
          <a:lstStyle/>
          <a:p>
            <a:pPr marL="1082675" algn="ctr"/>
            <a:r>
              <a:rPr lang="en-US" sz="4800" b="1" dirty="0">
                <a:latin typeface="Times New Roman" panose="02020603050405020304" pitchFamily="18" charset="0"/>
                <a:cs typeface="Times New Roman" panose="02020603050405020304" pitchFamily="18" charset="0"/>
              </a:rPr>
              <a:t>Shopping or Cybermalls</a:t>
            </a:r>
            <a:endParaRPr lang="en-US" sz="4800"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575556" y="1484784"/>
            <a:ext cx="7992888" cy="5112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b="1" i="1" dirty="0">
                <a:latin typeface="Times New Roman" panose="02020603050405020304" pitchFamily="18" charset="0"/>
                <a:cs typeface="Times New Roman" panose="02020603050405020304" pitchFamily="18" charset="0"/>
              </a:rPr>
              <a:t>Electronic Commerce/e-commerce: </a:t>
            </a:r>
            <a:r>
              <a:rPr lang="en-US" sz="2300" dirty="0">
                <a:latin typeface="Times New Roman" panose="02020603050405020304" pitchFamily="18" charset="0"/>
                <a:cs typeface="Times New Roman" panose="02020603050405020304" pitchFamily="18" charset="0"/>
              </a:rPr>
              <a:t>Conducting commercial activities on </a:t>
            </a:r>
            <a:r>
              <a:rPr lang="en-US" sz="2300" dirty="0" smtClean="0">
                <a:latin typeface="Times New Roman" panose="02020603050405020304" pitchFamily="18" charset="0"/>
                <a:cs typeface="Times New Roman" panose="02020603050405020304" pitchFamily="18" charset="0"/>
              </a:rPr>
              <a:t>the Internet</a:t>
            </a:r>
            <a:r>
              <a:rPr lang="en-US" sz="2300" dirty="0">
                <a:latin typeface="Times New Roman" panose="02020603050405020304" pitchFamily="18" charset="0"/>
                <a:cs typeface="Times New Roman" panose="02020603050405020304" pitchFamily="18" charset="0"/>
              </a:rPr>
              <a:t>.</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5438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
            <a:ext cx="8229600" cy="1484784"/>
          </a:xfrm>
        </p:spPr>
        <p:txBody>
          <a:bodyPr>
            <a:noAutofit/>
          </a:bodyPr>
          <a:lstStyle/>
          <a:p>
            <a:pPr algn="ctr"/>
            <a:r>
              <a:rPr lang="en-US" sz="4800" b="1" dirty="0">
                <a:latin typeface="Times New Roman" panose="02020603050405020304" pitchFamily="18" charset="0"/>
                <a:cs typeface="Times New Roman" panose="02020603050405020304" pitchFamily="18" charset="0"/>
              </a:rPr>
              <a:t>THE INTERNET COMMUNITY</a:t>
            </a:r>
            <a:endParaRPr lang="en-US" sz="48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575556" y="1484784"/>
            <a:ext cx="7992888" cy="5256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way you connect a phone to a telephone system that is how you connect a computer </a:t>
            </a:r>
            <a:r>
              <a:rPr lang="en-US" sz="2000" dirty="0" smtClean="0">
                <a:latin typeface="Times New Roman" panose="02020603050405020304" pitchFamily="18" charset="0"/>
                <a:cs typeface="Times New Roman" panose="02020603050405020304" pitchFamily="18" charset="0"/>
              </a:rPr>
              <a:t>to the </a:t>
            </a:r>
            <a:r>
              <a:rPr lang="en-US" sz="2000" dirty="0">
                <a:latin typeface="Times New Roman" panose="02020603050405020304" pitchFamily="18" charset="0"/>
                <a:cs typeface="Times New Roman" panose="02020603050405020304" pitchFamily="18" charset="0"/>
              </a:rPr>
              <a:t>Internet.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computer becomes an extension of a giant network of computers </a:t>
            </a:r>
            <a:r>
              <a:rPr lang="en-US" sz="2000" dirty="0" smtClean="0">
                <a:latin typeface="Times New Roman" panose="02020603050405020304" pitchFamily="18" charset="0"/>
                <a:cs typeface="Times New Roman" panose="02020603050405020304" pitchFamily="18" charset="0"/>
              </a:rPr>
              <a:t>with branches </a:t>
            </a:r>
            <a:r>
              <a:rPr lang="en-US" sz="2000" dirty="0">
                <a:latin typeface="Times New Roman" panose="02020603050405020304" pitchFamily="18" charset="0"/>
                <a:cs typeface="Times New Roman" panose="02020603050405020304" pitchFamily="18" charset="0"/>
              </a:rPr>
              <a:t>all over the world that allow the use of a browser program to the Web</a:t>
            </a:r>
            <a:r>
              <a:rPr lang="en-US" sz="2000" dirty="0" smtClean="0">
                <a:latin typeface="Times New Roman" panose="02020603050405020304" pitchFamily="18" charset="0"/>
                <a:cs typeface="Times New Roman" panose="02020603050405020304" pitchFamily="18" charset="0"/>
              </a:rPr>
              <a:t>.</a:t>
            </a:r>
          </a:p>
          <a:p>
            <a:pPr marL="717550">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Internet </a:t>
            </a:r>
            <a:r>
              <a:rPr lang="en-US" sz="2000" b="1" dirty="0">
                <a:latin typeface="Times New Roman" panose="02020603050405020304" pitchFamily="18" charset="0"/>
                <a:cs typeface="Times New Roman" panose="02020603050405020304" pitchFamily="18" charset="0"/>
              </a:rPr>
              <a:t>Users – </a:t>
            </a:r>
            <a:r>
              <a:rPr lang="en-US" sz="2000" dirty="0">
                <a:latin typeface="Times New Roman" panose="02020603050405020304" pitchFamily="18" charset="0"/>
                <a:cs typeface="Times New Roman" panose="02020603050405020304" pitchFamily="18" charset="0"/>
              </a:rPr>
              <a:t>you, organizations, schools, hospitals,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2000" b="1" dirty="0" smtClean="0">
                <a:latin typeface="Times New Roman" panose="02020603050405020304" pitchFamily="18" charset="0"/>
                <a:cs typeface="Times New Roman" panose="02020603050405020304" pitchFamily="18" charset="0"/>
              </a:rPr>
              <a:t>Providers </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 providers or host computers provide a path or connection </a:t>
            </a:r>
            <a:r>
              <a:rPr lang="en-US" sz="2000" dirty="0" smtClean="0">
                <a:latin typeface="Times New Roman" panose="02020603050405020304" pitchFamily="18" charset="0"/>
                <a:cs typeface="Times New Roman" panose="02020603050405020304" pitchFamily="18" charset="0"/>
              </a:rPr>
              <a:t>for individuals </a:t>
            </a:r>
            <a:r>
              <a:rPr lang="en-US" sz="2000" dirty="0">
                <a:latin typeface="Times New Roman" panose="02020603050405020304" pitchFamily="18" charset="0"/>
                <a:cs typeface="Times New Roman" panose="02020603050405020304" pitchFamily="18" charset="0"/>
              </a:rPr>
              <a:t>to access the Internet</a:t>
            </a:r>
            <a:r>
              <a:rPr lang="en-US" sz="2000" dirty="0" smtClean="0">
                <a:latin typeface="Times New Roman" panose="02020603050405020304" pitchFamily="18" charset="0"/>
                <a:cs typeface="Times New Roman" panose="02020603050405020304" pitchFamily="18" charset="0"/>
              </a:rPr>
              <a:t>.</a:t>
            </a:r>
          </a:p>
          <a:p>
            <a:pPr marL="1082675">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The follow are Companies that act as providers in different capacities:</a:t>
            </a:r>
          </a:p>
          <a:p>
            <a:pPr marL="1617663">
              <a:buFont typeface="Wingdings" panose="05000000000000000000" pitchFamily="2" charset="2"/>
              <a:buChar char="§"/>
            </a:pPr>
            <a:r>
              <a:rPr lang="en-US" sz="1900" b="1" i="1" dirty="0" smtClean="0">
                <a:latin typeface="Times New Roman" panose="02020603050405020304" pitchFamily="18" charset="0"/>
                <a:cs typeface="Times New Roman" panose="02020603050405020304" pitchFamily="18" charset="0"/>
              </a:rPr>
              <a:t>Service </a:t>
            </a:r>
            <a:r>
              <a:rPr lang="en-US" sz="1900" b="1" i="1" dirty="0">
                <a:latin typeface="Times New Roman" panose="02020603050405020304" pitchFamily="18" charset="0"/>
                <a:cs typeface="Times New Roman" panose="02020603050405020304" pitchFamily="18" charset="0"/>
              </a:rPr>
              <a:t>Providers or Internet Service Providers (ISPs</a:t>
            </a:r>
            <a:r>
              <a:rPr lang="en-US" sz="1900" b="1" i="1" dirty="0" smtClean="0">
                <a:latin typeface="Times New Roman" panose="02020603050405020304" pitchFamily="18" charset="0"/>
                <a:cs typeface="Times New Roman" panose="02020603050405020304" pitchFamily="18" charset="0"/>
              </a:rPr>
              <a:t>)</a:t>
            </a:r>
          </a:p>
          <a:p>
            <a:pPr marL="1617663">
              <a:buFont typeface="Wingdings" panose="05000000000000000000" pitchFamily="2" charset="2"/>
              <a:buChar char="§"/>
            </a:pPr>
            <a:r>
              <a:rPr lang="en-US" sz="1900" b="1" i="1" dirty="0">
                <a:latin typeface="Times New Roman" panose="02020603050405020304" pitchFamily="18" charset="0"/>
                <a:cs typeface="Times New Roman" panose="02020603050405020304" pitchFamily="18" charset="0"/>
              </a:rPr>
              <a:t>Application Service Providers (ASPs</a:t>
            </a:r>
            <a:r>
              <a:rPr lang="en-US" sz="1900" b="1" i="1" dirty="0" smtClean="0">
                <a:latin typeface="Times New Roman" panose="02020603050405020304" pitchFamily="18" charset="0"/>
                <a:cs typeface="Times New Roman" panose="02020603050405020304" pitchFamily="18" charset="0"/>
              </a:rPr>
              <a:t>)</a:t>
            </a:r>
          </a:p>
          <a:p>
            <a:pPr marL="1617663">
              <a:buFont typeface="Wingdings" panose="05000000000000000000" pitchFamily="2" charset="2"/>
              <a:buChar char="§"/>
            </a:pPr>
            <a:r>
              <a:rPr lang="en-US" sz="1900" b="1" i="1" dirty="0" smtClean="0">
                <a:latin typeface="Times New Roman" panose="02020603050405020304" pitchFamily="18" charset="0"/>
                <a:cs typeface="Times New Roman" panose="02020603050405020304" pitchFamily="18" charset="0"/>
              </a:rPr>
              <a:t>Content Providers</a:t>
            </a:r>
          </a:p>
          <a:p>
            <a:pPr marL="1617663">
              <a:buFont typeface="Wingdings" panose="05000000000000000000" pitchFamily="2" charset="2"/>
              <a:buChar char="§"/>
            </a:pPr>
            <a:r>
              <a:rPr lang="en-US" sz="1900" b="1" i="1" dirty="0" smtClean="0">
                <a:latin typeface="Times New Roman" panose="02020603050405020304" pitchFamily="18" charset="0"/>
                <a:cs typeface="Times New Roman" panose="02020603050405020304" pitchFamily="18" charset="0"/>
              </a:rPr>
              <a:t>Infrastructure Providers</a:t>
            </a:r>
          </a:p>
          <a:p>
            <a:pPr marL="1617663">
              <a:buFont typeface="Wingdings" panose="05000000000000000000" pitchFamily="2" charset="2"/>
              <a:buChar char="§"/>
            </a:pPr>
            <a:r>
              <a:rPr lang="en-US" sz="1900" b="1" i="1" dirty="0">
                <a:latin typeface="Times New Roman" panose="02020603050405020304" pitchFamily="18" charset="0"/>
                <a:cs typeface="Times New Roman" panose="02020603050405020304" pitchFamily="18" charset="0"/>
              </a:rPr>
              <a:t>Internet Support Agencies</a:t>
            </a:r>
            <a:endParaRPr lang="en-US" sz="19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6233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5400" b="1" dirty="0"/>
              <a:t>CONCLUSION</a:t>
            </a:r>
          </a:p>
        </p:txBody>
      </p:sp>
      <p:sp>
        <p:nvSpPr>
          <p:cNvPr id="5" name="Rectangle 3"/>
          <p:cNvSpPr txBox="1">
            <a:spLocks noChangeArrowheads="1"/>
          </p:cNvSpPr>
          <p:nvPr/>
        </p:nvSpPr>
        <p:spPr bwMode="auto">
          <a:xfrm>
            <a:off x="467544" y="1484784"/>
            <a:ext cx="8064896"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a:latin typeface="Times New Roman" panose="02020603050405020304" pitchFamily="18" charset="0"/>
                <a:cs typeface="Times New Roman" panose="02020603050405020304" pitchFamily="18" charset="0"/>
              </a:rPr>
              <a:t>The internet is the actual physical network. It is made up of wires, cables, and satellites.</a:t>
            </a:r>
          </a:p>
          <a:p>
            <a:pPr>
              <a:lnSpc>
                <a:spcPct val="200000"/>
              </a:lnSpc>
            </a:pPr>
            <a:r>
              <a:rPr lang="en-US" sz="2300" dirty="0">
                <a:latin typeface="Times New Roman" panose="02020603050405020304" pitchFamily="18" charset="0"/>
                <a:cs typeface="Times New Roman" panose="02020603050405020304" pitchFamily="18" charset="0"/>
              </a:rPr>
              <a:t>Being connected to this network is often described as being Online.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Internet connects </a:t>
            </a:r>
            <a:r>
              <a:rPr lang="en-US" sz="2300" dirty="0" smtClean="0">
                <a:latin typeface="Times New Roman" panose="02020603050405020304" pitchFamily="18" charset="0"/>
                <a:cs typeface="Times New Roman" panose="02020603050405020304" pitchFamily="18" charset="0"/>
              </a:rPr>
              <a:t>to over </a:t>
            </a:r>
            <a:r>
              <a:rPr lang="en-US" sz="2300" dirty="0">
                <a:latin typeface="Times New Roman" panose="02020603050405020304" pitchFamily="18" charset="0"/>
                <a:cs typeface="Times New Roman" panose="02020603050405020304" pitchFamily="18" charset="0"/>
              </a:rPr>
              <a:t>100 million computers and resources worldwide.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internet has changed the </a:t>
            </a:r>
            <a:r>
              <a:rPr lang="en-US" sz="2300" dirty="0" smtClean="0">
                <a:latin typeface="Times New Roman" panose="02020603050405020304" pitchFamily="18" charset="0"/>
                <a:cs typeface="Times New Roman" panose="02020603050405020304" pitchFamily="18" charset="0"/>
              </a:rPr>
              <a:t>world into </a:t>
            </a:r>
            <a:r>
              <a:rPr lang="en-US" sz="2300" dirty="0">
                <a:latin typeface="Times New Roman" panose="02020603050405020304" pitchFamily="18" charset="0"/>
                <a:cs typeface="Times New Roman" panose="02020603050405020304" pitchFamily="18" charset="0"/>
              </a:rPr>
              <a:t>a global village.</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7573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3"/>
            <a:ext cx="8229600" cy="1368152"/>
          </a:xfrm>
        </p:spPr>
        <p:txBody>
          <a:bodyPr>
            <a:noAutofit/>
          </a:bodyPr>
          <a:lstStyle/>
          <a:p>
            <a:pPr algn="ctr"/>
            <a:r>
              <a:rPr lang="en-US" sz="8800" b="1" dirty="0"/>
              <a:t>SUMMARY</a:t>
            </a:r>
          </a:p>
        </p:txBody>
      </p:sp>
      <p:sp>
        <p:nvSpPr>
          <p:cNvPr id="5" name="Rectangle 3"/>
          <p:cNvSpPr txBox="1">
            <a:spLocks noChangeArrowheads="1"/>
          </p:cNvSpPr>
          <p:nvPr/>
        </p:nvSpPr>
        <p:spPr bwMode="auto">
          <a:xfrm>
            <a:off x="457200" y="1484784"/>
            <a:ext cx="8075240" cy="5184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Internet is the world’s largest network.</a:t>
            </a:r>
          </a:p>
          <a:p>
            <a:pPr>
              <a:lnSpc>
                <a:spcPct val="200000"/>
              </a:lnSpc>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internet is made up of a community of end-users and providers.</a:t>
            </a:r>
          </a:p>
          <a:p>
            <a:pPr>
              <a:lnSpc>
                <a:spcPct val="200000"/>
              </a:lnSpc>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Internet is used to Communicate, Retrieve, Research and E-Commerce</a:t>
            </a:r>
            <a:endParaRPr lang="en-US" sz="24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867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4476</TotalTime>
  <Words>2775</Words>
  <Application>Microsoft Office PowerPoint</Application>
  <PresentationFormat>On-screen Show (4:3)</PresentationFormat>
  <Paragraphs>270</Paragraphs>
  <Slides>51</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OBJECTIVES</vt:lpstr>
      <vt:lpstr>WIRELESS COMMUNICATIONS NETWORKS</vt:lpstr>
      <vt:lpstr>CELLULAR COMMUNICATION SERVICE</vt:lpstr>
      <vt:lpstr>A Cellular Radio System</vt:lpstr>
      <vt:lpstr>CELLULAR COMMUNICATION SERVICE</vt:lpstr>
      <vt:lpstr>CELLULAR COMMUNICATION SERVICE</vt:lpstr>
      <vt:lpstr>WIRELESS LAN (WLAN)</vt:lpstr>
      <vt:lpstr>BLUETOOTH PERSONAL AREA NETWORK/PERSONAL AREA NETWORK</vt:lpstr>
      <vt:lpstr>WIRELESS DATA NETWORKS</vt:lpstr>
      <vt:lpstr>A Virtual Private Network Architecture</vt:lpstr>
      <vt:lpstr>NETWORK OPERATING SYSTEMS</vt:lpstr>
      <vt:lpstr>ENTERPRISE ARCHITECTURES</vt:lpstr>
      <vt:lpstr>ENTERPRISE ARCHITECTURES</vt:lpstr>
      <vt:lpstr>A Centralized Architecture</vt:lpstr>
      <vt:lpstr>Distributed Architecture</vt:lpstr>
      <vt:lpstr>A Distributed Architecture with Distributed Processing</vt:lpstr>
      <vt:lpstr>Combining Architectures</vt:lpstr>
      <vt:lpstr>Hybrid Architecture</vt:lpstr>
      <vt:lpstr>CONCLUSION</vt:lpstr>
      <vt:lpstr>SUMMARY</vt:lpstr>
      <vt:lpstr>PowerPoint Presentation</vt:lpstr>
      <vt:lpstr>Presentation Outline  </vt:lpstr>
      <vt:lpstr>OBJECTIVES</vt:lpstr>
      <vt:lpstr>Introduction </vt:lpstr>
      <vt:lpstr>INTERNET </vt:lpstr>
      <vt:lpstr>BASIC CONCEPTS </vt:lpstr>
      <vt:lpstr>BASIC CONCEPTS </vt:lpstr>
      <vt:lpstr>ORIGINS OF THE INTERNET</vt:lpstr>
      <vt:lpstr>COMPUTERS ON THE INTERNET</vt:lpstr>
      <vt:lpstr>Structure of the Internet</vt:lpstr>
      <vt:lpstr>Client/Server Computing</vt:lpstr>
      <vt:lpstr>CAPABILITIES OF THE INTERNET</vt:lpstr>
      <vt:lpstr>Communications Capabilities</vt:lpstr>
      <vt:lpstr>Retrieval Capabilities</vt:lpstr>
      <vt:lpstr>Research on the Web</vt:lpstr>
      <vt:lpstr>Shopping or Cybermalls</vt:lpstr>
      <vt:lpstr>THE INTERNET COMMUNITY</vt:lpstr>
      <vt:lpstr>CONCLUSION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558</cp:revision>
  <dcterms:created xsi:type="dcterms:W3CDTF">2022-01-09T18:11:19Z</dcterms:created>
  <dcterms:modified xsi:type="dcterms:W3CDTF">2026-01-23T08:40:26Z</dcterms:modified>
</cp:coreProperties>
</file>