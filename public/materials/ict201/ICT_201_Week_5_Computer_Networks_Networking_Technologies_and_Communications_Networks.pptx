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5" r:id="rId1"/>
  </p:sldMasterIdLst>
  <p:notesMasterIdLst>
    <p:notesMasterId r:id="rId60"/>
  </p:notesMasterIdLst>
  <p:handoutMasterIdLst>
    <p:handoutMasterId r:id="rId61"/>
  </p:handoutMasterIdLst>
  <p:sldIdLst>
    <p:sldId id="256" r:id="rId2"/>
    <p:sldId id="526" r:id="rId3"/>
    <p:sldId id="527" r:id="rId4"/>
    <p:sldId id="879" r:id="rId5"/>
    <p:sldId id="519" r:id="rId6"/>
    <p:sldId id="878" r:id="rId7"/>
    <p:sldId id="915" r:id="rId8"/>
    <p:sldId id="880" r:id="rId9"/>
    <p:sldId id="514" r:id="rId10"/>
    <p:sldId id="565" r:id="rId11"/>
    <p:sldId id="1008" r:id="rId12"/>
    <p:sldId id="1009" r:id="rId13"/>
    <p:sldId id="1010" r:id="rId14"/>
    <p:sldId id="1011" r:id="rId15"/>
    <p:sldId id="1012" r:id="rId16"/>
    <p:sldId id="1013" r:id="rId17"/>
    <p:sldId id="1014" r:id="rId18"/>
    <p:sldId id="1015" r:id="rId19"/>
    <p:sldId id="1016" r:id="rId20"/>
    <p:sldId id="1017" r:id="rId21"/>
    <p:sldId id="1018" r:id="rId22"/>
    <p:sldId id="1019" r:id="rId23"/>
    <p:sldId id="1020" r:id="rId24"/>
    <p:sldId id="1021" r:id="rId25"/>
    <p:sldId id="1022" r:id="rId26"/>
    <p:sldId id="1023" r:id="rId27"/>
    <p:sldId id="1024" r:id="rId28"/>
    <p:sldId id="1025" r:id="rId29"/>
    <p:sldId id="1026" r:id="rId30"/>
    <p:sldId id="1027" r:id="rId31"/>
    <p:sldId id="1028" r:id="rId32"/>
    <p:sldId id="1029" r:id="rId33"/>
    <p:sldId id="1030" r:id="rId34"/>
    <p:sldId id="1031" r:id="rId35"/>
    <p:sldId id="1032" r:id="rId36"/>
    <p:sldId id="1033" r:id="rId37"/>
    <p:sldId id="1034" r:id="rId38"/>
    <p:sldId id="1035" r:id="rId39"/>
    <p:sldId id="1036" r:id="rId40"/>
    <p:sldId id="1037" r:id="rId41"/>
    <p:sldId id="1039" r:id="rId42"/>
    <p:sldId id="1038" r:id="rId43"/>
    <p:sldId id="1040" r:id="rId44"/>
    <p:sldId id="1041" r:id="rId45"/>
    <p:sldId id="1042" r:id="rId46"/>
    <p:sldId id="1043" r:id="rId47"/>
    <p:sldId id="1044" r:id="rId48"/>
    <p:sldId id="1045" r:id="rId49"/>
    <p:sldId id="1046" r:id="rId50"/>
    <p:sldId id="1047" r:id="rId51"/>
    <p:sldId id="1048" r:id="rId52"/>
    <p:sldId id="1049" r:id="rId53"/>
    <p:sldId id="1050" r:id="rId54"/>
    <p:sldId id="1051" r:id="rId55"/>
    <p:sldId id="1052" r:id="rId56"/>
    <p:sldId id="1053" r:id="rId57"/>
    <p:sldId id="1054" r:id="rId58"/>
    <p:sldId id="1055" r:id="rId59"/>
  </p:sldIdLst>
  <p:sldSz cx="9144000" cy="6858000" type="screen4x3"/>
  <p:notesSz cx="7315200" cy="9601200"/>
  <p:custDataLst>
    <p:tags r:id="rId62"/>
  </p:custDataLst>
  <p:defaultTex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Verdana" panose="020B060403050404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Verdana" panose="020B060403050404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Verdana" panose="020B060403050404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Verdana" panose="020B060403050404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FF"/>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966" autoAdjust="0"/>
    <p:restoredTop sz="94660"/>
  </p:normalViewPr>
  <p:slideViewPr>
    <p:cSldViewPr>
      <p:cViewPr varScale="1">
        <p:scale>
          <a:sx n="68" d="100"/>
          <a:sy n="68" d="100"/>
        </p:scale>
        <p:origin x="1224" y="7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5748"/>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handoutMaster" Target="handoutMasters/handout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7826" name="Rectangle 2"/>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square" lIns="91577" tIns="45789" rIns="91577" bIns="45789" numCol="1" anchor="t" anchorCtr="0" compatLnSpc="1">
            <a:prstTxWarp prst="textNoShape">
              <a:avLst/>
            </a:prstTxWarp>
          </a:bodyPr>
          <a:lstStyle>
            <a:lvl1pPr defTabSz="915988" eaLnBrk="1" hangingPunct="1">
              <a:defRPr sz="1200">
                <a:latin typeface="Arial" charset="0"/>
                <a:cs typeface="Arial" charset="0"/>
              </a:defRPr>
            </a:lvl1pPr>
          </a:lstStyle>
          <a:p>
            <a:pPr>
              <a:defRPr/>
            </a:pPr>
            <a:endParaRPr lang="en-US"/>
          </a:p>
        </p:txBody>
      </p:sp>
      <p:sp>
        <p:nvSpPr>
          <p:cNvPr id="77827" name="Rectangle 3"/>
          <p:cNvSpPr>
            <a:spLocks noGrp="1" noChangeArrowheads="1"/>
          </p:cNvSpPr>
          <p:nvPr>
            <p:ph type="dt" sz="quarter" idx="1"/>
          </p:nvPr>
        </p:nvSpPr>
        <p:spPr bwMode="auto">
          <a:xfrm>
            <a:off x="4143375" y="0"/>
            <a:ext cx="3170238" cy="479425"/>
          </a:xfrm>
          <a:prstGeom prst="rect">
            <a:avLst/>
          </a:prstGeom>
          <a:noFill/>
          <a:ln w="9525">
            <a:noFill/>
            <a:miter lim="800000"/>
            <a:headEnd/>
            <a:tailEnd/>
          </a:ln>
          <a:effectLst/>
        </p:spPr>
        <p:txBody>
          <a:bodyPr vert="horz" wrap="square" lIns="91577" tIns="45789" rIns="91577" bIns="45789" numCol="1" anchor="t" anchorCtr="0" compatLnSpc="1">
            <a:prstTxWarp prst="textNoShape">
              <a:avLst/>
            </a:prstTxWarp>
          </a:bodyPr>
          <a:lstStyle>
            <a:lvl1pPr algn="r" defTabSz="915988" eaLnBrk="1" hangingPunct="1">
              <a:defRPr sz="1200">
                <a:latin typeface="Arial" charset="0"/>
                <a:cs typeface="Arial" charset="0"/>
              </a:defRPr>
            </a:lvl1pPr>
          </a:lstStyle>
          <a:p>
            <a:pPr>
              <a:defRPr/>
            </a:pPr>
            <a:endParaRPr lang="en-US"/>
          </a:p>
        </p:txBody>
      </p:sp>
      <p:sp>
        <p:nvSpPr>
          <p:cNvPr id="77828" name="Rectangle 4"/>
          <p:cNvSpPr>
            <a:spLocks noGrp="1" noChangeArrowheads="1"/>
          </p:cNvSpPr>
          <p:nvPr>
            <p:ph type="ftr" sz="quarter" idx="2"/>
          </p:nvPr>
        </p:nvSpPr>
        <p:spPr bwMode="auto">
          <a:xfrm>
            <a:off x="0" y="9120188"/>
            <a:ext cx="3170238" cy="479425"/>
          </a:xfrm>
          <a:prstGeom prst="rect">
            <a:avLst/>
          </a:prstGeom>
          <a:noFill/>
          <a:ln w="9525">
            <a:noFill/>
            <a:miter lim="800000"/>
            <a:headEnd/>
            <a:tailEnd/>
          </a:ln>
          <a:effectLst/>
        </p:spPr>
        <p:txBody>
          <a:bodyPr vert="horz" wrap="square" lIns="91577" tIns="45789" rIns="91577" bIns="45789" numCol="1" anchor="b" anchorCtr="0" compatLnSpc="1">
            <a:prstTxWarp prst="textNoShape">
              <a:avLst/>
            </a:prstTxWarp>
          </a:bodyPr>
          <a:lstStyle>
            <a:lvl1pPr defTabSz="915988" eaLnBrk="1" hangingPunct="1">
              <a:defRPr sz="1200">
                <a:latin typeface="Arial" charset="0"/>
                <a:cs typeface="Arial" charset="0"/>
              </a:defRPr>
            </a:lvl1pPr>
          </a:lstStyle>
          <a:p>
            <a:pPr>
              <a:defRPr/>
            </a:pPr>
            <a:endParaRPr lang="en-US"/>
          </a:p>
        </p:txBody>
      </p:sp>
      <p:sp>
        <p:nvSpPr>
          <p:cNvPr id="77829" name="Rectangle 5"/>
          <p:cNvSpPr>
            <a:spLocks noGrp="1" noChangeArrowheads="1"/>
          </p:cNvSpPr>
          <p:nvPr>
            <p:ph type="sldNum" sz="quarter" idx="3"/>
          </p:nvPr>
        </p:nvSpPr>
        <p:spPr bwMode="auto">
          <a:xfrm>
            <a:off x="4143375" y="9120188"/>
            <a:ext cx="3170238" cy="479425"/>
          </a:xfrm>
          <a:prstGeom prst="rect">
            <a:avLst/>
          </a:prstGeom>
          <a:noFill/>
          <a:ln w="9525">
            <a:noFill/>
            <a:miter lim="800000"/>
            <a:headEnd/>
            <a:tailEnd/>
          </a:ln>
          <a:effectLst/>
        </p:spPr>
        <p:txBody>
          <a:bodyPr vert="horz" wrap="square" lIns="91577" tIns="45789" rIns="91577" bIns="45789" numCol="1" anchor="b" anchorCtr="0" compatLnSpc="1">
            <a:prstTxWarp prst="textNoShape">
              <a:avLst/>
            </a:prstTxWarp>
          </a:bodyPr>
          <a:lstStyle>
            <a:lvl1pPr algn="r" defTabSz="915988" eaLnBrk="1" hangingPunct="1">
              <a:defRPr sz="1200">
                <a:latin typeface="Arial" panose="020B0604020202020204" pitchFamily="34" charset="0"/>
              </a:defRPr>
            </a:lvl1pPr>
          </a:lstStyle>
          <a:p>
            <a:pPr>
              <a:defRPr/>
            </a:pPr>
            <a:fld id="{52ED81C8-EB9E-43D7-BE83-0805E619C0C7}" type="slidenum">
              <a:rPr lang="ar-SA" altLang="en-US"/>
              <a:pPr>
                <a:defRPr/>
              </a:pPr>
              <a:t>‹#›</a:t>
            </a:fld>
            <a:endParaRPr lang="en-US" altLang="en-US"/>
          </a:p>
        </p:txBody>
      </p:sp>
    </p:spTree>
    <p:extLst>
      <p:ext uri="{BB962C8B-B14F-4D97-AF65-F5344CB8AC3E}">
        <p14:creationId xmlns:p14="http://schemas.microsoft.com/office/powerpoint/2010/main" val="34095013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5778" name="Rectangle 2"/>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square" lIns="91577" tIns="45789" rIns="91577" bIns="45789" numCol="1" anchor="t" anchorCtr="0" compatLnSpc="1">
            <a:prstTxWarp prst="textNoShape">
              <a:avLst/>
            </a:prstTxWarp>
          </a:bodyPr>
          <a:lstStyle>
            <a:lvl1pPr defTabSz="915988" eaLnBrk="1" hangingPunct="1">
              <a:defRPr sz="1200">
                <a:latin typeface="Arial" charset="0"/>
                <a:cs typeface="Arial" charset="0"/>
              </a:defRPr>
            </a:lvl1pPr>
          </a:lstStyle>
          <a:p>
            <a:pPr>
              <a:defRPr/>
            </a:pPr>
            <a:endParaRPr lang="en-US"/>
          </a:p>
        </p:txBody>
      </p:sp>
      <p:sp>
        <p:nvSpPr>
          <p:cNvPr id="75779" name="Rectangle 3"/>
          <p:cNvSpPr>
            <a:spLocks noGrp="1" noChangeArrowheads="1"/>
          </p:cNvSpPr>
          <p:nvPr>
            <p:ph type="dt" idx="1"/>
          </p:nvPr>
        </p:nvSpPr>
        <p:spPr bwMode="auto">
          <a:xfrm>
            <a:off x="4143375" y="0"/>
            <a:ext cx="3170238" cy="479425"/>
          </a:xfrm>
          <a:prstGeom prst="rect">
            <a:avLst/>
          </a:prstGeom>
          <a:noFill/>
          <a:ln w="9525">
            <a:noFill/>
            <a:miter lim="800000"/>
            <a:headEnd/>
            <a:tailEnd/>
          </a:ln>
          <a:effectLst/>
        </p:spPr>
        <p:txBody>
          <a:bodyPr vert="horz" wrap="square" lIns="91577" tIns="45789" rIns="91577" bIns="45789" numCol="1" anchor="t" anchorCtr="0" compatLnSpc="1">
            <a:prstTxWarp prst="textNoShape">
              <a:avLst/>
            </a:prstTxWarp>
          </a:bodyPr>
          <a:lstStyle>
            <a:lvl1pPr algn="r" defTabSz="915988" eaLnBrk="1" hangingPunct="1">
              <a:defRPr sz="1200">
                <a:latin typeface="Arial" charset="0"/>
                <a:cs typeface="Arial" charset="0"/>
              </a:defRPr>
            </a:lvl1pPr>
          </a:lstStyle>
          <a:p>
            <a:pPr>
              <a:defRPr/>
            </a:pPr>
            <a:endParaRPr lang="en-US"/>
          </a:p>
        </p:txBody>
      </p:sp>
      <p:sp>
        <p:nvSpPr>
          <p:cNvPr id="3076" name="Rectangle 4"/>
          <p:cNvSpPr>
            <a:spLocks noGrp="1" noRot="1" noChangeAspect="1" noChangeArrowheads="1" noTextEdit="1"/>
          </p:cNvSpPr>
          <p:nvPr>
            <p:ph type="sldImg" idx="2"/>
          </p:nvPr>
        </p:nvSpPr>
        <p:spPr bwMode="auto">
          <a:xfrm>
            <a:off x="1257300" y="720725"/>
            <a:ext cx="4800600" cy="36004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5781" name="Rectangle 5"/>
          <p:cNvSpPr>
            <a:spLocks noGrp="1" noChangeArrowheads="1"/>
          </p:cNvSpPr>
          <p:nvPr>
            <p:ph type="body" sz="quarter" idx="3"/>
          </p:nvPr>
        </p:nvSpPr>
        <p:spPr bwMode="auto">
          <a:xfrm>
            <a:off x="731838" y="4560888"/>
            <a:ext cx="5851525" cy="4319587"/>
          </a:xfrm>
          <a:prstGeom prst="rect">
            <a:avLst/>
          </a:prstGeom>
          <a:noFill/>
          <a:ln w="9525">
            <a:noFill/>
            <a:miter lim="800000"/>
            <a:headEnd/>
            <a:tailEnd/>
          </a:ln>
          <a:effectLst/>
        </p:spPr>
        <p:txBody>
          <a:bodyPr vert="horz" wrap="square" lIns="91577" tIns="45789" rIns="91577" bIns="45789"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5782" name="Rectangle 6"/>
          <p:cNvSpPr>
            <a:spLocks noGrp="1" noChangeArrowheads="1"/>
          </p:cNvSpPr>
          <p:nvPr>
            <p:ph type="ftr" sz="quarter" idx="4"/>
          </p:nvPr>
        </p:nvSpPr>
        <p:spPr bwMode="auto">
          <a:xfrm>
            <a:off x="0" y="9120188"/>
            <a:ext cx="3170238" cy="479425"/>
          </a:xfrm>
          <a:prstGeom prst="rect">
            <a:avLst/>
          </a:prstGeom>
          <a:noFill/>
          <a:ln w="9525">
            <a:noFill/>
            <a:miter lim="800000"/>
            <a:headEnd/>
            <a:tailEnd/>
          </a:ln>
          <a:effectLst/>
        </p:spPr>
        <p:txBody>
          <a:bodyPr vert="horz" wrap="square" lIns="91577" tIns="45789" rIns="91577" bIns="45789" numCol="1" anchor="b" anchorCtr="0" compatLnSpc="1">
            <a:prstTxWarp prst="textNoShape">
              <a:avLst/>
            </a:prstTxWarp>
          </a:bodyPr>
          <a:lstStyle>
            <a:lvl1pPr defTabSz="915988" eaLnBrk="1" hangingPunct="1">
              <a:defRPr sz="1200">
                <a:latin typeface="Arial" charset="0"/>
                <a:cs typeface="Arial" charset="0"/>
              </a:defRPr>
            </a:lvl1pPr>
          </a:lstStyle>
          <a:p>
            <a:pPr>
              <a:defRPr/>
            </a:pPr>
            <a:endParaRPr lang="en-US"/>
          </a:p>
        </p:txBody>
      </p:sp>
      <p:sp>
        <p:nvSpPr>
          <p:cNvPr id="75783" name="Rectangle 7"/>
          <p:cNvSpPr>
            <a:spLocks noGrp="1" noChangeArrowheads="1"/>
          </p:cNvSpPr>
          <p:nvPr>
            <p:ph type="sldNum" sz="quarter" idx="5"/>
          </p:nvPr>
        </p:nvSpPr>
        <p:spPr bwMode="auto">
          <a:xfrm>
            <a:off x="4143375" y="9120188"/>
            <a:ext cx="3170238" cy="479425"/>
          </a:xfrm>
          <a:prstGeom prst="rect">
            <a:avLst/>
          </a:prstGeom>
          <a:noFill/>
          <a:ln w="9525">
            <a:noFill/>
            <a:miter lim="800000"/>
            <a:headEnd/>
            <a:tailEnd/>
          </a:ln>
          <a:effectLst/>
        </p:spPr>
        <p:txBody>
          <a:bodyPr vert="horz" wrap="square" lIns="91577" tIns="45789" rIns="91577" bIns="45789" numCol="1" anchor="b" anchorCtr="0" compatLnSpc="1">
            <a:prstTxWarp prst="textNoShape">
              <a:avLst/>
            </a:prstTxWarp>
          </a:bodyPr>
          <a:lstStyle>
            <a:lvl1pPr algn="r" defTabSz="915988" eaLnBrk="1" hangingPunct="1">
              <a:defRPr sz="1200">
                <a:latin typeface="Arial" panose="020B0604020202020204" pitchFamily="34" charset="0"/>
              </a:defRPr>
            </a:lvl1pPr>
          </a:lstStyle>
          <a:p>
            <a:pPr>
              <a:defRPr/>
            </a:pPr>
            <a:fld id="{894A09FF-A2DA-476C-B039-18DBC396A5DF}" type="slidenum">
              <a:rPr lang="ar-SA" altLang="en-US"/>
              <a:pPr>
                <a:defRPr/>
              </a:pPr>
              <a:t>‹#›</a:t>
            </a:fld>
            <a:endParaRPr lang="en-US" altLang="en-US"/>
          </a:p>
        </p:txBody>
      </p:sp>
    </p:spTree>
    <p:extLst>
      <p:ext uri="{BB962C8B-B14F-4D97-AF65-F5344CB8AC3E}">
        <p14:creationId xmlns:p14="http://schemas.microsoft.com/office/powerpoint/2010/main" val="428091695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sz="12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sz="12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sz="12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sz="12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D9E4F96F-EA92-4835-ABB1-6A078B9D0977}" type="slidenum">
              <a:rPr lang="ar-SA" altLang="en-US" smtClean="0"/>
              <a:pPr>
                <a:spcBef>
                  <a:spcPct val="0"/>
                </a:spcBef>
              </a:pPr>
              <a:t>1</a:t>
            </a:fld>
            <a:endParaRPr lang="en-US" altLang="en-US"/>
          </a:p>
        </p:txBody>
      </p:sp>
      <p:sp>
        <p:nvSpPr>
          <p:cNvPr id="6147" name="Rectangle 2"/>
          <p:cNvSpPr>
            <a:spLocks noGrp="1" noRot="1" noChangeAspect="1" noChangeArrowheads="1" noTextEdit="1"/>
          </p:cNvSpPr>
          <p:nvPr>
            <p:ph type="sldImg"/>
          </p:nvPr>
        </p:nvSpPr>
        <p:spPr>
          <a:ln/>
        </p:spPr>
      </p:sp>
      <p:sp>
        <p:nvSpPr>
          <p:cNvPr id="61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017151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D9E4F96F-EA92-4835-ABB1-6A078B9D0977}" type="slidenum">
              <a:rPr lang="ar-SA" altLang="en-US" smtClean="0"/>
              <a:pPr>
                <a:spcBef>
                  <a:spcPct val="0"/>
                </a:spcBef>
              </a:pPr>
              <a:t>2</a:t>
            </a:fld>
            <a:endParaRPr lang="en-US" altLang="en-US"/>
          </a:p>
        </p:txBody>
      </p:sp>
      <p:sp>
        <p:nvSpPr>
          <p:cNvPr id="6147" name="Rectangle 2"/>
          <p:cNvSpPr>
            <a:spLocks noGrp="1" noRot="1" noChangeAspect="1" noChangeArrowheads="1" noTextEdit="1"/>
          </p:cNvSpPr>
          <p:nvPr>
            <p:ph type="sldImg"/>
          </p:nvPr>
        </p:nvSpPr>
        <p:spPr>
          <a:ln/>
        </p:spPr>
      </p:sp>
      <p:sp>
        <p:nvSpPr>
          <p:cNvPr id="61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924716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905EEAC-7806-42D2-8FA3-1076C0BD9C50}" type="slidenum">
              <a:rPr lang="ar-SA" altLang="en-US" smtClean="0"/>
              <a:pPr>
                <a:spcBef>
                  <a:spcPct val="0"/>
                </a:spcBef>
              </a:pPr>
              <a:t>3</a:t>
            </a:fld>
            <a:endParaRPr lang="en-US" altLang="en-US"/>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195374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905EEAC-7806-42D2-8FA3-1076C0BD9C50}" type="slidenum">
              <a:rPr lang="ar-SA" altLang="en-US" smtClean="0"/>
              <a:pPr>
                <a:spcBef>
                  <a:spcPct val="0"/>
                </a:spcBef>
              </a:pPr>
              <a:t>4</a:t>
            </a:fld>
            <a:endParaRPr lang="en-US" altLang="en-US"/>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666515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905EEAC-7806-42D2-8FA3-1076C0BD9C50}" type="slidenum">
              <a:rPr lang="ar-SA" altLang="en-US" smtClean="0"/>
              <a:pPr>
                <a:spcBef>
                  <a:spcPct val="0"/>
                </a:spcBef>
              </a:pPr>
              <a:t>5</a:t>
            </a:fld>
            <a:endParaRPr lang="en-US" altLang="en-US"/>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515845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905EEAC-7806-42D2-8FA3-1076C0BD9C50}" type="slidenum">
              <a:rPr lang="ar-SA" altLang="en-US" smtClean="0"/>
              <a:pPr>
                <a:spcBef>
                  <a:spcPct val="0"/>
                </a:spcBef>
              </a:pPr>
              <a:t>6</a:t>
            </a:fld>
            <a:endParaRPr lang="en-US" altLang="en-US"/>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219579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905EEAC-7806-42D2-8FA3-1076C0BD9C50}" type="slidenum">
              <a:rPr lang="ar-SA" altLang="en-US" smtClean="0"/>
              <a:pPr>
                <a:spcBef>
                  <a:spcPct val="0"/>
                </a:spcBef>
              </a:pPr>
              <a:t>7</a:t>
            </a:fld>
            <a:endParaRPr lang="en-US" altLang="en-US"/>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974472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905EEAC-7806-42D2-8FA3-1076C0BD9C50}" type="slidenum">
              <a:rPr lang="ar-SA" altLang="en-US" smtClean="0"/>
              <a:pPr>
                <a:spcBef>
                  <a:spcPct val="0"/>
                </a:spcBef>
              </a:pPr>
              <a:t>8</a:t>
            </a:fld>
            <a:endParaRPr lang="en-US" altLang="en-US"/>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610711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905EEAC-7806-42D2-8FA3-1076C0BD9C50}" type="slidenum">
              <a:rPr lang="ar-SA" altLang="en-US" smtClean="0"/>
              <a:pPr>
                <a:spcBef>
                  <a:spcPct val="0"/>
                </a:spcBef>
              </a:pPr>
              <a:t>9</a:t>
            </a:fld>
            <a:endParaRPr lang="en-US" altLang="en-US"/>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365239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905EEAC-7806-42D2-8FA3-1076C0BD9C50}" type="slidenum">
              <a:rPr lang="ar-SA" altLang="en-US" smtClean="0"/>
              <a:pPr>
                <a:spcBef>
                  <a:spcPct val="0"/>
                </a:spcBef>
              </a:pPr>
              <a:t>10</a:t>
            </a:fld>
            <a:endParaRPr lang="en-US" altLang="en-US"/>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355594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7"/>
          <p:cNvGrpSpPr>
            <a:grpSpLocks/>
          </p:cNvGrpSpPr>
          <p:nvPr/>
        </p:nvGrpSpPr>
        <p:grpSpPr bwMode="auto">
          <a:xfrm>
            <a:off x="228600" y="2889250"/>
            <a:ext cx="8610600" cy="201613"/>
            <a:chOff x="144" y="1680"/>
            <a:chExt cx="5424" cy="144"/>
          </a:xfrm>
        </p:grpSpPr>
        <p:sp>
          <p:nvSpPr>
            <p:cNvPr id="5" name="Rectangle 8"/>
            <p:cNvSpPr>
              <a:spLocks noChangeArrowheads="1"/>
            </p:cNvSpPr>
            <p:nvPr userDrawn="1"/>
          </p:nvSpPr>
          <p:spPr bwMode="auto">
            <a:xfrm>
              <a:off x="144" y="1680"/>
              <a:ext cx="1808" cy="144"/>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defRPr/>
              </a:pPr>
              <a:endParaRPr lang="en-US" altLang="en-US"/>
            </a:p>
          </p:txBody>
        </p:sp>
        <p:sp>
          <p:nvSpPr>
            <p:cNvPr id="6" name="Rectangle 9"/>
            <p:cNvSpPr>
              <a:spLocks noChangeArrowheads="1"/>
            </p:cNvSpPr>
            <p:nvPr userDrawn="1"/>
          </p:nvSpPr>
          <p:spPr bwMode="auto">
            <a:xfrm>
              <a:off x="1952" y="1680"/>
              <a:ext cx="1808" cy="14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defRPr/>
              </a:pPr>
              <a:endParaRPr lang="en-US" altLang="en-US"/>
            </a:p>
          </p:txBody>
        </p:sp>
        <p:sp>
          <p:nvSpPr>
            <p:cNvPr id="7" name="Rectangle 10"/>
            <p:cNvSpPr>
              <a:spLocks noChangeArrowheads="1"/>
            </p:cNvSpPr>
            <p:nvPr userDrawn="1"/>
          </p:nvSpPr>
          <p:spPr bwMode="auto">
            <a:xfrm>
              <a:off x="3760" y="1680"/>
              <a:ext cx="1808" cy="144"/>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defRPr/>
              </a:pPr>
              <a:endParaRPr lang="en-US" altLang="en-US"/>
            </a:p>
          </p:txBody>
        </p:sp>
      </p:grpSp>
      <p:sp>
        <p:nvSpPr>
          <p:cNvPr id="97282" name="Rectangle 2"/>
          <p:cNvSpPr>
            <a:spLocks noGrp="1" noChangeArrowheads="1"/>
          </p:cNvSpPr>
          <p:nvPr>
            <p:ph type="ctrTitle"/>
          </p:nvPr>
        </p:nvSpPr>
        <p:spPr>
          <a:xfrm>
            <a:off x="685800" y="685800"/>
            <a:ext cx="7772400" cy="2127250"/>
          </a:xfrm>
        </p:spPr>
        <p:txBody>
          <a:bodyPr/>
          <a:lstStyle>
            <a:lvl1pPr algn="ctr">
              <a:defRPr sz="5800"/>
            </a:lvl1pPr>
          </a:lstStyle>
          <a:p>
            <a:r>
              <a:rPr lang="en-US"/>
              <a:t>Click to edit Master title style</a:t>
            </a:r>
          </a:p>
        </p:txBody>
      </p:sp>
      <p:sp>
        <p:nvSpPr>
          <p:cNvPr id="97283" name="Rectangle 3"/>
          <p:cNvSpPr>
            <a:spLocks noGrp="1" noChangeArrowheads="1"/>
          </p:cNvSpPr>
          <p:nvPr>
            <p:ph type="subTitle" idx="1"/>
          </p:nvPr>
        </p:nvSpPr>
        <p:spPr>
          <a:xfrm>
            <a:off x="1371600" y="3270250"/>
            <a:ext cx="6400800" cy="2209800"/>
          </a:xfrm>
        </p:spPr>
        <p:txBody>
          <a:bodyPr/>
          <a:lstStyle>
            <a:lvl1pPr marL="0" indent="0" algn="ctr">
              <a:buFont typeface="Wingdings" pitchFamily="2" charset="2"/>
              <a:buNone/>
              <a:defRPr sz="3000"/>
            </a:lvl1pPr>
          </a:lstStyle>
          <a:p>
            <a:r>
              <a:rPr lang="en-US"/>
              <a:t>Click to edit Master subtitle style</a:t>
            </a:r>
          </a:p>
        </p:txBody>
      </p:sp>
      <p:sp>
        <p:nvSpPr>
          <p:cNvPr id="8" name="Rectangle 4"/>
          <p:cNvSpPr>
            <a:spLocks noGrp="1" noChangeArrowheads="1"/>
          </p:cNvSpPr>
          <p:nvPr>
            <p:ph type="dt" sz="half" idx="10"/>
          </p:nvPr>
        </p:nvSpPr>
        <p:spPr/>
        <p:txBody>
          <a:bodyPr/>
          <a:lstStyle>
            <a:lvl1pPr>
              <a:defRPr/>
            </a:lvl1pPr>
          </a:lstStyle>
          <a:p>
            <a:pPr>
              <a:defRPr/>
            </a:pPr>
            <a:fld id="{7A6A57B4-2DBC-4857-ABD2-C4E1F5AD309D}" type="datetime1">
              <a:rPr lang="en-US"/>
              <a:pPr>
                <a:defRPr/>
              </a:pPr>
              <a:t>1/12/2026</a:t>
            </a:fld>
            <a:endParaRPr lang="en-US"/>
          </a:p>
        </p:txBody>
      </p:sp>
      <p:sp>
        <p:nvSpPr>
          <p:cNvPr id="9" name="Rectangle 5"/>
          <p:cNvSpPr>
            <a:spLocks noGrp="1" noChangeArrowheads="1"/>
          </p:cNvSpPr>
          <p:nvPr>
            <p:ph type="ftr" sz="quarter" idx="11"/>
          </p:nvPr>
        </p:nvSpPr>
        <p:spPr/>
        <p:txBody>
          <a:bodyPr/>
          <a:lstStyle>
            <a:lvl1pPr>
              <a:defRPr/>
            </a:lvl1pPr>
          </a:lstStyle>
          <a:p>
            <a:pPr>
              <a:defRPr/>
            </a:pPr>
            <a:endParaRPr lang="en-US"/>
          </a:p>
        </p:txBody>
      </p:sp>
      <p:sp>
        <p:nvSpPr>
          <p:cNvPr id="10" name="Rectangle 6"/>
          <p:cNvSpPr>
            <a:spLocks noGrp="1" noChangeArrowheads="1"/>
          </p:cNvSpPr>
          <p:nvPr>
            <p:ph type="sldNum" sz="quarter" idx="12"/>
          </p:nvPr>
        </p:nvSpPr>
        <p:spPr/>
        <p:txBody>
          <a:bodyPr/>
          <a:lstStyle>
            <a:lvl1pPr>
              <a:defRPr/>
            </a:lvl1pPr>
          </a:lstStyle>
          <a:p>
            <a:pPr>
              <a:defRPr/>
            </a:pPr>
            <a:fld id="{5101CF6D-3A52-48B7-8F5A-BDD857CE30CD}" type="slidenum">
              <a:rPr lang="ar-SA" altLang="en-US"/>
              <a:pPr>
                <a:defRPr/>
              </a:pPr>
              <a:t>‹#›</a:t>
            </a:fld>
            <a:endParaRPr lang="en-US" altLang="en-US"/>
          </a:p>
        </p:txBody>
      </p:sp>
    </p:spTree>
    <p:extLst>
      <p:ext uri="{BB962C8B-B14F-4D97-AF65-F5344CB8AC3E}">
        <p14:creationId xmlns:p14="http://schemas.microsoft.com/office/powerpoint/2010/main" val="24992633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fld id="{4937C412-EF2B-42E7-B238-285F472DECCC}" type="datetime1">
              <a:rPr lang="en-US"/>
              <a:pPr>
                <a:defRPr/>
              </a:pPr>
              <a:t>1/12/2026</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0D1010C-2F64-482A-AC10-0B9E85ACDB7D}" type="slidenum">
              <a:rPr lang="ar-SA" altLang="en-US"/>
              <a:pPr>
                <a:defRPr/>
              </a:pPr>
              <a:t>‹#›</a:t>
            </a:fld>
            <a:endParaRPr lang="en-US" altLang="en-US"/>
          </a:p>
        </p:txBody>
      </p:sp>
    </p:spTree>
    <p:extLst>
      <p:ext uri="{BB962C8B-B14F-4D97-AF65-F5344CB8AC3E}">
        <p14:creationId xmlns:p14="http://schemas.microsoft.com/office/powerpoint/2010/main" val="19165912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fld id="{29C7A87A-2E13-4674-9FBB-5EF41D8D942C}" type="datetime1">
              <a:rPr lang="en-US"/>
              <a:pPr>
                <a:defRPr/>
              </a:pPr>
              <a:t>1/12/2026</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D6D42B3B-252A-4661-ADF9-9BFE76F8F944}" type="slidenum">
              <a:rPr lang="ar-SA" altLang="en-US"/>
              <a:pPr>
                <a:defRPr/>
              </a:pPr>
              <a:t>‹#›</a:t>
            </a:fld>
            <a:endParaRPr lang="en-US" altLang="en-US"/>
          </a:p>
        </p:txBody>
      </p:sp>
    </p:spTree>
    <p:extLst>
      <p:ext uri="{BB962C8B-B14F-4D97-AF65-F5344CB8AC3E}">
        <p14:creationId xmlns:p14="http://schemas.microsoft.com/office/powerpoint/2010/main" val="19262854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fld id="{E609DD42-A4AF-4E69-B741-E80403319C11}" type="datetime1">
              <a:rPr lang="en-US"/>
              <a:pPr>
                <a:defRPr/>
              </a:pPr>
              <a:t>1/12/2026</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56AC05BD-71D8-42BD-AF35-ADFEDF91D5D1}" type="slidenum">
              <a:rPr lang="ar-SA" altLang="en-US"/>
              <a:pPr>
                <a:defRPr/>
              </a:pPr>
              <a:t>‹#›</a:t>
            </a:fld>
            <a:endParaRPr lang="en-US" altLang="en-US"/>
          </a:p>
        </p:txBody>
      </p:sp>
    </p:spTree>
    <p:extLst>
      <p:ext uri="{BB962C8B-B14F-4D97-AF65-F5344CB8AC3E}">
        <p14:creationId xmlns:p14="http://schemas.microsoft.com/office/powerpoint/2010/main" val="38085129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fld id="{39B463D3-C53D-4145-B75E-A82AFDA8D032}" type="datetime1">
              <a:rPr lang="en-US"/>
              <a:pPr>
                <a:defRPr/>
              </a:pPr>
              <a:t>1/12/2026</a:t>
            </a:fld>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CB0B3F09-3563-40EF-811B-9A4BE18E0B2F}" type="slidenum">
              <a:rPr lang="ar-SA" altLang="en-US"/>
              <a:pPr>
                <a:defRPr/>
              </a:pPr>
              <a:t>‹#›</a:t>
            </a:fld>
            <a:endParaRPr lang="en-US" altLang="en-US"/>
          </a:p>
        </p:txBody>
      </p:sp>
    </p:spTree>
    <p:extLst>
      <p:ext uri="{BB962C8B-B14F-4D97-AF65-F5344CB8AC3E}">
        <p14:creationId xmlns:p14="http://schemas.microsoft.com/office/powerpoint/2010/main" val="22577102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fld id="{0D8AB667-4595-4177-8504-FB627296AB33}" type="datetime1">
              <a:rPr lang="en-US"/>
              <a:pPr>
                <a:defRPr/>
              </a:pPr>
              <a:t>1/12/2026</a:t>
            </a:fld>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DE15D301-F532-4E8E-A495-065FC6D461A7}" type="slidenum">
              <a:rPr lang="ar-SA" altLang="en-US"/>
              <a:pPr>
                <a:defRPr/>
              </a:pPr>
              <a:t>‹#›</a:t>
            </a:fld>
            <a:endParaRPr lang="en-US" altLang="en-US"/>
          </a:p>
        </p:txBody>
      </p:sp>
    </p:spTree>
    <p:extLst>
      <p:ext uri="{BB962C8B-B14F-4D97-AF65-F5344CB8AC3E}">
        <p14:creationId xmlns:p14="http://schemas.microsoft.com/office/powerpoint/2010/main" val="27627796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88FF0628-67F2-4EF4-86D3-324F007F14B0}" type="datetime1">
              <a:rPr lang="en-US"/>
              <a:pPr>
                <a:defRPr/>
              </a:pPr>
              <a:t>1/12/2026</a:t>
            </a:fld>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1C79993A-9EAE-42CD-B8A8-EEF40C1E0D51}" type="slidenum">
              <a:rPr lang="ar-SA" altLang="en-US"/>
              <a:pPr>
                <a:defRPr/>
              </a:pPr>
              <a:t>‹#›</a:t>
            </a:fld>
            <a:endParaRPr lang="en-US" altLang="en-US"/>
          </a:p>
        </p:txBody>
      </p:sp>
    </p:spTree>
    <p:extLst>
      <p:ext uri="{BB962C8B-B14F-4D97-AF65-F5344CB8AC3E}">
        <p14:creationId xmlns:p14="http://schemas.microsoft.com/office/powerpoint/2010/main" val="22309884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29DC5F05-ED40-454D-95C8-3453B7E7BB5B}" type="datetime1">
              <a:rPr lang="en-US"/>
              <a:pPr>
                <a:defRPr/>
              </a:pPr>
              <a:t>1/12/2026</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EFAFEAF1-3044-4204-8B6F-F53936E6E60A}" type="slidenum">
              <a:rPr lang="ar-SA" altLang="en-US"/>
              <a:pPr>
                <a:defRPr/>
              </a:pPr>
              <a:t>‹#›</a:t>
            </a:fld>
            <a:endParaRPr lang="en-US" altLang="en-US"/>
          </a:p>
        </p:txBody>
      </p:sp>
    </p:spTree>
    <p:extLst>
      <p:ext uri="{BB962C8B-B14F-4D97-AF65-F5344CB8AC3E}">
        <p14:creationId xmlns:p14="http://schemas.microsoft.com/office/powerpoint/2010/main" val="21393609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4A92DFE8-9BCF-414E-AED7-5563BFB4AA38}" type="datetime1">
              <a:rPr lang="en-US"/>
              <a:pPr>
                <a:defRPr/>
              </a:pPr>
              <a:t>1/12/2026</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34139072-BCFF-4B00-ACD4-6DF1BA958382}" type="slidenum">
              <a:rPr lang="ar-SA" altLang="en-US"/>
              <a:pPr>
                <a:defRPr/>
              </a:pPr>
              <a:t>‹#›</a:t>
            </a:fld>
            <a:endParaRPr lang="en-US" altLang="en-US"/>
          </a:p>
        </p:txBody>
      </p:sp>
    </p:spTree>
    <p:extLst>
      <p:ext uri="{BB962C8B-B14F-4D97-AF65-F5344CB8AC3E}">
        <p14:creationId xmlns:p14="http://schemas.microsoft.com/office/powerpoint/2010/main" val="42452236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fld id="{15348B16-74D5-4854-8AB8-9D4A4DF3A19A}" type="datetime1">
              <a:rPr lang="en-US"/>
              <a:pPr>
                <a:defRPr/>
              </a:pPr>
              <a:t>1/12/2026</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542C787-322D-45BF-A103-35EE7773702D}" type="slidenum">
              <a:rPr lang="ar-SA" altLang="en-US"/>
              <a:pPr>
                <a:defRPr/>
              </a:pPr>
              <a:t>‹#›</a:t>
            </a:fld>
            <a:endParaRPr lang="en-US" altLang="en-US"/>
          </a:p>
        </p:txBody>
      </p:sp>
    </p:spTree>
    <p:extLst>
      <p:ext uri="{BB962C8B-B14F-4D97-AF65-F5344CB8AC3E}">
        <p14:creationId xmlns:p14="http://schemas.microsoft.com/office/powerpoint/2010/main" val="40793856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7813"/>
            <a:ext cx="2057400" cy="585311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7813"/>
            <a:ext cx="6019800" cy="5853112"/>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fld id="{C553E0A1-5428-499E-A086-042824C3739D}" type="datetime1">
              <a:rPr lang="en-US"/>
              <a:pPr>
                <a:defRPr/>
              </a:pPr>
              <a:t>1/12/2026</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D5820A5-4DC5-43F5-9BA2-B42E567F43C3}" type="slidenum">
              <a:rPr lang="ar-SA" altLang="en-US"/>
              <a:pPr>
                <a:defRPr/>
              </a:pPr>
              <a:t>‹#›</a:t>
            </a:fld>
            <a:endParaRPr lang="en-US" altLang="en-US"/>
          </a:p>
        </p:txBody>
      </p:sp>
    </p:spTree>
    <p:extLst>
      <p:ext uri="{BB962C8B-B14F-4D97-AF65-F5344CB8AC3E}">
        <p14:creationId xmlns:p14="http://schemas.microsoft.com/office/powerpoint/2010/main" val="4583189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39825"/>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3072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600200"/>
            <a:ext cx="4038600" cy="218916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3941763"/>
            <a:ext cx="4038600" cy="218916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p:cNvSpPr>
            <a:spLocks noGrp="1" noChangeArrowheads="1"/>
          </p:cNvSpPr>
          <p:nvPr>
            <p:ph type="dt" sz="half" idx="10"/>
          </p:nvPr>
        </p:nvSpPr>
        <p:spPr>
          <a:ln/>
        </p:spPr>
        <p:txBody>
          <a:bodyPr/>
          <a:lstStyle>
            <a:lvl1pPr>
              <a:defRPr/>
            </a:lvl1pPr>
          </a:lstStyle>
          <a:p>
            <a:pPr>
              <a:defRPr/>
            </a:pPr>
            <a:fld id="{DEEA5EEE-51A1-44A1-9A46-0EBE715EE6EC}" type="datetime1">
              <a:rPr lang="en-US"/>
              <a:pPr>
                <a:defRPr/>
              </a:pPr>
              <a:t>1/12/2026</a:t>
            </a:fld>
            <a:endParaRPr lang="en-US"/>
          </a:p>
        </p:txBody>
      </p:sp>
      <p:sp>
        <p:nvSpPr>
          <p:cNvPr id="7" name="Rectangle 5"/>
          <p:cNvSpPr>
            <a:spLocks noGrp="1" noChangeArrowheads="1"/>
          </p:cNvSpPr>
          <p:nvPr>
            <p:ph type="ftr" sz="quarter" idx="11"/>
          </p:nvPr>
        </p:nvSpPr>
        <p:spPr>
          <a:ln/>
        </p:spPr>
        <p:txBody>
          <a:bodyPr/>
          <a:lstStyle>
            <a:lvl1pPr>
              <a:defRPr/>
            </a:lvl1pPr>
          </a:lstStyle>
          <a:p>
            <a:pPr>
              <a:defRPr/>
            </a:pPr>
            <a:endParaRPr lang="en-US"/>
          </a:p>
        </p:txBody>
      </p:sp>
      <p:sp>
        <p:nvSpPr>
          <p:cNvPr id="8" name="Rectangle 6"/>
          <p:cNvSpPr>
            <a:spLocks noGrp="1" noChangeArrowheads="1"/>
          </p:cNvSpPr>
          <p:nvPr>
            <p:ph type="sldNum" sz="quarter" idx="12"/>
          </p:nvPr>
        </p:nvSpPr>
        <p:spPr>
          <a:ln/>
        </p:spPr>
        <p:txBody>
          <a:bodyPr/>
          <a:lstStyle>
            <a:lvl1pPr>
              <a:defRPr/>
            </a:lvl1pPr>
          </a:lstStyle>
          <a:p>
            <a:pPr>
              <a:defRPr/>
            </a:pPr>
            <a:fld id="{69299B50-F463-407A-BCCB-B9D2AD4327B7}" type="slidenum">
              <a:rPr lang="ar-SA" altLang="en-US"/>
              <a:pPr>
                <a:defRPr/>
              </a:pPr>
              <a:t>‹#›</a:t>
            </a:fld>
            <a:endParaRPr lang="en-US" altLang="en-US"/>
          </a:p>
        </p:txBody>
      </p:sp>
    </p:spTree>
    <p:extLst>
      <p:ext uri="{BB962C8B-B14F-4D97-AF65-F5344CB8AC3E}">
        <p14:creationId xmlns:p14="http://schemas.microsoft.com/office/powerpoint/2010/main" val="21372168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39825"/>
          </a:xfrm>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3072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600200"/>
            <a:ext cx="4038600" cy="218916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3941763"/>
            <a:ext cx="4038600" cy="218916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p:cNvSpPr>
            <a:spLocks noGrp="1" noChangeArrowheads="1"/>
          </p:cNvSpPr>
          <p:nvPr>
            <p:ph type="dt" sz="half" idx="10"/>
          </p:nvPr>
        </p:nvSpPr>
        <p:spPr>
          <a:ln/>
        </p:spPr>
        <p:txBody>
          <a:bodyPr/>
          <a:lstStyle>
            <a:lvl1pPr>
              <a:defRPr/>
            </a:lvl1pPr>
          </a:lstStyle>
          <a:p>
            <a:pPr>
              <a:defRPr/>
            </a:pPr>
            <a:fld id="{6EE95FA3-5977-4F81-8E44-468604C95138}" type="datetime1">
              <a:rPr lang="en-US"/>
              <a:pPr>
                <a:defRPr/>
              </a:pPr>
              <a:t>1/12/2026</a:t>
            </a:fld>
            <a:endParaRPr lang="en-US"/>
          </a:p>
        </p:txBody>
      </p:sp>
      <p:sp>
        <p:nvSpPr>
          <p:cNvPr id="7" name="Rectangle 5"/>
          <p:cNvSpPr>
            <a:spLocks noGrp="1" noChangeArrowheads="1"/>
          </p:cNvSpPr>
          <p:nvPr>
            <p:ph type="ftr" sz="quarter" idx="11"/>
          </p:nvPr>
        </p:nvSpPr>
        <p:spPr>
          <a:ln/>
        </p:spPr>
        <p:txBody>
          <a:bodyPr/>
          <a:lstStyle>
            <a:lvl1pPr>
              <a:defRPr/>
            </a:lvl1pPr>
          </a:lstStyle>
          <a:p>
            <a:pPr>
              <a:defRPr/>
            </a:pPr>
            <a:endParaRPr lang="en-US"/>
          </a:p>
        </p:txBody>
      </p:sp>
      <p:sp>
        <p:nvSpPr>
          <p:cNvPr id="8" name="Rectangle 6"/>
          <p:cNvSpPr>
            <a:spLocks noGrp="1" noChangeArrowheads="1"/>
          </p:cNvSpPr>
          <p:nvPr>
            <p:ph type="sldNum" sz="quarter" idx="12"/>
          </p:nvPr>
        </p:nvSpPr>
        <p:spPr>
          <a:ln/>
        </p:spPr>
        <p:txBody>
          <a:bodyPr/>
          <a:lstStyle>
            <a:lvl1pPr>
              <a:defRPr/>
            </a:lvl1pPr>
          </a:lstStyle>
          <a:p>
            <a:pPr>
              <a:defRPr/>
            </a:pPr>
            <a:fld id="{A25454AC-C24E-455A-B2FE-658E4A7B77BA}" type="slidenum">
              <a:rPr lang="ar-SA" altLang="en-US"/>
              <a:pPr>
                <a:defRPr/>
              </a:pPr>
              <a:t>‹#›</a:t>
            </a:fld>
            <a:endParaRPr lang="en-US" altLang="en-US"/>
          </a:p>
        </p:txBody>
      </p:sp>
    </p:spTree>
    <p:extLst>
      <p:ext uri="{BB962C8B-B14F-4D97-AF65-F5344CB8AC3E}">
        <p14:creationId xmlns:p14="http://schemas.microsoft.com/office/powerpoint/2010/main" val="26897016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7813"/>
            <a:ext cx="8229600" cy="113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457200" y="1600200"/>
            <a:ext cx="82296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96260" name="Rectangle 4"/>
          <p:cNvSpPr>
            <a:spLocks noGrp="1" noChangeArrowheads="1"/>
          </p:cNvSpPr>
          <p:nvPr>
            <p:ph type="dt" sz="half" idx="2"/>
          </p:nvPr>
        </p:nvSpPr>
        <p:spPr bwMode="auto">
          <a:xfrm>
            <a:off x="457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000">
                <a:cs typeface="Arial" charset="0"/>
              </a:defRPr>
            </a:lvl1pPr>
          </a:lstStyle>
          <a:p>
            <a:pPr>
              <a:defRPr/>
            </a:pPr>
            <a:fld id="{97F3FF16-A966-4720-B871-21D0EBD4D873}" type="datetime1">
              <a:rPr lang="en-US"/>
              <a:pPr>
                <a:defRPr/>
              </a:pPr>
              <a:t>1/12/2026</a:t>
            </a:fld>
            <a:endParaRPr lang="en-US"/>
          </a:p>
        </p:txBody>
      </p:sp>
      <p:sp>
        <p:nvSpPr>
          <p:cNvPr id="96261"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000">
                <a:cs typeface="Arial" charset="0"/>
              </a:defRPr>
            </a:lvl1pPr>
          </a:lstStyle>
          <a:p>
            <a:pPr>
              <a:defRPr/>
            </a:pPr>
            <a:endParaRPr lang="en-US"/>
          </a:p>
        </p:txBody>
      </p:sp>
      <p:sp>
        <p:nvSpPr>
          <p:cNvPr id="96262" name="Rectangle 6"/>
          <p:cNvSpPr>
            <a:spLocks noGrp="1" noChangeArrowheads="1"/>
          </p:cNvSpPr>
          <p:nvPr>
            <p:ph type="sldNum" sz="quarter" idx="4"/>
          </p:nvPr>
        </p:nvSpPr>
        <p:spPr bwMode="auto">
          <a:xfrm>
            <a:off x="6553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000"/>
            </a:lvl1pPr>
          </a:lstStyle>
          <a:p>
            <a:pPr>
              <a:defRPr/>
            </a:pPr>
            <a:fld id="{AA6F67FD-1207-490D-809C-65CC19F8E7B4}" type="slidenum">
              <a:rPr lang="ar-SA" altLang="en-US"/>
              <a:pPr>
                <a:defRPr/>
              </a:pPr>
              <a:t>‹#›</a:t>
            </a:fld>
            <a:endParaRPr lang="en-US" altLang="en-US"/>
          </a:p>
        </p:txBody>
      </p:sp>
      <p:sp>
        <p:nvSpPr>
          <p:cNvPr id="1031" name="Rectangle 7"/>
          <p:cNvSpPr>
            <a:spLocks noChangeArrowheads="1"/>
          </p:cNvSpPr>
          <p:nvPr/>
        </p:nvSpPr>
        <p:spPr bwMode="auto">
          <a:xfrm>
            <a:off x="0" y="0"/>
            <a:ext cx="228600" cy="2286000"/>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lgn="ctr" eaLnBrk="1" hangingPunct="1">
              <a:defRPr/>
            </a:pPr>
            <a:endParaRPr lang="en-US" altLang="en-US" sz="2400">
              <a:latin typeface="Times New Roman" panose="02020603050405020304" pitchFamily="18" charset="0"/>
            </a:endParaRPr>
          </a:p>
        </p:txBody>
      </p:sp>
      <p:sp>
        <p:nvSpPr>
          <p:cNvPr id="1032" name="Line 8"/>
          <p:cNvSpPr>
            <a:spLocks noChangeShapeType="1"/>
          </p:cNvSpPr>
          <p:nvPr/>
        </p:nvSpPr>
        <p:spPr bwMode="auto">
          <a:xfrm>
            <a:off x="457200" y="1447800"/>
            <a:ext cx="8077200" cy="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3" name="Rectangle 9"/>
          <p:cNvSpPr>
            <a:spLocks noChangeArrowheads="1"/>
          </p:cNvSpPr>
          <p:nvPr/>
        </p:nvSpPr>
        <p:spPr bwMode="auto">
          <a:xfrm>
            <a:off x="0" y="2286000"/>
            <a:ext cx="228600" cy="228600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lgn="ctr" eaLnBrk="1" hangingPunct="1">
              <a:defRPr/>
            </a:pPr>
            <a:endParaRPr lang="en-US" altLang="en-US" sz="2400">
              <a:latin typeface="Times New Roman" panose="02020603050405020304" pitchFamily="18" charset="0"/>
            </a:endParaRPr>
          </a:p>
        </p:txBody>
      </p:sp>
      <p:sp>
        <p:nvSpPr>
          <p:cNvPr id="1034" name="Rectangle 10"/>
          <p:cNvSpPr>
            <a:spLocks noChangeArrowheads="1"/>
          </p:cNvSpPr>
          <p:nvPr/>
        </p:nvSpPr>
        <p:spPr bwMode="auto">
          <a:xfrm>
            <a:off x="0" y="4572000"/>
            <a:ext cx="228600" cy="2286000"/>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lgn="ctr" eaLnBrk="1" hangingPunct="1">
              <a:defRPr/>
            </a:pPr>
            <a:endParaRPr lang="en-US" altLang="en-US" sz="2400">
              <a:latin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804" r:id="rId1"/>
    <p:sldLayoutId id="2147483792" r:id="rId2"/>
    <p:sldLayoutId id="2147483793" r:id="rId3"/>
    <p:sldLayoutId id="2147483794" r:id="rId4"/>
    <p:sldLayoutId id="2147483795" r:id="rId5"/>
    <p:sldLayoutId id="2147483796" r:id="rId6"/>
    <p:sldLayoutId id="2147483797" r:id="rId7"/>
    <p:sldLayoutId id="2147483798" r:id="rId8"/>
    <p:sldLayoutId id="2147483799" r:id="rId9"/>
    <p:sldLayoutId id="2147483800" r:id="rId10"/>
    <p:sldLayoutId id="2147483801" r:id="rId11"/>
    <p:sldLayoutId id="2147483802" r:id="rId12"/>
    <p:sldLayoutId id="2147483803" r:id="rId13"/>
  </p:sldLayoutIdLst>
  <p:hf hdr="0" ftr="0" dt="0"/>
  <p:txStyles>
    <p:titleStyle>
      <a:lvl1pPr algn="l" rtl="0" eaLnBrk="1" fontAlgn="base" hangingPunct="1">
        <a:spcBef>
          <a:spcPct val="0"/>
        </a:spcBef>
        <a:spcAft>
          <a:spcPct val="0"/>
        </a:spcAft>
        <a:defRPr sz="4400">
          <a:solidFill>
            <a:schemeClr val="tx2"/>
          </a:solidFill>
          <a:latin typeface="+mj-lt"/>
          <a:ea typeface="+mj-ea"/>
          <a:cs typeface="+mj-cs"/>
        </a:defRPr>
      </a:lvl1pPr>
      <a:lvl2pPr algn="l" rtl="0" eaLnBrk="1" fontAlgn="base" hangingPunct="1">
        <a:spcBef>
          <a:spcPct val="0"/>
        </a:spcBef>
        <a:spcAft>
          <a:spcPct val="0"/>
        </a:spcAft>
        <a:defRPr sz="4400">
          <a:solidFill>
            <a:schemeClr val="tx2"/>
          </a:solidFill>
          <a:latin typeface="Garamond" pitchFamily="18" charset="0"/>
          <a:cs typeface="Arial" charset="0"/>
        </a:defRPr>
      </a:lvl2pPr>
      <a:lvl3pPr algn="l" rtl="0" eaLnBrk="1" fontAlgn="base" hangingPunct="1">
        <a:spcBef>
          <a:spcPct val="0"/>
        </a:spcBef>
        <a:spcAft>
          <a:spcPct val="0"/>
        </a:spcAft>
        <a:defRPr sz="4400">
          <a:solidFill>
            <a:schemeClr val="tx2"/>
          </a:solidFill>
          <a:latin typeface="Garamond" pitchFamily="18" charset="0"/>
          <a:cs typeface="Arial" charset="0"/>
        </a:defRPr>
      </a:lvl3pPr>
      <a:lvl4pPr algn="l" rtl="0" eaLnBrk="1" fontAlgn="base" hangingPunct="1">
        <a:spcBef>
          <a:spcPct val="0"/>
        </a:spcBef>
        <a:spcAft>
          <a:spcPct val="0"/>
        </a:spcAft>
        <a:defRPr sz="4400">
          <a:solidFill>
            <a:schemeClr val="tx2"/>
          </a:solidFill>
          <a:latin typeface="Garamond" pitchFamily="18" charset="0"/>
          <a:cs typeface="Arial" charset="0"/>
        </a:defRPr>
      </a:lvl4pPr>
      <a:lvl5pPr algn="l" rtl="0" eaLnBrk="1" fontAlgn="base" hangingPunct="1">
        <a:spcBef>
          <a:spcPct val="0"/>
        </a:spcBef>
        <a:spcAft>
          <a:spcPct val="0"/>
        </a:spcAft>
        <a:defRPr sz="4400">
          <a:solidFill>
            <a:schemeClr val="tx2"/>
          </a:solidFill>
          <a:latin typeface="Garamond" pitchFamily="18" charset="0"/>
          <a:cs typeface="Arial" charset="0"/>
        </a:defRPr>
      </a:lvl5pPr>
      <a:lvl6pPr marL="457200" algn="l" rtl="0" eaLnBrk="1" fontAlgn="base" hangingPunct="1">
        <a:spcBef>
          <a:spcPct val="0"/>
        </a:spcBef>
        <a:spcAft>
          <a:spcPct val="0"/>
        </a:spcAft>
        <a:defRPr sz="4400">
          <a:solidFill>
            <a:schemeClr val="tx2"/>
          </a:solidFill>
          <a:latin typeface="Garamond" pitchFamily="18" charset="0"/>
          <a:cs typeface="Arial" charset="0"/>
        </a:defRPr>
      </a:lvl6pPr>
      <a:lvl7pPr marL="914400" algn="l" rtl="0" eaLnBrk="1" fontAlgn="base" hangingPunct="1">
        <a:spcBef>
          <a:spcPct val="0"/>
        </a:spcBef>
        <a:spcAft>
          <a:spcPct val="0"/>
        </a:spcAft>
        <a:defRPr sz="4400">
          <a:solidFill>
            <a:schemeClr val="tx2"/>
          </a:solidFill>
          <a:latin typeface="Garamond" pitchFamily="18" charset="0"/>
          <a:cs typeface="Arial" charset="0"/>
        </a:defRPr>
      </a:lvl7pPr>
      <a:lvl8pPr marL="1371600" algn="l" rtl="0" eaLnBrk="1" fontAlgn="base" hangingPunct="1">
        <a:spcBef>
          <a:spcPct val="0"/>
        </a:spcBef>
        <a:spcAft>
          <a:spcPct val="0"/>
        </a:spcAft>
        <a:defRPr sz="4400">
          <a:solidFill>
            <a:schemeClr val="tx2"/>
          </a:solidFill>
          <a:latin typeface="Garamond" pitchFamily="18" charset="0"/>
          <a:cs typeface="Arial" charset="0"/>
        </a:defRPr>
      </a:lvl8pPr>
      <a:lvl9pPr marL="1828800" algn="l" rtl="0" eaLnBrk="1" fontAlgn="base" hangingPunct="1">
        <a:spcBef>
          <a:spcPct val="0"/>
        </a:spcBef>
        <a:spcAft>
          <a:spcPct val="0"/>
        </a:spcAft>
        <a:defRPr sz="4400">
          <a:solidFill>
            <a:schemeClr val="tx2"/>
          </a:solidFill>
          <a:latin typeface="Garamond" pitchFamily="18" charset="0"/>
          <a:cs typeface="Arial" charset="0"/>
        </a:defRPr>
      </a:lvl9pPr>
    </p:titleStyle>
    <p:body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
          <p:cNvSpPr txBox="1">
            <a:spLocks noChangeArrowheads="1"/>
          </p:cNvSpPr>
          <p:nvPr/>
        </p:nvSpPr>
        <p:spPr bwMode="auto">
          <a:xfrm>
            <a:off x="214064" y="116632"/>
            <a:ext cx="8534400" cy="2664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0" indent="0" algn="ctr" rtl="0" eaLnBrk="1" fontAlgn="base" hangingPunct="1">
              <a:spcBef>
                <a:spcPct val="20000"/>
              </a:spcBef>
              <a:spcAft>
                <a:spcPct val="0"/>
              </a:spcAft>
              <a:buClr>
                <a:schemeClr val="bg2"/>
              </a:buClr>
              <a:buSzPct val="75000"/>
              <a:buFont typeface="Wingdings" pitchFamily="2" charset="2"/>
              <a:buNone/>
              <a:defRPr sz="30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r>
              <a:rPr lang="en-GB" altLang="en-US" sz="5400" b="1" kern="0" dirty="0">
                <a:solidFill>
                  <a:schemeClr val="tx2"/>
                </a:solidFill>
                <a:latin typeface="Garamond" panose="02020404030301010803" pitchFamily="18" charset="0"/>
              </a:rPr>
              <a:t>ICT 201: </a:t>
            </a:r>
          </a:p>
          <a:p>
            <a:r>
              <a:rPr lang="en-US" altLang="en-US" sz="3600" b="1" kern="0" dirty="0">
                <a:solidFill>
                  <a:schemeClr val="tx2"/>
                </a:solidFill>
                <a:latin typeface="Garamond" panose="02020404030301010803" pitchFamily="18" charset="0"/>
              </a:rPr>
              <a:t>INTRODUCTION TO INFORMATION AND COMMUNICATION TECHNOLOGY</a:t>
            </a:r>
            <a:r>
              <a:rPr lang="en-US" altLang="en-US" sz="7200" b="1" kern="0" dirty="0">
                <a:solidFill>
                  <a:schemeClr val="tx2"/>
                </a:solidFill>
                <a:latin typeface="Garamond" panose="02020404030301010803" pitchFamily="18" charset="0"/>
              </a:rPr>
              <a:t/>
            </a:r>
            <a:br>
              <a:rPr lang="en-US" altLang="en-US" sz="7200" b="1" kern="0" dirty="0">
                <a:solidFill>
                  <a:schemeClr val="tx2"/>
                </a:solidFill>
                <a:latin typeface="Garamond" panose="02020404030301010803" pitchFamily="18" charset="0"/>
              </a:rPr>
            </a:br>
            <a:endParaRPr lang="en-US" altLang="en-US" sz="7200" b="1" kern="0" dirty="0">
              <a:latin typeface="Comic Sans MS" panose="030F0702030302020204" pitchFamily="66" charset="0"/>
              <a:ea typeface="MS PGothic" panose="020B0600070205080204" pitchFamily="34" charset="-128"/>
            </a:endParaRPr>
          </a:p>
          <a:p>
            <a:endParaRPr lang="en-US" altLang="en-US" sz="2700" kern="0" dirty="0">
              <a:latin typeface="Comic Sans MS" panose="030F0702030302020204" pitchFamily="66" charset="0"/>
              <a:ea typeface="MS PGothic" panose="020B0600070205080204" pitchFamily="34" charset="-128"/>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
          <p:cNvSpPr txBox="1">
            <a:spLocks noChangeArrowheads="1"/>
          </p:cNvSpPr>
          <p:nvPr/>
        </p:nvSpPr>
        <p:spPr bwMode="auto">
          <a:xfrm>
            <a:off x="214064" y="1844824"/>
            <a:ext cx="8534400" cy="936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0" indent="0" algn="ctr" rtl="0" eaLnBrk="1" fontAlgn="base" hangingPunct="1">
              <a:spcBef>
                <a:spcPct val="20000"/>
              </a:spcBef>
              <a:spcAft>
                <a:spcPct val="0"/>
              </a:spcAft>
              <a:buClr>
                <a:schemeClr val="bg2"/>
              </a:buClr>
              <a:buSzPct val="75000"/>
              <a:buFont typeface="Wingdings" pitchFamily="2" charset="2"/>
              <a:buNone/>
              <a:defRPr sz="30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r>
              <a:rPr lang="en-GB" altLang="en-US" sz="7000" b="1" kern="0" dirty="0">
                <a:solidFill>
                  <a:schemeClr val="tx2"/>
                </a:solidFill>
                <a:latin typeface="Garamond" panose="02020404030301010803" pitchFamily="18" charset="0"/>
              </a:rPr>
              <a:t>Lecturers/Instructors </a:t>
            </a:r>
            <a:endParaRPr lang="en-US" sz="7000" kern="0" dirty="0"/>
          </a:p>
        </p:txBody>
      </p:sp>
      <p:sp>
        <p:nvSpPr>
          <p:cNvPr id="4" name="Rectangle 10"/>
          <p:cNvSpPr>
            <a:spLocks noGrp="1" noChangeArrowheads="1"/>
          </p:cNvSpPr>
          <p:nvPr>
            <p:ph type="subTitle" idx="1"/>
          </p:nvPr>
        </p:nvSpPr>
        <p:spPr>
          <a:xfrm>
            <a:off x="251520" y="3192016"/>
            <a:ext cx="8659688" cy="3549352"/>
          </a:xfrm>
          <a:noFill/>
        </p:spPr>
        <p:txBody>
          <a:bodyPr/>
          <a:lstStyle/>
          <a:p>
            <a:r>
              <a:rPr lang="en-US" altLang="en-US" sz="4500" dirty="0">
                <a:latin typeface="Comic Sans MS" panose="030F0702030302020204" pitchFamily="66" charset="0"/>
              </a:rPr>
              <a:t>Dr. S. </a:t>
            </a:r>
            <a:r>
              <a:rPr lang="en-US" altLang="en-US" sz="4500" dirty="0" err="1">
                <a:latin typeface="Comic Sans MS" panose="030F0702030302020204" pitchFamily="66" charset="0"/>
              </a:rPr>
              <a:t>Akinboro</a:t>
            </a:r>
            <a:endParaRPr lang="en-US" altLang="en-US" sz="4500" dirty="0">
              <a:latin typeface="Comic Sans MS" panose="030F0702030302020204" pitchFamily="66" charset="0"/>
            </a:endParaRPr>
          </a:p>
          <a:p>
            <a:r>
              <a:rPr lang="en-US" altLang="en-US" sz="4500" dirty="0">
                <a:latin typeface="Comic Sans MS" panose="030F0702030302020204" pitchFamily="66" charset="0"/>
              </a:rPr>
              <a:t>Dr. </a:t>
            </a:r>
            <a:r>
              <a:rPr lang="en-US" altLang="en-US" sz="4500" dirty="0" err="1">
                <a:latin typeface="Comic Sans MS" panose="030F0702030302020204" pitchFamily="66" charset="0"/>
              </a:rPr>
              <a:t>Ufuoma</a:t>
            </a:r>
            <a:r>
              <a:rPr lang="en-US" altLang="en-US" sz="4500" dirty="0">
                <a:latin typeface="Comic Sans MS" panose="030F0702030302020204" pitchFamily="66" charset="0"/>
              </a:rPr>
              <a:t> C. </a:t>
            </a:r>
            <a:r>
              <a:rPr lang="en-US" altLang="en-US" sz="4500" dirty="0" err="1">
                <a:latin typeface="Comic Sans MS" panose="030F0702030302020204" pitchFamily="66" charset="0"/>
              </a:rPr>
              <a:t>Ogude</a:t>
            </a:r>
            <a:endParaRPr lang="en-US" altLang="en-US" sz="4500" dirty="0">
              <a:latin typeface="Comic Sans MS" panose="030F0702030302020204" pitchFamily="66" charset="0"/>
            </a:endParaRPr>
          </a:p>
          <a:p>
            <a:r>
              <a:rPr lang="en-GB" altLang="en-US" sz="4500" dirty="0">
                <a:latin typeface="Comic Sans MS" panose="030F0702030302020204" pitchFamily="66" charset="0"/>
                <a:ea typeface="MS PGothic" panose="020B0600070205080204" pitchFamily="34" charset="-128"/>
              </a:rPr>
              <a:t>0803 820 7103</a:t>
            </a:r>
            <a:endParaRPr lang="en-US" altLang="en-US" sz="4500" dirty="0">
              <a:latin typeface="Comic Sans MS" panose="030F0702030302020204" pitchFamily="66" charset="0"/>
              <a:ea typeface="MS PGothic" panose="020B0600070205080204" pitchFamily="34" charset="-128"/>
            </a:endParaRPr>
          </a:p>
          <a:p>
            <a:r>
              <a:rPr lang="en-US" sz="2200" dirty="0">
                <a:latin typeface="Comic Sans MS" panose="030F0702030302020204" pitchFamily="66" charset="0"/>
              </a:rPr>
              <a:t>	</a:t>
            </a:r>
          </a:p>
          <a:p>
            <a:pPr eaLnBrk="1" hangingPunct="1"/>
            <a:endParaRPr lang="en-US" altLang="en-US" sz="2700" dirty="0">
              <a:latin typeface="Comic Sans MS" panose="030F0702030302020204" pitchFamily="66" charset="0"/>
              <a:ea typeface="MS PGothic" panose="020B0600070205080204" pitchFamily="34" charset="-128"/>
            </a:endParaRPr>
          </a:p>
        </p:txBody>
      </p:sp>
    </p:spTree>
    <p:extLst>
      <p:ext uri="{BB962C8B-B14F-4D97-AF65-F5344CB8AC3E}">
        <p14:creationId xmlns:p14="http://schemas.microsoft.com/office/powerpoint/2010/main" val="33380011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a:lstStyle/>
          <a:p>
            <a:pPr algn="ctr"/>
            <a:r>
              <a:rPr lang="en-US" sz="8000" b="1" dirty="0"/>
              <a:t>Course Schedule</a:t>
            </a:r>
            <a:r>
              <a:rPr lang="en-US" sz="6600" b="1" dirty="0"/>
              <a:t> </a:t>
            </a:r>
            <a:endParaRPr lang="en-US" sz="6600" dirty="0"/>
          </a:p>
        </p:txBody>
      </p:sp>
      <p:sp>
        <p:nvSpPr>
          <p:cNvPr id="4" name="Rectangle 3"/>
          <p:cNvSpPr/>
          <p:nvPr/>
        </p:nvSpPr>
        <p:spPr>
          <a:xfrm>
            <a:off x="457200" y="1492181"/>
            <a:ext cx="8075240" cy="5681235"/>
          </a:xfrm>
          <a:prstGeom prst="rect">
            <a:avLst/>
          </a:prstGeom>
        </p:spPr>
        <p:txBody>
          <a:bodyPr wrap="square">
            <a:spAutoFit/>
          </a:bodyPr>
          <a:lstStyle/>
          <a:p>
            <a:pPr marL="355600" indent="-355600">
              <a:buFont typeface="Wingdings" panose="05000000000000000000" pitchFamily="2" charset="2"/>
              <a:buChar char="§"/>
            </a:pPr>
            <a:r>
              <a:rPr lang="en-GB" sz="1700" b="1" kern="0" dirty="0">
                <a:latin typeface="Comic Sans MS" panose="030F0702030302020204" pitchFamily="66" charset="0"/>
              </a:rPr>
              <a:t>Lecture Schedule:</a:t>
            </a:r>
          </a:p>
          <a:p>
            <a:pPr marL="1077913" lvl="1" indent="-354013">
              <a:lnSpc>
                <a:spcPct val="150000"/>
              </a:lnSpc>
              <a:buFont typeface="Wingdings" panose="05000000000000000000" pitchFamily="2" charset="2"/>
              <a:buChar char="Ø"/>
            </a:pPr>
            <a:r>
              <a:rPr lang="en-GB" sz="1700" b="1" kern="0" dirty="0">
                <a:latin typeface="Comic Sans MS" panose="030F0702030302020204" pitchFamily="66" charset="0"/>
              </a:rPr>
              <a:t>Mondays: </a:t>
            </a:r>
            <a:r>
              <a:rPr lang="en-GB" sz="1700" kern="0" dirty="0">
                <a:latin typeface="Comic Sans MS" panose="030F0702030302020204" pitchFamily="66" charset="0"/>
              </a:rPr>
              <a:t>8:00am - 10:00am</a:t>
            </a:r>
          </a:p>
          <a:p>
            <a:pPr marL="1077913" lvl="1" indent="-354013">
              <a:lnSpc>
                <a:spcPct val="150000"/>
              </a:lnSpc>
              <a:buFont typeface="Wingdings" panose="05000000000000000000" pitchFamily="2" charset="2"/>
              <a:buChar char="Ø"/>
            </a:pPr>
            <a:r>
              <a:rPr lang="en-GB" sz="1700" b="1" kern="0" dirty="0">
                <a:latin typeface="Comic Sans MS" panose="030F0702030302020204" pitchFamily="66" charset="0"/>
              </a:rPr>
              <a:t>Class Venue:</a:t>
            </a:r>
            <a:r>
              <a:rPr lang="en-GB" sz="1700" kern="0" dirty="0">
                <a:latin typeface="Comic Sans MS" panose="030F0702030302020204" pitchFamily="66" charset="0"/>
              </a:rPr>
              <a:t> </a:t>
            </a:r>
            <a:r>
              <a:rPr lang="en-GB" sz="1700" b="1" kern="0" dirty="0">
                <a:latin typeface="Comic Sans MS" panose="030F0702030302020204" pitchFamily="66" charset="0"/>
              </a:rPr>
              <a:t>Physical (Room S006) </a:t>
            </a:r>
            <a:endParaRPr lang="en-GB" sz="1700" b="1" kern="0" dirty="0" smtClean="0">
              <a:latin typeface="Comic Sans MS" panose="030F0702030302020204" pitchFamily="66" charset="0"/>
            </a:endParaRPr>
          </a:p>
          <a:p>
            <a:pPr marL="1077913" lvl="1" indent="-354013">
              <a:lnSpc>
                <a:spcPct val="150000"/>
              </a:lnSpc>
              <a:buFont typeface="Wingdings" panose="05000000000000000000" pitchFamily="2" charset="2"/>
              <a:buChar char="Ø"/>
            </a:pPr>
            <a:r>
              <a:rPr lang="en-GB" sz="1700" kern="0" dirty="0" smtClean="0">
                <a:latin typeface="Comic Sans MS" panose="030F0702030302020204" pitchFamily="66" charset="0"/>
              </a:rPr>
              <a:t>Please attend your lectures. Attendance is mandatory</a:t>
            </a:r>
          </a:p>
          <a:p>
            <a:pPr marL="357188" lvl="1" indent="-357188">
              <a:buFont typeface="Wingdings" panose="05000000000000000000" pitchFamily="2" charset="2"/>
              <a:buChar char="§"/>
            </a:pPr>
            <a:r>
              <a:rPr lang="en-US" sz="1700" b="1" kern="0" dirty="0" smtClean="0">
                <a:latin typeface="Comic Sans MS" panose="030F0702030302020204" pitchFamily="66" charset="0"/>
              </a:rPr>
              <a:t>Classroom </a:t>
            </a:r>
            <a:r>
              <a:rPr lang="en-US" sz="1700" b="1" kern="0" dirty="0">
                <a:latin typeface="Comic Sans MS" panose="030F0702030302020204" pitchFamily="66" charset="0"/>
              </a:rPr>
              <a:t>Policy</a:t>
            </a:r>
          </a:p>
          <a:p>
            <a:pPr marL="1077913" lvl="1" indent="-354013">
              <a:lnSpc>
                <a:spcPct val="150000"/>
              </a:lnSpc>
              <a:buFont typeface="Wingdings" panose="05000000000000000000" pitchFamily="2" charset="2"/>
              <a:buChar char="Ø"/>
            </a:pPr>
            <a:r>
              <a:rPr lang="en-US" sz="1700" kern="0" dirty="0">
                <a:latin typeface="Comic Sans MS" panose="030F0702030302020204" pitchFamily="66" charset="0"/>
              </a:rPr>
              <a:t>Review recommended material before coming to class</a:t>
            </a:r>
          </a:p>
          <a:p>
            <a:pPr marL="1077913" lvl="1" indent="-354013">
              <a:lnSpc>
                <a:spcPct val="150000"/>
              </a:lnSpc>
              <a:buFont typeface="Wingdings" panose="05000000000000000000" pitchFamily="2" charset="2"/>
              <a:buChar char="Ø"/>
            </a:pPr>
            <a:r>
              <a:rPr lang="en-US" sz="1700" kern="0" dirty="0">
                <a:latin typeface="Comic Sans MS" panose="030F0702030302020204" pitchFamily="66" charset="0"/>
              </a:rPr>
              <a:t>Must be on time</a:t>
            </a:r>
          </a:p>
          <a:p>
            <a:pPr marL="1077913" lvl="1" indent="-354013">
              <a:lnSpc>
                <a:spcPct val="150000"/>
              </a:lnSpc>
              <a:buFont typeface="Wingdings" panose="05000000000000000000" pitchFamily="2" charset="2"/>
              <a:buChar char="Ø"/>
            </a:pPr>
            <a:r>
              <a:rPr lang="en-US" sz="1700" kern="0" dirty="0">
                <a:latin typeface="Comic Sans MS" panose="030F0702030302020204" pitchFamily="66" charset="0"/>
              </a:rPr>
              <a:t>Turn off cell phones</a:t>
            </a:r>
            <a:endParaRPr lang="en-GB" sz="1700" kern="0" dirty="0">
              <a:latin typeface="Comic Sans MS" panose="030F0702030302020204" pitchFamily="66" charset="0"/>
            </a:endParaRPr>
          </a:p>
          <a:p>
            <a:pPr marL="357188" indent="-357188" eaLnBrk="1" hangingPunct="1">
              <a:buFont typeface="Wingdings" panose="05000000000000000000" pitchFamily="2" charset="2"/>
              <a:buChar char="§"/>
              <a:tabLst>
                <a:tab pos="271463" algn="l"/>
              </a:tabLst>
              <a:defRPr/>
            </a:pPr>
            <a:r>
              <a:rPr lang="en-US" sz="1700" b="1" dirty="0">
                <a:latin typeface="Comic Sans MS" pitchFamily="66" charset="0"/>
                <a:ea typeface="ＭＳ Ｐゴシック" pitchFamily="34" charset="-128"/>
              </a:rPr>
              <a:t>Expectations  </a:t>
            </a:r>
          </a:p>
          <a:p>
            <a:pPr marL="1071563" indent="-357188">
              <a:lnSpc>
                <a:spcPct val="150000"/>
              </a:lnSpc>
              <a:buFont typeface="Wingdings" panose="05000000000000000000" pitchFamily="2" charset="2"/>
              <a:buChar char="Ø"/>
              <a:defRPr/>
            </a:pPr>
            <a:r>
              <a:rPr lang="en-US" sz="1700" dirty="0">
                <a:latin typeface="Comic Sans MS" panose="030F0702030302020204" pitchFamily="66" charset="0"/>
              </a:rPr>
              <a:t>Read assigned readings</a:t>
            </a:r>
          </a:p>
          <a:p>
            <a:pPr marL="1071563" indent="-357188">
              <a:lnSpc>
                <a:spcPct val="150000"/>
              </a:lnSpc>
              <a:buFont typeface="Wingdings" panose="05000000000000000000" pitchFamily="2" charset="2"/>
              <a:buChar char="Ø"/>
              <a:defRPr/>
            </a:pPr>
            <a:r>
              <a:rPr lang="en-US" sz="1700" dirty="0">
                <a:latin typeface="Comic Sans MS" panose="030F0702030302020204" pitchFamily="66" charset="0"/>
              </a:rPr>
              <a:t>Attend lectures and participate in discussions</a:t>
            </a:r>
          </a:p>
          <a:p>
            <a:pPr marL="1071563" indent="-357188">
              <a:lnSpc>
                <a:spcPct val="150000"/>
              </a:lnSpc>
              <a:buFont typeface="Wingdings" panose="05000000000000000000" pitchFamily="2" charset="2"/>
              <a:buChar char="Ø"/>
              <a:defRPr/>
            </a:pPr>
            <a:r>
              <a:rPr lang="en-GB" sz="1700" dirty="0">
                <a:latin typeface="Comic Sans MS" panose="030F0702030302020204" pitchFamily="66" charset="0"/>
              </a:rPr>
              <a:t>Bring your ideas and concerns to class</a:t>
            </a:r>
          </a:p>
          <a:p>
            <a:pPr marL="1071563" indent="-357188">
              <a:lnSpc>
                <a:spcPct val="150000"/>
              </a:lnSpc>
              <a:buFont typeface="Wingdings" panose="05000000000000000000" pitchFamily="2" charset="2"/>
              <a:buChar char="Ø"/>
              <a:defRPr/>
            </a:pPr>
            <a:r>
              <a:rPr lang="en-GB" sz="1700" dirty="0">
                <a:latin typeface="Comic Sans MS" panose="030F0702030302020204" pitchFamily="66" charset="0"/>
              </a:rPr>
              <a:t>Work effectively in a group setting</a:t>
            </a:r>
          </a:p>
          <a:p>
            <a:pPr marL="1071563" indent="-357188">
              <a:lnSpc>
                <a:spcPct val="150000"/>
              </a:lnSpc>
              <a:buFont typeface="Wingdings" panose="05000000000000000000" pitchFamily="2" charset="2"/>
              <a:buChar char="Ø"/>
              <a:defRPr/>
            </a:pPr>
            <a:r>
              <a:rPr lang="en-GB" sz="1700" dirty="0">
                <a:latin typeface="Comic Sans MS" panose="030F0702030302020204" pitchFamily="66" charset="0"/>
              </a:rPr>
              <a:t>Learn how to use the tools and understand your project very well when necessary </a:t>
            </a:r>
            <a:endParaRPr lang="en-US" sz="1700" dirty="0">
              <a:solidFill>
                <a:srgbClr val="663300"/>
              </a:solidFill>
              <a:latin typeface="Comic Sans MS" pitchFamily="66" charset="0"/>
              <a:ea typeface="ＭＳ Ｐゴシック" pitchFamily="34" charset="-128"/>
            </a:endParaRPr>
          </a:p>
        </p:txBody>
      </p:sp>
    </p:spTree>
    <p:extLst>
      <p:ext uri="{BB962C8B-B14F-4D97-AF65-F5344CB8AC3E}">
        <p14:creationId xmlns:p14="http://schemas.microsoft.com/office/powerpoint/2010/main" val="17225189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a:lstStyle/>
          <a:p>
            <a:pPr algn="ctr"/>
            <a:r>
              <a:rPr lang="en-US" sz="7000" b="1" dirty="0"/>
              <a:t>Learning Outcomes</a:t>
            </a:r>
            <a:endParaRPr lang="en-US" sz="7000" dirty="0"/>
          </a:p>
        </p:txBody>
      </p:sp>
      <p:sp>
        <p:nvSpPr>
          <p:cNvPr id="4" name="Rectangle 3"/>
          <p:cNvSpPr/>
          <p:nvPr/>
        </p:nvSpPr>
        <p:spPr>
          <a:xfrm>
            <a:off x="457200" y="1484784"/>
            <a:ext cx="8229600" cy="4657942"/>
          </a:xfrm>
          <a:prstGeom prst="rect">
            <a:avLst/>
          </a:prstGeom>
        </p:spPr>
        <p:txBody>
          <a:bodyPr wrap="square">
            <a:spAutoFit/>
          </a:bodyPr>
          <a:lstStyle/>
          <a:p>
            <a:pPr algn="just">
              <a:lnSpc>
                <a:spcPct val="150000"/>
              </a:lnSpc>
            </a:pPr>
            <a:r>
              <a:rPr lang="en-US" sz="2000" dirty="0">
                <a:latin typeface="Comic Sans MS" panose="030F0702030302020204" pitchFamily="66" charset="0"/>
              </a:rPr>
              <a:t>At the end of the course, students should be able to:</a:t>
            </a:r>
          </a:p>
          <a:p>
            <a:pPr marL="714375" indent="-357188" algn="just">
              <a:lnSpc>
                <a:spcPct val="150000"/>
              </a:lnSpc>
            </a:pPr>
            <a:r>
              <a:rPr lang="en-US" sz="2000" dirty="0">
                <a:latin typeface="Comic Sans MS" panose="030F0702030302020204" pitchFamily="66" charset="0"/>
              </a:rPr>
              <a:t>1. Identify components of the computer and know-how the components communicate;</a:t>
            </a:r>
          </a:p>
          <a:p>
            <a:pPr marL="714375" indent="-357188" algn="just">
              <a:lnSpc>
                <a:spcPct val="150000"/>
              </a:lnSpc>
            </a:pPr>
            <a:r>
              <a:rPr lang="en-US" sz="2000" dirty="0">
                <a:latin typeface="Comic Sans MS" panose="030F0702030302020204" pitchFamily="66" charset="0"/>
              </a:rPr>
              <a:t>2. Know the concept of data transfer and memory types and management;</a:t>
            </a:r>
          </a:p>
          <a:p>
            <a:pPr marL="714375" indent="-357188" algn="just">
              <a:lnSpc>
                <a:spcPct val="150000"/>
              </a:lnSpc>
            </a:pPr>
            <a:r>
              <a:rPr lang="en-US" sz="2000" dirty="0">
                <a:latin typeface="Comic Sans MS" panose="030F0702030302020204" pitchFamily="66" charset="0"/>
              </a:rPr>
              <a:t>3. Be comfortable with graphics processing;</a:t>
            </a:r>
          </a:p>
          <a:p>
            <a:pPr marL="714375" indent="-357188" algn="just">
              <a:lnSpc>
                <a:spcPct val="150000"/>
              </a:lnSpc>
            </a:pPr>
            <a:r>
              <a:rPr lang="en-US" sz="2000" dirty="0">
                <a:latin typeface="Comic Sans MS" panose="030F0702030302020204" pitchFamily="66" charset="0"/>
              </a:rPr>
              <a:t>4. Identify and be able to use different communication ports;</a:t>
            </a:r>
          </a:p>
          <a:p>
            <a:pPr marL="714375" indent="-357188" algn="just">
              <a:lnSpc>
                <a:spcPct val="150000"/>
              </a:lnSpc>
            </a:pPr>
            <a:r>
              <a:rPr lang="en-US" sz="2000" dirty="0">
                <a:latin typeface="Comic Sans MS" panose="030F0702030302020204" pitchFamily="66" charset="0"/>
              </a:rPr>
              <a:t>5. Know the software types;</a:t>
            </a:r>
          </a:p>
          <a:p>
            <a:pPr marL="714375" indent="-357188" algn="just">
              <a:lnSpc>
                <a:spcPct val="150000"/>
              </a:lnSpc>
            </a:pPr>
            <a:r>
              <a:rPr lang="en-US" sz="2000" dirty="0">
                <a:latin typeface="Comic Sans MS" panose="030F0702030302020204" pitchFamily="66" charset="0"/>
              </a:rPr>
              <a:t>6. State different computer network topologies and their sizes; </a:t>
            </a:r>
          </a:p>
          <a:p>
            <a:pPr marL="714375" indent="-357188" algn="just">
              <a:lnSpc>
                <a:spcPct val="150000"/>
              </a:lnSpc>
            </a:pPr>
            <a:r>
              <a:rPr lang="en-US" sz="2000" dirty="0">
                <a:latin typeface="Comic Sans MS" panose="030F0702030302020204" pitchFamily="66" charset="0"/>
              </a:rPr>
              <a:t>7. Be able to use office applications and the internet.</a:t>
            </a:r>
          </a:p>
        </p:txBody>
      </p:sp>
    </p:spTree>
    <p:extLst>
      <p:ext uri="{BB962C8B-B14F-4D97-AF65-F5344CB8AC3E}">
        <p14:creationId xmlns:p14="http://schemas.microsoft.com/office/powerpoint/2010/main" val="30433645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a:xfrm>
            <a:off x="457200" y="404664"/>
            <a:ext cx="8229600" cy="1012974"/>
          </a:xfrm>
        </p:spPr>
        <p:txBody>
          <a:bodyPr/>
          <a:lstStyle/>
          <a:p>
            <a:pPr algn="ctr"/>
            <a:r>
              <a:rPr lang="en-US" sz="8000" b="1" dirty="0"/>
              <a:t>Course Contents</a:t>
            </a:r>
            <a:endParaRPr lang="en-US" sz="8000" dirty="0"/>
          </a:p>
        </p:txBody>
      </p:sp>
      <p:sp>
        <p:nvSpPr>
          <p:cNvPr id="4" name="Rectangle 3"/>
          <p:cNvSpPr/>
          <p:nvPr/>
        </p:nvSpPr>
        <p:spPr>
          <a:xfrm>
            <a:off x="539552" y="1340768"/>
            <a:ext cx="7920880" cy="5551713"/>
          </a:xfrm>
          <a:prstGeom prst="rect">
            <a:avLst/>
          </a:prstGeom>
        </p:spPr>
        <p:txBody>
          <a:bodyPr wrap="square">
            <a:spAutoFit/>
          </a:bodyPr>
          <a:lstStyle/>
          <a:p>
            <a:pPr algn="just">
              <a:lnSpc>
                <a:spcPct val="200000"/>
              </a:lnSpc>
            </a:pPr>
            <a:r>
              <a:rPr lang="en-US" dirty="0">
                <a:latin typeface="Comic Sans MS" panose="030F0702030302020204" pitchFamily="66" charset="0"/>
              </a:rPr>
              <a:t>Basic principle of computers. Computer "backbone".  Data transmission. Random Access Memory. Permanent Memory. Graphic processing. Communication Ports. Input and Output Devices. Software types. Accessibility options. Computer types. Portable digital devices. Network Types. Internet. Instant messaging. Voice over Internet Protocol. Really Simple Syndication. Network communication. Internet data transfer. Data rate units. Internet access. Virtual (online) communities. Computer in the workplace. Office Applications (word processing, spreadsheets, presentation, etc.). Other well-known applications. Telecommuting (telework).</a:t>
            </a:r>
          </a:p>
        </p:txBody>
      </p:sp>
    </p:spTree>
    <p:extLst>
      <p:ext uri="{BB962C8B-B14F-4D97-AF65-F5344CB8AC3E}">
        <p14:creationId xmlns:p14="http://schemas.microsoft.com/office/powerpoint/2010/main" val="34421755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a:lstStyle/>
          <a:p>
            <a:pPr algn="ctr"/>
            <a:r>
              <a:rPr lang="en-US" sz="8000" b="1" dirty="0"/>
              <a:t>Course Module</a:t>
            </a:r>
            <a:endParaRPr lang="en-US" sz="8000" dirty="0"/>
          </a:p>
        </p:txBody>
      </p:sp>
      <p:sp>
        <p:nvSpPr>
          <p:cNvPr id="4" name="Rectangle 3"/>
          <p:cNvSpPr/>
          <p:nvPr/>
        </p:nvSpPr>
        <p:spPr>
          <a:xfrm>
            <a:off x="457200" y="1484784"/>
            <a:ext cx="8003232" cy="5047536"/>
          </a:xfrm>
          <a:prstGeom prst="rect">
            <a:avLst/>
          </a:prstGeom>
        </p:spPr>
        <p:txBody>
          <a:bodyPr wrap="square">
            <a:spAutoFit/>
          </a:bodyPr>
          <a:lstStyle/>
          <a:p>
            <a:pPr marL="342900" indent="-342900" algn="just">
              <a:buFont typeface="Wingdings" panose="05000000000000000000" pitchFamily="2" charset="2"/>
              <a:buChar char="Ø"/>
            </a:pPr>
            <a:r>
              <a:rPr lang="en-US" sz="1700" b="1" dirty="0">
                <a:latin typeface="Comic Sans MS" panose="030F0702030302020204" pitchFamily="66" charset="0"/>
              </a:rPr>
              <a:t>Module 1 Introduction to Information Communication Technology</a:t>
            </a:r>
          </a:p>
          <a:p>
            <a:pPr marL="714375" indent="-342900" algn="just">
              <a:buFont typeface="Wingdings" panose="05000000000000000000" pitchFamily="2" charset="2"/>
              <a:buChar char="§"/>
            </a:pPr>
            <a:r>
              <a:rPr lang="en-US" sz="1600" dirty="0">
                <a:latin typeface="Comic Sans MS" panose="030F0702030302020204" pitchFamily="66" charset="0"/>
              </a:rPr>
              <a:t>Unit 1: Information Communication Technology: Principles, Practices, and Opportunities.</a:t>
            </a:r>
          </a:p>
          <a:p>
            <a:pPr marL="714375" indent="-342900" algn="just">
              <a:buFont typeface="Wingdings" panose="05000000000000000000" pitchFamily="2" charset="2"/>
              <a:buChar char="§"/>
            </a:pPr>
            <a:r>
              <a:rPr lang="en-US" sz="1600" dirty="0">
                <a:latin typeface="Comic Sans MS" panose="030F0702030302020204" pitchFamily="66" charset="0"/>
              </a:rPr>
              <a:t>Unit 2: Essentials of Computing</a:t>
            </a:r>
          </a:p>
          <a:p>
            <a:pPr marL="714375" indent="-342900" algn="just">
              <a:buFont typeface="Wingdings" panose="05000000000000000000" pitchFamily="2" charset="2"/>
              <a:buChar char="§"/>
            </a:pPr>
            <a:r>
              <a:rPr lang="en-US" sz="1600" dirty="0">
                <a:latin typeface="Comic Sans MS" panose="030F0702030302020204" pitchFamily="66" charset="0"/>
              </a:rPr>
              <a:t>Unit 3: The System Unit and the Central Processing Unit</a:t>
            </a:r>
          </a:p>
          <a:p>
            <a:pPr marL="714375" indent="-342900" algn="just">
              <a:buFont typeface="Wingdings" panose="05000000000000000000" pitchFamily="2" charset="2"/>
              <a:buChar char="§"/>
            </a:pPr>
            <a:r>
              <a:rPr lang="en-US" sz="1600" dirty="0">
                <a:latin typeface="Comic Sans MS" panose="030F0702030302020204" pitchFamily="66" charset="0"/>
              </a:rPr>
              <a:t>Unit 4: Input Devices, Output Devices and Storage Devices and Memory</a:t>
            </a:r>
          </a:p>
          <a:p>
            <a:pPr marL="714375" indent="-342900" algn="just">
              <a:buFont typeface="Wingdings" panose="05000000000000000000" pitchFamily="2" charset="2"/>
              <a:buChar char="§"/>
            </a:pPr>
            <a:endParaRPr lang="en-US" sz="1600" dirty="0">
              <a:latin typeface="Comic Sans MS" panose="030F0702030302020204" pitchFamily="66" charset="0"/>
            </a:endParaRPr>
          </a:p>
          <a:p>
            <a:pPr marL="342900" indent="-342900" algn="just">
              <a:buFont typeface="Wingdings" panose="05000000000000000000" pitchFamily="2" charset="2"/>
              <a:buChar char="Ø"/>
            </a:pPr>
            <a:r>
              <a:rPr lang="en-US" sz="1700" b="1" dirty="0">
                <a:latin typeface="Comic Sans MS" panose="030F0702030302020204" pitchFamily="66" charset="0"/>
              </a:rPr>
              <a:t>Module 2 Computer Networks, Distributed Networks and the Internet</a:t>
            </a:r>
          </a:p>
          <a:p>
            <a:pPr marL="714375" indent="-342900" algn="just">
              <a:buFont typeface="Wingdings" panose="05000000000000000000" pitchFamily="2" charset="2"/>
              <a:buChar char="§"/>
            </a:pPr>
            <a:r>
              <a:rPr lang="en-US" sz="1600" dirty="0">
                <a:latin typeface="Comic Sans MS" panose="030F0702030302020204" pitchFamily="66" charset="0"/>
              </a:rPr>
              <a:t>Unit 5: Computer Networks, Networking Technologies and Communications Networks</a:t>
            </a:r>
          </a:p>
          <a:p>
            <a:pPr marL="714375" indent="-342900" algn="just">
              <a:buFont typeface="Wingdings" panose="05000000000000000000" pitchFamily="2" charset="2"/>
              <a:buChar char="§"/>
            </a:pPr>
            <a:r>
              <a:rPr lang="en-US" sz="1600" dirty="0">
                <a:latin typeface="Comic Sans MS" panose="030F0702030302020204" pitchFamily="66" charset="0"/>
              </a:rPr>
              <a:t>Unit 6: Enterprise and Wireless Communications Networks</a:t>
            </a:r>
          </a:p>
          <a:p>
            <a:pPr marL="714375" indent="-342900" algn="just">
              <a:buFont typeface="Wingdings" panose="05000000000000000000" pitchFamily="2" charset="2"/>
              <a:buChar char="§"/>
            </a:pPr>
            <a:r>
              <a:rPr lang="en-US" sz="1600" dirty="0">
                <a:latin typeface="Comic Sans MS" panose="030F0702030302020204" pitchFamily="66" charset="0"/>
              </a:rPr>
              <a:t>Unit 7: Essentials of the Internet and World Wide Web</a:t>
            </a:r>
          </a:p>
          <a:p>
            <a:pPr marL="714375" indent="-342900" algn="just">
              <a:buFont typeface="Wingdings" panose="05000000000000000000" pitchFamily="2" charset="2"/>
              <a:buChar char="§"/>
            </a:pPr>
            <a:r>
              <a:rPr lang="en-US" sz="1600" dirty="0">
                <a:latin typeface="Comic Sans MS" panose="030F0702030302020204" pitchFamily="66" charset="0"/>
              </a:rPr>
              <a:t>Unit 8: Electronic Commerce and Electronic Business</a:t>
            </a:r>
          </a:p>
          <a:p>
            <a:pPr marL="714375" indent="-342900" algn="just">
              <a:buFont typeface="Wingdings" panose="05000000000000000000" pitchFamily="2" charset="2"/>
              <a:buChar char="§"/>
            </a:pPr>
            <a:r>
              <a:rPr lang="en-US" sz="1600" dirty="0">
                <a:latin typeface="Comic Sans MS" panose="030F0702030302020204" pitchFamily="66" charset="0"/>
              </a:rPr>
              <a:t>Unit 9: Launching Information Technology Applications Projects</a:t>
            </a:r>
          </a:p>
          <a:p>
            <a:pPr marL="342900" indent="-342900" algn="just">
              <a:buFont typeface="Wingdings" panose="05000000000000000000" pitchFamily="2" charset="2"/>
              <a:buChar char="Ø"/>
            </a:pPr>
            <a:endParaRPr lang="en-US" sz="1600" dirty="0">
              <a:latin typeface="Comic Sans MS" panose="030F0702030302020204" pitchFamily="66" charset="0"/>
            </a:endParaRPr>
          </a:p>
          <a:p>
            <a:pPr marL="342900" indent="-342900" algn="just">
              <a:buFont typeface="Wingdings" panose="05000000000000000000" pitchFamily="2" charset="2"/>
              <a:buChar char="Ø"/>
            </a:pPr>
            <a:r>
              <a:rPr lang="en-US" sz="1700" b="1" dirty="0">
                <a:latin typeface="Comic Sans MS" panose="030F0702030302020204" pitchFamily="66" charset="0"/>
              </a:rPr>
              <a:t>Module 3 Managing Information and Communication Technology Applications in the Enterprise.</a:t>
            </a:r>
          </a:p>
          <a:p>
            <a:pPr marL="714375" indent="-342900" algn="just">
              <a:buFont typeface="Wingdings" panose="05000000000000000000" pitchFamily="2" charset="2"/>
              <a:buChar char="§"/>
            </a:pPr>
            <a:r>
              <a:rPr lang="en-US" sz="1600" dirty="0">
                <a:latin typeface="Comic Sans MS" panose="030F0702030302020204" pitchFamily="66" charset="0"/>
              </a:rPr>
              <a:t>Unit 10: Creating Enterprise Applications and Project Management</a:t>
            </a:r>
          </a:p>
          <a:p>
            <a:pPr marL="714375" indent="-342900" algn="just">
              <a:buFont typeface="Wingdings" panose="05000000000000000000" pitchFamily="2" charset="2"/>
              <a:buChar char="§"/>
            </a:pPr>
            <a:r>
              <a:rPr lang="en-US" sz="1600" dirty="0">
                <a:latin typeface="Comic Sans MS" panose="030F0702030302020204" pitchFamily="66" charset="0"/>
              </a:rPr>
              <a:t>Unit 11: Web Based Application and Information Systems in the Enterprise</a:t>
            </a:r>
          </a:p>
          <a:p>
            <a:pPr marL="714375" indent="-342900" algn="just">
              <a:buFont typeface="Wingdings" panose="05000000000000000000" pitchFamily="2" charset="2"/>
              <a:buChar char="§"/>
            </a:pPr>
            <a:r>
              <a:rPr lang="en-US" sz="1600" dirty="0">
                <a:latin typeface="Comic Sans MS" panose="030F0702030302020204" pitchFamily="66" charset="0"/>
              </a:rPr>
              <a:t>Unit 12: Issues in Information Technology and Careers in ICT</a:t>
            </a:r>
            <a:endParaRPr lang="en-US" sz="1600" b="1" dirty="0">
              <a:latin typeface="Comic Sans MS" panose="030F0702030302020204" pitchFamily="66" charset="0"/>
            </a:endParaRPr>
          </a:p>
        </p:txBody>
      </p:sp>
    </p:spTree>
    <p:extLst>
      <p:ext uri="{BB962C8B-B14F-4D97-AF65-F5344CB8AC3E}">
        <p14:creationId xmlns:p14="http://schemas.microsoft.com/office/powerpoint/2010/main" val="31247745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a:lstStyle/>
          <a:p>
            <a:pPr algn="ctr"/>
            <a:r>
              <a:rPr lang="en-US" sz="8000" b="1" dirty="0"/>
              <a:t>Course Outline</a:t>
            </a:r>
            <a:endParaRPr lang="en-US" sz="8000" dirty="0"/>
          </a:p>
        </p:txBody>
      </p:sp>
      <p:sp>
        <p:nvSpPr>
          <p:cNvPr id="4" name="Rectangle 3"/>
          <p:cNvSpPr/>
          <p:nvPr/>
        </p:nvSpPr>
        <p:spPr>
          <a:xfrm>
            <a:off x="457200" y="1493585"/>
            <a:ext cx="8229600" cy="5247783"/>
          </a:xfrm>
          <a:prstGeom prst="rect">
            <a:avLst/>
          </a:prstGeom>
        </p:spPr>
        <p:txBody>
          <a:bodyPr wrap="square">
            <a:spAutoFit/>
          </a:bodyPr>
          <a:lstStyle/>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1: Information Communication Technology: Principles, Practices, and Opportunities.</a:t>
            </a:r>
          </a:p>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2: Essentials of Computing</a:t>
            </a:r>
          </a:p>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3: The System Unit and the Central Processing Unit</a:t>
            </a:r>
          </a:p>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4: Input Devices, Output Devices and Storage Devices and Memory</a:t>
            </a:r>
          </a:p>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5: Computer Networks, Networking Technologies and Communications Networks</a:t>
            </a:r>
          </a:p>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6: Enterprise and Wireless Communications Networks</a:t>
            </a:r>
          </a:p>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7: Essentials of the Internet and World Wide Web</a:t>
            </a:r>
          </a:p>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8: Electronic Commerce and Electronic Business</a:t>
            </a:r>
          </a:p>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9: Launching Information Technology Applications Projects</a:t>
            </a:r>
          </a:p>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10: Creating Enterprise Applications and Project Management</a:t>
            </a:r>
          </a:p>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11: Web Based Application and Information Systems in the Enterprise</a:t>
            </a:r>
          </a:p>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12: Issues in Information Technology and Careers in ICT</a:t>
            </a:r>
          </a:p>
          <a:p>
            <a:pPr marL="342900" indent="-342900">
              <a:lnSpc>
                <a:spcPct val="150000"/>
              </a:lnSpc>
              <a:buFont typeface="Wingdings" panose="05000000000000000000" pitchFamily="2" charset="2"/>
              <a:buChar char="Ø"/>
            </a:pPr>
            <a:r>
              <a:rPr lang="en-US" sz="1500" b="1" dirty="0">
                <a:latin typeface="Comic Sans MS" panose="030F0702030302020204" pitchFamily="66" charset="0"/>
              </a:rPr>
              <a:t>Week 13: Continuous Assessment</a:t>
            </a:r>
          </a:p>
          <a:p>
            <a:pPr marL="342900" indent="-342900">
              <a:lnSpc>
                <a:spcPct val="150000"/>
              </a:lnSpc>
              <a:buFont typeface="Wingdings" panose="05000000000000000000" pitchFamily="2" charset="2"/>
              <a:buChar char="Ø"/>
            </a:pPr>
            <a:r>
              <a:rPr lang="en-US" sz="1500" b="1" dirty="0">
                <a:latin typeface="Comic Sans MS" panose="030F0702030302020204" pitchFamily="66" charset="0"/>
              </a:rPr>
              <a:t>Week 14: Examination   </a:t>
            </a:r>
          </a:p>
        </p:txBody>
      </p:sp>
    </p:spTree>
    <p:extLst>
      <p:ext uri="{BB962C8B-B14F-4D97-AF65-F5344CB8AC3E}">
        <p14:creationId xmlns:p14="http://schemas.microsoft.com/office/powerpoint/2010/main" val="25253207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a:lstStyle/>
          <a:p>
            <a:pPr algn="ctr"/>
            <a:r>
              <a:rPr lang="en-US" sz="6600" b="1" dirty="0"/>
              <a:t>Books and References</a:t>
            </a:r>
            <a:endParaRPr lang="en-US" sz="6600" dirty="0"/>
          </a:p>
        </p:txBody>
      </p:sp>
      <p:sp>
        <p:nvSpPr>
          <p:cNvPr id="4" name="Rectangle 3"/>
          <p:cNvSpPr/>
          <p:nvPr/>
        </p:nvSpPr>
        <p:spPr>
          <a:xfrm>
            <a:off x="457199" y="1538010"/>
            <a:ext cx="8043863" cy="4555286"/>
          </a:xfrm>
          <a:prstGeom prst="rect">
            <a:avLst/>
          </a:prstGeom>
        </p:spPr>
        <p:txBody>
          <a:bodyPr wrap="square">
            <a:spAutoFit/>
          </a:bodyPr>
          <a:lstStyle/>
          <a:p>
            <a:pPr marL="536575" indent="-361950" algn="just">
              <a:lnSpc>
                <a:spcPct val="150000"/>
              </a:lnSpc>
              <a:buFont typeface="Wingdings" pitchFamily="2" charset="2"/>
              <a:buChar char="§"/>
              <a:defRPr/>
            </a:pPr>
            <a:r>
              <a:rPr lang="en-US" sz="1500" dirty="0">
                <a:latin typeface="Comic Sans MS" panose="030F0702030302020204" pitchFamily="66" charset="0"/>
              </a:rPr>
              <a:t>Use and Effects By: Harry </a:t>
            </a:r>
            <a:r>
              <a:rPr lang="en-US" sz="1500" dirty="0" err="1">
                <a:latin typeface="Comic Sans MS" panose="030F0702030302020204" pitchFamily="66" charset="0"/>
              </a:rPr>
              <a:t>Bouwman</a:t>
            </a:r>
            <a:r>
              <a:rPr lang="en-US" sz="1500" dirty="0">
                <a:latin typeface="Comic Sans MS" panose="030F0702030302020204" pitchFamily="66" charset="0"/>
              </a:rPr>
              <a:t>, Bart van den </a:t>
            </a:r>
            <a:r>
              <a:rPr lang="en-US" sz="1500" dirty="0" err="1">
                <a:latin typeface="Comic Sans MS" panose="030F0702030302020204" pitchFamily="66" charset="0"/>
              </a:rPr>
              <a:t>Hooff</a:t>
            </a:r>
            <a:r>
              <a:rPr lang="en-US" sz="1500" dirty="0">
                <a:latin typeface="Comic Sans MS" panose="030F0702030302020204" pitchFamily="66" charset="0"/>
              </a:rPr>
              <a:t>, </a:t>
            </a:r>
            <a:r>
              <a:rPr lang="en-US" sz="1500" dirty="0" err="1">
                <a:latin typeface="Comic Sans MS" panose="030F0702030302020204" pitchFamily="66" charset="0"/>
              </a:rPr>
              <a:t>Lidwien</a:t>
            </a:r>
            <a:r>
              <a:rPr lang="en-US" sz="1500" dirty="0">
                <a:latin typeface="Comic Sans MS" panose="030F0702030302020204" pitchFamily="66" charset="0"/>
              </a:rPr>
              <a:t> van de </a:t>
            </a:r>
            <a:r>
              <a:rPr lang="en-US" sz="1500" dirty="0" err="1">
                <a:latin typeface="Comic Sans MS" panose="030F0702030302020204" pitchFamily="66" charset="0"/>
              </a:rPr>
              <a:t>Wijngaert</a:t>
            </a:r>
            <a:r>
              <a:rPr lang="en-US" sz="1500" dirty="0">
                <a:latin typeface="Comic Sans MS" panose="030F0702030302020204" pitchFamily="66" charset="0"/>
              </a:rPr>
              <a:t> &amp; Jan van Dijk, Publisher: SAGE Publications Ltd, Publication year: 2005, Online pub date: June 19, 2012</a:t>
            </a:r>
          </a:p>
          <a:p>
            <a:pPr marL="536575" indent="-361950" algn="just">
              <a:lnSpc>
                <a:spcPct val="150000"/>
              </a:lnSpc>
              <a:buFont typeface="Wingdings" pitchFamily="2" charset="2"/>
              <a:buChar char="§"/>
              <a:defRPr/>
            </a:pPr>
            <a:r>
              <a:rPr lang="en-US" sz="1500" dirty="0">
                <a:latin typeface="Comic Sans MS" panose="030F0702030302020204" pitchFamily="66" charset="0"/>
              </a:rPr>
              <a:t>Discovering Computers. Living in a Digital World. FUNDAMENTALS, 2011 EDITION. Gary B. Shelly. Misty E. </a:t>
            </a:r>
            <a:r>
              <a:rPr lang="en-US" sz="1500" dirty="0" err="1">
                <a:latin typeface="Comic Sans MS" panose="030F0702030302020204" pitchFamily="66" charset="0"/>
              </a:rPr>
              <a:t>Vermaat</a:t>
            </a:r>
            <a:r>
              <a:rPr lang="en-US" sz="1500" dirty="0">
                <a:latin typeface="Comic Sans MS" panose="030F0702030302020204" pitchFamily="66" charset="0"/>
              </a:rPr>
              <a:t>. Shelly Cashman</a:t>
            </a:r>
          </a:p>
          <a:p>
            <a:pPr marL="536575" indent="-361950" algn="just">
              <a:lnSpc>
                <a:spcPct val="150000"/>
              </a:lnSpc>
              <a:buFont typeface="Wingdings" pitchFamily="2" charset="2"/>
              <a:buChar char="§"/>
              <a:defRPr/>
            </a:pPr>
            <a:r>
              <a:rPr lang="en-US" sz="1500" dirty="0">
                <a:latin typeface="Comic Sans MS" panose="030F0702030302020204" pitchFamily="66" charset="0"/>
              </a:rPr>
              <a:t>Charles S. Parker, Understanding Computers: Today and Tomorrow, Course Technology, 25 Thomson Place, Boston, Massachusetts 02210, USA</a:t>
            </a:r>
          </a:p>
          <a:p>
            <a:pPr marL="536575" indent="-361950" algn="just">
              <a:lnSpc>
                <a:spcPct val="150000"/>
              </a:lnSpc>
              <a:buFont typeface="Wingdings" pitchFamily="2" charset="2"/>
              <a:buChar char="§"/>
              <a:defRPr/>
            </a:pPr>
            <a:r>
              <a:rPr lang="en-US" sz="1500" dirty="0" err="1">
                <a:latin typeface="Comic Sans MS" panose="030F0702030302020204" pitchFamily="66" charset="0"/>
              </a:rPr>
              <a:t>Livesley</a:t>
            </a:r>
            <a:r>
              <a:rPr lang="en-US" sz="1500" dirty="0">
                <a:latin typeface="Comic Sans MS" panose="030F0702030302020204" pitchFamily="66" charset="0"/>
              </a:rPr>
              <a:t>, Robert Kenneth. An introduction to automatic digital computers. Cambridge University Press, 2017.</a:t>
            </a:r>
          </a:p>
          <a:p>
            <a:pPr marL="536575" indent="-361950" algn="just">
              <a:lnSpc>
                <a:spcPct val="150000"/>
              </a:lnSpc>
              <a:buFont typeface="Wingdings" pitchFamily="2" charset="2"/>
              <a:buChar char="§"/>
              <a:defRPr/>
            </a:pPr>
            <a:r>
              <a:rPr lang="en-US" sz="1500" dirty="0" err="1">
                <a:latin typeface="Comic Sans MS" panose="030F0702030302020204" pitchFamily="66" charset="0"/>
              </a:rPr>
              <a:t>Zawacki</a:t>
            </a:r>
            <a:r>
              <a:rPr lang="en-US" sz="1500" dirty="0">
                <a:latin typeface="Comic Sans MS" panose="030F0702030302020204" pitchFamily="66" charset="0"/>
              </a:rPr>
              <a:t>-Richter, Olaf, and Colin </a:t>
            </a:r>
            <a:r>
              <a:rPr lang="en-US" sz="1500" dirty="0" err="1">
                <a:latin typeface="Comic Sans MS" panose="030F0702030302020204" pitchFamily="66" charset="0"/>
              </a:rPr>
              <a:t>Latchem</a:t>
            </a:r>
            <a:r>
              <a:rPr lang="en-US" sz="1500" dirty="0">
                <a:latin typeface="Comic Sans MS" panose="030F0702030302020204" pitchFamily="66" charset="0"/>
              </a:rPr>
              <a:t>. "Exploring four decades of research in Computers &amp; Education." Computers &amp; Education 122 (2018): 136-152.</a:t>
            </a:r>
          </a:p>
          <a:p>
            <a:pPr marL="536575" indent="-361950" algn="just">
              <a:lnSpc>
                <a:spcPct val="150000"/>
              </a:lnSpc>
              <a:buFont typeface="Wingdings" pitchFamily="2" charset="2"/>
              <a:buChar char="§"/>
              <a:defRPr/>
            </a:pPr>
            <a:r>
              <a:rPr lang="en-US" sz="1500" dirty="0">
                <a:latin typeface="Comic Sans MS" panose="030F0702030302020204" pitchFamily="66" charset="0"/>
              </a:rPr>
              <a:t>Sinha, Pradeep K., and </a:t>
            </a:r>
            <a:r>
              <a:rPr lang="en-US" sz="1500" dirty="0" err="1">
                <a:latin typeface="Comic Sans MS" panose="030F0702030302020204" pitchFamily="66" charset="0"/>
              </a:rPr>
              <a:t>Priti</a:t>
            </a:r>
            <a:r>
              <a:rPr lang="en-US" sz="1500" dirty="0">
                <a:latin typeface="Comic Sans MS" panose="030F0702030302020204" pitchFamily="66" charset="0"/>
              </a:rPr>
              <a:t> Sinha. Computer fundamentals. BPB publications, 2010. </a:t>
            </a:r>
          </a:p>
          <a:p>
            <a:pPr marL="536575" indent="-361950" algn="just">
              <a:lnSpc>
                <a:spcPct val="150000"/>
              </a:lnSpc>
              <a:buFont typeface="Wingdings" pitchFamily="2" charset="2"/>
              <a:buChar char="§"/>
              <a:defRPr/>
            </a:pPr>
            <a:r>
              <a:rPr lang="en-US" sz="1500" dirty="0">
                <a:latin typeface="Comic Sans MS" panose="030F0702030302020204" pitchFamily="66" charset="0"/>
              </a:rPr>
              <a:t>Goel, Anita. Computer fundamentals. Pearson Education India, 2010.</a:t>
            </a:r>
            <a:endParaRPr lang="en-US" sz="1500" dirty="0">
              <a:latin typeface="Comic Sans MS" pitchFamily="66" charset="0"/>
              <a:ea typeface="ＭＳ Ｐゴシック" pitchFamily="34" charset="-128"/>
            </a:endParaRPr>
          </a:p>
        </p:txBody>
      </p:sp>
    </p:spTree>
    <p:extLst>
      <p:ext uri="{BB962C8B-B14F-4D97-AF65-F5344CB8AC3E}">
        <p14:creationId xmlns:p14="http://schemas.microsoft.com/office/powerpoint/2010/main" val="34148405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a:lstStyle/>
          <a:p>
            <a:pPr algn="ctr"/>
            <a:r>
              <a:rPr lang="en-US" altLang="en-US" sz="9600" b="1" dirty="0"/>
              <a:t>Pre-Requisite</a:t>
            </a:r>
            <a:r>
              <a:rPr lang="en-US" altLang="en-US" sz="6600" b="1" dirty="0"/>
              <a:t> </a:t>
            </a:r>
            <a:endParaRPr lang="en-US" altLang="en-US" sz="6600" dirty="0"/>
          </a:p>
        </p:txBody>
      </p:sp>
      <p:pic>
        <p:nvPicPr>
          <p:cNvPr id="5" name="Picture 4"/>
          <p:cNvPicPr>
            <a:picLocks noChangeAspect="1"/>
          </p:cNvPicPr>
          <p:nvPr/>
        </p:nvPicPr>
        <p:blipFill>
          <a:blip r:embed="rId3"/>
          <a:stretch>
            <a:fillRect/>
          </a:stretch>
        </p:blipFill>
        <p:spPr>
          <a:xfrm>
            <a:off x="1259632" y="1499249"/>
            <a:ext cx="6624736" cy="5080937"/>
          </a:xfrm>
          <a:prstGeom prst="rect">
            <a:avLst/>
          </a:prstGeom>
        </p:spPr>
      </p:pic>
    </p:spTree>
    <p:extLst>
      <p:ext uri="{BB962C8B-B14F-4D97-AF65-F5344CB8AC3E}">
        <p14:creationId xmlns:p14="http://schemas.microsoft.com/office/powerpoint/2010/main" val="14429000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a:lstStyle/>
          <a:p>
            <a:pPr algn="ctr"/>
            <a:r>
              <a:rPr lang="en-US" sz="8000" b="1" dirty="0"/>
              <a:t>Course Evaluation</a:t>
            </a:r>
            <a:endParaRPr lang="en-US" altLang="en-US" sz="8000" dirty="0"/>
          </a:p>
        </p:txBody>
      </p:sp>
      <p:sp>
        <p:nvSpPr>
          <p:cNvPr id="4" name="Rectangle 3"/>
          <p:cNvSpPr/>
          <p:nvPr/>
        </p:nvSpPr>
        <p:spPr>
          <a:xfrm>
            <a:off x="457200" y="1484784"/>
            <a:ext cx="8229600" cy="3447098"/>
          </a:xfrm>
          <a:prstGeom prst="rect">
            <a:avLst/>
          </a:prstGeom>
        </p:spPr>
        <p:txBody>
          <a:bodyPr wrap="square">
            <a:spAutoFit/>
          </a:bodyPr>
          <a:lstStyle/>
          <a:p>
            <a:pPr>
              <a:defRPr/>
            </a:pPr>
            <a:endParaRPr lang="en-US" b="1" dirty="0">
              <a:latin typeface="Comic Sans MS" pitchFamily="66" charset="0"/>
            </a:endParaRPr>
          </a:p>
          <a:p>
            <a:pPr>
              <a:buFont typeface="Wingdings" pitchFamily="2" charset="2"/>
              <a:buChar char="Ø"/>
              <a:defRPr/>
            </a:pPr>
            <a:r>
              <a:rPr lang="en-US" sz="4000" b="1" dirty="0">
                <a:latin typeface="Comic Sans MS" pitchFamily="66" charset="0"/>
              </a:rPr>
              <a:t>Final Examination: 70%</a:t>
            </a:r>
          </a:p>
          <a:p>
            <a:pPr lvl="2">
              <a:defRPr/>
            </a:pPr>
            <a:endParaRPr lang="en-US" sz="4000" dirty="0">
              <a:latin typeface="Comic Sans MS" pitchFamily="66" charset="0"/>
            </a:endParaRPr>
          </a:p>
          <a:p>
            <a:pPr>
              <a:buFont typeface="Wingdings" pitchFamily="2" charset="2"/>
              <a:buChar char="Ø"/>
              <a:defRPr/>
            </a:pPr>
            <a:r>
              <a:rPr lang="en-US" sz="4000" b="1" dirty="0">
                <a:latin typeface="Comic Sans MS" pitchFamily="66" charset="0"/>
              </a:rPr>
              <a:t>Continuous Assessment: 30% </a:t>
            </a:r>
          </a:p>
          <a:p>
            <a:pPr marL="1139825" lvl="3" indent="-346075">
              <a:buFont typeface="Wingdings" panose="05000000000000000000" pitchFamily="2" charset="2"/>
              <a:buChar char="§"/>
              <a:defRPr/>
            </a:pPr>
            <a:r>
              <a:rPr lang="en-US" sz="4000" dirty="0">
                <a:latin typeface="Comic Sans MS" pitchFamily="66" charset="0"/>
              </a:rPr>
              <a:t>Written test</a:t>
            </a:r>
          </a:p>
          <a:p>
            <a:pPr marL="1139825" lvl="3" indent="-346075">
              <a:buFont typeface="Wingdings" panose="05000000000000000000" pitchFamily="2" charset="2"/>
              <a:buChar char="§"/>
              <a:defRPr/>
            </a:pPr>
            <a:r>
              <a:rPr lang="en-US" sz="4000" dirty="0">
                <a:latin typeface="Comic Sans MS" pitchFamily="66" charset="0"/>
              </a:rPr>
              <a:t>Assignments/Project</a:t>
            </a:r>
          </a:p>
        </p:txBody>
      </p:sp>
    </p:spTree>
    <p:extLst>
      <p:ext uri="{BB962C8B-B14F-4D97-AF65-F5344CB8AC3E}">
        <p14:creationId xmlns:p14="http://schemas.microsoft.com/office/powerpoint/2010/main" val="29548308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bwMode="auto">
          <a:xfrm>
            <a:off x="374848" y="1052736"/>
            <a:ext cx="8229600" cy="1728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ctr" rtl="0" eaLnBrk="1" fontAlgn="base" hangingPunct="1">
              <a:spcBef>
                <a:spcPct val="0"/>
              </a:spcBef>
              <a:spcAft>
                <a:spcPct val="0"/>
              </a:spcAft>
              <a:defRPr sz="5800">
                <a:solidFill>
                  <a:schemeClr val="tx2"/>
                </a:solidFill>
                <a:latin typeface="+mj-lt"/>
                <a:ea typeface="+mj-ea"/>
                <a:cs typeface="+mj-cs"/>
              </a:defRPr>
            </a:lvl1pPr>
            <a:lvl2pPr algn="l" rtl="0" eaLnBrk="1" fontAlgn="base" hangingPunct="1">
              <a:spcBef>
                <a:spcPct val="0"/>
              </a:spcBef>
              <a:spcAft>
                <a:spcPct val="0"/>
              </a:spcAft>
              <a:defRPr sz="4400">
                <a:solidFill>
                  <a:schemeClr val="tx2"/>
                </a:solidFill>
                <a:latin typeface="Garamond" pitchFamily="18" charset="0"/>
                <a:cs typeface="Arial" charset="0"/>
              </a:defRPr>
            </a:lvl2pPr>
            <a:lvl3pPr algn="l" rtl="0" eaLnBrk="1" fontAlgn="base" hangingPunct="1">
              <a:spcBef>
                <a:spcPct val="0"/>
              </a:spcBef>
              <a:spcAft>
                <a:spcPct val="0"/>
              </a:spcAft>
              <a:defRPr sz="4400">
                <a:solidFill>
                  <a:schemeClr val="tx2"/>
                </a:solidFill>
                <a:latin typeface="Garamond" pitchFamily="18" charset="0"/>
                <a:cs typeface="Arial" charset="0"/>
              </a:defRPr>
            </a:lvl3pPr>
            <a:lvl4pPr algn="l" rtl="0" eaLnBrk="1" fontAlgn="base" hangingPunct="1">
              <a:spcBef>
                <a:spcPct val="0"/>
              </a:spcBef>
              <a:spcAft>
                <a:spcPct val="0"/>
              </a:spcAft>
              <a:defRPr sz="4400">
                <a:solidFill>
                  <a:schemeClr val="tx2"/>
                </a:solidFill>
                <a:latin typeface="Garamond" pitchFamily="18" charset="0"/>
                <a:cs typeface="Arial" charset="0"/>
              </a:defRPr>
            </a:lvl4pPr>
            <a:lvl5pPr algn="l" rtl="0" eaLnBrk="1" fontAlgn="base" hangingPunct="1">
              <a:spcBef>
                <a:spcPct val="0"/>
              </a:spcBef>
              <a:spcAft>
                <a:spcPct val="0"/>
              </a:spcAft>
              <a:defRPr sz="4400">
                <a:solidFill>
                  <a:schemeClr val="tx2"/>
                </a:solidFill>
                <a:latin typeface="Garamond" pitchFamily="18" charset="0"/>
                <a:cs typeface="Arial" charset="0"/>
              </a:defRPr>
            </a:lvl5pPr>
            <a:lvl6pPr marL="457200" algn="l" rtl="0" eaLnBrk="1" fontAlgn="base" hangingPunct="1">
              <a:spcBef>
                <a:spcPct val="0"/>
              </a:spcBef>
              <a:spcAft>
                <a:spcPct val="0"/>
              </a:spcAft>
              <a:defRPr sz="4400">
                <a:solidFill>
                  <a:schemeClr val="tx2"/>
                </a:solidFill>
                <a:latin typeface="Garamond" pitchFamily="18" charset="0"/>
                <a:cs typeface="Arial" charset="0"/>
              </a:defRPr>
            </a:lvl6pPr>
            <a:lvl7pPr marL="914400" algn="l" rtl="0" eaLnBrk="1" fontAlgn="base" hangingPunct="1">
              <a:spcBef>
                <a:spcPct val="0"/>
              </a:spcBef>
              <a:spcAft>
                <a:spcPct val="0"/>
              </a:spcAft>
              <a:defRPr sz="4400">
                <a:solidFill>
                  <a:schemeClr val="tx2"/>
                </a:solidFill>
                <a:latin typeface="Garamond" pitchFamily="18" charset="0"/>
                <a:cs typeface="Arial" charset="0"/>
              </a:defRPr>
            </a:lvl7pPr>
            <a:lvl8pPr marL="1371600" algn="l" rtl="0" eaLnBrk="1" fontAlgn="base" hangingPunct="1">
              <a:spcBef>
                <a:spcPct val="0"/>
              </a:spcBef>
              <a:spcAft>
                <a:spcPct val="0"/>
              </a:spcAft>
              <a:defRPr sz="4400">
                <a:solidFill>
                  <a:schemeClr val="tx2"/>
                </a:solidFill>
                <a:latin typeface="Garamond" pitchFamily="18" charset="0"/>
                <a:cs typeface="Arial" charset="0"/>
              </a:defRPr>
            </a:lvl8pPr>
            <a:lvl9pPr marL="1828800" algn="l" rtl="0" eaLnBrk="1" fontAlgn="base" hangingPunct="1">
              <a:spcBef>
                <a:spcPct val="0"/>
              </a:spcBef>
              <a:spcAft>
                <a:spcPct val="0"/>
              </a:spcAft>
              <a:defRPr sz="4400">
                <a:solidFill>
                  <a:schemeClr val="tx2"/>
                </a:solidFill>
                <a:latin typeface="Garamond" pitchFamily="18" charset="0"/>
                <a:cs typeface="Arial" charset="0"/>
              </a:defRPr>
            </a:lvl9pPr>
          </a:lstStyle>
          <a:p>
            <a:r>
              <a:rPr lang="en-US" sz="8800" b="1" kern="0" dirty="0"/>
              <a:t>Week 5</a:t>
            </a:r>
            <a:endParaRPr lang="en-US" altLang="en-US" sz="8800" kern="0" dirty="0"/>
          </a:p>
        </p:txBody>
      </p:sp>
      <p:sp>
        <p:nvSpPr>
          <p:cNvPr id="3" name="Rectangle 2">
            <a:extLst>
              <a:ext uri="{FF2B5EF4-FFF2-40B4-BE49-F238E27FC236}">
                <a16:creationId xmlns:a16="http://schemas.microsoft.com/office/drawing/2014/main" id="{C43AEFA3-0843-4CFF-AA77-BB416BFA9B54}"/>
              </a:ext>
            </a:extLst>
          </p:cNvPr>
          <p:cNvSpPr txBox="1">
            <a:spLocks noChangeArrowheads="1"/>
          </p:cNvSpPr>
          <p:nvPr/>
        </p:nvSpPr>
        <p:spPr bwMode="auto">
          <a:xfrm>
            <a:off x="374848" y="3140968"/>
            <a:ext cx="8382000" cy="2160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ctr" rtl="0" eaLnBrk="1" fontAlgn="base" hangingPunct="1">
              <a:spcBef>
                <a:spcPct val="0"/>
              </a:spcBef>
              <a:spcAft>
                <a:spcPct val="0"/>
              </a:spcAft>
              <a:defRPr sz="5800">
                <a:solidFill>
                  <a:schemeClr val="tx2"/>
                </a:solidFill>
                <a:latin typeface="+mj-lt"/>
                <a:ea typeface="+mj-ea"/>
                <a:cs typeface="+mj-cs"/>
              </a:defRPr>
            </a:lvl1pPr>
            <a:lvl2pPr algn="l" rtl="0" eaLnBrk="1" fontAlgn="base" hangingPunct="1">
              <a:spcBef>
                <a:spcPct val="0"/>
              </a:spcBef>
              <a:spcAft>
                <a:spcPct val="0"/>
              </a:spcAft>
              <a:defRPr sz="4400">
                <a:solidFill>
                  <a:schemeClr val="tx2"/>
                </a:solidFill>
                <a:latin typeface="Garamond" pitchFamily="18" charset="0"/>
                <a:cs typeface="Arial" charset="0"/>
              </a:defRPr>
            </a:lvl2pPr>
            <a:lvl3pPr algn="l" rtl="0" eaLnBrk="1" fontAlgn="base" hangingPunct="1">
              <a:spcBef>
                <a:spcPct val="0"/>
              </a:spcBef>
              <a:spcAft>
                <a:spcPct val="0"/>
              </a:spcAft>
              <a:defRPr sz="4400">
                <a:solidFill>
                  <a:schemeClr val="tx2"/>
                </a:solidFill>
                <a:latin typeface="Garamond" pitchFamily="18" charset="0"/>
                <a:cs typeface="Arial" charset="0"/>
              </a:defRPr>
            </a:lvl3pPr>
            <a:lvl4pPr algn="l" rtl="0" eaLnBrk="1" fontAlgn="base" hangingPunct="1">
              <a:spcBef>
                <a:spcPct val="0"/>
              </a:spcBef>
              <a:spcAft>
                <a:spcPct val="0"/>
              </a:spcAft>
              <a:defRPr sz="4400">
                <a:solidFill>
                  <a:schemeClr val="tx2"/>
                </a:solidFill>
                <a:latin typeface="Garamond" pitchFamily="18" charset="0"/>
                <a:cs typeface="Arial" charset="0"/>
              </a:defRPr>
            </a:lvl4pPr>
            <a:lvl5pPr algn="l" rtl="0" eaLnBrk="1" fontAlgn="base" hangingPunct="1">
              <a:spcBef>
                <a:spcPct val="0"/>
              </a:spcBef>
              <a:spcAft>
                <a:spcPct val="0"/>
              </a:spcAft>
              <a:defRPr sz="4400">
                <a:solidFill>
                  <a:schemeClr val="tx2"/>
                </a:solidFill>
                <a:latin typeface="Garamond" pitchFamily="18" charset="0"/>
                <a:cs typeface="Arial" charset="0"/>
              </a:defRPr>
            </a:lvl5pPr>
            <a:lvl6pPr marL="457200" algn="l" rtl="0" eaLnBrk="1" fontAlgn="base" hangingPunct="1">
              <a:spcBef>
                <a:spcPct val="0"/>
              </a:spcBef>
              <a:spcAft>
                <a:spcPct val="0"/>
              </a:spcAft>
              <a:defRPr sz="4400">
                <a:solidFill>
                  <a:schemeClr val="tx2"/>
                </a:solidFill>
                <a:latin typeface="Garamond" pitchFamily="18" charset="0"/>
                <a:cs typeface="Arial" charset="0"/>
              </a:defRPr>
            </a:lvl6pPr>
            <a:lvl7pPr marL="914400" algn="l" rtl="0" eaLnBrk="1" fontAlgn="base" hangingPunct="1">
              <a:spcBef>
                <a:spcPct val="0"/>
              </a:spcBef>
              <a:spcAft>
                <a:spcPct val="0"/>
              </a:spcAft>
              <a:defRPr sz="4400">
                <a:solidFill>
                  <a:schemeClr val="tx2"/>
                </a:solidFill>
                <a:latin typeface="Garamond" pitchFamily="18" charset="0"/>
                <a:cs typeface="Arial" charset="0"/>
              </a:defRPr>
            </a:lvl7pPr>
            <a:lvl8pPr marL="1371600" algn="l" rtl="0" eaLnBrk="1" fontAlgn="base" hangingPunct="1">
              <a:spcBef>
                <a:spcPct val="0"/>
              </a:spcBef>
              <a:spcAft>
                <a:spcPct val="0"/>
              </a:spcAft>
              <a:defRPr sz="4400">
                <a:solidFill>
                  <a:schemeClr val="tx2"/>
                </a:solidFill>
                <a:latin typeface="Garamond" pitchFamily="18" charset="0"/>
                <a:cs typeface="Arial" charset="0"/>
              </a:defRPr>
            </a:lvl8pPr>
            <a:lvl9pPr marL="1828800" algn="l" rtl="0" eaLnBrk="1" fontAlgn="base" hangingPunct="1">
              <a:spcBef>
                <a:spcPct val="0"/>
              </a:spcBef>
              <a:spcAft>
                <a:spcPct val="0"/>
              </a:spcAft>
              <a:defRPr sz="4400">
                <a:solidFill>
                  <a:schemeClr val="tx2"/>
                </a:solidFill>
                <a:latin typeface="Garamond" pitchFamily="18" charset="0"/>
                <a:cs typeface="Arial" charset="0"/>
              </a:defRPr>
            </a:lvl9pPr>
          </a:lstStyle>
          <a:p>
            <a:pPr marL="14288">
              <a:lnSpc>
                <a:spcPct val="150000"/>
              </a:lnSpc>
            </a:pPr>
            <a:r>
              <a:rPr lang="en-US" sz="3200" b="1" dirty="0">
                <a:latin typeface="Comic Sans MS" panose="030F0702030302020204" pitchFamily="66" charset="0"/>
              </a:rPr>
              <a:t>COMPUTER NETWORKS, NETWORKING TECHNOLOGIES AND COMMUNICATIONS NETWORKS</a:t>
            </a:r>
          </a:p>
        </p:txBody>
      </p:sp>
    </p:spTree>
    <p:extLst>
      <p:ext uri="{BB962C8B-B14F-4D97-AF65-F5344CB8AC3E}">
        <p14:creationId xmlns:p14="http://schemas.microsoft.com/office/powerpoint/2010/main" val="20632238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488975"/>
            <a:ext cx="8229600" cy="1139825"/>
          </a:xfrm>
        </p:spPr>
        <p:txBody>
          <a:bodyPr>
            <a:noAutofit/>
          </a:bodyPr>
          <a:lstStyle/>
          <a:p>
            <a:pPr algn="ctr">
              <a:defRPr/>
            </a:pPr>
            <a:r>
              <a:rPr lang="en-US" sz="6000" b="1" dirty="0">
                <a:latin typeface="Comic Sans MS" panose="030F0702030302020204" pitchFamily="66" charset="0"/>
              </a:rPr>
              <a:t>Presentation Outline</a:t>
            </a:r>
            <a:r>
              <a:rPr lang="en-GB" sz="6000" b="1" dirty="0">
                <a:latin typeface="Comic Sans MS" panose="030F0702030302020204" pitchFamily="66" charset="0"/>
              </a:rPr>
              <a:t>  </a:t>
            </a:r>
          </a:p>
        </p:txBody>
      </p:sp>
      <p:sp>
        <p:nvSpPr>
          <p:cNvPr id="5" name="Rectangle 3"/>
          <p:cNvSpPr txBox="1">
            <a:spLocks noChangeArrowheads="1"/>
          </p:cNvSpPr>
          <p:nvPr/>
        </p:nvSpPr>
        <p:spPr bwMode="auto">
          <a:xfrm>
            <a:off x="611560" y="1484784"/>
            <a:ext cx="7776864" cy="50337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150000"/>
              </a:lnSpc>
              <a:buFont typeface="Wingdings" panose="05000000000000000000" pitchFamily="2" charset="2"/>
              <a:buChar char="§"/>
            </a:pPr>
            <a:r>
              <a:rPr lang="en-US" sz="2100" kern="0" dirty="0"/>
              <a:t>Types of Network Connection</a:t>
            </a:r>
          </a:p>
          <a:p>
            <a:pPr>
              <a:lnSpc>
                <a:spcPct val="150000"/>
              </a:lnSpc>
              <a:buFont typeface="Wingdings" panose="05000000000000000000" pitchFamily="2" charset="2"/>
              <a:buChar char="§"/>
            </a:pPr>
            <a:r>
              <a:rPr lang="en-US" sz="2100" kern="0" dirty="0"/>
              <a:t>Basic Components of a Network</a:t>
            </a:r>
          </a:p>
          <a:p>
            <a:pPr marL="900113">
              <a:lnSpc>
                <a:spcPct val="150000"/>
              </a:lnSpc>
              <a:buFont typeface="Wingdings" panose="05000000000000000000" pitchFamily="2" charset="2"/>
              <a:buChar char="Ø"/>
            </a:pPr>
            <a:r>
              <a:rPr lang="en-US" sz="2100" kern="0" dirty="0"/>
              <a:t>Network Software</a:t>
            </a:r>
          </a:p>
          <a:p>
            <a:pPr marL="900113">
              <a:lnSpc>
                <a:spcPct val="150000"/>
              </a:lnSpc>
              <a:buFont typeface="Wingdings" panose="05000000000000000000" pitchFamily="2" charset="2"/>
              <a:buChar char="Ø"/>
            </a:pPr>
            <a:r>
              <a:rPr lang="en-US" sz="2100" kern="0" dirty="0"/>
              <a:t>Application Software</a:t>
            </a:r>
          </a:p>
          <a:p>
            <a:pPr marL="900113">
              <a:lnSpc>
                <a:spcPct val="150000"/>
              </a:lnSpc>
              <a:buFont typeface="Wingdings" panose="05000000000000000000" pitchFamily="2" charset="2"/>
              <a:buChar char="Ø"/>
            </a:pPr>
            <a:r>
              <a:rPr lang="en-US" sz="2100" kern="0" dirty="0"/>
              <a:t>Network Hardware</a:t>
            </a:r>
          </a:p>
          <a:p>
            <a:pPr marL="900113">
              <a:lnSpc>
                <a:spcPct val="150000"/>
              </a:lnSpc>
              <a:buFont typeface="Wingdings" panose="05000000000000000000" pitchFamily="2" charset="2"/>
              <a:buChar char="Ø"/>
            </a:pPr>
            <a:r>
              <a:rPr lang="en-US" sz="2100" kern="0" dirty="0"/>
              <a:t>Standards for Networks</a:t>
            </a:r>
          </a:p>
          <a:p>
            <a:pPr marL="900113">
              <a:lnSpc>
                <a:spcPct val="150000"/>
              </a:lnSpc>
              <a:buFont typeface="Wingdings" panose="05000000000000000000" pitchFamily="2" charset="2"/>
              <a:buChar char="Ø"/>
            </a:pPr>
            <a:r>
              <a:rPr lang="en-US" sz="2100" kern="0" dirty="0"/>
              <a:t>Networking Checklist</a:t>
            </a:r>
          </a:p>
        </p:txBody>
      </p:sp>
    </p:spTree>
    <p:extLst>
      <p:ext uri="{BB962C8B-B14F-4D97-AF65-F5344CB8AC3E}">
        <p14:creationId xmlns:p14="http://schemas.microsoft.com/office/powerpoint/2010/main" val="7866222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1"/>
            <a:ext cx="8229600" cy="1700808"/>
          </a:xfrm>
        </p:spPr>
        <p:txBody>
          <a:bodyPr>
            <a:noAutofit/>
          </a:bodyPr>
          <a:lstStyle/>
          <a:p>
            <a:pPr algn="ctr">
              <a:defRPr/>
            </a:pPr>
            <a:r>
              <a:rPr lang="en-US" sz="6000" b="1" dirty="0" smtClean="0"/>
              <a:t>COMPUTER NETWORKING</a:t>
            </a:r>
            <a:endParaRPr lang="en-GB" sz="6000" b="1" dirty="0">
              <a:latin typeface="Comic Sans MS" panose="030F0702030302020204" pitchFamily="66" charset="0"/>
            </a:endParaRPr>
          </a:p>
        </p:txBody>
      </p:sp>
      <p:sp>
        <p:nvSpPr>
          <p:cNvPr id="5" name="Rectangle 3"/>
          <p:cNvSpPr txBox="1">
            <a:spLocks noChangeArrowheads="1"/>
          </p:cNvSpPr>
          <p:nvPr/>
        </p:nvSpPr>
        <p:spPr bwMode="auto">
          <a:xfrm>
            <a:off x="611560" y="1484784"/>
            <a:ext cx="7776864" cy="50337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gn="just">
              <a:lnSpc>
                <a:spcPct val="200000"/>
              </a:lnSpc>
            </a:pPr>
            <a:r>
              <a:rPr lang="en-US" sz="2000" dirty="0"/>
              <a:t>Computer Networking refers to the </a:t>
            </a:r>
            <a:r>
              <a:rPr lang="en-US" sz="2000" b="1" dirty="0"/>
              <a:t>techniques, physical connections, and programs </a:t>
            </a:r>
            <a:r>
              <a:rPr lang="en-US" sz="2000" dirty="0"/>
              <a:t>used </a:t>
            </a:r>
            <a:r>
              <a:rPr lang="en-US" sz="2000" dirty="0" smtClean="0"/>
              <a:t>to interlink </a:t>
            </a:r>
            <a:r>
              <a:rPr lang="en-US" sz="2000" dirty="0"/>
              <a:t>two or more computers together. </a:t>
            </a:r>
            <a:endParaRPr lang="en-US" sz="2000" dirty="0" smtClean="0"/>
          </a:p>
          <a:p>
            <a:pPr algn="just">
              <a:lnSpc>
                <a:spcPct val="200000"/>
              </a:lnSpc>
            </a:pPr>
            <a:r>
              <a:rPr lang="en-US" sz="2000" dirty="0" smtClean="0"/>
              <a:t>This </a:t>
            </a:r>
            <a:r>
              <a:rPr lang="en-US" sz="2000" dirty="0"/>
              <a:t>is fundamentally to enable the </a:t>
            </a:r>
            <a:r>
              <a:rPr lang="en-US" sz="2000" dirty="0" smtClean="0"/>
              <a:t>networked computers </a:t>
            </a:r>
            <a:r>
              <a:rPr lang="en-US" sz="2000" dirty="0"/>
              <a:t>share resources such as hard discs, modems, printers.</a:t>
            </a:r>
            <a:endParaRPr lang="en-US" sz="2000" kern="0" dirty="0"/>
          </a:p>
        </p:txBody>
      </p:sp>
    </p:spTree>
    <p:extLst>
      <p:ext uri="{BB962C8B-B14F-4D97-AF65-F5344CB8AC3E}">
        <p14:creationId xmlns:p14="http://schemas.microsoft.com/office/powerpoint/2010/main" val="24661577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0"/>
            <a:ext cx="8229600" cy="1544489"/>
          </a:xfrm>
        </p:spPr>
        <p:txBody>
          <a:bodyPr>
            <a:noAutofit/>
          </a:bodyPr>
          <a:lstStyle/>
          <a:p>
            <a:pPr algn="ctr">
              <a:defRPr/>
            </a:pPr>
            <a:r>
              <a:rPr lang="en-US" sz="4800" b="1" dirty="0"/>
              <a:t>TYPES OF NETWORK CONNECTION</a:t>
            </a:r>
            <a:endParaRPr lang="en-GB" sz="4800" b="1" dirty="0">
              <a:latin typeface="Comic Sans MS" panose="030F0702030302020204" pitchFamily="66" charset="0"/>
            </a:endParaRPr>
          </a:p>
        </p:txBody>
      </p:sp>
      <p:sp>
        <p:nvSpPr>
          <p:cNvPr id="5" name="Rectangle 3"/>
          <p:cNvSpPr txBox="1">
            <a:spLocks noChangeArrowheads="1"/>
          </p:cNvSpPr>
          <p:nvPr/>
        </p:nvSpPr>
        <p:spPr bwMode="auto">
          <a:xfrm>
            <a:off x="611560" y="1484784"/>
            <a:ext cx="7776864" cy="50337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200000"/>
              </a:lnSpc>
            </a:pPr>
            <a:r>
              <a:rPr lang="en-US" sz="2000" dirty="0"/>
              <a:t>There are two basic types of network connections:</a:t>
            </a:r>
          </a:p>
          <a:p>
            <a:pPr marL="1082675">
              <a:lnSpc>
                <a:spcPct val="200000"/>
              </a:lnSpc>
              <a:buFont typeface="Wingdings" panose="05000000000000000000" pitchFamily="2" charset="2"/>
              <a:buChar char="Ø"/>
            </a:pPr>
            <a:r>
              <a:rPr lang="en-US" sz="2000" dirty="0" smtClean="0"/>
              <a:t>Physical </a:t>
            </a:r>
            <a:r>
              <a:rPr lang="en-US" sz="2000" dirty="0"/>
              <a:t>connections and</a:t>
            </a:r>
          </a:p>
          <a:p>
            <a:pPr marL="1082675">
              <a:lnSpc>
                <a:spcPct val="200000"/>
              </a:lnSpc>
              <a:buFont typeface="Wingdings" panose="05000000000000000000" pitchFamily="2" charset="2"/>
              <a:buChar char="Ø"/>
            </a:pPr>
            <a:r>
              <a:rPr lang="en-US" sz="2000" dirty="0" smtClean="0"/>
              <a:t>Logical </a:t>
            </a:r>
            <a:r>
              <a:rPr lang="en-US" sz="2000" dirty="0"/>
              <a:t>or virtual connections</a:t>
            </a:r>
            <a:endParaRPr lang="en-US" sz="2000" kern="0" dirty="0"/>
          </a:p>
        </p:txBody>
      </p:sp>
    </p:spTree>
    <p:extLst>
      <p:ext uri="{BB962C8B-B14F-4D97-AF65-F5344CB8AC3E}">
        <p14:creationId xmlns:p14="http://schemas.microsoft.com/office/powerpoint/2010/main" val="16624538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404664"/>
            <a:ext cx="8229600" cy="1139825"/>
          </a:xfrm>
        </p:spPr>
        <p:txBody>
          <a:bodyPr>
            <a:noAutofit/>
          </a:bodyPr>
          <a:lstStyle/>
          <a:p>
            <a:pPr algn="ctr">
              <a:defRPr/>
            </a:pPr>
            <a:r>
              <a:rPr lang="en-US" sz="6600" b="1" dirty="0"/>
              <a:t>Physical </a:t>
            </a:r>
            <a:r>
              <a:rPr lang="en-US" sz="6600" b="1" dirty="0" smtClean="0"/>
              <a:t>Connections</a:t>
            </a:r>
            <a:endParaRPr lang="en-GB" sz="6600" b="1" dirty="0">
              <a:latin typeface="Comic Sans MS" panose="030F0702030302020204" pitchFamily="66" charset="0"/>
            </a:endParaRPr>
          </a:p>
        </p:txBody>
      </p:sp>
      <p:sp>
        <p:nvSpPr>
          <p:cNvPr id="5" name="Rectangle 3"/>
          <p:cNvSpPr txBox="1">
            <a:spLocks noChangeArrowheads="1"/>
          </p:cNvSpPr>
          <p:nvPr/>
        </p:nvSpPr>
        <p:spPr bwMode="auto">
          <a:xfrm>
            <a:off x="611560" y="1484784"/>
            <a:ext cx="7776864" cy="50337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gn="just">
              <a:lnSpc>
                <a:spcPct val="200000"/>
              </a:lnSpc>
            </a:pPr>
            <a:r>
              <a:rPr lang="en-US" sz="2000" dirty="0" smtClean="0"/>
              <a:t>It</a:t>
            </a:r>
            <a:r>
              <a:rPr lang="en-US" sz="2000" b="1" dirty="0" smtClean="0"/>
              <a:t> </a:t>
            </a:r>
            <a:r>
              <a:rPr lang="en-US" sz="2000" dirty="0" smtClean="0"/>
              <a:t>let </a:t>
            </a:r>
            <a:r>
              <a:rPr lang="en-US" sz="2000" dirty="0"/>
              <a:t>computers directly transmit and receive signals. </a:t>
            </a:r>
            <a:endParaRPr lang="en-US" sz="2000" dirty="0" smtClean="0"/>
          </a:p>
          <a:p>
            <a:pPr algn="just">
              <a:lnSpc>
                <a:spcPct val="200000"/>
              </a:lnSpc>
            </a:pPr>
            <a:r>
              <a:rPr lang="en-US" sz="2000" dirty="0" smtClean="0"/>
              <a:t>Physical connections </a:t>
            </a:r>
            <a:r>
              <a:rPr lang="en-US" sz="2000" dirty="0"/>
              <a:t>are defined by the medium used to carry the signal, the geometric arrangement </a:t>
            </a:r>
            <a:r>
              <a:rPr lang="en-US" sz="2000" dirty="0" smtClean="0"/>
              <a:t>of the </a:t>
            </a:r>
            <a:r>
              <a:rPr lang="en-US" sz="2000" dirty="0"/>
              <a:t>computers (topology), and the method used to share information</a:t>
            </a:r>
            <a:r>
              <a:rPr lang="en-US" sz="2000" dirty="0" smtClean="0"/>
              <a:t>.</a:t>
            </a:r>
            <a:endParaRPr lang="en-US" sz="2000" dirty="0"/>
          </a:p>
        </p:txBody>
      </p:sp>
    </p:spTree>
    <p:extLst>
      <p:ext uri="{BB962C8B-B14F-4D97-AF65-F5344CB8AC3E}">
        <p14:creationId xmlns:p14="http://schemas.microsoft.com/office/powerpoint/2010/main" val="23260038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404664"/>
            <a:ext cx="8229600" cy="1139825"/>
          </a:xfrm>
        </p:spPr>
        <p:txBody>
          <a:bodyPr>
            <a:noAutofit/>
          </a:bodyPr>
          <a:lstStyle/>
          <a:p>
            <a:pPr algn="ctr">
              <a:defRPr/>
            </a:pPr>
            <a:r>
              <a:rPr lang="en-US" sz="8000" b="1" dirty="0" smtClean="0"/>
              <a:t>Logical or Virtual</a:t>
            </a:r>
            <a:endParaRPr lang="en-GB" sz="8000" b="1" dirty="0">
              <a:latin typeface="Comic Sans MS" panose="030F0702030302020204" pitchFamily="66" charset="0"/>
            </a:endParaRPr>
          </a:p>
        </p:txBody>
      </p:sp>
      <p:sp>
        <p:nvSpPr>
          <p:cNvPr id="5" name="Rectangle 3"/>
          <p:cNvSpPr txBox="1">
            <a:spLocks noChangeArrowheads="1"/>
          </p:cNvSpPr>
          <p:nvPr/>
        </p:nvSpPr>
        <p:spPr bwMode="auto">
          <a:xfrm>
            <a:off x="457200" y="1484784"/>
            <a:ext cx="8075240" cy="5373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gn="just">
              <a:lnSpc>
                <a:spcPct val="150000"/>
              </a:lnSpc>
            </a:pPr>
            <a:r>
              <a:rPr lang="en-US" sz="1800" dirty="0" smtClean="0"/>
              <a:t>It</a:t>
            </a:r>
            <a:r>
              <a:rPr lang="en-US" sz="1800" b="1" dirty="0" smtClean="0"/>
              <a:t> </a:t>
            </a:r>
            <a:r>
              <a:rPr lang="en-US" sz="1800" dirty="0" smtClean="0"/>
              <a:t>allow </a:t>
            </a:r>
            <a:r>
              <a:rPr lang="en-US" sz="1800" dirty="0"/>
              <a:t>computer applications, such as e-mail </a:t>
            </a:r>
            <a:r>
              <a:rPr lang="en-US" sz="1800" dirty="0" smtClean="0"/>
              <a:t>programs and </a:t>
            </a:r>
            <a:r>
              <a:rPr lang="en-US" sz="1800" dirty="0"/>
              <a:t>the browsers used to explore the World Wide Web, to exchange information. </a:t>
            </a:r>
            <a:endParaRPr lang="en-US" sz="1800" dirty="0" smtClean="0"/>
          </a:p>
          <a:p>
            <a:pPr algn="just">
              <a:lnSpc>
                <a:spcPct val="150000"/>
              </a:lnSpc>
            </a:pPr>
            <a:r>
              <a:rPr lang="en-US" sz="1800" dirty="0" smtClean="0"/>
              <a:t>Logical connections </a:t>
            </a:r>
            <a:r>
              <a:rPr lang="en-US" sz="1800" dirty="0"/>
              <a:t>are created by network protocols and allow data sharing between </a:t>
            </a:r>
            <a:r>
              <a:rPr lang="en-US" sz="1800" b="1" dirty="0"/>
              <a:t>applications </a:t>
            </a:r>
            <a:r>
              <a:rPr lang="en-US" sz="1800" b="1" dirty="0" smtClean="0"/>
              <a:t>on different </a:t>
            </a:r>
            <a:r>
              <a:rPr lang="en-US" sz="1800" b="1" dirty="0"/>
              <a:t>types of computers</a:t>
            </a:r>
            <a:r>
              <a:rPr lang="en-US" sz="1800" dirty="0"/>
              <a:t>, such as a personal computer (PC) running the </a:t>
            </a:r>
            <a:r>
              <a:rPr lang="en-US" sz="1800" dirty="0" smtClean="0"/>
              <a:t>Microsoft Corporation </a:t>
            </a:r>
            <a:r>
              <a:rPr lang="en-US" sz="1800" dirty="0"/>
              <a:t>Windows operating system, in a network. </a:t>
            </a:r>
            <a:endParaRPr lang="en-US" sz="1800" dirty="0" smtClean="0"/>
          </a:p>
          <a:p>
            <a:pPr algn="just">
              <a:lnSpc>
                <a:spcPct val="150000"/>
              </a:lnSpc>
            </a:pPr>
            <a:r>
              <a:rPr lang="en-US" sz="1800" dirty="0" smtClean="0"/>
              <a:t>Some </a:t>
            </a:r>
            <a:r>
              <a:rPr lang="en-US" sz="1800" dirty="0"/>
              <a:t>logical connections use </a:t>
            </a:r>
            <a:r>
              <a:rPr lang="en-US" sz="1800" dirty="0" err="1" smtClean="0"/>
              <a:t>clientserver</a:t>
            </a:r>
            <a:r>
              <a:rPr lang="en-US" sz="1800" dirty="0" smtClean="0"/>
              <a:t> application </a:t>
            </a:r>
            <a:r>
              <a:rPr lang="en-US" sz="1800" dirty="0"/>
              <a:t>software and are primarily for file and printer sharing. </a:t>
            </a:r>
            <a:endParaRPr lang="en-US" sz="1800" dirty="0" smtClean="0"/>
          </a:p>
          <a:p>
            <a:pPr algn="just">
              <a:lnSpc>
                <a:spcPct val="150000"/>
              </a:lnSpc>
            </a:pPr>
            <a:r>
              <a:rPr lang="en-US" sz="1800" dirty="0" smtClean="0"/>
              <a:t>The Transmission Control </a:t>
            </a:r>
            <a:r>
              <a:rPr lang="en-US" sz="1800" dirty="0"/>
              <a:t>Protocol/Internet Protocol (TCP/IP) suite is the set of logical connections used by </a:t>
            </a:r>
            <a:r>
              <a:rPr lang="en-US" sz="1800" dirty="0" smtClean="0"/>
              <a:t>the Internet</a:t>
            </a:r>
            <a:r>
              <a:rPr lang="en-US" sz="1800" dirty="0"/>
              <a:t>, the worldwide consortium of computer networks.</a:t>
            </a:r>
            <a:endParaRPr lang="en-US" sz="1800" kern="0" dirty="0"/>
          </a:p>
        </p:txBody>
      </p:sp>
    </p:spTree>
    <p:extLst>
      <p:ext uri="{BB962C8B-B14F-4D97-AF65-F5344CB8AC3E}">
        <p14:creationId xmlns:p14="http://schemas.microsoft.com/office/powerpoint/2010/main" val="14520735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156319"/>
            <a:ext cx="8229600" cy="1544489"/>
          </a:xfrm>
        </p:spPr>
        <p:txBody>
          <a:bodyPr>
            <a:noAutofit/>
          </a:bodyPr>
          <a:lstStyle/>
          <a:p>
            <a:pPr algn="ctr"/>
            <a:r>
              <a:rPr lang="en-US" sz="5400" b="1" dirty="0"/>
              <a:t>BASIC COMPONENTS OF A NETWORK</a:t>
            </a:r>
          </a:p>
        </p:txBody>
      </p:sp>
      <p:sp>
        <p:nvSpPr>
          <p:cNvPr id="5" name="Rectangle 3"/>
          <p:cNvSpPr txBox="1">
            <a:spLocks noChangeArrowheads="1"/>
          </p:cNvSpPr>
          <p:nvPr/>
        </p:nvSpPr>
        <p:spPr bwMode="auto">
          <a:xfrm>
            <a:off x="611560" y="1484784"/>
            <a:ext cx="7776864" cy="50337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150000"/>
              </a:lnSpc>
            </a:pPr>
            <a:r>
              <a:rPr lang="en-US" sz="2200" dirty="0" smtClean="0"/>
              <a:t>A </a:t>
            </a:r>
            <a:r>
              <a:rPr lang="en-US" sz="2200" dirty="0"/>
              <a:t>classical computer network has three essential components or segments. </a:t>
            </a:r>
            <a:endParaRPr lang="en-US" sz="2200" dirty="0" smtClean="0"/>
          </a:p>
          <a:p>
            <a:pPr>
              <a:lnSpc>
                <a:spcPct val="150000"/>
              </a:lnSpc>
            </a:pPr>
            <a:r>
              <a:rPr lang="en-US" sz="2200" dirty="0" smtClean="0"/>
              <a:t>They </a:t>
            </a:r>
            <a:r>
              <a:rPr lang="en-US" sz="2200" dirty="0"/>
              <a:t>are </a:t>
            </a:r>
            <a:r>
              <a:rPr lang="en-US" sz="2200" dirty="0" smtClean="0"/>
              <a:t>as follows</a:t>
            </a:r>
            <a:r>
              <a:rPr lang="en-US" sz="2200" dirty="0"/>
              <a:t>:</a:t>
            </a:r>
          </a:p>
          <a:p>
            <a:pPr marL="1082675">
              <a:lnSpc>
                <a:spcPct val="150000"/>
              </a:lnSpc>
              <a:buFont typeface="Wingdings" panose="05000000000000000000" pitchFamily="2" charset="2"/>
              <a:buChar char="Ø"/>
            </a:pPr>
            <a:r>
              <a:rPr lang="en-US" sz="2200" dirty="0" smtClean="0"/>
              <a:t>Network </a:t>
            </a:r>
            <a:r>
              <a:rPr lang="en-US" sz="2200" dirty="0"/>
              <a:t>Software.</a:t>
            </a:r>
          </a:p>
          <a:p>
            <a:pPr marL="1082675">
              <a:lnSpc>
                <a:spcPct val="150000"/>
              </a:lnSpc>
              <a:buFont typeface="Wingdings" panose="05000000000000000000" pitchFamily="2" charset="2"/>
              <a:buChar char="Ø"/>
            </a:pPr>
            <a:r>
              <a:rPr lang="en-US" sz="2200" dirty="0" smtClean="0"/>
              <a:t>Application </a:t>
            </a:r>
            <a:r>
              <a:rPr lang="en-US" sz="2200" dirty="0"/>
              <a:t>Software, &amp;</a:t>
            </a:r>
          </a:p>
          <a:p>
            <a:pPr marL="1082675">
              <a:lnSpc>
                <a:spcPct val="150000"/>
              </a:lnSpc>
              <a:buFont typeface="Wingdings" panose="05000000000000000000" pitchFamily="2" charset="2"/>
              <a:buChar char="Ø"/>
            </a:pPr>
            <a:r>
              <a:rPr lang="en-US" sz="2200" dirty="0" smtClean="0"/>
              <a:t>Network </a:t>
            </a:r>
            <a:r>
              <a:rPr lang="en-US" sz="2200" dirty="0"/>
              <a:t>Hardware</a:t>
            </a:r>
            <a:endParaRPr lang="en-US" sz="2200" dirty="0" smtClean="0"/>
          </a:p>
        </p:txBody>
      </p:sp>
    </p:spTree>
    <p:extLst>
      <p:ext uri="{BB962C8B-B14F-4D97-AF65-F5344CB8AC3E}">
        <p14:creationId xmlns:p14="http://schemas.microsoft.com/office/powerpoint/2010/main" val="17519925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156319"/>
            <a:ext cx="8229600" cy="1544489"/>
          </a:xfrm>
        </p:spPr>
        <p:txBody>
          <a:bodyPr>
            <a:noAutofit/>
          </a:bodyPr>
          <a:lstStyle/>
          <a:p>
            <a:r>
              <a:rPr lang="en-US" sz="5400" b="1" dirty="0"/>
              <a:t>NETWORK SOFTWARE</a:t>
            </a:r>
          </a:p>
        </p:txBody>
      </p:sp>
      <p:sp>
        <p:nvSpPr>
          <p:cNvPr id="5" name="Rectangle 3"/>
          <p:cNvSpPr txBox="1">
            <a:spLocks noChangeArrowheads="1"/>
          </p:cNvSpPr>
          <p:nvPr/>
        </p:nvSpPr>
        <p:spPr bwMode="auto">
          <a:xfrm>
            <a:off x="611560" y="1484784"/>
            <a:ext cx="7776864" cy="50337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gn="just">
              <a:lnSpc>
                <a:spcPct val="200000"/>
              </a:lnSpc>
            </a:pPr>
            <a:r>
              <a:rPr lang="en-US" sz="1900" dirty="0" smtClean="0"/>
              <a:t>This consists </a:t>
            </a:r>
            <a:r>
              <a:rPr lang="en-US" sz="1900" dirty="0"/>
              <a:t>of computer programs that establish protocols, or rules for computers </a:t>
            </a:r>
            <a:r>
              <a:rPr lang="en-US" sz="1900" dirty="0" smtClean="0"/>
              <a:t>to talk </a:t>
            </a:r>
            <a:r>
              <a:rPr lang="en-US" sz="1900" dirty="0"/>
              <a:t>to one another. </a:t>
            </a:r>
            <a:endParaRPr lang="en-US" sz="1900" dirty="0" smtClean="0"/>
          </a:p>
          <a:p>
            <a:pPr algn="just">
              <a:lnSpc>
                <a:spcPct val="200000"/>
              </a:lnSpc>
            </a:pPr>
            <a:r>
              <a:rPr lang="en-US" sz="1900" dirty="0" smtClean="0"/>
              <a:t>These </a:t>
            </a:r>
            <a:r>
              <a:rPr lang="en-US" sz="1900" dirty="0"/>
              <a:t>protocols are carried out by sending, and receiving </a:t>
            </a:r>
            <a:r>
              <a:rPr lang="en-US" sz="1900" dirty="0" smtClean="0"/>
              <a:t>formatted instructions </a:t>
            </a:r>
            <a:r>
              <a:rPr lang="en-US" sz="1900" dirty="0"/>
              <a:t>of data called </a:t>
            </a:r>
            <a:r>
              <a:rPr lang="en-US" sz="1900" b="1" i="1" dirty="0"/>
              <a:t>packets</a:t>
            </a:r>
            <a:r>
              <a:rPr lang="en-US" sz="1900" dirty="0"/>
              <a:t>. </a:t>
            </a:r>
            <a:endParaRPr lang="en-US" sz="1900" dirty="0" smtClean="0"/>
          </a:p>
          <a:p>
            <a:pPr algn="just">
              <a:lnSpc>
                <a:spcPct val="200000"/>
              </a:lnSpc>
            </a:pPr>
            <a:r>
              <a:rPr lang="en-US" sz="1900" dirty="0" smtClean="0"/>
              <a:t>Protocols </a:t>
            </a:r>
            <a:r>
              <a:rPr lang="en-US" sz="1900" dirty="0"/>
              <a:t>make reasonable connections between </a:t>
            </a:r>
            <a:r>
              <a:rPr lang="en-US" sz="1900" dirty="0" smtClean="0"/>
              <a:t>network applications</a:t>
            </a:r>
            <a:r>
              <a:rPr lang="en-US" sz="1900" dirty="0"/>
              <a:t>, direct the movement of packets through the physical network, and reduce </a:t>
            </a:r>
            <a:r>
              <a:rPr lang="en-US" sz="1900" dirty="0" smtClean="0"/>
              <a:t>the chances </a:t>
            </a:r>
            <a:r>
              <a:rPr lang="en-US" sz="1900" dirty="0"/>
              <a:t>of clashes between packets sent at the same time.</a:t>
            </a:r>
            <a:endParaRPr lang="en-US" sz="1900" dirty="0" smtClean="0"/>
          </a:p>
        </p:txBody>
      </p:sp>
    </p:spTree>
    <p:extLst>
      <p:ext uri="{BB962C8B-B14F-4D97-AF65-F5344CB8AC3E}">
        <p14:creationId xmlns:p14="http://schemas.microsoft.com/office/powerpoint/2010/main" val="994859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84311"/>
            <a:ext cx="8229600" cy="1544489"/>
          </a:xfrm>
        </p:spPr>
        <p:txBody>
          <a:bodyPr>
            <a:noAutofit/>
          </a:bodyPr>
          <a:lstStyle/>
          <a:p>
            <a:r>
              <a:rPr lang="en-US" sz="4800" b="1" dirty="0"/>
              <a:t>APPLICATION SOFTWARE</a:t>
            </a:r>
          </a:p>
        </p:txBody>
      </p:sp>
      <p:sp>
        <p:nvSpPr>
          <p:cNvPr id="5" name="Rectangle 3"/>
          <p:cNvSpPr txBox="1">
            <a:spLocks noChangeArrowheads="1"/>
          </p:cNvSpPr>
          <p:nvPr/>
        </p:nvSpPr>
        <p:spPr bwMode="auto">
          <a:xfrm>
            <a:off x="611560" y="1484784"/>
            <a:ext cx="7776864" cy="5373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gn="just"/>
            <a:r>
              <a:rPr lang="en-US" sz="1900" dirty="0" smtClean="0"/>
              <a:t>This </a:t>
            </a:r>
            <a:r>
              <a:rPr lang="en-US" sz="1900" dirty="0"/>
              <a:t>consist of computer programs that interface with network users and permit the sharing </a:t>
            </a:r>
            <a:r>
              <a:rPr lang="en-US" sz="1900" dirty="0" smtClean="0"/>
              <a:t>of information </a:t>
            </a:r>
            <a:r>
              <a:rPr lang="en-US" sz="1900" dirty="0"/>
              <a:t>such as files, graphics, videos, and other resources like printers and disks. </a:t>
            </a:r>
            <a:endParaRPr lang="en-US" sz="1900" dirty="0" smtClean="0"/>
          </a:p>
          <a:p>
            <a:pPr algn="just"/>
            <a:r>
              <a:rPr lang="en-US" sz="1900" dirty="0" smtClean="0"/>
              <a:t>The types </a:t>
            </a:r>
            <a:r>
              <a:rPr lang="en-US" sz="1900" dirty="0"/>
              <a:t>of application software are called client-server and peer-to-peer.</a:t>
            </a:r>
          </a:p>
          <a:p>
            <a:pPr algn="just"/>
            <a:r>
              <a:rPr lang="en-US" sz="1900" b="1" i="1" dirty="0"/>
              <a:t>Client/Server Application</a:t>
            </a:r>
            <a:r>
              <a:rPr lang="en-US" sz="1900" b="1" dirty="0"/>
              <a:t>: </a:t>
            </a:r>
            <a:r>
              <a:rPr lang="en-US" sz="1900" dirty="0"/>
              <a:t>- </a:t>
            </a:r>
            <a:endParaRPr lang="en-US" sz="1900" dirty="0" smtClean="0"/>
          </a:p>
          <a:p>
            <a:pPr marL="717550" algn="just">
              <a:buFont typeface="Wingdings" panose="05000000000000000000" pitchFamily="2" charset="2"/>
              <a:buChar char="Ø"/>
            </a:pPr>
            <a:r>
              <a:rPr lang="en-US" sz="1900" i="1" dirty="0" smtClean="0"/>
              <a:t>Client </a:t>
            </a:r>
            <a:r>
              <a:rPr lang="en-US" sz="1900" dirty="0"/>
              <a:t>computers send requests for information or requests </a:t>
            </a:r>
            <a:r>
              <a:rPr lang="en-US" sz="1900" dirty="0" smtClean="0"/>
              <a:t>to use </a:t>
            </a:r>
            <a:r>
              <a:rPr lang="en-US" sz="1900" dirty="0"/>
              <a:t>resources to other computers in a network, called </a:t>
            </a:r>
            <a:r>
              <a:rPr lang="en-US" sz="1900" b="1" i="1" dirty="0"/>
              <a:t>Servers</a:t>
            </a:r>
            <a:r>
              <a:rPr lang="en-US" sz="1900" dirty="0"/>
              <a:t>. </a:t>
            </a:r>
            <a:endParaRPr lang="en-US" sz="1900" dirty="0" smtClean="0"/>
          </a:p>
          <a:p>
            <a:pPr marL="717550" algn="just">
              <a:buFont typeface="Wingdings" panose="05000000000000000000" pitchFamily="2" charset="2"/>
              <a:buChar char="Ø"/>
            </a:pPr>
            <a:r>
              <a:rPr lang="en-US" sz="1900" dirty="0" smtClean="0"/>
              <a:t>Network </a:t>
            </a:r>
            <a:r>
              <a:rPr lang="en-US" sz="1900" dirty="0"/>
              <a:t>and web </a:t>
            </a:r>
            <a:r>
              <a:rPr lang="en-US" sz="1900" dirty="0" smtClean="0"/>
              <a:t>servers control </a:t>
            </a:r>
            <a:r>
              <a:rPr lang="en-US" sz="1900" dirty="0"/>
              <a:t>data and applications commonly. </a:t>
            </a:r>
            <a:endParaRPr lang="en-US" sz="1900" dirty="0" smtClean="0"/>
          </a:p>
          <a:p>
            <a:pPr marL="717550" algn="just">
              <a:buFont typeface="Wingdings" panose="05000000000000000000" pitchFamily="2" charset="2"/>
              <a:buChar char="Ø"/>
            </a:pPr>
            <a:r>
              <a:rPr lang="en-US" sz="1900" dirty="0" smtClean="0"/>
              <a:t>Often</a:t>
            </a:r>
            <a:r>
              <a:rPr lang="en-US" sz="1900" dirty="0"/>
              <a:t>, as a network grows and more computers </a:t>
            </a:r>
            <a:r>
              <a:rPr lang="en-US" sz="1900" dirty="0" smtClean="0"/>
              <a:t>are added</a:t>
            </a:r>
            <a:r>
              <a:rPr lang="en-US" sz="1900" dirty="0"/>
              <a:t>, one computer will act as a </a:t>
            </a:r>
            <a:r>
              <a:rPr lang="en-US" sz="1900" b="1" i="1" dirty="0"/>
              <a:t>server</a:t>
            </a:r>
            <a:r>
              <a:rPr lang="en-US" sz="1900" i="1" dirty="0"/>
              <a:t>. </a:t>
            </a:r>
            <a:endParaRPr lang="en-US" sz="1900" i="1" dirty="0" smtClean="0"/>
          </a:p>
          <a:p>
            <a:pPr marL="717550" algn="just">
              <a:buFont typeface="Wingdings" panose="05000000000000000000" pitchFamily="2" charset="2"/>
              <a:buChar char="Ø"/>
            </a:pPr>
            <a:r>
              <a:rPr lang="en-US" sz="1900" i="1" dirty="0" smtClean="0"/>
              <a:t>A </a:t>
            </a:r>
            <a:r>
              <a:rPr lang="en-US" sz="1900" i="1" dirty="0"/>
              <a:t>server is a </a:t>
            </a:r>
            <a:r>
              <a:rPr lang="en-US" sz="1900" dirty="0"/>
              <a:t>central storage point for files </a:t>
            </a:r>
            <a:r>
              <a:rPr lang="en-US" sz="1900" dirty="0" smtClean="0"/>
              <a:t>or application </a:t>
            </a:r>
            <a:r>
              <a:rPr lang="en-US" sz="1900" dirty="0"/>
              <a:t>programs shared on the network</a:t>
            </a:r>
            <a:r>
              <a:rPr lang="en-US" sz="1900" dirty="0" smtClean="0"/>
              <a:t>.</a:t>
            </a:r>
            <a:endParaRPr lang="en-US" sz="1900" dirty="0"/>
          </a:p>
        </p:txBody>
      </p:sp>
    </p:spTree>
    <p:extLst>
      <p:ext uri="{BB962C8B-B14F-4D97-AF65-F5344CB8AC3E}">
        <p14:creationId xmlns:p14="http://schemas.microsoft.com/office/powerpoint/2010/main" val="22918828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84311"/>
            <a:ext cx="8229600" cy="1544489"/>
          </a:xfrm>
        </p:spPr>
        <p:txBody>
          <a:bodyPr>
            <a:noAutofit/>
          </a:bodyPr>
          <a:lstStyle/>
          <a:p>
            <a:r>
              <a:rPr lang="en-US" sz="4800" b="1" dirty="0"/>
              <a:t>APPLICATION SOFTWARE</a:t>
            </a:r>
          </a:p>
        </p:txBody>
      </p:sp>
      <p:sp>
        <p:nvSpPr>
          <p:cNvPr id="5" name="Rectangle 3"/>
          <p:cNvSpPr txBox="1">
            <a:spLocks noChangeArrowheads="1"/>
          </p:cNvSpPr>
          <p:nvPr/>
        </p:nvSpPr>
        <p:spPr bwMode="auto">
          <a:xfrm>
            <a:off x="611560" y="1484784"/>
            <a:ext cx="7776864" cy="5373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gn="just">
              <a:lnSpc>
                <a:spcPct val="150000"/>
              </a:lnSpc>
            </a:pPr>
            <a:r>
              <a:rPr lang="en-US" sz="1900" b="1" i="1" dirty="0" smtClean="0"/>
              <a:t>Peer-to-peer</a:t>
            </a:r>
            <a:r>
              <a:rPr lang="en-US" sz="1900" b="1" dirty="0"/>
              <a:t>: </a:t>
            </a:r>
            <a:r>
              <a:rPr lang="en-US" sz="1900" dirty="0"/>
              <a:t>- </a:t>
            </a:r>
            <a:endParaRPr lang="en-US" sz="1900" dirty="0" smtClean="0"/>
          </a:p>
          <a:p>
            <a:pPr marL="717550" algn="just">
              <a:lnSpc>
                <a:spcPct val="150000"/>
              </a:lnSpc>
              <a:buFont typeface="Wingdings" panose="05000000000000000000" pitchFamily="2" charset="2"/>
              <a:buChar char="Ø"/>
            </a:pPr>
            <a:r>
              <a:rPr lang="en-US" sz="1900" dirty="0" smtClean="0"/>
              <a:t>In </a:t>
            </a:r>
            <a:r>
              <a:rPr lang="en-US" sz="1900" dirty="0"/>
              <a:t>a peer-to-peer network, (sometimes called workgroup) you don’t need </a:t>
            </a:r>
            <a:r>
              <a:rPr lang="en-US" sz="1900" dirty="0" smtClean="0"/>
              <a:t>to have </a:t>
            </a:r>
            <a:r>
              <a:rPr lang="en-US" sz="1900" dirty="0"/>
              <a:t>a dedicated </a:t>
            </a:r>
            <a:r>
              <a:rPr lang="en-US" sz="1900" i="1" dirty="0"/>
              <a:t>server </a:t>
            </a:r>
            <a:r>
              <a:rPr lang="en-US" sz="1900" dirty="0"/>
              <a:t>in your network, because all nodes on the network have </a:t>
            </a:r>
            <a:r>
              <a:rPr lang="en-US" sz="1900" dirty="0" smtClean="0"/>
              <a:t>equal relationship </a:t>
            </a:r>
            <a:r>
              <a:rPr lang="en-US" sz="1900" dirty="0"/>
              <a:t>to all others. </a:t>
            </a:r>
            <a:endParaRPr lang="en-US" sz="1900" dirty="0" smtClean="0"/>
          </a:p>
          <a:p>
            <a:pPr marL="717550" algn="just">
              <a:lnSpc>
                <a:spcPct val="150000"/>
              </a:lnSpc>
              <a:buFont typeface="Wingdings" panose="05000000000000000000" pitchFamily="2" charset="2"/>
              <a:buChar char="Ø"/>
            </a:pPr>
            <a:r>
              <a:rPr lang="en-US" sz="1900" dirty="0" smtClean="0"/>
              <a:t>Therefore</a:t>
            </a:r>
            <a:r>
              <a:rPr lang="en-US" sz="1900" dirty="0"/>
              <a:t>, computers send messages and requests directly to </a:t>
            </a:r>
            <a:r>
              <a:rPr lang="en-US" sz="1900" dirty="0" smtClean="0"/>
              <a:t>other computers </a:t>
            </a:r>
            <a:r>
              <a:rPr lang="en-US" sz="1900" dirty="0"/>
              <a:t>of their social class on the network without a </a:t>
            </a:r>
            <a:r>
              <a:rPr lang="en-US" sz="1900" i="1" dirty="0"/>
              <a:t>Server </a:t>
            </a:r>
            <a:r>
              <a:rPr lang="en-US" sz="1900" dirty="0"/>
              <a:t>linkage.</a:t>
            </a:r>
            <a:endParaRPr lang="en-US" sz="1900" dirty="0" smtClean="0"/>
          </a:p>
        </p:txBody>
      </p:sp>
    </p:spTree>
    <p:extLst>
      <p:ext uri="{BB962C8B-B14F-4D97-AF65-F5344CB8AC3E}">
        <p14:creationId xmlns:p14="http://schemas.microsoft.com/office/powerpoint/2010/main" val="34227924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84311"/>
            <a:ext cx="8229600" cy="1544489"/>
          </a:xfrm>
        </p:spPr>
        <p:txBody>
          <a:bodyPr>
            <a:noAutofit/>
          </a:bodyPr>
          <a:lstStyle/>
          <a:p>
            <a:pPr algn="ctr"/>
            <a:r>
              <a:rPr lang="en-US" sz="5400" b="1" dirty="0"/>
              <a:t>NETWORK HARDWARE</a:t>
            </a:r>
          </a:p>
        </p:txBody>
      </p:sp>
      <p:sp>
        <p:nvSpPr>
          <p:cNvPr id="5" name="Rectangle 3"/>
          <p:cNvSpPr txBox="1">
            <a:spLocks noChangeArrowheads="1"/>
          </p:cNvSpPr>
          <p:nvPr/>
        </p:nvSpPr>
        <p:spPr bwMode="auto">
          <a:xfrm>
            <a:off x="611560" y="1484784"/>
            <a:ext cx="7776864" cy="5373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gn="just">
              <a:lnSpc>
                <a:spcPct val="150000"/>
              </a:lnSpc>
            </a:pPr>
            <a:r>
              <a:rPr lang="en-US" sz="1800" dirty="0" smtClean="0"/>
              <a:t>This </a:t>
            </a:r>
            <a:r>
              <a:rPr lang="en-US" sz="1800" dirty="0"/>
              <a:t>consists of the computers, nodes and the physical components such as: </a:t>
            </a:r>
            <a:r>
              <a:rPr lang="en-US" sz="1800" b="1" dirty="0"/>
              <a:t>cables</a:t>
            </a:r>
            <a:r>
              <a:rPr lang="en-US" sz="1800" b="1" dirty="0" smtClean="0"/>
              <a:t>, connectors </a:t>
            </a:r>
            <a:r>
              <a:rPr lang="en-US" sz="1800" b="1" dirty="0"/>
              <a:t>and network adapter (Network Interface Card, modem, wireless cards, </a:t>
            </a:r>
            <a:r>
              <a:rPr lang="en-US" sz="1800" b="1" dirty="0" err="1"/>
              <a:t>e.t.c</a:t>
            </a:r>
            <a:r>
              <a:rPr lang="en-US" sz="1800" b="1" dirty="0"/>
              <a:t>.)</a:t>
            </a:r>
            <a:r>
              <a:rPr lang="en-US" sz="1800" dirty="0"/>
              <a:t> </a:t>
            </a:r>
            <a:r>
              <a:rPr lang="en-US" sz="1800" dirty="0" smtClean="0"/>
              <a:t>that interconnect </a:t>
            </a:r>
            <a:r>
              <a:rPr lang="en-US" sz="1800" dirty="0"/>
              <a:t>them together. </a:t>
            </a:r>
            <a:endParaRPr lang="en-US" sz="1800" dirty="0" smtClean="0"/>
          </a:p>
          <a:p>
            <a:pPr algn="just">
              <a:lnSpc>
                <a:spcPct val="150000"/>
              </a:lnSpc>
            </a:pPr>
            <a:r>
              <a:rPr lang="en-US" sz="1800" dirty="0" smtClean="0"/>
              <a:t>Whereas </a:t>
            </a:r>
            <a:r>
              <a:rPr lang="en-US" sz="1800" b="1" dirty="0"/>
              <a:t>the cables and connectors </a:t>
            </a:r>
            <a:r>
              <a:rPr lang="en-US" sz="1800" dirty="0"/>
              <a:t>serve as a pathway for </a:t>
            </a:r>
            <a:r>
              <a:rPr lang="en-US" sz="1800" dirty="0" smtClean="0"/>
              <a:t>the smooth </a:t>
            </a:r>
            <a:r>
              <a:rPr lang="en-US" sz="1800" dirty="0"/>
              <a:t>flow of electrical signals in-between devices</a:t>
            </a:r>
            <a:r>
              <a:rPr lang="en-US" sz="1800" dirty="0" smtClean="0"/>
              <a:t>,</a:t>
            </a:r>
          </a:p>
          <a:p>
            <a:pPr algn="just">
              <a:lnSpc>
                <a:spcPct val="150000"/>
              </a:lnSpc>
            </a:pPr>
            <a:r>
              <a:rPr lang="en-US" sz="1800" b="1" dirty="0" smtClean="0"/>
              <a:t>the </a:t>
            </a:r>
            <a:r>
              <a:rPr lang="en-US" sz="1800" b="1" dirty="0"/>
              <a:t>network adapter </a:t>
            </a:r>
            <a:r>
              <a:rPr lang="en-US" sz="1800" dirty="0"/>
              <a:t>makes it </a:t>
            </a:r>
            <a:r>
              <a:rPr lang="en-US" sz="1800" dirty="0" smtClean="0"/>
              <a:t>possible for </a:t>
            </a:r>
            <a:r>
              <a:rPr lang="en-US" sz="1800" dirty="0"/>
              <a:t>different computers, with different speeds, voltages and codes to work together, </a:t>
            </a:r>
            <a:r>
              <a:rPr lang="en-US" sz="1800" dirty="0" smtClean="0"/>
              <a:t>following a </a:t>
            </a:r>
            <a:r>
              <a:rPr lang="en-US" sz="1800" dirty="0"/>
              <a:t>set of rules, or a standard known as a </a:t>
            </a:r>
            <a:r>
              <a:rPr lang="en-US" sz="1800" b="1" i="1" dirty="0"/>
              <a:t>Protocol.</a:t>
            </a:r>
            <a:endParaRPr lang="en-US" sz="1800" dirty="0" smtClean="0"/>
          </a:p>
        </p:txBody>
      </p:sp>
    </p:spTree>
    <p:extLst>
      <p:ext uri="{BB962C8B-B14F-4D97-AF65-F5344CB8AC3E}">
        <p14:creationId xmlns:p14="http://schemas.microsoft.com/office/powerpoint/2010/main" val="5818532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84311"/>
            <a:ext cx="8229600" cy="1544489"/>
          </a:xfrm>
        </p:spPr>
        <p:txBody>
          <a:bodyPr>
            <a:noAutofit/>
          </a:bodyPr>
          <a:lstStyle/>
          <a:p>
            <a:pPr algn="ctr"/>
            <a:r>
              <a:rPr lang="en-US" sz="5400" b="1" dirty="0"/>
              <a:t>Basic Components of a Network</a:t>
            </a:r>
          </a:p>
        </p:txBody>
      </p:sp>
      <p:pic>
        <p:nvPicPr>
          <p:cNvPr id="2" name="Picture 1"/>
          <p:cNvPicPr>
            <a:picLocks noChangeAspect="1"/>
          </p:cNvPicPr>
          <p:nvPr/>
        </p:nvPicPr>
        <p:blipFill>
          <a:blip r:embed="rId2"/>
          <a:stretch>
            <a:fillRect/>
          </a:stretch>
        </p:blipFill>
        <p:spPr>
          <a:xfrm>
            <a:off x="457200" y="1628800"/>
            <a:ext cx="8229600" cy="4680519"/>
          </a:xfrm>
          <a:prstGeom prst="rect">
            <a:avLst/>
          </a:prstGeom>
        </p:spPr>
      </p:pic>
    </p:spTree>
    <p:extLst>
      <p:ext uri="{BB962C8B-B14F-4D97-AF65-F5344CB8AC3E}">
        <p14:creationId xmlns:p14="http://schemas.microsoft.com/office/powerpoint/2010/main" val="17625210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84311"/>
            <a:ext cx="8229600" cy="1544489"/>
          </a:xfrm>
        </p:spPr>
        <p:txBody>
          <a:bodyPr>
            <a:noAutofit/>
          </a:bodyPr>
          <a:lstStyle/>
          <a:p>
            <a:pPr algn="ctr"/>
            <a:r>
              <a:rPr lang="en-US" sz="5400" b="1" dirty="0"/>
              <a:t>NETWORKING DEVICES</a:t>
            </a:r>
          </a:p>
        </p:txBody>
      </p:sp>
      <p:sp>
        <p:nvSpPr>
          <p:cNvPr id="5" name="Rectangle 3"/>
          <p:cNvSpPr txBox="1">
            <a:spLocks noChangeArrowheads="1"/>
          </p:cNvSpPr>
          <p:nvPr/>
        </p:nvSpPr>
        <p:spPr bwMode="auto">
          <a:xfrm>
            <a:off x="611560" y="1484784"/>
            <a:ext cx="7776864" cy="5373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marL="984250" indent="-457200" algn="just">
              <a:lnSpc>
                <a:spcPct val="150000"/>
              </a:lnSpc>
              <a:buFont typeface="+mj-lt"/>
              <a:buAutoNum type="arabicPeriod"/>
            </a:pPr>
            <a:r>
              <a:rPr lang="en-US" sz="2100" b="1" dirty="0" smtClean="0"/>
              <a:t>Network </a:t>
            </a:r>
            <a:r>
              <a:rPr lang="en-US" sz="2100" b="1" dirty="0"/>
              <a:t>Interface </a:t>
            </a:r>
            <a:r>
              <a:rPr lang="en-US" sz="2100" b="1" dirty="0" smtClean="0"/>
              <a:t>Cards</a:t>
            </a:r>
          </a:p>
          <a:p>
            <a:pPr marL="984250" indent="-457200" algn="just">
              <a:lnSpc>
                <a:spcPct val="150000"/>
              </a:lnSpc>
              <a:buFont typeface="+mj-lt"/>
              <a:buAutoNum type="arabicPeriod"/>
            </a:pPr>
            <a:r>
              <a:rPr lang="en-US" sz="2100" b="1" dirty="0" smtClean="0"/>
              <a:t>Hubs</a:t>
            </a:r>
          </a:p>
          <a:p>
            <a:pPr marL="984250" indent="-457200" algn="just">
              <a:lnSpc>
                <a:spcPct val="150000"/>
              </a:lnSpc>
              <a:buFont typeface="+mj-lt"/>
              <a:buAutoNum type="arabicPeriod"/>
            </a:pPr>
            <a:r>
              <a:rPr lang="en-US" sz="2100" b="1" dirty="0" smtClean="0"/>
              <a:t>Switches</a:t>
            </a:r>
          </a:p>
          <a:p>
            <a:pPr marL="984250" indent="-457200" algn="just">
              <a:lnSpc>
                <a:spcPct val="150000"/>
              </a:lnSpc>
              <a:buFont typeface="+mj-lt"/>
              <a:buAutoNum type="arabicPeriod"/>
            </a:pPr>
            <a:r>
              <a:rPr lang="en-US" sz="2100" b="1" dirty="0" smtClean="0"/>
              <a:t>Routers</a:t>
            </a:r>
          </a:p>
          <a:p>
            <a:pPr marL="984250" indent="-457200" algn="just">
              <a:lnSpc>
                <a:spcPct val="150000"/>
              </a:lnSpc>
              <a:buFont typeface="+mj-lt"/>
              <a:buAutoNum type="arabicPeriod"/>
            </a:pPr>
            <a:r>
              <a:rPr lang="en-US" sz="2100" b="1" dirty="0" smtClean="0"/>
              <a:t>Modems</a:t>
            </a:r>
          </a:p>
          <a:p>
            <a:pPr marL="984250" indent="-457200" algn="just">
              <a:lnSpc>
                <a:spcPct val="150000"/>
              </a:lnSpc>
              <a:buFont typeface="+mj-lt"/>
              <a:buAutoNum type="arabicPeriod"/>
            </a:pPr>
            <a:r>
              <a:rPr lang="en-US" sz="2100" b="1" dirty="0" smtClean="0"/>
              <a:t>Bridges</a:t>
            </a:r>
          </a:p>
          <a:p>
            <a:pPr marL="984250" indent="-457200" algn="just">
              <a:lnSpc>
                <a:spcPct val="150000"/>
              </a:lnSpc>
              <a:buFont typeface="+mj-lt"/>
              <a:buAutoNum type="arabicPeriod"/>
            </a:pPr>
            <a:r>
              <a:rPr lang="en-US" sz="2100" b="1" dirty="0" smtClean="0"/>
              <a:t>Uninterruptible </a:t>
            </a:r>
            <a:r>
              <a:rPr lang="en-US" sz="2100" b="1" dirty="0"/>
              <a:t>Power </a:t>
            </a:r>
            <a:r>
              <a:rPr lang="en-US" sz="2100" b="1" dirty="0" smtClean="0"/>
              <a:t>Supplies</a:t>
            </a:r>
          </a:p>
          <a:p>
            <a:pPr marL="984250" indent="-457200" algn="just">
              <a:lnSpc>
                <a:spcPct val="150000"/>
              </a:lnSpc>
              <a:buFont typeface="+mj-lt"/>
              <a:buAutoNum type="arabicPeriod"/>
            </a:pPr>
            <a:r>
              <a:rPr lang="en-US" sz="2100" b="1" dirty="0" smtClean="0"/>
              <a:t>Wiring </a:t>
            </a:r>
            <a:r>
              <a:rPr lang="en-US" sz="2100" b="1" dirty="0"/>
              <a:t>and Cable</a:t>
            </a:r>
            <a:endParaRPr lang="en-US" sz="2100" dirty="0" smtClean="0"/>
          </a:p>
        </p:txBody>
      </p:sp>
    </p:spTree>
    <p:extLst>
      <p:ext uri="{BB962C8B-B14F-4D97-AF65-F5344CB8AC3E}">
        <p14:creationId xmlns:p14="http://schemas.microsoft.com/office/powerpoint/2010/main" val="41719524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84311"/>
            <a:ext cx="8229600" cy="1544489"/>
          </a:xfrm>
        </p:spPr>
        <p:txBody>
          <a:bodyPr>
            <a:noAutofit/>
          </a:bodyPr>
          <a:lstStyle/>
          <a:p>
            <a:pPr algn="ctr"/>
            <a:r>
              <a:rPr lang="en-US" sz="5400" b="1" dirty="0" smtClean="0"/>
              <a:t>NETWORK MANAGEMENT</a:t>
            </a:r>
            <a:endParaRPr lang="en-US" sz="5400" b="1" dirty="0"/>
          </a:p>
        </p:txBody>
      </p:sp>
      <p:sp>
        <p:nvSpPr>
          <p:cNvPr id="5" name="Rectangle 3"/>
          <p:cNvSpPr txBox="1">
            <a:spLocks noChangeArrowheads="1"/>
          </p:cNvSpPr>
          <p:nvPr/>
        </p:nvSpPr>
        <p:spPr bwMode="auto">
          <a:xfrm>
            <a:off x="611560" y="1484784"/>
            <a:ext cx="7776864" cy="5373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gn="just">
              <a:lnSpc>
                <a:spcPct val="150000"/>
              </a:lnSpc>
            </a:pPr>
            <a:r>
              <a:rPr lang="en-US" sz="1700" dirty="0" smtClean="0"/>
              <a:t>Network </a:t>
            </a:r>
            <a:r>
              <a:rPr lang="en-US" sz="1700" dirty="0"/>
              <a:t>management software allows you to monitor traffic flows, configure </a:t>
            </a:r>
            <a:r>
              <a:rPr lang="en-US" sz="1700" dirty="0" smtClean="0"/>
              <a:t>new equipment</a:t>
            </a:r>
            <a:r>
              <a:rPr lang="en-US" sz="1700" dirty="0"/>
              <a:t>, and troubleshoot network problems. </a:t>
            </a:r>
            <a:endParaRPr lang="en-US" sz="1700" dirty="0" smtClean="0"/>
          </a:p>
          <a:p>
            <a:pPr algn="just">
              <a:lnSpc>
                <a:spcPct val="150000"/>
              </a:lnSpc>
            </a:pPr>
            <a:r>
              <a:rPr lang="en-US" sz="1700" dirty="0" smtClean="0"/>
              <a:t>“</a:t>
            </a:r>
            <a:r>
              <a:rPr lang="en-US" sz="1700" dirty="0"/>
              <a:t>Managed” hubs and switches have </a:t>
            </a:r>
            <a:r>
              <a:rPr lang="en-US" sz="1700" dirty="0" smtClean="0"/>
              <a:t>the ability </a:t>
            </a:r>
            <a:r>
              <a:rPr lang="en-US" sz="1700" dirty="0"/>
              <a:t>to tell network management software “console” how much data they are handling</a:t>
            </a:r>
            <a:r>
              <a:rPr lang="en-US" sz="1700" dirty="0" smtClean="0"/>
              <a:t>, sound </a:t>
            </a:r>
            <a:r>
              <a:rPr lang="en-US" sz="1700" dirty="0"/>
              <a:t>alarms when problems occur, and record traffic volumes over time to help </a:t>
            </a:r>
            <a:r>
              <a:rPr lang="en-US" sz="1700" dirty="0" smtClean="0"/>
              <a:t>you understand </a:t>
            </a:r>
            <a:r>
              <a:rPr lang="en-US" sz="1700" dirty="0"/>
              <a:t>when users are placing the heaviest demands on the network throughout the day.</a:t>
            </a:r>
          </a:p>
          <a:p>
            <a:pPr algn="just">
              <a:lnSpc>
                <a:spcPct val="150000"/>
              </a:lnSpc>
            </a:pPr>
            <a:r>
              <a:rPr lang="en-US" sz="1700" dirty="0"/>
              <a:t>While not essential for very small networks, network management becomes </a:t>
            </a:r>
            <a:r>
              <a:rPr lang="en-US" sz="1700" dirty="0" smtClean="0"/>
              <a:t>increasingly important </a:t>
            </a:r>
            <a:r>
              <a:rPr lang="en-US" sz="1700" dirty="0"/>
              <a:t>as the network grows. </a:t>
            </a:r>
            <a:endParaRPr lang="en-US" sz="1700" dirty="0" smtClean="0"/>
          </a:p>
          <a:p>
            <a:pPr algn="just">
              <a:lnSpc>
                <a:spcPct val="150000"/>
              </a:lnSpc>
            </a:pPr>
            <a:r>
              <a:rPr lang="en-US" sz="1700" dirty="0" smtClean="0"/>
              <a:t>Without </a:t>
            </a:r>
            <a:r>
              <a:rPr lang="en-US" sz="1700" dirty="0"/>
              <a:t>it, keeping traffic flowing smoothly throughout </a:t>
            </a:r>
            <a:r>
              <a:rPr lang="en-US" sz="1700" dirty="0" smtClean="0"/>
              <a:t>the network</a:t>
            </a:r>
            <a:r>
              <a:rPr lang="en-US" sz="1700" dirty="0"/>
              <a:t>, adding or moving users, and troubleshooting problems can be difficult.</a:t>
            </a:r>
            <a:endParaRPr lang="en-US" sz="1700" dirty="0" smtClean="0"/>
          </a:p>
        </p:txBody>
      </p:sp>
    </p:spTree>
    <p:extLst>
      <p:ext uri="{BB962C8B-B14F-4D97-AF65-F5344CB8AC3E}">
        <p14:creationId xmlns:p14="http://schemas.microsoft.com/office/powerpoint/2010/main" val="33366953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228327"/>
            <a:ext cx="8229600" cy="1544489"/>
          </a:xfrm>
        </p:spPr>
        <p:txBody>
          <a:bodyPr>
            <a:noAutofit/>
          </a:bodyPr>
          <a:lstStyle/>
          <a:p>
            <a:pPr algn="ctr"/>
            <a:r>
              <a:rPr lang="en-US" sz="9600" b="1" dirty="0" smtClean="0"/>
              <a:t>SECURITY</a:t>
            </a:r>
            <a:endParaRPr lang="en-US" sz="9600" b="1" dirty="0"/>
          </a:p>
        </p:txBody>
      </p:sp>
      <p:sp>
        <p:nvSpPr>
          <p:cNvPr id="5" name="Rectangle 3"/>
          <p:cNvSpPr txBox="1">
            <a:spLocks noChangeArrowheads="1"/>
          </p:cNvSpPr>
          <p:nvPr/>
        </p:nvSpPr>
        <p:spPr bwMode="auto">
          <a:xfrm>
            <a:off x="611560" y="1484784"/>
            <a:ext cx="7776864" cy="5373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gn="just"/>
            <a:r>
              <a:rPr lang="en-US" sz="1800" dirty="0"/>
              <a:t>Your network is bound to carry at least some information you want to protect from </a:t>
            </a:r>
            <a:r>
              <a:rPr lang="en-US" sz="1800" dirty="0" smtClean="0"/>
              <a:t>certain users—students</a:t>
            </a:r>
            <a:r>
              <a:rPr lang="en-US" sz="1800" dirty="0"/>
              <a:t>’ grades and attendance records, for example. </a:t>
            </a:r>
            <a:endParaRPr lang="en-US" sz="1800" dirty="0" smtClean="0"/>
          </a:p>
          <a:p>
            <a:pPr marL="365125" indent="0" algn="just">
              <a:buNone/>
            </a:pPr>
            <a:r>
              <a:rPr lang="en-US" sz="1800" dirty="0" smtClean="0"/>
              <a:t>For </a:t>
            </a:r>
            <a:r>
              <a:rPr lang="en-US" sz="1800" dirty="0"/>
              <a:t>this reason, you’ll want </a:t>
            </a:r>
            <a:r>
              <a:rPr lang="en-US" sz="1800" dirty="0" smtClean="0"/>
              <a:t>to consider </a:t>
            </a:r>
            <a:r>
              <a:rPr lang="en-US" sz="1800" dirty="0"/>
              <a:t>some form of network security. </a:t>
            </a:r>
            <a:endParaRPr lang="en-US" sz="1800" dirty="0" smtClean="0"/>
          </a:p>
          <a:p>
            <a:pPr algn="just"/>
            <a:r>
              <a:rPr lang="en-US" sz="1800" dirty="0" smtClean="0"/>
              <a:t>Security </a:t>
            </a:r>
            <a:r>
              <a:rPr lang="en-US" sz="1800" dirty="0"/>
              <a:t>solutions come in three basic forms: </a:t>
            </a:r>
            <a:endParaRPr lang="en-US" sz="1800" dirty="0" smtClean="0"/>
          </a:p>
          <a:p>
            <a:pPr marL="365125" indent="0" algn="just">
              <a:buNone/>
            </a:pPr>
            <a:r>
              <a:rPr lang="en-US" sz="1800" dirty="0" smtClean="0"/>
              <a:t>user authentication </a:t>
            </a:r>
            <a:r>
              <a:rPr lang="en-US" sz="1800" dirty="0"/>
              <a:t>and authorization, audits, and firewalls. </a:t>
            </a:r>
            <a:endParaRPr lang="en-US" sz="1800" dirty="0" smtClean="0"/>
          </a:p>
          <a:p>
            <a:pPr marL="365125" indent="0" algn="just">
              <a:buNone/>
            </a:pPr>
            <a:r>
              <a:rPr lang="en-US" sz="1800" b="1" dirty="0" smtClean="0"/>
              <a:t>Authentication</a:t>
            </a:r>
            <a:r>
              <a:rPr lang="en-US" sz="1800" dirty="0" smtClean="0"/>
              <a:t> </a:t>
            </a:r>
            <a:r>
              <a:rPr lang="en-US" sz="1800" dirty="0"/>
              <a:t>designates who </a:t>
            </a:r>
            <a:r>
              <a:rPr lang="en-US" sz="1800" dirty="0" smtClean="0"/>
              <a:t>can access </a:t>
            </a:r>
            <a:r>
              <a:rPr lang="en-US" sz="1800" dirty="0"/>
              <a:t>the network, and </a:t>
            </a:r>
            <a:r>
              <a:rPr lang="en-US" sz="1800" b="1" dirty="0" smtClean="0"/>
              <a:t>Authorization</a:t>
            </a:r>
            <a:r>
              <a:rPr lang="en-US" sz="1800" dirty="0" smtClean="0"/>
              <a:t> </a:t>
            </a:r>
            <a:r>
              <a:rPr lang="en-US" sz="1800" dirty="0"/>
              <a:t>governs what they can see when they’re connected.</a:t>
            </a:r>
          </a:p>
          <a:p>
            <a:pPr marL="365125" indent="0" algn="just">
              <a:buNone/>
            </a:pPr>
            <a:r>
              <a:rPr lang="en-US" sz="1800" b="1" dirty="0"/>
              <a:t>Audits</a:t>
            </a:r>
            <a:r>
              <a:rPr lang="en-US" sz="1800" dirty="0"/>
              <a:t> enable you to track user activity to help spot unauthorized activity before it becomes </a:t>
            </a:r>
            <a:r>
              <a:rPr lang="en-US" sz="1800" dirty="0" smtClean="0"/>
              <a:t>a full-fledged </a:t>
            </a:r>
            <a:r>
              <a:rPr lang="en-US" sz="1800" dirty="0"/>
              <a:t>security breach</a:t>
            </a:r>
            <a:r>
              <a:rPr lang="en-US" sz="1800" dirty="0" smtClean="0"/>
              <a:t>.</a:t>
            </a:r>
          </a:p>
          <a:p>
            <a:r>
              <a:rPr lang="en-US" sz="1800" b="1" dirty="0"/>
              <a:t>Firewalls </a:t>
            </a:r>
            <a:r>
              <a:rPr lang="en-US" sz="1800" dirty="0"/>
              <a:t>protect your internal network from invasion through the Internet or </a:t>
            </a:r>
            <a:r>
              <a:rPr lang="en-US" sz="1800" dirty="0" smtClean="0"/>
              <a:t>other external </a:t>
            </a:r>
            <a:r>
              <a:rPr lang="en-US" sz="1800" dirty="0"/>
              <a:t>sources. </a:t>
            </a:r>
            <a:endParaRPr lang="en-US" sz="1800" dirty="0" smtClean="0"/>
          </a:p>
          <a:p>
            <a:pPr marL="365125" indent="0">
              <a:buNone/>
            </a:pPr>
            <a:r>
              <a:rPr lang="en-US" sz="1800" dirty="0" smtClean="0"/>
              <a:t>Firewalls </a:t>
            </a:r>
            <a:r>
              <a:rPr lang="en-US" sz="1800" dirty="0"/>
              <a:t>can restrict access to certain users and control which users can </a:t>
            </a:r>
            <a:r>
              <a:rPr lang="en-US" sz="1800" dirty="0" smtClean="0"/>
              <a:t>use which </a:t>
            </a:r>
            <a:r>
              <a:rPr lang="en-US" sz="1800" dirty="0"/>
              <a:t>applications when dialing in from outside.</a:t>
            </a:r>
            <a:endParaRPr lang="en-US" sz="1800" dirty="0" smtClean="0"/>
          </a:p>
        </p:txBody>
      </p:sp>
    </p:spTree>
    <p:extLst>
      <p:ext uri="{BB962C8B-B14F-4D97-AF65-F5344CB8AC3E}">
        <p14:creationId xmlns:p14="http://schemas.microsoft.com/office/powerpoint/2010/main" val="29018324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1"/>
            <a:ext cx="8229600" cy="1628800"/>
          </a:xfrm>
        </p:spPr>
        <p:txBody>
          <a:bodyPr>
            <a:noAutofit/>
          </a:bodyPr>
          <a:lstStyle/>
          <a:p>
            <a:pPr algn="ctr"/>
            <a:r>
              <a:rPr lang="en-US" sz="5400" b="1" dirty="0" smtClean="0"/>
              <a:t>SYMBOL OF A FIREWALL</a:t>
            </a:r>
            <a:endParaRPr lang="en-US" sz="5400" b="1" dirty="0"/>
          </a:p>
        </p:txBody>
      </p:sp>
      <p:pic>
        <p:nvPicPr>
          <p:cNvPr id="2" name="Picture 1"/>
          <p:cNvPicPr>
            <a:picLocks noChangeAspect="1"/>
          </p:cNvPicPr>
          <p:nvPr/>
        </p:nvPicPr>
        <p:blipFill>
          <a:blip r:embed="rId2"/>
          <a:stretch>
            <a:fillRect/>
          </a:stretch>
        </p:blipFill>
        <p:spPr>
          <a:xfrm>
            <a:off x="457200" y="1628800"/>
            <a:ext cx="8075240" cy="3744415"/>
          </a:xfrm>
          <a:prstGeom prst="rect">
            <a:avLst/>
          </a:prstGeom>
        </p:spPr>
      </p:pic>
    </p:spTree>
    <p:extLst>
      <p:ext uri="{BB962C8B-B14F-4D97-AF65-F5344CB8AC3E}">
        <p14:creationId xmlns:p14="http://schemas.microsoft.com/office/powerpoint/2010/main" val="7605413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385192" y="332655"/>
            <a:ext cx="8229600" cy="1296145"/>
          </a:xfrm>
        </p:spPr>
        <p:txBody>
          <a:bodyPr>
            <a:noAutofit/>
          </a:bodyPr>
          <a:lstStyle/>
          <a:p>
            <a:pPr algn="ctr"/>
            <a:r>
              <a:rPr lang="en-US" b="1" dirty="0"/>
              <a:t>STANDARDS FOR NETWORKS</a:t>
            </a:r>
            <a:endParaRPr lang="en-US" sz="9600" b="1" dirty="0"/>
          </a:p>
        </p:txBody>
      </p:sp>
      <p:sp>
        <p:nvSpPr>
          <p:cNvPr id="5" name="Rectangle 3"/>
          <p:cNvSpPr txBox="1">
            <a:spLocks noChangeArrowheads="1"/>
          </p:cNvSpPr>
          <p:nvPr/>
        </p:nvSpPr>
        <p:spPr bwMode="auto">
          <a:xfrm>
            <a:off x="539552" y="1484784"/>
            <a:ext cx="8075240" cy="51125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gn="just">
              <a:lnSpc>
                <a:spcPct val="150000"/>
              </a:lnSpc>
            </a:pPr>
            <a:r>
              <a:rPr lang="en-US" sz="1900" dirty="0"/>
              <a:t>Communication between interconnected computer systems is a complex activity which </a:t>
            </a:r>
            <a:r>
              <a:rPr lang="en-US" sz="1900" dirty="0" smtClean="0"/>
              <a:t>takes place </a:t>
            </a:r>
            <a:r>
              <a:rPr lang="en-US" sz="1900" dirty="0"/>
              <a:t>at a number of different levels. </a:t>
            </a:r>
            <a:endParaRPr lang="en-US" sz="1900" dirty="0" smtClean="0"/>
          </a:p>
          <a:p>
            <a:pPr algn="just">
              <a:lnSpc>
                <a:spcPct val="150000"/>
              </a:lnSpc>
            </a:pPr>
            <a:r>
              <a:rPr lang="en-US" sz="1900" dirty="0" smtClean="0"/>
              <a:t>At </a:t>
            </a:r>
            <a:r>
              <a:rPr lang="en-US" sz="1900" dirty="0"/>
              <a:t>the lowest level there is the physical transmission </a:t>
            </a:r>
            <a:r>
              <a:rPr lang="en-US" sz="1900" dirty="0" smtClean="0"/>
              <a:t>of signals </a:t>
            </a:r>
            <a:r>
              <a:rPr lang="en-US" sz="1900" dirty="0"/>
              <a:t>and at the highest level there may </a:t>
            </a:r>
            <a:r>
              <a:rPr lang="en-US" sz="1900" dirty="0" smtClean="0"/>
              <a:t>be communication </a:t>
            </a:r>
            <a:r>
              <a:rPr lang="en-US" sz="1900" dirty="0"/>
              <a:t>of messages in </a:t>
            </a:r>
            <a:r>
              <a:rPr lang="en-US" sz="1900" dirty="0" smtClean="0"/>
              <a:t>everyday languages</a:t>
            </a:r>
            <a:r>
              <a:rPr lang="en-US" sz="1900" dirty="0"/>
              <a:t>.</a:t>
            </a:r>
          </a:p>
          <a:p>
            <a:pPr algn="just">
              <a:lnSpc>
                <a:spcPct val="150000"/>
              </a:lnSpc>
            </a:pPr>
            <a:r>
              <a:rPr lang="en-US" sz="1900" dirty="0"/>
              <a:t>In an attempt to form a basis for standardizing such interconnections the </a:t>
            </a:r>
            <a:r>
              <a:rPr lang="en-US" sz="1900" b="1" dirty="0" smtClean="0"/>
              <a:t>International Standard </a:t>
            </a:r>
            <a:r>
              <a:rPr lang="en-US" sz="1900" b="1" dirty="0" err="1"/>
              <a:t>Organisation</a:t>
            </a:r>
            <a:r>
              <a:rPr lang="en-US" sz="1900" b="1" dirty="0"/>
              <a:t> (ISO) </a:t>
            </a:r>
            <a:r>
              <a:rPr lang="en-US" sz="1900" dirty="0"/>
              <a:t>has devised a standard based upon </a:t>
            </a:r>
            <a:r>
              <a:rPr lang="en-US" sz="1900" b="1" dirty="0"/>
              <a:t>seven distinct levels </a:t>
            </a:r>
            <a:r>
              <a:rPr lang="en-US" sz="1900" b="1" dirty="0" smtClean="0"/>
              <a:t>or layers </a:t>
            </a:r>
            <a:r>
              <a:rPr lang="en-US" sz="1900" b="1" dirty="0"/>
              <a:t>of communication. </a:t>
            </a:r>
            <a:endParaRPr lang="en-US" sz="1900" b="1" dirty="0" smtClean="0"/>
          </a:p>
        </p:txBody>
      </p:sp>
    </p:spTree>
    <p:extLst>
      <p:ext uri="{BB962C8B-B14F-4D97-AF65-F5344CB8AC3E}">
        <p14:creationId xmlns:p14="http://schemas.microsoft.com/office/powerpoint/2010/main" val="41336290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385192" y="116633"/>
            <a:ext cx="8229600" cy="1368152"/>
          </a:xfrm>
        </p:spPr>
        <p:txBody>
          <a:bodyPr>
            <a:noAutofit/>
          </a:bodyPr>
          <a:lstStyle/>
          <a:p>
            <a:pPr algn="ctr"/>
            <a:r>
              <a:rPr lang="en-US" b="1" dirty="0"/>
              <a:t>Open Systems Interconnectivity (OSI)</a:t>
            </a:r>
            <a:endParaRPr lang="en-US" sz="9600" b="1" dirty="0"/>
          </a:p>
        </p:txBody>
      </p:sp>
      <p:sp>
        <p:nvSpPr>
          <p:cNvPr id="5" name="Rectangle 3"/>
          <p:cNvSpPr txBox="1">
            <a:spLocks noChangeArrowheads="1"/>
          </p:cNvSpPr>
          <p:nvPr/>
        </p:nvSpPr>
        <p:spPr bwMode="auto">
          <a:xfrm>
            <a:off x="539552" y="1484784"/>
            <a:ext cx="7992888" cy="5256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gn="just"/>
            <a:r>
              <a:rPr lang="en-US" sz="1900" dirty="0" smtClean="0"/>
              <a:t>The </a:t>
            </a:r>
            <a:r>
              <a:rPr lang="en-US" sz="1900" b="1" dirty="0"/>
              <a:t>Open Systems Interconnectivity (</a:t>
            </a:r>
            <a:r>
              <a:rPr lang="en-US" sz="1900" dirty="0"/>
              <a:t>OSI) model has </a:t>
            </a:r>
            <a:r>
              <a:rPr lang="en-US" sz="1900" dirty="0" smtClean="0"/>
              <a:t>seven layers </a:t>
            </a:r>
            <a:r>
              <a:rPr lang="en-US" sz="1900" dirty="0"/>
              <a:t>from the lowest to the highest as follows;</a:t>
            </a:r>
          </a:p>
          <a:p>
            <a:pPr marL="900113" algn="just">
              <a:buFont typeface="Wingdings" panose="05000000000000000000" pitchFamily="2" charset="2"/>
              <a:buChar char="Ø"/>
            </a:pPr>
            <a:r>
              <a:rPr lang="en-US" sz="1900" b="1" dirty="0" smtClean="0"/>
              <a:t>The </a:t>
            </a:r>
            <a:r>
              <a:rPr lang="en-US" sz="1900" b="1" dirty="0"/>
              <a:t>physical </a:t>
            </a:r>
            <a:r>
              <a:rPr lang="en-US" sz="1900" b="1" dirty="0" smtClean="0"/>
              <a:t>layer </a:t>
            </a:r>
            <a:r>
              <a:rPr lang="en-US" sz="1900" dirty="0"/>
              <a:t>is the level of electrical connections, signal </a:t>
            </a:r>
            <a:r>
              <a:rPr lang="en-US" sz="1900" dirty="0" smtClean="0"/>
              <a:t>transmission and </a:t>
            </a:r>
            <a:r>
              <a:rPr lang="en-US" sz="1900" dirty="0"/>
              <a:t>data in raw form</a:t>
            </a:r>
            <a:r>
              <a:rPr lang="en-US" sz="1900" dirty="0" smtClean="0"/>
              <a:t>.</a:t>
            </a:r>
          </a:p>
          <a:p>
            <a:pPr marL="900113" algn="just">
              <a:buFont typeface="Wingdings" panose="05000000000000000000" pitchFamily="2" charset="2"/>
              <a:buChar char="Ø"/>
            </a:pPr>
            <a:r>
              <a:rPr lang="en-US" sz="1900" b="1" dirty="0" smtClean="0"/>
              <a:t>The </a:t>
            </a:r>
            <a:r>
              <a:rPr lang="en-US" sz="1900" b="1" dirty="0"/>
              <a:t>data link layer </a:t>
            </a:r>
            <a:r>
              <a:rPr lang="en-US" sz="1900" dirty="0"/>
              <a:t>is the level at which data is transmitted in small units </a:t>
            </a:r>
            <a:r>
              <a:rPr lang="en-US" sz="1900" dirty="0" smtClean="0"/>
              <a:t>using suitable </a:t>
            </a:r>
            <a:r>
              <a:rPr lang="en-US" sz="1900" dirty="0"/>
              <a:t>protocols to control and correct transmission. </a:t>
            </a:r>
            <a:endParaRPr lang="en-US" sz="1900" dirty="0" smtClean="0"/>
          </a:p>
          <a:p>
            <a:pPr marL="900113" indent="0" algn="just">
              <a:buNone/>
            </a:pPr>
            <a:r>
              <a:rPr lang="en-US" sz="1900" dirty="0" smtClean="0"/>
              <a:t>The </a:t>
            </a:r>
            <a:r>
              <a:rPr lang="en-US" sz="1900" dirty="0"/>
              <a:t>units of data are “</a:t>
            </a:r>
            <a:r>
              <a:rPr lang="en-US" sz="1900" b="1" dirty="0"/>
              <a:t>frames</a:t>
            </a:r>
            <a:r>
              <a:rPr lang="en-US" sz="1900" b="1" dirty="0" smtClean="0"/>
              <a:t>”</a:t>
            </a:r>
            <a:r>
              <a:rPr lang="en-US" sz="1900" dirty="0" smtClean="0"/>
              <a:t>, that </a:t>
            </a:r>
            <a:r>
              <a:rPr lang="en-US" sz="1900" dirty="0"/>
              <a:t>is, asynchronously transmitted characters (i.e. individually at will) </a:t>
            </a:r>
            <a:r>
              <a:rPr lang="en-US" sz="1900" dirty="0" smtClean="0"/>
              <a:t>or synchronously </a:t>
            </a:r>
            <a:r>
              <a:rPr lang="en-US" sz="1900" dirty="0"/>
              <a:t>transmitted bocks of characters (i.e. fixed intervals at a fixed rate).</a:t>
            </a:r>
          </a:p>
          <a:p>
            <a:pPr marL="900113" algn="just">
              <a:buFont typeface="Wingdings" panose="05000000000000000000" pitchFamily="2" charset="2"/>
              <a:buChar char="Ø"/>
            </a:pPr>
            <a:r>
              <a:rPr lang="en-US" sz="1900" b="1" dirty="0" smtClean="0"/>
              <a:t>The </a:t>
            </a:r>
            <a:r>
              <a:rPr lang="en-US" sz="1900" b="1" dirty="0"/>
              <a:t>network layer </a:t>
            </a:r>
            <a:r>
              <a:rPr lang="en-US" sz="1900" dirty="0"/>
              <a:t>is the level which provides control among adjacent sending </a:t>
            </a:r>
            <a:r>
              <a:rPr lang="en-US" sz="1900" dirty="0" smtClean="0"/>
              <a:t>and receiving </a:t>
            </a:r>
            <a:r>
              <a:rPr lang="en-US" sz="1900" dirty="0"/>
              <a:t>points in a network. </a:t>
            </a:r>
            <a:endParaRPr lang="en-US" sz="1900" dirty="0" smtClean="0"/>
          </a:p>
          <a:p>
            <a:pPr marL="900113" indent="0" algn="just">
              <a:buNone/>
            </a:pPr>
            <a:r>
              <a:rPr lang="en-US" sz="1900" dirty="0" smtClean="0"/>
              <a:t>The </a:t>
            </a:r>
            <a:r>
              <a:rPr lang="en-US" sz="1900" dirty="0"/>
              <a:t>sending and receiving points which are able </a:t>
            </a:r>
            <a:r>
              <a:rPr lang="en-US" sz="1900" dirty="0" smtClean="0"/>
              <a:t>to switch </a:t>
            </a:r>
            <a:r>
              <a:rPr lang="en-US" sz="1900" dirty="0"/>
              <a:t>transmission are nodes in the network called </a:t>
            </a:r>
            <a:r>
              <a:rPr lang="en-US" sz="1900" b="1" dirty="0"/>
              <a:t>IMP</a:t>
            </a:r>
            <a:r>
              <a:rPr lang="en-US" sz="1900" dirty="0"/>
              <a:t>s</a:t>
            </a:r>
            <a:r>
              <a:rPr lang="en-US" sz="1900" dirty="0" smtClean="0"/>
              <a:t>.</a:t>
            </a:r>
            <a:endParaRPr lang="en-US" sz="1900" dirty="0"/>
          </a:p>
        </p:txBody>
      </p:sp>
    </p:spTree>
    <p:extLst>
      <p:ext uri="{BB962C8B-B14F-4D97-AF65-F5344CB8AC3E}">
        <p14:creationId xmlns:p14="http://schemas.microsoft.com/office/powerpoint/2010/main" val="42618836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385192" y="116633"/>
            <a:ext cx="8229600" cy="1368152"/>
          </a:xfrm>
        </p:spPr>
        <p:txBody>
          <a:bodyPr>
            <a:noAutofit/>
          </a:bodyPr>
          <a:lstStyle/>
          <a:p>
            <a:pPr algn="ctr"/>
            <a:r>
              <a:rPr lang="en-US" b="1" dirty="0"/>
              <a:t>Open Systems Interconnectivity (OSI)</a:t>
            </a:r>
            <a:endParaRPr lang="en-US" sz="9600" b="1" dirty="0"/>
          </a:p>
        </p:txBody>
      </p:sp>
      <p:sp>
        <p:nvSpPr>
          <p:cNvPr id="5" name="Rectangle 3"/>
          <p:cNvSpPr txBox="1">
            <a:spLocks noChangeArrowheads="1"/>
          </p:cNvSpPr>
          <p:nvPr/>
        </p:nvSpPr>
        <p:spPr bwMode="auto">
          <a:xfrm>
            <a:off x="539552" y="1484784"/>
            <a:ext cx="7992888" cy="5184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marL="900113" algn="just">
              <a:buFont typeface="Wingdings" panose="05000000000000000000" pitchFamily="2" charset="2"/>
              <a:buChar char="Ø"/>
            </a:pPr>
            <a:r>
              <a:rPr lang="en-US" sz="1900" b="1" dirty="0" smtClean="0"/>
              <a:t>The </a:t>
            </a:r>
            <a:r>
              <a:rPr lang="en-US" sz="1900" b="1" dirty="0"/>
              <a:t>transport layer </a:t>
            </a:r>
            <a:r>
              <a:rPr lang="en-US" sz="1900" dirty="0"/>
              <a:t>is the level which provides an end-to-end service between </a:t>
            </a:r>
            <a:r>
              <a:rPr lang="en-US" sz="1900" dirty="0" smtClean="0"/>
              <a:t>host computers</a:t>
            </a:r>
            <a:r>
              <a:rPr lang="en-US" sz="1900" dirty="0"/>
              <a:t>. </a:t>
            </a:r>
            <a:endParaRPr lang="en-US" sz="1900" dirty="0" smtClean="0"/>
          </a:p>
          <a:p>
            <a:pPr marL="900113" indent="0" algn="just">
              <a:buNone/>
            </a:pPr>
            <a:r>
              <a:rPr lang="en-US" sz="1900" dirty="0" smtClean="0"/>
              <a:t>It </a:t>
            </a:r>
            <a:r>
              <a:rPr lang="en-US" sz="1900" dirty="0"/>
              <a:t>deals with addressing, error controls and regulated data transfer.</a:t>
            </a:r>
          </a:p>
          <a:p>
            <a:pPr marL="900113" algn="just">
              <a:buFont typeface="Wingdings" panose="05000000000000000000" pitchFamily="2" charset="2"/>
              <a:buChar char="Ø"/>
            </a:pPr>
            <a:r>
              <a:rPr lang="en-US" sz="1900" b="1" dirty="0" smtClean="0"/>
              <a:t>The </a:t>
            </a:r>
            <a:r>
              <a:rPr lang="en-US" sz="1900" b="1" dirty="0"/>
              <a:t>session layer </a:t>
            </a:r>
            <a:r>
              <a:rPr lang="en-US" sz="1900" dirty="0"/>
              <a:t>is the level which handles the establishment of </a:t>
            </a:r>
            <a:r>
              <a:rPr lang="en-US" sz="1900" dirty="0" smtClean="0"/>
              <a:t>connections between </a:t>
            </a:r>
            <a:r>
              <a:rPr lang="en-US" sz="1900" dirty="0"/>
              <a:t>host and the management of the dialogue. </a:t>
            </a:r>
            <a:endParaRPr lang="en-US" sz="1900" dirty="0" smtClean="0"/>
          </a:p>
          <a:p>
            <a:pPr marL="900113" indent="0" algn="just">
              <a:buNone/>
            </a:pPr>
            <a:r>
              <a:rPr lang="en-US" sz="1900" dirty="0" smtClean="0"/>
              <a:t>Messages </a:t>
            </a:r>
            <a:r>
              <a:rPr lang="en-US" sz="1900" dirty="0"/>
              <a:t>created at this level </a:t>
            </a:r>
            <a:r>
              <a:rPr lang="en-US" sz="1900" dirty="0" smtClean="0"/>
              <a:t>are addressed </a:t>
            </a:r>
            <a:r>
              <a:rPr lang="en-US" sz="1900" dirty="0"/>
              <a:t>by the transport layer and split into packets at the network layer.</a:t>
            </a:r>
          </a:p>
          <a:p>
            <a:pPr marL="900113" algn="just">
              <a:buFont typeface="Wingdings" panose="05000000000000000000" pitchFamily="2" charset="2"/>
              <a:buChar char="Ø"/>
            </a:pPr>
            <a:r>
              <a:rPr lang="en-US" sz="1900" b="1" dirty="0" smtClean="0"/>
              <a:t>The </a:t>
            </a:r>
            <a:r>
              <a:rPr lang="en-US" sz="1900" b="1" dirty="0"/>
              <a:t>presentation layer </a:t>
            </a:r>
            <a:r>
              <a:rPr lang="en-US" sz="1900" dirty="0"/>
              <a:t>is the level which handles the standard forms for </a:t>
            </a:r>
            <a:r>
              <a:rPr lang="en-US" sz="1900" dirty="0" smtClean="0"/>
              <a:t>presenting data</a:t>
            </a:r>
            <a:r>
              <a:rPr lang="en-US" sz="1900" dirty="0"/>
              <a:t>, e.g. the layouts used for VDU displays.</a:t>
            </a:r>
          </a:p>
          <a:p>
            <a:pPr marL="900113" algn="just">
              <a:buFont typeface="Wingdings" panose="05000000000000000000" pitchFamily="2" charset="2"/>
              <a:buChar char="Ø"/>
            </a:pPr>
            <a:r>
              <a:rPr lang="en-US" sz="1900" b="1" dirty="0" smtClean="0"/>
              <a:t>The </a:t>
            </a:r>
            <a:r>
              <a:rPr lang="en-US" sz="1900" b="1" dirty="0" smtClean="0"/>
              <a:t>Application layer </a:t>
            </a:r>
            <a:r>
              <a:rPr lang="en-US" sz="1900" dirty="0"/>
              <a:t>is the level which the user has control over in </a:t>
            </a:r>
            <a:r>
              <a:rPr lang="en-US" sz="1900" dirty="0" smtClean="0"/>
              <a:t>determining what </a:t>
            </a:r>
            <a:r>
              <a:rPr lang="en-US" sz="1900" dirty="0"/>
              <a:t>data is to be transmitted and how it is to be sent or received.</a:t>
            </a:r>
            <a:endParaRPr lang="en-US" sz="1900" dirty="0" smtClean="0"/>
          </a:p>
        </p:txBody>
      </p:sp>
    </p:spTree>
    <p:extLst>
      <p:ext uri="{BB962C8B-B14F-4D97-AF65-F5344CB8AC3E}">
        <p14:creationId xmlns:p14="http://schemas.microsoft.com/office/powerpoint/2010/main" val="8948077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385192" y="332655"/>
            <a:ext cx="8229600" cy="1296145"/>
          </a:xfrm>
        </p:spPr>
        <p:txBody>
          <a:bodyPr>
            <a:noAutofit/>
          </a:bodyPr>
          <a:lstStyle/>
          <a:p>
            <a:pPr algn="ctr"/>
            <a:r>
              <a:rPr lang="en-US" b="1" dirty="0"/>
              <a:t>NETWORKING CHECKLIST</a:t>
            </a:r>
            <a:endParaRPr lang="en-US" sz="9600" b="1" dirty="0"/>
          </a:p>
        </p:txBody>
      </p:sp>
      <p:sp>
        <p:nvSpPr>
          <p:cNvPr id="5" name="Rectangle 3"/>
          <p:cNvSpPr txBox="1">
            <a:spLocks noChangeArrowheads="1"/>
          </p:cNvSpPr>
          <p:nvPr/>
        </p:nvSpPr>
        <p:spPr bwMode="auto">
          <a:xfrm>
            <a:off x="539552" y="1484784"/>
            <a:ext cx="8075240" cy="51125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r>
              <a:rPr lang="en-US" sz="1900" dirty="0"/>
              <a:t>Every network includes:</a:t>
            </a:r>
          </a:p>
          <a:p>
            <a:pPr marL="900113">
              <a:buFont typeface="Wingdings" panose="05000000000000000000" pitchFamily="2" charset="2"/>
              <a:buChar char="Ø"/>
            </a:pPr>
            <a:r>
              <a:rPr lang="en-US" sz="1900" dirty="0" smtClean="0"/>
              <a:t>at </a:t>
            </a:r>
            <a:r>
              <a:rPr lang="en-US" sz="1900" dirty="0"/>
              <a:t>least two computers</a:t>
            </a:r>
          </a:p>
          <a:p>
            <a:pPr marL="900113">
              <a:buFont typeface="Wingdings" panose="05000000000000000000" pitchFamily="2" charset="2"/>
              <a:buChar char="Ø"/>
            </a:pPr>
            <a:r>
              <a:rPr lang="en-US" sz="1900" dirty="0" smtClean="0"/>
              <a:t>a </a:t>
            </a:r>
            <a:r>
              <a:rPr lang="en-US" sz="1900" dirty="0"/>
              <a:t>network interface on each computer , that is the device that lets the computer talk </a:t>
            </a:r>
            <a:r>
              <a:rPr lang="en-US" sz="1900" dirty="0" smtClean="0"/>
              <a:t>to the </a:t>
            </a:r>
            <a:r>
              <a:rPr lang="en-US" sz="1900" dirty="0"/>
              <a:t>network. It is usually called a network interface card [NIC] or adapter</a:t>
            </a:r>
          </a:p>
          <a:p>
            <a:pPr marL="900113">
              <a:buFont typeface="Wingdings" panose="05000000000000000000" pitchFamily="2" charset="2"/>
              <a:buChar char="Ø"/>
            </a:pPr>
            <a:r>
              <a:rPr lang="en-US" sz="1900" dirty="0" smtClean="0"/>
              <a:t>a </a:t>
            </a:r>
            <a:r>
              <a:rPr lang="en-US" sz="1900" dirty="0"/>
              <a:t>connection medium: this is usually a wire or cable, but wireless </a:t>
            </a:r>
            <a:r>
              <a:rPr lang="en-US" sz="1900" dirty="0" smtClean="0"/>
              <a:t>communication between </a:t>
            </a:r>
            <a:r>
              <a:rPr lang="en-US" sz="1900" dirty="0"/>
              <a:t>networked computers and peripherals is also possible.</a:t>
            </a:r>
          </a:p>
          <a:p>
            <a:pPr marL="900113">
              <a:buFont typeface="Wingdings" panose="05000000000000000000" pitchFamily="2" charset="2"/>
              <a:buChar char="Ø"/>
            </a:pPr>
            <a:r>
              <a:rPr lang="en-US" sz="1900" dirty="0" smtClean="0"/>
              <a:t>Network </a:t>
            </a:r>
            <a:r>
              <a:rPr lang="en-US" sz="1900" dirty="0"/>
              <a:t>operating system software: such as Microsoft Windows 95 or Windows NT</a:t>
            </a:r>
            <a:r>
              <a:rPr lang="en-US" sz="1900" dirty="0" smtClean="0"/>
              <a:t>, Novell </a:t>
            </a:r>
            <a:r>
              <a:rPr lang="en-US" sz="1900" dirty="0"/>
              <a:t>NetWare, AppleShare, Linux or Unix.</a:t>
            </a:r>
          </a:p>
          <a:p>
            <a:pPr marL="900113">
              <a:buFont typeface="Wingdings" panose="05000000000000000000" pitchFamily="2" charset="2"/>
              <a:buChar char="Ø"/>
            </a:pPr>
            <a:r>
              <a:rPr lang="en-US" sz="1900" dirty="0" smtClean="0"/>
              <a:t>a </a:t>
            </a:r>
            <a:r>
              <a:rPr lang="en-US" sz="1900" b="1" i="1" dirty="0"/>
              <a:t>hub </a:t>
            </a:r>
            <a:r>
              <a:rPr lang="en-US" sz="1900" dirty="0"/>
              <a:t>or a switch to act as a connection point between the computers and a router </a:t>
            </a:r>
            <a:r>
              <a:rPr lang="en-US" sz="1900" dirty="0" smtClean="0"/>
              <a:t>to connect </a:t>
            </a:r>
            <a:r>
              <a:rPr lang="en-US" sz="1900" dirty="0"/>
              <a:t>different networks together.</a:t>
            </a:r>
            <a:endParaRPr lang="en-US" sz="1900" dirty="0" smtClean="0"/>
          </a:p>
        </p:txBody>
      </p:sp>
    </p:spTree>
    <p:extLst>
      <p:ext uri="{BB962C8B-B14F-4D97-AF65-F5344CB8AC3E}">
        <p14:creationId xmlns:p14="http://schemas.microsoft.com/office/powerpoint/2010/main" val="28379395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1"/>
            <a:ext cx="8229600" cy="1556791"/>
          </a:xfrm>
        </p:spPr>
        <p:txBody>
          <a:bodyPr>
            <a:noAutofit/>
          </a:bodyPr>
          <a:lstStyle/>
          <a:p>
            <a:pPr algn="ctr">
              <a:defRPr/>
            </a:pPr>
            <a:r>
              <a:rPr lang="en-US" b="1" dirty="0"/>
              <a:t>NETWORKING TECHNOLOGIES</a:t>
            </a:r>
            <a:endParaRPr lang="en-GB" sz="6000" b="1" dirty="0">
              <a:latin typeface="Comic Sans MS" panose="030F0702030302020204" pitchFamily="66" charset="0"/>
            </a:endParaRPr>
          </a:p>
        </p:txBody>
      </p:sp>
      <p:sp>
        <p:nvSpPr>
          <p:cNvPr id="5" name="Rectangle 3"/>
          <p:cNvSpPr txBox="1">
            <a:spLocks noChangeArrowheads="1"/>
          </p:cNvSpPr>
          <p:nvPr/>
        </p:nvSpPr>
        <p:spPr bwMode="auto">
          <a:xfrm>
            <a:off x="611560" y="1484784"/>
            <a:ext cx="7776864" cy="5373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r>
              <a:rPr lang="en-US" sz="1900" dirty="0"/>
              <a:t>There are basically two types of computer networks namely:</a:t>
            </a:r>
          </a:p>
          <a:p>
            <a:pPr marL="900113">
              <a:buFont typeface="Wingdings" panose="05000000000000000000" pitchFamily="2" charset="2"/>
              <a:buChar char="Ø"/>
            </a:pPr>
            <a:r>
              <a:rPr lang="en-US" sz="1900" dirty="0" smtClean="0"/>
              <a:t>Local </a:t>
            </a:r>
            <a:r>
              <a:rPr lang="en-US" sz="1900" dirty="0"/>
              <a:t>Area Networks (LAN), and</a:t>
            </a:r>
          </a:p>
          <a:p>
            <a:pPr marL="900113">
              <a:buFont typeface="Wingdings" panose="05000000000000000000" pitchFamily="2" charset="2"/>
              <a:buChar char="Ø"/>
            </a:pPr>
            <a:r>
              <a:rPr lang="en-US" sz="1900" dirty="0" smtClean="0"/>
              <a:t>Wide </a:t>
            </a:r>
            <a:r>
              <a:rPr lang="en-US" sz="1900" dirty="0"/>
              <a:t>Area Networks (WAN).</a:t>
            </a:r>
          </a:p>
          <a:p>
            <a:r>
              <a:rPr lang="en-US" sz="1900" dirty="0"/>
              <a:t>Other types of networks co-exist due to the combination of the LAN or WAN networks</a:t>
            </a:r>
            <a:r>
              <a:rPr lang="en-US" sz="1900" dirty="0" smtClean="0"/>
              <a:t>. Depending </a:t>
            </a:r>
            <a:r>
              <a:rPr lang="en-US" sz="1900" dirty="0"/>
              <a:t>upon the size, computer networks are further </a:t>
            </a:r>
            <a:r>
              <a:rPr lang="en-US" sz="1900" dirty="0" smtClean="0"/>
              <a:t>classified: </a:t>
            </a:r>
          </a:p>
          <a:p>
            <a:pPr marL="900113">
              <a:buFont typeface="Wingdings" panose="05000000000000000000" pitchFamily="2" charset="2"/>
              <a:buChar char="Ø"/>
            </a:pPr>
            <a:r>
              <a:rPr lang="en-US" sz="1900" dirty="0" smtClean="0"/>
              <a:t>Metropolitan Area Networks </a:t>
            </a:r>
            <a:r>
              <a:rPr lang="en-US" sz="1900" dirty="0"/>
              <a:t>(MAN), </a:t>
            </a:r>
            <a:endParaRPr lang="en-US" sz="1900" dirty="0" smtClean="0"/>
          </a:p>
          <a:p>
            <a:pPr marL="900113">
              <a:buFont typeface="Wingdings" panose="05000000000000000000" pitchFamily="2" charset="2"/>
              <a:buChar char="Ø"/>
            </a:pPr>
            <a:r>
              <a:rPr lang="en-US" sz="1900" dirty="0" smtClean="0"/>
              <a:t>Campus </a:t>
            </a:r>
            <a:r>
              <a:rPr lang="en-US" sz="1900" dirty="0"/>
              <a:t>Area Networks (CAN) and </a:t>
            </a:r>
            <a:endParaRPr lang="en-US" sz="1900" dirty="0" smtClean="0"/>
          </a:p>
          <a:p>
            <a:pPr marL="900113">
              <a:buFont typeface="Wingdings" panose="05000000000000000000" pitchFamily="2" charset="2"/>
              <a:buChar char="Ø"/>
            </a:pPr>
            <a:r>
              <a:rPr lang="en-US" sz="1900" dirty="0" smtClean="0"/>
              <a:t>Personal </a:t>
            </a:r>
            <a:r>
              <a:rPr lang="en-US" sz="1900" dirty="0"/>
              <a:t>Area Networks (PAN). </a:t>
            </a:r>
            <a:endParaRPr lang="en-US" sz="1900" dirty="0" smtClean="0"/>
          </a:p>
          <a:p>
            <a:r>
              <a:rPr lang="en-US" sz="1900" dirty="0" smtClean="0"/>
              <a:t>The topology </a:t>
            </a:r>
            <a:r>
              <a:rPr lang="en-US" sz="1900" dirty="0"/>
              <a:t>(topology is the way the computer networks and network resources are connected</a:t>
            </a:r>
            <a:r>
              <a:rPr lang="en-US" sz="1900" dirty="0" smtClean="0"/>
              <a:t>) of </a:t>
            </a:r>
            <a:r>
              <a:rPr lang="en-US" sz="1900" dirty="0"/>
              <a:t>the networking can be classified </a:t>
            </a:r>
            <a:r>
              <a:rPr lang="en-US" sz="1900" dirty="0" smtClean="0"/>
              <a:t>as: </a:t>
            </a:r>
          </a:p>
          <a:p>
            <a:pPr marL="900113">
              <a:buFont typeface="Wingdings" panose="05000000000000000000" pitchFamily="2" charset="2"/>
              <a:buChar char="Ø"/>
            </a:pPr>
            <a:r>
              <a:rPr lang="en-US" sz="1900" dirty="0" smtClean="0"/>
              <a:t>Bus </a:t>
            </a:r>
            <a:r>
              <a:rPr lang="en-US" sz="1900" dirty="0"/>
              <a:t>Network, </a:t>
            </a:r>
            <a:endParaRPr lang="en-US" sz="1900" dirty="0" smtClean="0"/>
          </a:p>
          <a:p>
            <a:pPr marL="900113">
              <a:buFont typeface="Wingdings" panose="05000000000000000000" pitchFamily="2" charset="2"/>
              <a:buChar char="Ø"/>
            </a:pPr>
            <a:r>
              <a:rPr lang="en-US" sz="1900" dirty="0" smtClean="0"/>
              <a:t>Ring </a:t>
            </a:r>
            <a:r>
              <a:rPr lang="en-US" sz="1900" dirty="0"/>
              <a:t>Network and </a:t>
            </a:r>
            <a:endParaRPr lang="en-US" sz="1900" dirty="0" smtClean="0"/>
          </a:p>
          <a:p>
            <a:pPr marL="900113">
              <a:buFont typeface="Wingdings" panose="05000000000000000000" pitchFamily="2" charset="2"/>
              <a:buChar char="Ø"/>
            </a:pPr>
            <a:r>
              <a:rPr lang="en-US" sz="1900" dirty="0" smtClean="0"/>
              <a:t>Star </a:t>
            </a:r>
            <a:r>
              <a:rPr lang="en-US" sz="1900" dirty="0"/>
              <a:t>Network.</a:t>
            </a:r>
          </a:p>
          <a:p>
            <a:endParaRPr lang="en-US" sz="1900" kern="0" dirty="0"/>
          </a:p>
        </p:txBody>
      </p:sp>
    </p:spTree>
    <p:extLst>
      <p:ext uri="{BB962C8B-B14F-4D97-AF65-F5344CB8AC3E}">
        <p14:creationId xmlns:p14="http://schemas.microsoft.com/office/powerpoint/2010/main" val="340828056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1"/>
            <a:ext cx="8229600" cy="1556791"/>
          </a:xfrm>
        </p:spPr>
        <p:txBody>
          <a:bodyPr>
            <a:noAutofit/>
          </a:bodyPr>
          <a:lstStyle/>
          <a:p>
            <a:pPr algn="ctr">
              <a:defRPr/>
            </a:pPr>
            <a:r>
              <a:rPr lang="en-US" b="1" dirty="0"/>
              <a:t>NETWORKING TECHNOLOGIES</a:t>
            </a:r>
            <a:endParaRPr lang="en-GB" sz="6000" b="1" dirty="0">
              <a:latin typeface="Comic Sans MS" panose="030F0702030302020204" pitchFamily="66" charset="0"/>
            </a:endParaRPr>
          </a:p>
        </p:txBody>
      </p:sp>
      <p:sp>
        <p:nvSpPr>
          <p:cNvPr id="5" name="Rectangle 3"/>
          <p:cNvSpPr txBox="1">
            <a:spLocks noChangeArrowheads="1"/>
          </p:cNvSpPr>
          <p:nvPr/>
        </p:nvSpPr>
        <p:spPr bwMode="auto">
          <a:xfrm>
            <a:off x="457200" y="1484784"/>
            <a:ext cx="8075240" cy="5373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150000"/>
              </a:lnSpc>
            </a:pPr>
            <a:r>
              <a:rPr lang="en-US" sz="1900" dirty="0" smtClean="0"/>
              <a:t>The </a:t>
            </a:r>
            <a:r>
              <a:rPr lang="en-US" sz="1900" dirty="0"/>
              <a:t>networking hardware basically consists of wiring, network cards and a hub. </a:t>
            </a:r>
            <a:endParaRPr lang="en-US" sz="1900" dirty="0" smtClean="0"/>
          </a:p>
          <a:p>
            <a:pPr>
              <a:lnSpc>
                <a:spcPct val="150000"/>
              </a:lnSpc>
            </a:pPr>
            <a:r>
              <a:rPr lang="en-US" sz="1900" dirty="0" smtClean="0"/>
              <a:t>Computer network </a:t>
            </a:r>
            <a:r>
              <a:rPr lang="en-US" sz="1900" dirty="0"/>
              <a:t>cards are required so that one computer can understand what the other computer </a:t>
            </a:r>
            <a:r>
              <a:rPr lang="en-US" sz="1900" dirty="0" smtClean="0"/>
              <a:t>is “</a:t>
            </a:r>
            <a:r>
              <a:rPr lang="en-US" sz="1900" dirty="0"/>
              <a:t>talking”. </a:t>
            </a:r>
            <a:endParaRPr lang="en-US" sz="1900" dirty="0" smtClean="0"/>
          </a:p>
          <a:p>
            <a:pPr>
              <a:lnSpc>
                <a:spcPct val="150000"/>
              </a:lnSpc>
            </a:pPr>
            <a:r>
              <a:rPr lang="en-US" sz="1900" dirty="0" smtClean="0"/>
              <a:t>Network </a:t>
            </a:r>
            <a:r>
              <a:rPr lang="en-US" sz="1900" dirty="0"/>
              <a:t>cards have a unique MAC address to identify computers on a </a:t>
            </a:r>
            <a:r>
              <a:rPr lang="en-US" sz="1900" dirty="0" smtClean="0"/>
              <a:t>computer network</a:t>
            </a:r>
            <a:r>
              <a:rPr lang="en-US" sz="1900" dirty="0"/>
              <a:t>. </a:t>
            </a:r>
            <a:endParaRPr lang="en-US" sz="1900" dirty="0" smtClean="0"/>
          </a:p>
          <a:p>
            <a:pPr>
              <a:lnSpc>
                <a:spcPct val="150000"/>
              </a:lnSpc>
            </a:pPr>
            <a:r>
              <a:rPr lang="en-US" sz="1900" dirty="0" smtClean="0"/>
              <a:t>Hubs </a:t>
            </a:r>
            <a:r>
              <a:rPr lang="en-US" sz="1900" dirty="0"/>
              <a:t>connect all the computers in the network. </a:t>
            </a:r>
            <a:endParaRPr lang="en-US" sz="1900" dirty="0" smtClean="0"/>
          </a:p>
          <a:p>
            <a:pPr marL="365125" indent="0">
              <a:lnSpc>
                <a:spcPct val="150000"/>
              </a:lnSpc>
              <a:buNone/>
            </a:pPr>
            <a:r>
              <a:rPr lang="en-US" sz="1900" dirty="0" smtClean="0"/>
              <a:t>Hubs </a:t>
            </a:r>
            <a:r>
              <a:rPr lang="en-US" sz="1900" dirty="0"/>
              <a:t>can also be used to connect </a:t>
            </a:r>
            <a:r>
              <a:rPr lang="en-US" sz="1900" dirty="0" smtClean="0"/>
              <a:t>to other </a:t>
            </a:r>
            <a:r>
              <a:rPr lang="en-US" sz="1900" dirty="0"/>
              <a:t>hubs to increase the size of the computer network. </a:t>
            </a:r>
            <a:endParaRPr lang="en-US" sz="1900" dirty="0" smtClean="0"/>
          </a:p>
          <a:p>
            <a:pPr marL="365125" indent="0">
              <a:lnSpc>
                <a:spcPct val="150000"/>
              </a:lnSpc>
              <a:buNone/>
            </a:pPr>
            <a:r>
              <a:rPr lang="en-US" sz="1900" dirty="0" smtClean="0"/>
              <a:t>Two </a:t>
            </a:r>
            <a:r>
              <a:rPr lang="en-US" sz="1900" dirty="0"/>
              <a:t>computers can be </a:t>
            </a:r>
            <a:r>
              <a:rPr lang="en-US" sz="1900" dirty="0" smtClean="0"/>
              <a:t>connected using </a:t>
            </a:r>
            <a:r>
              <a:rPr lang="en-US" sz="1900" dirty="0"/>
              <a:t>Ethernet cards or phone lines or power lines for communication.</a:t>
            </a:r>
            <a:endParaRPr lang="en-US" sz="1900" kern="0" dirty="0"/>
          </a:p>
        </p:txBody>
      </p:sp>
    </p:spTree>
    <p:extLst>
      <p:ext uri="{BB962C8B-B14F-4D97-AF65-F5344CB8AC3E}">
        <p14:creationId xmlns:p14="http://schemas.microsoft.com/office/powerpoint/2010/main" val="66979284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1"/>
            <a:ext cx="8229600" cy="1556791"/>
          </a:xfrm>
        </p:spPr>
        <p:txBody>
          <a:bodyPr>
            <a:noAutofit/>
          </a:bodyPr>
          <a:lstStyle/>
          <a:p>
            <a:pPr algn="ctr">
              <a:defRPr/>
            </a:pPr>
            <a:r>
              <a:rPr lang="en-US" sz="5400" b="1" dirty="0"/>
              <a:t>NETWORK TOPOLOGY</a:t>
            </a:r>
            <a:endParaRPr lang="en-GB" sz="5400" b="1" dirty="0">
              <a:latin typeface="Comic Sans MS" panose="030F0702030302020204" pitchFamily="66" charset="0"/>
            </a:endParaRPr>
          </a:p>
        </p:txBody>
      </p:sp>
      <p:sp>
        <p:nvSpPr>
          <p:cNvPr id="5" name="Rectangle 3"/>
          <p:cNvSpPr txBox="1">
            <a:spLocks noChangeArrowheads="1"/>
          </p:cNvSpPr>
          <p:nvPr/>
        </p:nvSpPr>
        <p:spPr bwMode="auto">
          <a:xfrm>
            <a:off x="457200" y="1484784"/>
            <a:ext cx="8075240" cy="5373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200000"/>
              </a:lnSpc>
            </a:pPr>
            <a:r>
              <a:rPr lang="en-US" sz="2000" dirty="0"/>
              <a:t>A network topology is the geometric arrangement or layout of computers in a network. </a:t>
            </a:r>
            <a:endParaRPr lang="en-US" sz="2000" dirty="0" smtClean="0"/>
          </a:p>
          <a:p>
            <a:pPr>
              <a:lnSpc>
                <a:spcPct val="200000"/>
              </a:lnSpc>
            </a:pPr>
            <a:r>
              <a:rPr lang="en-US" sz="2000" dirty="0" smtClean="0"/>
              <a:t>The following </a:t>
            </a:r>
            <a:r>
              <a:rPr lang="en-US" sz="2000" dirty="0"/>
              <a:t>types of layouts are common:</a:t>
            </a:r>
          </a:p>
          <a:p>
            <a:pPr marL="900113">
              <a:lnSpc>
                <a:spcPct val="200000"/>
              </a:lnSpc>
              <a:buFont typeface="Wingdings" panose="05000000000000000000" pitchFamily="2" charset="2"/>
              <a:buChar char="Ø"/>
            </a:pPr>
            <a:r>
              <a:rPr lang="en-US" sz="2000" dirty="0" smtClean="0"/>
              <a:t>Point-To-Point </a:t>
            </a:r>
            <a:r>
              <a:rPr lang="en-US" sz="2000" dirty="0"/>
              <a:t>Network </a:t>
            </a:r>
            <a:r>
              <a:rPr lang="en-US" sz="2000" dirty="0" smtClean="0"/>
              <a:t>Topology</a:t>
            </a:r>
          </a:p>
          <a:p>
            <a:pPr marL="900113">
              <a:lnSpc>
                <a:spcPct val="200000"/>
              </a:lnSpc>
              <a:buFont typeface="Wingdings" panose="05000000000000000000" pitchFamily="2" charset="2"/>
              <a:buChar char="Ø"/>
            </a:pPr>
            <a:r>
              <a:rPr lang="en-US" sz="2000" dirty="0" smtClean="0"/>
              <a:t>Bus </a:t>
            </a:r>
            <a:r>
              <a:rPr lang="en-US" sz="2000" dirty="0"/>
              <a:t>Network Topology</a:t>
            </a:r>
          </a:p>
          <a:p>
            <a:pPr marL="900113">
              <a:lnSpc>
                <a:spcPct val="200000"/>
              </a:lnSpc>
              <a:buFont typeface="Wingdings" panose="05000000000000000000" pitchFamily="2" charset="2"/>
              <a:buChar char="Ø"/>
            </a:pPr>
            <a:r>
              <a:rPr lang="en-US" sz="2000" dirty="0" smtClean="0"/>
              <a:t>Star </a:t>
            </a:r>
            <a:r>
              <a:rPr lang="en-US" sz="2000" dirty="0"/>
              <a:t>Network Topology</a:t>
            </a:r>
          </a:p>
          <a:p>
            <a:pPr marL="900113">
              <a:lnSpc>
                <a:spcPct val="200000"/>
              </a:lnSpc>
              <a:buFont typeface="Wingdings" panose="05000000000000000000" pitchFamily="2" charset="2"/>
              <a:buChar char="Ø"/>
            </a:pPr>
            <a:r>
              <a:rPr lang="en-US" sz="2000" dirty="0" smtClean="0"/>
              <a:t>Ring </a:t>
            </a:r>
            <a:r>
              <a:rPr lang="en-US" sz="2000" dirty="0"/>
              <a:t>Network Topology, and</a:t>
            </a:r>
          </a:p>
          <a:p>
            <a:pPr marL="900113">
              <a:lnSpc>
                <a:spcPct val="200000"/>
              </a:lnSpc>
              <a:buFont typeface="Wingdings" panose="05000000000000000000" pitchFamily="2" charset="2"/>
              <a:buChar char="Ø"/>
            </a:pPr>
            <a:r>
              <a:rPr lang="en-US" sz="2000" dirty="0" smtClean="0"/>
              <a:t>Tree </a:t>
            </a:r>
            <a:r>
              <a:rPr lang="en-US" sz="2000" dirty="0"/>
              <a:t>Network Topology.</a:t>
            </a:r>
            <a:endParaRPr lang="en-US" sz="2000" kern="0" dirty="0"/>
          </a:p>
        </p:txBody>
      </p:sp>
    </p:spTree>
    <p:extLst>
      <p:ext uri="{BB962C8B-B14F-4D97-AF65-F5344CB8AC3E}">
        <p14:creationId xmlns:p14="http://schemas.microsoft.com/office/powerpoint/2010/main" val="376817372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1"/>
            <a:ext cx="8229600" cy="1556791"/>
          </a:xfrm>
        </p:spPr>
        <p:txBody>
          <a:bodyPr>
            <a:noAutofit/>
          </a:bodyPr>
          <a:lstStyle/>
          <a:p>
            <a:pPr algn="ctr">
              <a:defRPr/>
            </a:pPr>
            <a:r>
              <a:rPr lang="en-US" b="1" dirty="0"/>
              <a:t>Point-To-Point Network Topology</a:t>
            </a:r>
            <a:endParaRPr lang="en-GB" sz="5400" b="1" dirty="0">
              <a:latin typeface="Comic Sans MS" panose="030F0702030302020204" pitchFamily="66" charset="0"/>
            </a:endParaRPr>
          </a:p>
        </p:txBody>
      </p:sp>
      <p:sp>
        <p:nvSpPr>
          <p:cNvPr id="5" name="Rectangle 3"/>
          <p:cNvSpPr txBox="1">
            <a:spLocks noChangeArrowheads="1"/>
          </p:cNvSpPr>
          <p:nvPr/>
        </p:nvSpPr>
        <p:spPr bwMode="auto">
          <a:xfrm>
            <a:off x="457200" y="1484784"/>
            <a:ext cx="8075240" cy="5373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r>
              <a:rPr lang="en-US" sz="2000" dirty="0"/>
              <a:t>Point-to-point topology is the simplest, consisting of two connected computers</a:t>
            </a:r>
            <a:endParaRPr lang="en-US" sz="2000" kern="0" dirty="0"/>
          </a:p>
        </p:txBody>
      </p:sp>
      <p:pic>
        <p:nvPicPr>
          <p:cNvPr id="2" name="Picture 1"/>
          <p:cNvPicPr>
            <a:picLocks noChangeAspect="1"/>
          </p:cNvPicPr>
          <p:nvPr/>
        </p:nvPicPr>
        <p:blipFill>
          <a:blip r:embed="rId2"/>
          <a:stretch>
            <a:fillRect/>
          </a:stretch>
        </p:blipFill>
        <p:spPr>
          <a:xfrm>
            <a:off x="971600" y="2204864"/>
            <a:ext cx="6912768" cy="4464496"/>
          </a:xfrm>
          <a:prstGeom prst="rect">
            <a:avLst/>
          </a:prstGeom>
        </p:spPr>
      </p:pic>
    </p:spTree>
    <p:extLst>
      <p:ext uri="{BB962C8B-B14F-4D97-AF65-F5344CB8AC3E}">
        <p14:creationId xmlns:p14="http://schemas.microsoft.com/office/powerpoint/2010/main" val="125314190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1"/>
            <a:ext cx="8229600" cy="1556791"/>
          </a:xfrm>
        </p:spPr>
        <p:txBody>
          <a:bodyPr>
            <a:noAutofit/>
          </a:bodyPr>
          <a:lstStyle/>
          <a:p>
            <a:pPr algn="ctr">
              <a:defRPr/>
            </a:pPr>
            <a:r>
              <a:rPr lang="en-US" sz="6000" b="1" dirty="0"/>
              <a:t>Bus Network Topology</a:t>
            </a:r>
            <a:endParaRPr lang="en-GB" sz="6000" b="1" dirty="0">
              <a:latin typeface="Comic Sans MS" panose="030F0702030302020204" pitchFamily="66" charset="0"/>
            </a:endParaRPr>
          </a:p>
        </p:txBody>
      </p:sp>
      <p:sp>
        <p:nvSpPr>
          <p:cNvPr id="5" name="Rectangle 3"/>
          <p:cNvSpPr txBox="1">
            <a:spLocks noChangeArrowheads="1"/>
          </p:cNvSpPr>
          <p:nvPr/>
        </p:nvSpPr>
        <p:spPr bwMode="auto">
          <a:xfrm>
            <a:off x="457200" y="1484784"/>
            <a:ext cx="8075240" cy="5373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r>
              <a:rPr lang="en-US" sz="2000" dirty="0"/>
              <a:t>The bus topology is composed of a single link connected to many computers. </a:t>
            </a:r>
            <a:endParaRPr lang="en-US" sz="2000" dirty="0" smtClean="0"/>
          </a:p>
          <a:p>
            <a:r>
              <a:rPr lang="en-US" sz="2000" dirty="0" smtClean="0"/>
              <a:t>All computers on </a:t>
            </a:r>
            <a:r>
              <a:rPr lang="en-US" sz="2000" dirty="0"/>
              <a:t>this common connection receive all signals transmitted by any attached computer.</a:t>
            </a:r>
            <a:endParaRPr lang="en-US" sz="2000" kern="0" dirty="0"/>
          </a:p>
        </p:txBody>
      </p:sp>
      <p:pic>
        <p:nvPicPr>
          <p:cNvPr id="3" name="Picture 2"/>
          <p:cNvPicPr>
            <a:picLocks noChangeAspect="1"/>
          </p:cNvPicPr>
          <p:nvPr/>
        </p:nvPicPr>
        <p:blipFill>
          <a:blip r:embed="rId2"/>
          <a:stretch>
            <a:fillRect/>
          </a:stretch>
        </p:blipFill>
        <p:spPr>
          <a:xfrm>
            <a:off x="899592" y="2921868"/>
            <a:ext cx="7128792" cy="3819500"/>
          </a:xfrm>
          <a:prstGeom prst="rect">
            <a:avLst/>
          </a:prstGeom>
        </p:spPr>
      </p:pic>
    </p:spTree>
    <p:extLst>
      <p:ext uri="{BB962C8B-B14F-4D97-AF65-F5344CB8AC3E}">
        <p14:creationId xmlns:p14="http://schemas.microsoft.com/office/powerpoint/2010/main" val="55682163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1"/>
            <a:ext cx="8229600" cy="1556791"/>
          </a:xfrm>
        </p:spPr>
        <p:txBody>
          <a:bodyPr>
            <a:noAutofit/>
          </a:bodyPr>
          <a:lstStyle/>
          <a:p>
            <a:pPr algn="ctr">
              <a:defRPr/>
            </a:pPr>
            <a:r>
              <a:rPr lang="en-US" sz="6000" b="1" dirty="0"/>
              <a:t>Star Network Topology</a:t>
            </a:r>
            <a:endParaRPr lang="en-GB" sz="6000" b="1" dirty="0">
              <a:latin typeface="Comic Sans MS" panose="030F0702030302020204" pitchFamily="66" charset="0"/>
            </a:endParaRPr>
          </a:p>
        </p:txBody>
      </p:sp>
      <p:sp>
        <p:nvSpPr>
          <p:cNvPr id="5" name="Rectangle 3"/>
          <p:cNvSpPr txBox="1">
            <a:spLocks noChangeArrowheads="1"/>
          </p:cNvSpPr>
          <p:nvPr/>
        </p:nvSpPr>
        <p:spPr bwMode="auto">
          <a:xfrm>
            <a:off x="457200" y="1484784"/>
            <a:ext cx="8075240" cy="5373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r>
              <a:rPr lang="en-US" sz="1900" dirty="0"/>
              <a:t>A star topology connects many computers to a common hub computer. </a:t>
            </a:r>
            <a:endParaRPr lang="en-US" sz="1900" dirty="0" smtClean="0"/>
          </a:p>
          <a:p>
            <a:r>
              <a:rPr lang="en-US" sz="1900" dirty="0" smtClean="0"/>
              <a:t>This </a:t>
            </a:r>
            <a:r>
              <a:rPr lang="en-US" sz="1900" dirty="0"/>
              <a:t>hub can </a:t>
            </a:r>
            <a:r>
              <a:rPr lang="en-US" sz="1900" dirty="0" smtClean="0"/>
              <a:t>be inactive</a:t>
            </a:r>
            <a:r>
              <a:rPr lang="en-US" sz="1900" dirty="0"/>
              <a:t>, repeating any input to all computers similar to the bus topology, or it can be active</a:t>
            </a:r>
            <a:r>
              <a:rPr lang="en-US" sz="1900" dirty="0" smtClean="0"/>
              <a:t>, selectively </a:t>
            </a:r>
            <a:r>
              <a:rPr lang="en-US" sz="1900" dirty="0"/>
              <a:t>switching inputs to specific destination computers.</a:t>
            </a:r>
            <a:endParaRPr lang="en-US" sz="1900" kern="0" dirty="0"/>
          </a:p>
        </p:txBody>
      </p:sp>
      <p:pic>
        <p:nvPicPr>
          <p:cNvPr id="2" name="Picture 1"/>
          <p:cNvPicPr>
            <a:picLocks noChangeAspect="1"/>
          </p:cNvPicPr>
          <p:nvPr/>
        </p:nvPicPr>
        <p:blipFill>
          <a:blip r:embed="rId2"/>
          <a:stretch>
            <a:fillRect/>
          </a:stretch>
        </p:blipFill>
        <p:spPr>
          <a:xfrm>
            <a:off x="971600" y="3136771"/>
            <a:ext cx="7272808" cy="3604597"/>
          </a:xfrm>
          <a:prstGeom prst="rect">
            <a:avLst/>
          </a:prstGeom>
        </p:spPr>
      </p:pic>
    </p:spTree>
    <p:extLst>
      <p:ext uri="{BB962C8B-B14F-4D97-AF65-F5344CB8AC3E}">
        <p14:creationId xmlns:p14="http://schemas.microsoft.com/office/powerpoint/2010/main" val="90152019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1"/>
            <a:ext cx="8229600" cy="1556791"/>
          </a:xfrm>
        </p:spPr>
        <p:txBody>
          <a:bodyPr>
            <a:noAutofit/>
          </a:bodyPr>
          <a:lstStyle/>
          <a:p>
            <a:pPr algn="ctr">
              <a:defRPr/>
            </a:pPr>
            <a:r>
              <a:rPr lang="en-US" sz="6000" b="1" dirty="0"/>
              <a:t>Ring Network Topology</a:t>
            </a:r>
            <a:endParaRPr lang="en-GB" sz="6000" b="1" dirty="0">
              <a:latin typeface="Comic Sans MS" panose="030F0702030302020204" pitchFamily="66" charset="0"/>
            </a:endParaRPr>
          </a:p>
        </p:txBody>
      </p:sp>
      <p:sp>
        <p:nvSpPr>
          <p:cNvPr id="5" name="Rectangle 3"/>
          <p:cNvSpPr txBox="1">
            <a:spLocks noChangeArrowheads="1"/>
          </p:cNvSpPr>
          <p:nvPr/>
        </p:nvSpPr>
        <p:spPr bwMode="auto">
          <a:xfrm>
            <a:off x="457200" y="1484784"/>
            <a:ext cx="8075240" cy="5373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r>
              <a:rPr lang="en-US" sz="1900" dirty="0"/>
              <a:t>The ring topology uses multiple links to form a circle of computers. </a:t>
            </a:r>
            <a:endParaRPr lang="en-US" sz="1900" dirty="0" smtClean="0"/>
          </a:p>
          <a:p>
            <a:r>
              <a:rPr lang="en-US" sz="1900" dirty="0" smtClean="0"/>
              <a:t>Each </a:t>
            </a:r>
            <a:r>
              <a:rPr lang="en-US" sz="1900" dirty="0"/>
              <a:t>link </a:t>
            </a:r>
            <a:r>
              <a:rPr lang="en-US" sz="1900" dirty="0" smtClean="0"/>
              <a:t>carries information </a:t>
            </a:r>
            <a:r>
              <a:rPr lang="en-US" sz="1900" dirty="0"/>
              <a:t>in one direction. </a:t>
            </a:r>
            <a:endParaRPr lang="en-US" sz="1900" dirty="0" smtClean="0"/>
          </a:p>
          <a:p>
            <a:r>
              <a:rPr lang="en-US" sz="1900" dirty="0" smtClean="0"/>
              <a:t>Information </a:t>
            </a:r>
            <a:r>
              <a:rPr lang="en-US" sz="1900" dirty="0"/>
              <a:t>moves around the ring in sequence from its </a:t>
            </a:r>
            <a:r>
              <a:rPr lang="en-US" sz="1900" dirty="0" smtClean="0"/>
              <a:t>source to </a:t>
            </a:r>
            <a:r>
              <a:rPr lang="en-US" sz="1900" dirty="0"/>
              <a:t>its destination.</a:t>
            </a:r>
            <a:endParaRPr lang="en-US" sz="1900" kern="0" dirty="0"/>
          </a:p>
        </p:txBody>
      </p:sp>
      <p:pic>
        <p:nvPicPr>
          <p:cNvPr id="2" name="Picture 1"/>
          <p:cNvPicPr>
            <a:picLocks noChangeAspect="1"/>
          </p:cNvPicPr>
          <p:nvPr/>
        </p:nvPicPr>
        <p:blipFill>
          <a:blip r:embed="rId2"/>
          <a:stretch>
            <a:fillRect/>
          </a:stretch>
        </p:blipFill>
        <p:spPr>
          <a:xfrm>
            <a:off x="1331640" y="3167592"/>
            <a:ext cx="6336704" cy="3573776"/>
          </a:xfrm>
          <a:prstGeom prst="rect">
            <a:avLst/>
          </a:prstGeom>
        </p:spPr>
      </p:pic>
    </p:spTree>
    <p:extLst>
      <p:ext uri="{BB962C8B-B14F-4D97-AF65-F5344CB8AC3E}">
        <p14:creationId xmlns:p14="http://schemas.microsoft.com/office/powerpoint/2010/main" val="337229415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1"/>
            <a:ext cx="8229600" cy="1556791"/>
          </a:xfrm>
        </p:spPr>
        <p:txBody>
          <a:bodyPr>
            <a:noAutofit/>
          </a:bodyPr>
          <a:lstStyle/>
          <a:p>
            <a:pPr algn="ctr">
              <a:defRPr/>
            </a:pPr>
            <a:r>
              <a:rPr lang="en-US" sz="6000" b="1" dirty="0"/>
              <a:t>Tree Network Topology</a:t>
            </a:r>
            <a:endParaRPr lang="en-GB" sz="6000" b="1" dirty="0">
              <a:latin typeface="Comic Sans MS" panose="030F0702030302020204" pitchFamily="66" charset="0"/>
            </a:endParaRPr>
          </a:p>
        </p:txBody>
      </p:sp>
      <p:sp>
        <p:nvSpPr>
          <p:cNvPr id="5" name="Rectangle 3"/>
          <p:cNvSpPr txBox="1">
            <a:spLocks noChangeArrowheads="1"/>
          </p:cNvSpPr>
          <p:nvPr/>
        </p:nvSpPr>
        <p:spPr bwMode="auto">
          <a:xfrm>
            <a:off x="457200" y="1484784"/>
            <a:ext cx="8579296" cy="5373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r>
              <a:rPr lang="en-US" sz="1800" dirty="0"/>
              <a:t>A Tree topology combines characteristics of bus and star topologies. </a:t>
            </a:r>
            <a:endParaRPr lang="en-US" sz="1800" dirty="0" smtClean="0"/>
          </a:p>
          <a:p>
            <a:r>
              <a:rPr lang="en-US" sz="1800" dirty="0" smtClean="0"/>
              <a:t>It </a:t>
            </a:r>
            <a:r>
              <a:rPr lang="en-US" sz="1800" dirty="0"/>
              <a:t>consists of </a:t>
            </a:r>
            <a:r>
              <a:rPr lang="en-US" sz="1800" dirty="0" smtClean="0"/>
              <a:t>groups of </a:t>
            </a:r>
            <a:r>
              <a:rPr lang="en-US" sz="1800" dirty="0"/>
              <a:t>star-configured workstations connected to a bus backbone cable. </a:t>
            </a:r>
            <a:endParaRPr lang="en-US" sz="1800" dirty="0" smtClean="0"/>
          </a:p>
          <a:p>
            <a:r>
              <a:rPr lang="en-US" sz="1800" dirty="0" smtClean="0"/>
              <a:t>Tree </a:t>
            </a:r>
            <a:r>
              <a:rPr lang="en-US" sz="1800" dirty="0"/>
              <a:t>topologies </a:t>
            </a:r>
            <a:r>
              <a:rPr lang="en-US" sz="1800" dirty="0" smtClean="0"/>
              <a:t>allow for </a:t>
            </a:r>
            <a:r>
              <a:rPr lang="en-US" sz="1800" dirty="0"/>
              <a:t>the expansion of an existing network, and enables institutions to configure networks </a:t>
            </a:r>
            <a:r>
              <a:rPr lang="en-US" sz="1800" dirty="0" smtClean="0"/>
              <a:t>to meet </a:t>
            </a:r>
            <a:r>
              <a:rPr lang="en-US" sz="1800" dirty="0"/>
              <a:t>their needs.</a:t>
            </a:r>
            <a:endParaRPr lang="en-US" sz="1800" kern="0" dirty="0"/>
          </a:p>
        </p:txBody>
      </p:sp>
      <p:pic>
        <p:nvPicPr>
          <p:cNvPr id="3" name="Picture 2"/>
          <p:cNvPicPr>
            <a:picLocks noChangeAspect="1"/>
          </p:cNvPicPr>
          <p:nvPr/>
        </p:nvPicPr>
        <p:blipFill>
          <a:blip r:embed="rId2"/>
          <a:stretch>
            <a:fillRect/>
          </a:stretch>
        </p:blipFill>
        <p:spPr>
          <a:xfrm>
            <a:off x="1115616" y="3041575"/>
            <a:ext cx="6264695" cy="3771801"/>
          </a:xfrm>
          <a:prstGeom prst="rect">
            <a:avLst/>
          </a:prstGeom>
        </p:spPr>
      </p:pic>
    </p:spTree>
    <p:extLst>
      <p:ext uri="{BB962C8B-B14F-4D97-AF65-F5344CB8AC3E}">
        <p14:creationId xmlns:p14="http://schemas.microsoft.com/office/powerpoint/2010/main" val="145170349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1"/>
            <a:ext cx="8229600" cy="1556791"/>
          </a:xfrm>
        </p:spPr>
        <p:txBody>
          <a:bodyPr>
            <a:noAutofit/>
          </a:bodyPr>
          <a:lstStyle/>
          <a:p>
            <a:pPr algn="ctr">
              <a:defRPr/>
            </a:pPr>
            <a:r>
              <a:rPr lang="en-US" b="1" dirty="0"/>
              <a:t>BASIC ADVANTAGES OF USING NETWORKS</a:t>
            </a:r>
            <a:endParaRPr lang="en-GB" sz="6000" b="1" dirty="0">
              <a:latin typeface="Comic Sans MS" panose="030F0702030302020204" pitchFamily="66" charset="0"/>
            </a:endParaRPr>
          </a:p>
        </p:txBody>
      </p:sp>
      <p:sp>
        <p:nvSpPr>
          <p:cNvPr id="5" name="Rectangle 3"/>
          <p:cNvSpPr txBox="1">
            <a:spLocks noChangeArrowheads="1"/>
          </p:cNvSpPr>
          <p:nvPr/>
        </p:nvSpPr>
        <p:spPr bwMode="auto">
          <a:xfrm>
            <a:off x="457200" y="1484784"/>
            <a:ext cx="8075240" cy="4968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150000"/>
              </a:lnSpc>
            </a:pPr>
            <a:r>
              <a:rPr lang="en-US" sz="1900" dirty="0" smtClean="0"/>
              <a:t>There </a:t>
            </a:r>
            <a:r>
              <a:rPr lang="en-US" sz="1900" dirty="0"/>
              <a:t>are many possible advantages of using networks. The basic ones are:</a:t>
            </a:r>
          </a:p>
          <a:p>
            <a:pPr>
              <a:lnSpc>
                <a:spcPct val="150000"/>
              </a:lnSpc>
            </a:pPr>
            <a:r>
              <a:rPr lang="en-US" sz="1900" dirty="0" smtClean="0"/>
              <a:t>The </a:t>
            </a:r>
            <a:r>
              <a:rPr lang="en-US" sz="1900" dirty="0"/>
              <a:t>sharing of resources (</a:t>
            </a:r>
            <a:r>
              <a:rPr lang="en-US" sz="1900" dirty="0" err="1"/>
              <a:t>e.g</a:t>
            </a:r>
            <a:r>
              <a:rPr lang="en-US" sz="1900" dirty="0"/>
              <a:t> computers and staff) and information</a:t>
            </a:r>
          </a:p>
          <a:p>
            <a:pPr>
              <a:lnSpc>
                <a:spcPct val="150000"/>
              </a:lnSpc>
            </a:pPr>
            <a:r>
              <a:rPr lang="en-US" sz="1900" dirty="0" smtClean="0"/>
              <a:t>The </a:t>
            </a:r>
            <a:r>
              <a:rPr lang="en-US" sz="1900" dirty="0"/>
              <a:t>provision of local facilities without the loss of central control</a:t>
            </a:r>
          </a:p>
          <a:p>
            <a:pPr>
              <a:lnSpc>
                <a:spcPct val="150000"/>
              </a:lnSpc>
            </a:pPr>
            <a:r>
              <a:rPr lang="en-US" sz="1900" dirty="0" smtClean="0"/>
              <a:t>The </a:t>
            </a:r>
            <a:r>
              <a:rPr lang="en-US" sz="1900" dirty="0"/>
              <a:t>even distribution of work, processing loads, </a:t>
            </a:r>
            <a:r>
              <a:rPr lang="en-US" sz="1900" dirty="0" err="1"/>
              <a:t>e.t.c</a:t>
            </a:r>
            <a:r>
              <a:rPr lang="en-US" sz="1900" dirty="0" smtClean="0"/>
              <a:t>. Shared </a:t>
            </a:r>
            <a:r>
              <a:rPr lang="en-US" sz="1900" dirty="0"/>
              <a:t>risk and mutual support.</a:t>
            </a:r>
          </a:p>
          <a:p>
            <a:pPr>
              <a:lnSpc>
                <a:spcPct val="150000"/>
              </a:lnSpc>
            </a:pPr>
            <a:r>
              <a:rPr lang="en-US" sz="1900" dirty="0" smtClean="0"/>
              <a:t>Improved </a:t>
            </a:r>
            <a:r>
              <a:rPr lang="en-US" sz="1900" dirty="0"/>
              <a:t>and more economic communication facilities in general, e.g. </a:t>
            </a:r>
            <a:r>
              <a:rPr lang="en-US" sz="1900" dirty="0" smtClean="0"/>
              <a:t>including voice </a:t>
            </a:r>
            <a:r>
              <a:rPr lang="en-US" sz="1900" dirty="0"/>
              <a:t>communications.</a:t>
            </a:r>
            <a:endParaRPr lang="en-US" sz="1900" kern="0" dirty="0"/>
          </a:p>
        </p:txBody>
      </p:sp>
    </p:spTree>
    <p:extLst>
      <p:ext uri="{BB962C8B-B14F-4D97-AF65-F5344CB8AC3E}">
        <p14:creationId xmlns:p14="http://schemas.microsoft.com/office/powerpoint/2010/main" val="317128068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260648"/>
            <a:ext cx="8229600" cy="1224136"/>
          </a:xfrm>
        </p:spPr>
        <p:txBody>
          <a:bodyPr>
            <a:noAutofit/>
          </a:bodyPr>
          <a:lstStyle/>
          <a:p>
            <a:pPr algn="ctr">
              <a:defRPr/>
            </a:pPr>
            <a:r>
              <a:rPr lang="en-US" sz="4000" b="1" dirty="0" smtClean="0"/>
              <a:t>COMMUNICATIONS </a:t>
            </a:r>
            <a:r>
              <a:rPr lang="en-US" sz="4000" b="1" dirty="0"/>
              <a:t>NETWORKS</a:t>
            </a:r>
            <a:endParaRPr lang="en-GB" sz="4000" b="1" dirty="0">
              <a:latin typeface="Comic Sans MS" panose="030F0702030302020204" pitchFamily="66" charset="0"/>
            </a:endParaRPr>
          </a:p>
        </p:txBody>
      </p:sp>
      <p:sp>
        <p:nvSpPr>
          <p:cNvPr id="5" name="Rectangle 3"/>
          <p:cNvSpPr txBox="1">
            <a:spLocks noChangeArrowheads="1"/>
          </p:cNvSpPr>
          <p:nvPr/>
        </p:nvSpPr>
        <p:spPr bwMode="auto">
          <a:xfrm>
            <a:off x="457200" y="1484784"/>
            <a:ext cx="8229600" cy="4968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gn="just">
              <a:lnSpc>
                <a:spcPct val="200000"/>
              </a:lnSpc>
            </a:pPr>
            <a:r>
              <a:rPr lang="en-US" sz="2100" dirty="0"/>
              <a:t>A communication network is a set of locations, or nodes, consisting of hardware, programs</a:t>
            </a:r>
            <a:r>
              <a:rPr lang="en-US" sz="2100" dirty="0" smtClean="0"/>
              <a:t>, and </a:t>
            </a:r>
            <a:r>
              <a:rPr lang="en-US" sz="2100" dirty="0"/>
              <a:t>information that are linked together as a system that transmit and receives data </a:t>
            </a:r>
            <a:r>
              <a:rPr lang="en-US" sz="2100" dirty="0" smtClean="0"/>
              <a:t>and information.</a:t>
            </a:r>
          </a:p>
        </p:txBody>
      </p:sp>
    </p:spTree>
    <p:extLst>
      <p:ext uri="{BB962C8B-B14F-4D97-AF65-F5344CB8AC3E}">
        <p14:creationId xmlns:p14="http://schemas.microsoft.com/office/powerpoint/2010/main" val="402681991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260648"/>
            <a:ext cx="8229600" cy="1224136"/>
          </a:xfrm>
        </p:spPr>
        <p:txBody>
          <a:bodyPr>
            <a:noAutofit/>
          </a:bodyPr>
          <a:lstStyle/>
          <a:p>
            <a:pPr algn="ctr">
              <a:defRPr/>
            </a:pPr>
            <a:r>
              <a:rPr lang="en-US" sz="3600" b="1" dirty="0"/>
              <a:t>PRINCIPLES OF COMMUNICATIONS NETWORKS</a:t>
            </a:r>
            <a:endParaRPr lang="en-GB" sz="3600" b="1" dirty="0">
              <a:latin typeface="Comic Sans MS" panose="030F0702030302020204" pitchFamily="66" charset="0"/>
            </a:endParaRPr>
          </a:p>
        </p:txBody>
      </p:sp>
      <p:sp>
        <p:nvSpPr>
          <p:cNvPr id="5" name="Rectangle 3"/>
          <p:cNvSpPr txBox="1">
            <a:spLocks noChangeArrowheads="1"/>
          </p:cNvSpPr>
          <p:nvPr/>
        </p:nvSpPr>
        <p:spPr bwMode="auto">
          <a:xfrm>
            <a:off x="457200" y="1484784"/>
            <a:ext cx="8075240" cy="4968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gn="just">
              <a:lnSpc>
                <a:spcPct val="200000"/>
              </a:lnSpc>
            </a:pPr>
            <a:r>
              <a:rPr lang="en-US" sz="2100" b="1" i="1" dirty="0" smtClean="0"/>
              <a:t>Communication</a:t>
            </a:r>
            <a:r>
              <a:rPr lang="en-US" sz="2100" b="1" i="1" dirty="0"/>
              <a:t>: </a:t>
            </a:r>
            <a:r>
              <a:rPr lang="en-US" sz="2100" dirty="0"/>
              <a:t>The sending and receiving of data and information over </a:t>
            </a:r>
            <a:r>
              <a:rPr lang="en-US" sz="2100" dirty="0" smtClean="0"/>
              <a:t>a communications network.</a:t>
            </a:r>
          </a:p>
          <a:p>
            <a:pPr algn="just">
              <a:lnSpc>
                <a:spcPct val="200000"/>
              </a:lnSpc>
            </a:pPr>
            <a:r>
              <a:rPr lang="en-US" sz="2100" b="1" i="1" dirty="0" smtClean="0"/>
              <a:t>Multiuser </a:t>
            </a:r>
            <a:r>
              <a:rPr lang="en-US" sz="2100" b="1" i="1" dirty="0"/>
              <a:t>System: </a:t>
            </a:r>
            <a:r>
              <a:rPr lang="en-US" sz="2100" dirty="0"/>
              <a:t>A communications system in which more than one user </a:t>
            </a:r>
            <a:r>
              <a:rPr lang="en-US" sz="2100" dirty="0" smtClean="0"/>
              <a:t>share hardware</a:t>
            </a:r>
            <a:r>
              <a:rPr lang="en-US" sz="2100" dirty="0"/>
              <a:t>, programs, information, people, and procedures.</a:t>
            </a:r>
          </a:p>
        </p:txBody>
      </p:sp>
    </p:spTree>
    <p:extLst>
      <p:ext uri="{BB962C8B-B14F-4D97-AF65-F5344CB8AC3E}">
        <p14:creationId xmlns:p14="http://schemas.microsoft.com/office/powerpoint/2010/main" val="94292555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260648"/>
            <a:ext cx="8229600" cy="1224136"/>
          </a:xfrm>
        </p:spPr>
        <p:txBody>
          <a:bodyPr>
            <a:noAutofit/>
          </a:bodyPr>
          <a:lstStyle/>
          <a:p>
            <a:pPr algn="ctr">
              <a:defRPr/>
            </a:pPr>
            <a:r>
              <a:rPr lang="en-US" sz="4000" b="1" dirty="0"/>
              <a:t>ROLE OF COMMUNICATIONS NETWORKS</a:t>
            </a:r>
            <a:endParaRPr lang="en-GB" sz="4000" b="1" dirty="0">
              <a:latin typeface="Comic Sans MS" panose="030F0702030302020204" pitchFamily="66" charset="0"/>
            </a:endParaRPr>
          </a:p>
        </p:txBody>
      </p:sp>
      <p:sp>
        <p:nvSpPr>
          <p:cNvPr id="5" name="Rectangle 3"/>
          <p:cNvSpPr txBox="1">
            <a:spLocks noChangeArrowheads="1"/>
          </p:cNvSpPr>
          <p:nvPr/>
        </p:nvSpPr>
        <p:spPr bwMode="auto">
          <a:xfrm>
            <a:off x="457200" y="1484784"/>
            <a:ext cx="8075240" cy="4968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gn="just">
              <a:lnSpc>
                <a:spcPct val="200000"/>
              </a:lnSpc>
            </a:pPr>
            <a:r>
              <a:rPr lang="en-US" sz="2000" b="1" i="1" dirty="0" smtClean="0"/>
              <a:t>Communications </a:t>
            </a:r>
            <a:r>
              <a:rPr lang="en-US" sz="2000" b="1" i="1" dirty="0"/>
              <a:t>Network: </a:t>
            </a:r>
            <a:r>
              <a:rPr lang="en-US" sz="2000" dirty="0"/>
              <a:t>A set of locations, or nodes, consisting of hardware</a:t>
            </a:r>
            <a:r>
              <a:rPr lang="en-US" sz="2000" dirty="0" smtClean="0"/>
              <a:t>, programs</a:t>
            </a:r>
            <a:r>
              <a:rPr lang="en-US" sz="2000" dirty="0"/>
              <a:t>, and information linked together as a system that transmits and receives </a:t>
            </a:r>
            <a:r>
              <a:rPr lang="en-US" sz="2000" dirty="0" smtClean="0"/>
              <a:t>data and </a:t>
            </a:r>
            <a:r>
              <a:rPr lang="en-US" sz="2000" dirty="0"/>
              <a:t>information.</a:t>
            </a:r>
          </a:p>
          <a:p>
            <a:pPr algn="just">
              <a:lnSpc>
                <a:spcPct val="200000"/>
              </a:lnSpc>
            </a:pPr>
            <a:r>
              <a:rPr lang="en-US" sz="2000" b="1" i="1" dirty="0" smtClean="0"/>
              <a:t>Node</a:t>
            </a:r>
            <a:r>
              <a:rPr lang="en-US" sz="2000" b="1" i="1" dirty="0"/>
              <a:t>: </a:t>
            </a:r>
            <a:r>
              <a:rPr lang="en-US" sz="2000" dirty="0"/>
              <a:t>A communication station within a network.</a:t>
            </a:r>
          </a:p>
        </p:txBody>
      </p:sp>
    </p:spTree>
    <p:extLst>
      <p:ext uri="{BB962C8B-B14F-4D97-AF65-F5344CB8AC3E}">
        <p14:creationId xmlns:p14="http://schemas.microsoft.com/office/powerpoint/2010/main" val="401628895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260648"/>
            <a:ext cx="8229600" cy="1224136"/>
          </a:xfrm>
        </p:spPr>
        <p:txBody>
          <a:bodyPr>
            <a:noAutofit/>
          </a:bodyPr>
          <a:lstStyle/>
          <a:p>
            <a:pPr algn="ctr">
              <a:defRPr/>
            </a:pPr>
            <a:r>
              <a:rPr lang="en-US" b="1" dirty="0"/>
              <a:t>NETWORK SERVICE APPLICATIONS</a:t>
            </a:r>
            <a:endParaRPr lang="en-GB" sz="4000" b="1" dirty="0">
              <a:latin typeface="Comic Sans MS" panose="030F0702030302020204" pitchFamily="66" charset="0"/>
            </a:endParaRPr>
          </a:p>
        </p:txBody>
      </p:sp>
      <p:sp>
        <p:nvSpPr>
          <p:cNvPr id="5" name="Rectangle 3"/>
          <p:cNvSpPr txBox="1">
            <a:spLocks noChangeArrowheads="1"/>
          </p:cNvSpPr>
          <p:nvPr/>
        </p:nvSpPr>
        <p:spPr bwMode="auto">
          <a:xfrm>
            <a:off x="457200" y="1484784"/>
            <a:ext cx="8075240" cy="4968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150000"/>
              </a:lnSpc>
            </a:pPr>
            <a:r>
              <a:rPr lang="en-US" sz="1800" dirty="0"/>
              <a:t>Network Services are the applications available on a communications network.</a:t>
            </a:r>
          </a:p>
          <a:p>
            <a:pPr marL="717550">
              <a:lnSpc>
                <a:spcPct val="150000"/>
              </a:lnSpc>
              <a:buFont typeface="Wingdings" panose="05000000000000000000" pitchFamily="2" charset="2"/>
              <a:buChar char="Ø"/>
            </a:pPr>
            <a:r>
              <a:rPr lang="en-US" sz="1800" b="1" dirty="0" smtClean="0"/>
              <a:t>Electronic </a:t>
            </a:r>
            <a:r>
              <a:rPr lang="en-US" sz="1800" b="1" dirty="0"/>
              <a:t>Mail: </a:t>
            </a:r>
            <a:r>
              <a:rPr lang="en-US" sz="1800" dirty="0"/>
              <a:t>sometime called e-mail are designed to overcome </a:t>
            </a:r>
            <a:r>
              <a:rPr lang="en-US" sz="1800" dirty="0" smtClean="0"/>
              <a:t>the communication </a:t>
            </a:r>
            <a:r>
              <a:rPr lang="en-US" sz="1800" dirty="0"/>
              <a:t>barrier created by time and distance over a phone. </a:t>
            </a:r>
            <a:endParaRPr lang="en-US" sz="1800" dirty="0" smtClean="0"/>
          </a:p>
          <a:p>
            <a:pPr marL="717550" indent="0">
              <a:lnSpc>
                <a:spcPct val="150000"/>
              </a:lnSpc>
              <a:buNone/>
            </a:pPr>
            <a:r>
              <a:rPr lang="en-US" sz="1800" dirty="0" smtClean="0"/>
              <a:t>E-mail </a:t>
            </a:r>
            <a:r>
              <a:rPr lang="en-US" sz="1800" dirty="0"/>
              <a:t>is a </a:t>
            </a:r>
            <a:r>
              <a:rPr lang="en-US" sz="1800" dirty="0" smtClean="0"/>
              <a:t>service that </a:t>
            </a:r>
            <a:r>
              <a:rPr lang="en-US" sz="1800" dirty="0"/>
              <a:t>transports text messages from a sender to one or more receivers.</a:t>
            </a:r>
          </a:p>
          <a:p>
            <a:pPr marL="1243013">
              <a:lnSpc>
                <a:spcPct val="150000"/>
              </a:lnSpc>
              <a:buFont typeface="Wingdings" panose="05000000000000000000" pitchFamily="2" charset="2"/>
              <a:buChar char="§"/>
            </a:pPr>
            <a:r>
              <a:rPr lang="en-US" sz="1800" b="1" i="1" dirty="0" smtClean="0"/>
              <a:t>Electronic </a:t>
            </a:r>
            <a:r>
              <a:rPr lang="en-US" sz="1800" b="1" i="1" dirty="0"/>
              <a:t>Mailbox: </a:t>
            </a:r>
            <a:r>
              <a:rPr lang="en-US" sz="1800" dirty="0"/>
              <a:t>An area of space on magnetic disk in a server or </a:t>
            </a:r>
            <a:r>
              <a:rPr lang="en-US" sz="1800" dirty="0" smtClean="0"/>
              <a:t>host computer </a:t>
            </a:r>
            <a:r>
              <a:rPr lang="en-US" sz="1800" dirty="0"/>
              <a:t>that is allocated for storing an individual’s e-mail</a:t>
            </a:r>
            <a:r>
              <a:rPr lang="en-US" sz="1800" dirty="0" smtClean="0"/>
              <a:t>.</a:t>
            </a:r>
          </a:p>
        </p:txBody>
      </p:sp>
    </p:spTree>
    <p:extLst>
      <p:ext uri="{BB962C8B-B14F-4D97-AF65-F5344CB8AC3E}">
        <p14:creationId xmlns:p14="http://schemas.microsoft.com/office/powerpoint/2010/main" val="402210730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260648"/>
            <a:ext cx="8229600" cy="1224136"/>
          </a:xfrm>
        </p:spPr>
        <p:txBody>
          <a:bodyPr>
            <a:noAutofit/>
          </a:bodyPr>
          <a:lstStyle/>
          <a:p>
            <a:pPr algn="ctr">
              <a:defRPr/>
            </a:pPr>
            <a:r>
              <a:rPr lang="en-US" b="1" dirty="0"/>
              <a:t>NETWORK SERVICE APPLICATIONS</a:t>
            </a:r>
            <a:endParaRPr lang="en-GB" sz="4000" b="1" dirty="0">
              <a:latin typeface="Comic Sans MS" panose="030F0702030302020204" pitchFamily="66" charset="0"/>
            </a:endParaRPr>
          </a:p>
        </p:txBody>
      </p:sp>
      <p:sp>
        <p:nvSpPr>
          <p:cNvPr id="5" name="Rectangle 3"/>
          <p:cNvSpPr txBox="1">
            <a:spLocks noChangeArrowheads="1"/>
          </p:cNvSpPr>
          <p:nvPr/>
        </p:nvSpPr>
        <p:spPr bwMode="auto">
          <a:xfrm>
            <a:off x="457200" y="1484784"/>
            <a:ext cx="8075240" cy="4968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marL="717550">
              <a:lnSpc>
                <a:spcPct val="150000"/>
              </a:lnSpc>
              <a:buFont typeface="Wingdings" panose="05000000000000000000" pitchFamily="2" charset="2"/>
              <a:buChar char="Ø"/>
            </a:pPr>
            <a:r>
              <a:rPr lang="en-US" sz="1800" b="1" i="1" dirty="0" smtClean="0"/>
              <a:t>Voice </a:t>
            </a:r>
            <a:r>
              <a:rPr lang="en-US" sz="1800" b="1" i="1" dirty="0"/>
              <a:t>Mail: </a:t>
            </a:r>
            <a:r>
              <a:rPr lang="en-US" sz="1800" dirty="0"/>
              <a:t>A system that captures, stores, and transmits spoken messages using </a:t>
            </a:r>
            <a:r>
              <a:rPr lang="en-US" sz="1800" dirty="0" smtClean="0"/>
              <a:t>an ordinary </a:t>
            </a:r>
            <a:r>
              <a:rPr lang="en-US" sz="1800" dirty="0"/>
              <a:t>telephone connected to a computer network.</a:t>
            </a:r>
          </a:p>
          <a:p>
            <a:pPr marL="1252538">
              <a:lnSpc>
                <a:spcPct val="150000"/>
              </a:lnSpc>
              <a:buFont typeface="Wingdings" panose="05000000000000000000" pitchFamily="2" charset="2"/>
              <a:buChar char="§"/>
            </a:pPr>
            <a:r>
              <a:rPr lang="en-US" sz="1800" b="1" i="1" dirty="0" smtClean="0"/>
              <a:t>PPTs </a:t>
            </a:r>
            <a:r>
              <a:rPr lang="en-US" sz="1800" b="1" i="1" dirty="0"/>
              <a:t>(post, telephone, and telegraph companies): </a:t>
            </a:r>
            <a:r>
              <a:rPr lang="en-US" sz="1800" dirty="0"/>
              <a:t>A general term </a:t>
            </a:r>
            <a:r>
              <a:rPr lang="en-US" sz="1800" dirty="0" smtClean="0"/>
              <a:t>for telephone </a:t>
            </a:r>
            <a:r>
              <a:rPr lang="en-US" sz="1800" dirty="0"/>
              <a:t>companies outside the United States.</a:t>
            </a:r>
          </a:p>
          <a:p>
            <a:pPr marL="1252538">
              <a:lnSpc>
                <a:spcPct val="150000"/>
              </a:lnSpc>
              <a:buFont typeface="Wingdings" panose="05000000000000000000" pitchFamily="2" charset="2"/>
              <a:buChar char="§"/>
            </a:pPr>
            <a:r>
              <a:rPr lang="en-US" sz="1800" b="1" i="1" dirty="0" smtClean="0"/>
              <a:t>Unified </a:t>
            </a:r>
            <a:r>
              <a:rPr lang="en-US" sz="1800" b="1" i="1" dirty="0"/>
              <a:t>Messaging Systems: </a:t>
            </a:r>
            <a:r>
              <a:rPr lang="en-US" sz="1800" dirty="0"/>
              <a:t>Offers users the ability to manage </a:t>
            </a:r>
            <a:r>
              <a:rPr lang="en-US" sz="1800" dirty="0" smtClean="0"/>
              <a:t>several communications </a:t>
            </a:r>
            <a:r>
              <a:rPr lang="en-US" sz="1800" dirty="0"/>
              <a:t>media, including telephone, fax, e-mail (including those </a:t>
            </a:r>
            <a:r>
              <a:rPr lang="en-US" sz="1800" dirty="0" smtClean="0"/>
              <a:t>from the </a:t>
            </a:r>
            <a:r>
              <a:rPr lang="en-US" sz="1800" dirty="0"/>
              <a:t>Web), and voice mail through a central message manager.</a:t>
            </a:r>
          </a:p>
        </p:txBody>
      </p:sp>
    </p:spTree>
    <p:extLst>
      <p:ext uri="{BB962C8B-B14F-4D97-AF65-F5344CB8AC3E}">
        <p14:creationId xmlns:p14="http://schemas.microsoft.com/office/powerpoint/2010/main" val="95946824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260648"/>
            <a:ext cx="8229600" cy="1224136"/>
          </a:xfrm>
        </p:spPr>
        <p:txBody>
          <a:bodyPr>
            <a:noAutofit/>
          </a:bodyPr>
          <a:lstStyle/>
          <a:p>
            <a:pPr algn="ctr">
              <a:defRPr/>
            </a:pPr>
            <a:r>
              <a:rPr lang="en-US" b="1" dirty="0"/>
              <a:t>NETWORK SERVICE APPLICATIONS</a:t>
            </a:r>
            <a:endParaRPr lang="en-GB" sz="4000" b="1" dirty="0">
              <a:latin typeface="Comic Sans MS" panose="030F0702030302020204" pitchFamily="66" charset="0"/>
            </a:endParaRPr>
          </a:p>
        </p:txBody>
      </p:sp>
      <p:sp>
        <p:nvSpPr>
          <p:cNvPr id="5" name="Rectangle 3"/>
          <p:cNvSpPr txBox="1">
            <a:spLocks noChangeArrowheads="1"/>
          </p:cNvSpPr>
          <p:nvPr/>
        </p:nvSpPr>
        <p:spPr bwMode="auto">
          <a:xfrm>
            <a:off x="457200" y="1484784"/>
            <a:ext cx="8075240" cy="5373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buFont typeface="Wingdings" panose="05000000000000000000" pitchFamily="2" charset="2"/>
              <a:buChar char="Ø"/>
            </a:pPr>
            <a:r>
              <a:rPr lang="en-US" sz="1900" b="1" i="1" dirty="0" smtClean="0"/>
              <a:t>Videoconferencing</a:t>
            </a:r>
            <a:r>
              <a:rPr lang="en-US" sz="1900" b="1" i="1" dirty="0"/>
              <a:t>: </a:t>
            </a:r>
            <a:r>
              <a:rPr lang="en-US" sz="1900" dirty="0"/>
              <a:t>A</a:t>
            </a:r>
            <a:r>
              <a:rPr lang="en-US" sz="1900" b="1" dirty="0"/>
              <a:t> </a:t>
            </a:r>
            <a:r>
              <a:rPr lang="en-US" sz="1900" dirty="0"/>
              <a:t>type of conferencing in which video cameras and </a:t>
            </a:r>
            <a:r>
              <a:rPr lang="en-US" sz="1900" dirty="0" smtClean="0"/>
              <a:t>microphones capture </a:t>
            </a:r>
            <a:r>
              <a:rPr lang="en-US" sz="1900" dirty="0"/>
              <a:t>the sight and sound of participants for transmission over a network.</a:t>
            </a:r>
          </a:p>
          <a:p>
            <a:pPr marL="717550">
              <a:buFont typeface="Wingdings" panose="05000000000000000000" pitchFamily="2" charset="2"/>
              <a:buChar char="§"/>
            </a:pPr>
            <a:r>
              <a:rPr lang="en-US" sz="1900" b="1" i="1" dirty="0" smtClean="0"/>
              <a:t>Webcasting</a:t>
            </a:r>
            <a:r>
              <a:rPr lang="en-US" sz="1900" b="1" i="1" dirty="0"/>
              <a:t>: </a:t>
            </a:r>
            <a:r>
              <a:rPr lang="en-US" sz="1900" dirty="0"/>
              <a:t>Uses the reach of the Internet to link people from anywhere </a:t>
            </a:r>
            <a:r>
              <a:rPr lang="en-US" sz="1900" dirty="0" smtClean="0"/>
              <a:t>in the </a:t>
            </a:r>
            <a:r>
              <a:rPr lang="en-US" sz="1900" dirty="0"/>
              <a:t>world into a conference</a:t>
            </a:r>
            <a:r>
              <a:rPr lang="en-US" sz="1900" dirty="0" smtClean="0"/>
              <a:t>.</a:t>
            </a:r>
          </a:p>
          <a:p>
            <a:pPr marL="717550">
              <a:buFont typeface="Wingdings" panose="05000000000000000000" pitchFamily="2" charset="2"/>
              <a:buChar char="§"/>
            </a:pPr>
            <a:endParaRPr lang="en-US" sz="1900" dirty="0"/>
          </a:p>
          <a:p>
            <a:pPr>
              <a:buFont typeface="Wingdings" panose="05000000000000000000" pitchFamily="2" charset="2"/>
              <a:buChar char="Ø"/>
            </a:pPr>
            <a:r>
              <a:rPr lang="en-US" sz="1900" b="1" i="1" dirty="0" smtClean="0"/>
              <a:t>Work </a:t>
            </a:r>
            <a:r>
              <a:rPr lang="en-US" sz="1900" b="1" i="1" dirty="0"/>
              <a:t>Group Conferencing: </a:t>
            </a:r>
            <a:r>
              <a:rPr lang="en-US" sz="1900" dirty="0"/>
              <a:t>A type of conferencing that uses a software </a:t>
            </a:r>
            <a:r>
              <a:rPr lang="en-US" sz="1900" dirty="0" smtClean="0"/>
              <a:t>package called </a:t>
            </a:r>
            <a:r>
              <a:rPr lang="en-US" sz="1900" dirty="0"/>
              <a:t>groupware to interconnect participants’ computers at their various locations</a:t>
            </a:r>
            <a:r>
              <a:rPr lang="en-US" sz="1900" dirty="0" smtClean="0"/>
              <a:t>. </a:t>
            </a:r>
            <a:endParaRPr lang="en-US" sz="1900" dirty="0"/>
          </a:p>
          <a:p>
            <a:pPr marL="365125" indent="0">
              <a:buNone/>
            </a:pPr>
            <a:r>
              <a:rPr lang="en-US" sz="1900" dirty="0"/>
              <a:t>Participants interact through a microcomputer directly linked to a server and </a:t>
            </a:r>
            <a:r>
              <a:rPr lang="en-US" sz="1900" dirty="0" smtClean="0"/>
              <a:t>their comments </a:t>
            </a:r>
            <a:r>
              <a:rPr lang="en-US" sz="1900" dirty="0"/>
              <a:t>are broadcast to all others taking part in the conference</a:t>
            </a:r>
            <a:r>
              <a:rPr lang="en-US" sz="1900" dirty="0" smtClean="0"/>
              <a:t>.</a:t>
            </a:r>
          </a:p>
          <a:p>
            <a:pPr marL="365125" indent="0">
              <a:buNone/>
            </a:pPr>
            <a:endParaRPr lang="en-US" sz="1900" dirty="0"/>
          </a:p>
          <a:p>
            <a:pPr>
              <a:buFont typeface="Wingdings" panose="05000000000000000000" pitchFamily="2" charset="2"/>
              <a:buChar char="Ø"/>
            </a:pPr>
            <a:r>
              <a:rPr lang="en-US" sz="1900" b="1" i="1" dirty="0" smtClean="0"/>
              <a:t>Electronic </a:t>
            </a:r>
            <a:r>
              <a:rPr lang="en-US" sz="1900" b="1" i="1" dirty="0"/>
              <a:t>Bulletin Board: </a:t>
            </a:r>
            <a:r>
              <a:rPr lang="en-US" sz="1900" dirty="0"/>
              <a:t>A network service application that allows messages </a:t>
            </a:r>
            <a:r>
              <a:rPr lang="en-US" sz="1900" dirty="0" smtClean="0"/>
              <a:t>and announcements </a:t>
            </a:r>
            <a:r>
              <a:rPr lang="en-US" sz="1900" dirty="0"/>
              <a:t>to be posted and read. It is accessed by dialing a telephone </a:t>
            </a:r>
            <a:r>
              <a:rPr lang="en-US" sz="1900" dirty="0" smtClean="0"/>
              <a:t>number and </a:t>
            </a:r>
            <a:r>
              <a:rPr lang="en-US" sz="1900" dirty="0"/>
              <a:t>interconnecting with the bulletin board through a modem</a:t>
            </a:r>
            <a:r>
              <a:rPr lang="en-US" sz="1900" dirty="0" smtClean="0"/>
              <a:t>.</a:t>
            </a:r>
            <a:endParaRPr lang="en-US" sz="1900" dirty="0"/>
          </a:p>
        </p:txBody>
      </p:sp>
    </p:spTree>
    <p:extLst>
      <p:ext uri="{BB962C8B-B14F-4D97-AF65-F5344CB8AC3E}">
        <p14:creationId xmlns:p14="http://schemas.microsoft.com/office/powerpoint/2010/main" val="344008717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260648"/>
            <a:ext cx="8229600" cy="1224136"/>
          </a:xfrm>
        </p:spPr>
        <p:txBody>
          <a:bodyPr>
            <a:noAutofit/>
          </a:bodyPr>
          <a:lstStyle/>
          <a:p>
            <a:pPr algn="ctr">
              <a:defRPr/>
            </a:pPr>
            <a:r>
              <a:rPr lang="en-US" b="1" dirty="0"/>
              <a:t>NETWORK SERVICE APPLICATIONS</a:t>
            </a:r>
            <a:endParaRPr lang="en-GB" sz="4000" b="1" dirty="0">
              <a:latin typeface="Comic Sans MS" panose="030F0702030302020204" pitchFamily="66" charset="0"/>
            </a:endParaRPr>
          </a:p>
        </p:txBody>
      </p:sp>
      <p:sp>
        <p:nvSpPr>
          <p:cNvPr id="5" name="Rectangle 3"/>
          <p:cNvSpPr txBox="1">
            <a:spLocks noChangeArrowheads="1"/>
          </p:cNvSpPr>
          <p:nvPr/>
        </p:nvSpPr>
        <p:spPr bwMode="auto">
          <a:xfrm>
            <a:off x="457200" y="1484784"/>
            <a:ext cx="8075240" cy="4968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150000"/>
              </a:lnSpc>
              <a:buFont typeface="Wingdings" panose="05000000000000000000" pitchFamily="2" charset="2"/>
              <a:buChar char="Ø"/>
            </a:pPr>
            <a:r>
              <a:rPr lang="en-US" sz="1800" b="1" i="1" dirty="0" smtClean="0"/>
              <a:t>Electronic </a:t>
            </a:r>
            <a:r>
              <a:rPr lang="en-US" sz="1800" b="1" i="1" dirty="0"/>
              <a:t>Funds Transfer (EFT): </a:t>
            </a:r>
            <a:r>
              <a:rPr lang="en-US" sz="1800" dirty="0"/>
              <a:t>The movement of money over a network</a:t>
            </a:r>
            <a:r>
              <a:rPr lang="en-US" sz="1800" dirty="0" smtClean="0"/>
              <a:t>.</a:t>
            </a:r>
          </a:p>
          <a:p>
            <a:pPr>
              <a:lnSpc>
                <a:spcPct val="150000"/>
              </a:lnSpc>
              <a:buFont typeface="Wingdings" panose="05000000000000000000" pitchFamily="2" charset="2"/>
              <a:buChar char="Ø"/>
            </a:pPr>
            <a:endParaRPr lang="en-US" sz="1800" dirty="0" smtClean="0"/>
          </a:p>
          <a:p>
            <a:pPr>
              <a:lnSpc>
                <a:spcPct val="150000"/>
              </a:lnSpc>
              <a:buFont typeface="Wingdings" panose="05000000000000000000" pitchFamily="2" charset="2"/>
              <a:buChar char="Ø"/>
            </a:pPr>
            <a:r>
              <a:rPr lang="en-US" sz="1800" b="1" i="1" dirty="0" smtClean="0"/>
              <a:t>Electronic </a:t>
            </a:r>
            <a:r>
              <a:rPr lang="en-US" sz="1800" b="1" i="1" dirty="0"/>
              <a:t>Data Interchange (EDI): </a:t>
            </a:r>
            <a:r>
              <a:rPr lang="en-US" sz="1800" dirty="0"/>
              <a:t>A form of electronic communication that </a:t>
            </a:r>
            <a:r>
              <a:rPr lang="en-US" sz="1800" dirty="0" smtClean="0"/>
              <a:t>allows trading </a:t>
            </a:r>
            <a:r>
              <a:rPr lang="en-US" sz="1800" dirty="0"/>
              <a:t>partners to exchange business transaction data in structured formats that </a:t>
            </a:r>
            <a:r>
              <a:rPr lang="en-US" sz="1800" dirty="0" smtClean="0"/>
              <a:t>can be </a:t>
            </a:r>
            <a:r>
              <a:rPr lang="en-US" sz="1800" dirty="0"/>
              <a:t>processed by application software</a:t>
            </a:r>
            <a:r>
              <a:rPr lang="en-US" sz="1800" dirty="0" smtClean="0"/>
              <a:t>.</a:t>
            </a:r>
          </a:p>
          <a:p>
            <a:pPr>
              <a:lnSpc>
                <a:spcPct val="150000"/>
              </a:lnSpc>
              <a:buFont typeface="Wingdings" panose="05000000000000000000" pitchFamily="2" charset="2"/>
              <a:buChar char="Ø"/>
            </a:pPr>
            <a:endParaRPr lang="en-US" sz="1800" dirty="0"/>
          </a:p>
          <a:p>
            <a:pPr>
              <a:lnSpc>
                <a:spcPct val="150000"/>
              </a:lnSpc>
              <a:buFont typeface="Wingdings" panose="05000000000000000000" pitchFamily="2" charset="2"/>
              <a:buChar char="Ø"/>
            </a:pPr>
            <a:r>
              <a:rPr lang="en-US" sz="1800" b="1" i="1" dirty="0" err="1" smtClean="0"/>
              <a:t>Videotex</a:t>
            </a:r>
            <a:r>
              <a:rPr lang="en-US" sz="1800" b="1" i="1" dirty="0"/>
              <a:t>: </a:t>
            </a:r>
            <a:r>
              <a:rPr lang="en-US" sz="1800" dirty="0"/>
              <a:t>A two-way, interactive, text-only service operating on </a:t>
            </a:r>
            <a:r>
              <a:rPr lang="en-US" sz="1800" dirty="0" smtClean="0"/>
              <a:t>mainframe computers </a:t>
            </a:r>
            <a:r>
              <a:rPr lang="en-US" sz="1800" dirty="0"/>
              <a:t>that combines a video screen with easy-to-follow instructions.</a:t>
            </a:r>
          </a:p>
        </p:txBody>
      </p:sp>
    </p:spTree>
    <p:extLst>
      <p:ext uri="{BB962C8B-B14F-4D97-AF65-F5344CB8AC3E}">
        <p14:creationId xmlns:p14="http://schemas.microsoft.com/office/powerpoint/2010/main" val="222743455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260648"/>
            <a:ext cx="8229600" cy="1224136"/>
          </a:xfrm>
        </p:spPr>
        <p:txBody>
          <a:bodyPr>
            <a:noAutofit/>
          </a:bodyPr>
          <a:lstStyle/>
          <a:p>
            <a:pPr algn="ctr">
              <a:defRPr/>
            </a:pPr>
            <a:r>
              <a:rPr lang="en-US" sz="5400" b="1" dirty="0"/>
              <a:t>NETWORK CHANNELS</a:t>
            </a:r>
            <a:endParaRPr lang="en-GB" sz="5400" b="1" dirty="0">
              <a:latin typeface="Comic Sans MS" panose="030F0702030302020204" pitchFamily="66" charset="0"/>
            </a:endParaRPr>
          </a:p>
        </p:txBody>
      </p:sp>
      <p:sp>
        <p:nvSpPr>
          <p:cNvPr id="5" name="Rectangle 3"/>
          <p:cNvSpPr txBox="1">
            <a:spLocks noChangeArrowheads="1"/>
          </p:cNvSpPr>
          <p:nvPr/>
        </p:nvSpPr>
        <p:spPr bwMode="auto">
          <a:xfrm>
            <a:off x="323528" y="1412776"/>
            <a:ext cx="8496944" cy="5373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r>
              <a:rPr lang="en-US" sz="1800" dirty="0"/>
              <a:t>Communications Channel/Communications Medium is the physical or </a:t>
            </a:r>
            <a:r>
              <a:rPr lang="en-US" sz="1800" dirty="0" err="1"/>
              <a:t>cableless</a:t>
            </a:r>
            <a:r>
              <a:rPr lang="en-US" sz="1800" dirty="0"/>
              <a:t> media </a:t>
            </a:r>
            <a:r>
              <a:rPr lang="en-US" sz="1800" dirty="0" smtClean="0"/>
              <a:t>that link </a:t>
            </a:r>
            <a:r>
              <a:rPr lang="en-US" sz="1800" dirty="0"/>
              <a:t>the different components of a network.</a:t>
            </a:r>
          </a:p>
          <a:p>
            <a:r>
              <a:rPr lang="en-US" sz="1800" b="1" dirty="0" smtClean="0"/>
              <a:t>Physical </a:t>
            </a:r>
            <a:r>
              <a:rPr lang="en-US" sz="1800" b="1" dirty="0"/>
              <a:t>Channels:</a:t>
            </a:r>
          </a:p>
          <a:p>
            <a:pPr marL="900113">
              <a:buFont typeface="Wingdings" panose="05000000000000000000" pitchFamily="2" charset="2"/>
              <a:buChar char="Ø"/>
            </a:pPr>
            <a:r>
              <a:rPr lang="en-US" sz="1800" b="1" i="1" dirty="0" smtClean="0"/>
              <a:t>Twisted </a:t>
            </a:r>
            <a:r>
              <a:rPr lang="en-US" sz="1800" b="1" i="1" dirty="0"/>
              <a:t>Pair: </a:t>
            </a:r>
            <a:r>
              <a:rPr lang="en-US" sz="1800" dirty="0"/>
              <a:t>A physical communications channel that uses strands of </a:t>
            </a:r>
            <a:r>
              <a:rPr lang="en-US" sz="1800" dirty="0" smtClean="0"/>
              <a:t>copper wire </a:t>
            </a:r>
            <a:r>
              <a:rPr lang="en-US" sz="1800" dirty="0"/>
              <a:t>twisted together in pairs to form a telephone wire.</a:t>
            </a:r>
          </a:p>
          <a:p>
            <a:pPr marL="900113">
              <a:buFont typeface="Wingdings" panose="05000000000000000000" pitchFamily="2" charset="2"/>
              <a:buChar char="Ø"/>
            </a:pPr>
            <a:r>
              <a:rPr lang="en-US" sz="1800" b="1" i="1" dirty="0" smtClean="0"/>
              <a:t>Coaxial </a:t>
            </a:r>
            <a:r>
              <a:rPr lang="en-US" sz="1800" b="1" i="1" dirty="0"/>
              <a:t>Cable/Co-ax: </a:t>
            </a:r>
            <a:r>
              <a:rPr lang="en-US" sz="1800" dirty="0"/>
              <a:t>A physical communications channel that uses one </a:t>
            </a:r>
            <a:r>
              <a:rPr lang="en-US" sz="1800" dirty="0" smtClean="0"/>
              <a:t>or more </a:t>
            </a:r>
            <a:r>
              <a:rPr lang="en-US" sz="1800" dirty="0"/>
              <a:t>central wire conductors surrounded by an insulator and encased in </a:t>
            </a:r>
            <a:r>
              <a:rPr lang="en-US" sz="1800" dirty="0" smtClean="0"/>
              <a:t>either a </a:t>
            </a:r>
            <a:r>
              <a:rPr lang="en-US" sz="1800" dirty="0"/>
              <a:t>wire mesh or metal sheathing.</a:t>
            </a:r>
          </a:p>
          <a:p>
            <a:pPr marL="900113">
              <a:buFont typeface="Wingdings" panose="05000000000000000000" pitchFamily="2" charset="2"/>
              <a:buChar char="Ø"/>
            </a:pPr>
            <a:r>
              <a:rPr lang="en-US" sz="1800" b="1" i="1" dirty="0" smtClean="0"/>
              <a:t>Coaxial </a:t>
            </a:r>
            <a:r>
              <a:rPr lang="en-US" sz="1800" b="1" i="1" dirty="0"/>
              <a:t>Cable/Co-ax</a:t>
            </a:r>
            <a:r>
              <a:rPr lang="en-US" sz="1800" b="1" i="1" dirty="0" smtClean="0"/>
              <a:t>:</a:t>
            </a:r>
          </a:p>
          <a:p>
            <a:pPr marL="1617663">
              <a:buFont typeface="Wingdings" panose="05000000000000000000" pitchFamily="2" charset="2"/>
              <a:buChar char="§"/>
            </a:pPr>
            <a:r>
              <a:rPr lang="en-US" sz="1800" b="1" i="1" dirty="0" smtClean="0"/>
              <a:t>Baseband </a:t>
            </a:r>
            <a:r>
              <a:rPr lang="en-US" sz="1800" b="1" i="1" dirty="0"/>
              <a:t>Cable: </a:t>
            </a:r>
            <a:r>
              <a:rPr lang="en-US" sz="1800" dirty="0"/>
              <a:t>Carries a single communication or message at </a:t>
            </a:r>
            <a:r>
              <a:rPr lang="en-US" sz="1800" dirty="0" smtClean="0"/>
              <a:t>very high </a:t>
            </a:r>
            <a:r>
              <a:rPr lang="en-US" sz="1800" dirty="0"/>
              <a:t>megabit speeds, is often used in local area networks.</a:t>
            </a:r>
          </a:p>
          <a:p>
            <a:pPr marL="1617663">
              <a:buFont typeface="Wingdings" panose="05000000000000000000" pitchFamily="2" charset="2"/>
              <a:buChar char="§"/>
            </a:pPr>
            <a:r>
              <a:rPr lang="en-US" sz="1800" b="1" i="1" dirty="0" smtClean="0"/>
              <a:t>Broadband </a:t>
            </a:r>
            <a:r>
              <a:rPr lang="en-US" sz="1800" b="1" i="1" dirty="0"/>
              <a:t>Cable: </a:t>
            </a:r>
            <a:r>
              <a:rPr lang="en-US" sz="1800" dirty="0"/>
              <a:t>Carries multiple signals – data, voice, and video </a:t>
            </a:r>
            <a:r>
              <a:rPr lang="en-US" sz="1800" dirty="0" smtClean="0"/>
              <a:t>– simultaneously</a:t>
            </a:r>
            <a:r>
              <a:rPr lang="en-US" sz="1800" dirty="0"/>
              <a:t>; each signal can be a different speed.</a:t>
            </a:r>
          </a:p>
          <a:p>
            <a:pPr marL="900113">
              <a:buFont typeface="Wingdings" panose="05000000000000000000" pitchFamily="2" charset="2"/>
              <a:buChar char="Ø"/>
            </a:pPr>
            <a:r>
              <a:rPr lang="en-US" sz="1800" b="1" i="1" dirty="0" smtClean="0"/>
              <a:t>Fiber-optic </a:t>
            </a:r>
            <a:r>
              <a:rPr lang="en-US" sz="1800" b="1" i="1" dirty="0"/>
              <a:t>Cable: </a:t>
            </a:r>
            <a:r>
              <a:rPr lang="en-US" sz="1800" dirty="0"/>
              <a:t>A physical communications channel that uses light </a:t>
            </a:r>
            <a:r>
              <a:rPr lang="en-US" sz="1800" dirty="0" smtClean="0"/>
              <a:t>and glass </a:t>
            </a:r>
            <a:r>
              <a:rPr lang="en-US" sz="1800" dirty="0"/>
              <a:t>fibers.</a:t>
            </a:r>
          </a:p>
        </p:txBody>
      </p:sp>
    </p:spTree>
    <p:extLst>
      <p:ext uri="{BB962C8B-B14F-4D97-AF65-F5344CB8AC3E}">
        <p14:creationId xmlns:p14="http://schemas.microsoft.com/office/powerpoint/2010/main" val="318355896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260648"/>
            <a:ext cx="8229600" cy="1224136"/>
          </a:xfrm>
        </p:spPr>
        <p:txBody>
          <a:bodyPr>
            <a:noAutofit/>
          </a:bodyPr>
          <a:lstStyle/>
          <a:p>
            <a:pPr algn="ctr">
              <a:defRPr/>
            </a:pPr>
            <a:r>
              <a:rPr lang="en-US" sz="5400" b="1" dirty="0"/>
              <a:t>NETWORK CHANNELS</a:t>
            </a:r>
            <a:endParaRPr lang="en-GB" sz="5400" b="1" dirty="0">
              <a:latin typeface="Comic Sans MS" panose="030F0702030302020204" pitchFamily="66" charset="0"/>
            </a:endParaRPr>
          </a:p>
        </p:txBody>
      </p:sp>
      <p:sp>
        <p:nvSpPr>
          <p:cNvPr id="5" name="Rectangle 3"/>
          <p:cNvSpPr txBox="1">
            <a:spLocks noChangeArrowheads="1"/>
          </p:cNvSpPr>
          <p:nvPr/>
        </p:nvSpPr>
        <p:spPr bwMode="auto">
          <a:xfrm>
            <a:off x="323528" y="1412776"/>
            <a:ext cx="8496944" cy="5445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r>
              <a:rPr lang="en-US" sz="1900" b="1" dirty="0" smtClean="0"/>
              <a:t>Wireless </a:t>
            </a:r>
            <a:r>
              <a:rPr lang="en-US" sz="1900" b="1" dirty="0"/>
              <a:t>Channels</a:t>
            </a:r>
          </a:p>
          <a:p>
            <a:pPr marL="365125" indent="0">
              <a:buNone/>
            </a:pPr>
            <a:r>
              <a:rPr lang="en-US" sz="1900" dirty="0"/>
              <a:t>Wireless channels transmit data using radio signals sent through air or space rather than </a:t>
            </a:r>
            <a:r>
              <a:rPr lang="en-US" sz="1900" dirty="0" smtClean="0"/>
              <a:t>over wire </a:t>
            </a:r>
            <a:r>
              <a:rPr lang="en-US" sz="1900" dirty="0"/>
              <a:t>or optical cables.</a:t>
            </a:r>
          </a:p>
          <a:p>
            <a:pPr marL="900113">
              <a:buFont typeface="Wingdings" panose="05000000000000000000" pitchFamily="2" charset="2"/>
              <a:buChar char="Ø"/>
            </a:pPr>
            <a:r>
              <a:rPr lang="en-US" sz="1900" b="1" i="1" dirty="0" smtClean="0"/>
              <a:t>Microwave</a:t>
            </a:r>
            <a:r>
              <a:rPr lang="en-US" sz="1900" b="1" i="1" dirty="0"/>
              <a:t>: </a:t>
            </a:r>
            <a:r>
              <a:rPr lang="en-US" sz="1800" dirty="0"/>
              <a:t>A </a:t>
            </a:r>
            <a:r>
              <a:rPr lang="en-US" sz="1800" dirty="0" err="1"/>
              <a:t>cableless</a:t>
            </a:r>
            <a:r>
              <a:rPr lang="en-US" sz="1800" dirty="0"/>
              <a:t> medium that uses high-frequency radio signals </a:t>
            </a:r>
            <a:r>
              <a:rPr lang="en-US" sz="1800" dirty="0" smtClean="0"/>
              <a:t>to send </a:t>
            </a:r>
            <a:r>
              <a:rPr lang="en-US" sz="1800" dirty="0"/>
              <a:t>data or information through the air</a:t>
            </a:r>
            <a:r>
              <a:rPr lang="en-US" sz="1800" dirty="0" smtClean="0"/>
              <a:t>.</a:t>
            </a:r>
          </a:p>
          <a:p>
            <a:pPr marL="900113">
              <a:buFont typeface="Wingdings" panose="05000000000000000000" pitchFamily="2" charset="2"/>
              <a:buChar char="Ø"/>
            </a:pPr>
            <a:r>
              <a:rPr lang="en-US" sz="1900" b="1" i="1" dirty="0" smtClean="0"/>
              <a:t>Satellite</a:t>
            </a:r>
            <a:r>
              <a:rPr lang="en-US" sz="1900" b="1" i="1" dirty="0"/>
              <a:t>: </a:t>
            </a:r>
            <a:r>
              <a:rPr lang="en-US" sz="1800" dirty="0"/>
              <a:t>A </a:t>
            </a:r>
            <a:r>
              <a:rPr lang="en-US" sz="1800" dirty="0" err="1"/>
              <a:t>cableless</a:t>
            </a:r>
            <a:r>
              <a:rPr lang="en-US" sz="1800" dirty="0"/>
              <a:t> medium in which communications are beamed from </a:t>
            </a:r>
            <a:r>
              <a:rPr lang="en-US" sz="1800" dirty="0" smtClean="0"/>
              <a:t>a microwave </a:t>
            </a:r>
            <a:r>
              <a:rPr lang="en-US" sz="1800" dirty="0"/>
              <a:t>station to a communications satellite to orbit above the earth </a:t>
            </a:r>
            <a:r>
              <a:rPr lang="en-US" sz="1800" dirty="0" smtClean="0"/>
              <a:t>and relayed </a:t>
            </a:r>
            <a:r>
              <a:rPr lang="en-US" sz="1800" dirty="0"/>
              <a:t>to other earth stations.</a:t>
            </a:r>
          </a:p>
          <a:p>
            <a:pPr marL="1435100">
              <a:buFont typeface="Wingdings" panose="05000000000000000000" pitchFamily="2" charset="2"/>
              <a:buChar char="§"/>
            </a:pPr>
            <a:r>
              <a:rPr lang="en-US" sz="1900" b="1" i="1" dirty="0" smtClean="0"/>
              <a:t>Low-earth-orbit </a:t>
            </a:r>
            <a:r>
              <a:rPr lang="en-US" sz="1900" b="1" i="1" dirty="0"/>
              <a:t>satellite (LEO): </a:t>
            </a:r>
            <a:r>
              <a:rPr lang="en-US" sz="1900" dirty="0"/>
              <a:t>Because they circle </a:t>
            </a:r>
            <a:r>
              <a:rPr lang="en-US" sz="1800" dirty="0"/>
              <a:t>Earth at </a:t>
            </a:r>
            <a:r>
              <a:rPr lang="en-US" sz="1800" dirty="0" smtClean="0"/>
              <a:t>a distance </a:t>
            </a:r>
            <a:r>
              <a:rPr lang="en-US" sz="1800" dirty="0"/>
              <a:t>far closer than other satellites, LEO satellite systems </a:t>
            </a:r>
            <a:r>
              <a:rPr lang="en-US" sz="1800" dirty="0" smtClean="0"/>
              <a:t>offer significant </a:t>
            </a:r>
            <a:r>
              <a:rPr lang="en-US" sz="1800" dirty="0"/>
              <a:t>advantages: they do not have the comparatively </a:t>
            </a:r>
            <a:r>
              <a:rPr lang="en-US" sz="1800" dirty="0" smtClean="0"/>
              <a:t>long propagation </a:t>
            </a:r>
            <a:r>
              <a:rPr lang="en-US" sz="1800" dirty="0"/>
              <a:t>delays, do not require use of bulky, expensive, </a:t>
            </a:r>
            <a:r>
              <a:rPr lang="en-US" sz="1800" dirty="0" smtClean="0"/>
              <a:t>directional antennas</a:t>
            </a:r>
            <a:r>
              <a:rPr lang="en-US" sz="1800" dirty="0"/>
              <a:t>, less expensive to produce and to launch into orbit. </a:t>
            </a:r>
            <a:endParaRPr lang="en-US" sz="1800" dirty="0" smtClean="0"/>
          </a:p>
          <a:p>
            <a:pPr marL="1435100" indent="0">
              <a:buNone/>
            </a:pPr>
            <a:r>
              <a:rPr lang="en-US" sz="1800" dirty="0" smtClean="0"/>
              <a:t>However, greater </a:t>
            </a:r>
            <a:r>
              <a:rPr lang="en-US" sz="1800" dirty="0"/>
              <a:t>numbers are needed to provide coverage for a </a:t>
            </a:r>
            <a:r>
              <a:rPr lang="en-US" sz="1800" dirty="0" smtClean="0"/>
              <a:t>geographic because </a:t>
            </a:r>
            <a:r>
              <a:rPr lang="en-US" sz="1800" dirty="0"/>
              <a:t>they do orbit closer to Earth.</a:t>
            </a:r>
          </a:p>
          <a:p>
            <a:pPr marL="1435100">
              <a:buFont typeface="Wingdings" panose="05000000000000000000" pitchFamily="2" charset="2"/>
              <a:buChar char="§"/>
            </a:pPr>
            <a:r>
              <a:rPr lang="en-US" sz="1900" b="1" i="1" dirty="0" smtClean="0"/>
              <a:t>Very </a:t>
            </a:r>
            <a:r>
              <a:rPr lang="en-US" sz="1900" b="1" i="1" dirty="0"/>
              <a:t>Small Aperture Terminal (VSAT): </a:t>
            </a:r>
            <a:r>
              <a:rPr lang="en-US" sz="1800" dirty="0"/>
              <a:t>A satellite earth station </a:t>
            </a:r>
            <a:r>
              <a:rPr lang="en-US" sz="1800" dirty="0" smtClean="0"/>
              <a:t>with an </a:t>
            </a:r>
            <a:r>
              <a:rPr lang="en-US" sz="1800" dirty="0"/>
              <a:t>antenna diameter of under one meter</a:t>
            </a:r>
            <a:r>
              <a:rPr lang="en-US" sz="1800" dirty="0" smtClean="0"/>
              <a:t>.</a:t>
            </a:r>
          </a:p>
        </p:txBody>
      </p:sp>
    </p:spTree>
    <p:extLst>
      <p:ext uri="{BB962C8B-B14F-4D97-AF65-F5344CB8AC3E}">
        <p14:creationId xmlns:p14="http://schemas.microsoft.com/office/powerpoint/2010/main" val="77338839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260648"/>
            <a:ext cx="8229600" cy="1224136"/>
          </a:xfrm>
        </p:spPr>
        <p:txBody>
          <a:bodyPr>
            <a:noAutofit/>
          </a:bodyPr>
          <a:lstStyle/>
          <a:p>
            <a:pPr algn="ctr">
              <a:defRPr/>
            </a:pPr>
            <a:r>
              <a:rPr lang="en-US" sz="5400" b="1" dirty="0"/>
              <a:t>NETWORK CHANNELS</a:t>
            </a:r>
            <a:endParaRPr lang="en-GB" sz="5400" b="1" dirty="0">
              <a:latin typeface="Comic Sans MS" panose="030F0702030302020204" pitchFamily="66" charset="0"/>
            </a:endParaRPr>
          </a:p>
        </p:txBody>
      </p:sp>
      <p:sp>
        <p:nvSpPr>
          <p:cNvPr id="5" name="Rectangle 3"/>
          <p:cNvSpPr txBox="1">
            <a:spLocks noChangeArrowheads="1"/>
          </p:cNvSpPr>
          <p:nvPr/>
        </p:nvSpPr>
        <p:spPr bwMode="auto">
          <a:xfrm>
            <a:off x="323528" y="1412776"/>
            <a:ext cx="8496944" cy="5184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150000"/>
              </a:lnSpc>
            </a:pPr>
            <a:r>
              <a:rPr lang="en-US" sz="1900" b="1" dirty="0" smtClean="0"/>
              <a:t>Wireless </a:t>
            </a:r>
            <a:r>
              <a:rPr lang="en-US" sz="1900" b="1" dirty="0"/>
              <a:t>Channels</a:t>
            </a:r>
          </a:p>
          <a:p>
            <a:pPr marL="801688">
              <a:lnSpc>
                <a:spcPct val="150000"/>
              </a:lnSpc>
              <a:buFont typeface="Wingdings" panose="05000000000000000000" pitchFamily="2" charset="2"/>
              <a:buChar char="Ø"/>
            </a:pPr>
            <a:r>
              <a:rPr lang="en-US" sz="1900" b="1" i="1" dirty="0" smtClean="0"/>
              <a:t>Infrared</a:t>
            </a:r>
            <a:r>
              <a:rPr lang="en-US" sz="1900" b="1" i="1" dirty="0"/>
              <a:t>: </a:t>
            </a:r>
            <a:r>
              <a:rPr lang="en-US" sz="1900" dirty="0"/>
              <a:t>A </a:t>
            </a:r>
            <a:r>
              <a:rPr lang="en-US" sz="1900" dirty="0" err="1"/>
              <a:t>cableless</a:t>
            </a:r>
            <a:r>
              <a:rPr lang="en-US" sz="1900" dirty="0"/>
              <a:t> medium </a:t>
            </a:r>
            <a:r>
              <a:rPr lang="en-US" sz="1900" dirty="0" smtClean="0"/>
              <a:t>that transmits </a:t>
            </a:r>
            <a:r>
              <a:rPr lang="en-US" sz="1900" dirty="0"/>
              <a:t>data and information in </a:t>
            </a:r>
            <a:r>
              <a:rPr lang="en-US" sz="1900" dirty="0" smtClean="0"/>
              <a:t>coded form </a:t>
            </a:r>
            <a:r>
              <a:rPr lang="en-US" sz="1900" dirty="0"/>
              <a:t>by means of an infrared </a:t>
            </a:r>
            <a:r>
              <a:rPr lang="en-US" sz="1900" dirty="0" smtClean="0"/>
              <a:t>light  beamed </a:t>
            </a:r>
            <a:r>
              <a:rPr lang="en-US" sz="1900" dirty="0"/>
              <a:t>from one transceiver to another.</a:t>
            </a:r>
          </a:p>
          <a:p>
            <a:pPr marL="1435100" indent="-352425">
              <a:lnSpc>
                <a:spcPct val="150000"/>
              </a:lnSpc>
              <a:buFont typeface="Wingdings" panose="05000000000000000000" pitchFamily="2" charset="2"/>
              <a:buChar char="§"/>
              <a:tabLst>
                <a:tab pos="1435100" algn="l"/>
              </a:tabLst>
            </a:pPr>
            <a:r>
              <a:rPr lang="en-US" sz="1900" b="1" i="1" dirty="0" smtClean="0"/>
              <a:t>Transceiver</a:t>
            </a:r>
            <a:r>
              <a:rPr lang="en-US" sz="1900" b="1" i="1" dirty="0"/>
              <a:t>: </a:t>
            </a:r>
            <a:r>
              <a:rPr lang="en-US" sz="1900" dirty="0"/>
              <a:t>A combination transmitter and receiver that transmits </a:t>
            </a:r>
            <a:r>
              <a:rPr lang="en-US" sz="1900" dirty="0" smtClean="0"/>
              <a:t>and receives </a:t>
            </a:r>
            <a:r>
              <a:rPr lang="en-US" sz="1900" dirty="0"/>
              <a:t>data and information.</a:t>
            </a:r>
          </a:p>
          <a:p>
            <a:pPr marL="801688">
              <a:lnSpc>
                <a:spcPct val="150000"/>
              </a:lnSpc>
              <a:buFont typeface="Wingdings" panose="05000000000000000000" pitchFamily="2" charset="2"/>
              <a:buChar char="Ø"/>
            </a:pPr>
            <a:r>
              <a:rPr lang="en-US" sz="1900" b="1" dirty="0" smtClean="0"/>
              <a:t>Radio </a:t>
            </a:r>
            <a:r>
              <a:rPr lang="en-US" sz="1900" b="1" dirty="0"/>
              <a:t>Waves</a:t>
            </a:r>
          </a:p>
          <a:p>
            <a:pPr marL="1435100">
              <a:lnSpc>
                <a:spcPct val="150000"/>
              </a:lnSpc>
              <a:buFont typeface="Wingdings" panose="05000000000000000000" pitchFamily="2" charset="2"/>
              <a:buChar char="§"/>
            </a:pPr>
            <a:r>
              <a:rPr lang="en-US" sz="1900" b="1" i="1" dirty="0" smtClean="0"/>
              <a:t>Radio </a:t>
            </a:r>
            <a:r>
              <a:rPr lang="en-US" sz="1900" b="1" i="1" dirty="0"/>
              <a:t>Wave Transmission/Radio Frequency (RF) Transmission: </a:t>
            </a:r>
            <a:r>
              <a:rPr lang="en-US" sz="1900" dirty="0" smtClean="0"/>
              <a:t>A </a:t>
            </a:r>
            <a:r>
              <a:rPr lang="en-US" sz="1900" dirty="0" err="1" smtClean="0"/>
              <a:t>cableless</a:t>
            </a:r>
            <a:r>
              <a:rPr lang="en-US" sz="1900" dirty="0" smtClean="0"/>
              <a:t> </a:t>
            </a:r>
            <a:r>
              <a:rPr lang="en-US" sz="1900" dirty="0"/>
              <a:t>medium that </a:t>
            </a:r>
            <a:r>
              <a:rPr lang="en-US" sz="1900" dirty="0" smtClean="0"/>
              <a:t>uses frequencies </a:t>
            </a:r>
            <a:r>
              <a:rPr lang="en-US" sz="1900" dirty="0"/>
              <a:t>rented from public </a:t>
            </a:r>
            <a:r>
              <a:rPr lang="en-US" sz="1900" dirty="0" smtClean="0"/>
              <a:t>radio networks </a:t>
            </a:r>
            <a:r>
              <a:rPr lang="en-US" sz="1900" dirty="0"/>
              <a:t>to transmit data and </a:t>
            </a:r>
            <a:r>
              <a:rPr lang="en-US" sz="1900" dirty="0" smtClean="0"/>
              <a:t> information</a:t>
            </a:r>
            <a:r>
              <a:rPr lang="en-US" sz="1900" dirty="0"/>
              <a:t>.</a:t>
            </a:r>
          </a:p>
        </p:txBody>
      </p:sp>
    </p:spTree>
    <p:extLst>
      <p:ext uri="{BB962C8B-B14F-4D97-AF65-F5344CB8AC3E}">
        <p14:creationId xmlns:p14="http://schemas.microsoft.com/office/powerpoint/2010/main" val="72828496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260648"/>
            <a:ext cx="8229600" cy="1224136"/>
          </a:xfrm>
        </p:spPr>
        <p:txBody>
          <a:bodyPr>
            <a:noAutofit/>
          </a:bodyPr>
          <a:lstStyle/>
          <a:p>
            <a:pPr algn="ctr">
              <a:defRPr/>
            </a:pPr>
            <a:r>
              <a:rPr lang="en-US" sz="4000" b="1" dirty="0"/>
              <a:t>COMMUNICATION CHANNELS FOR WANS, MAN AND LANS</a:t>
            </a:r>
            <a:endParaRPr lang="en-GB" sz="4000" b="1" dirty="0">
              <a:latin typeface="Comic Sans MS" panose="030F0702030302020204" pitchFamily="66" charset="0"/>
            </a:endParaRPr>
          </a:p>
        </p:txBody>
      </p:sp>
      <p:sp>
        <p:nvSpPr>
          <p:cNvPr id="5" name="Rectangle 3"/>
          <p:cNvSpPr txBox="1">
            <a:spLocks noChangeArrowheads="1"/>
          </p:cNvSpPr>
          <p:nvPr/>
        </p:nvSpPr>
        <p:spPr bwMode="auto">
          <a:xfrm>
            <a:off x="323528" y="1412776"/>
            <a:ext cx="8496944" cy="5184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150000"/>
              </a:lnSpc>
            </a:pPr>
            <a:r>
              <a:rPr lang="en-US" sz="1900" b="1" i="1" dirty="0" smtClean="0"/>
              <a:t>Public </a:t>
            </a:r>
            <a:r>
              <a:rPr lang="en-US" sz="1900" b="1" i="1" dirty="0"/>
              <a:t>Access Networks: </a:t>
            </a:r>
            <a:r>
              <a:rPr lang="en-US" sz="1900" dirty="0"/>
              <a:t>A network maintained by common carriers for use by </a:t>
            </a:r>
            <a:r>
              <a:rPr lang="en-US" sz="1900" dirty="0" smtClean="0"/>
              <a:t>the general </a:t>
            </a:r>
            <a:r>
              <a:rPr lang="en-US" sz="1900" dirty="0"/>
              <a:t>public.</a:t>
            </a:r>
          </a:p>
          <a:p>
            <a:pPr marL="900113">
              <a:buFont typeface="Wingdings" panose="05000000000000000000" pitchFamily="2" charset="2"/>
              <a:buChar char="Ø"/>
            </a:pPr>
            <a:r>
              <a:rPr lang="en-US" sz="1900" b="1" i="1" dirty="0" smtClean="0"/>
              <a:t>Switched </a:t>
            </a:r>
            <a:r>
              <a:rPr lang="en-US" sz="1900" b="1" i="1" dirty="0"/>
              <a:t>Network/Circuit Switched: </a:t>
            </a:r>
            <a:r>
              <a:rPr lang="en-US" sz="1900" dirty="0"/>
              <a:t>The complete set of public </a:t>
            </a:r>
            <a:r>
              <a:rPr lang="en-US" sz="1900" dirty="0" smtClean="0"/>
              <a:t>access networks</a:t>
            </a:r>
            <a:r>
              <a:rPr lang="en-US" sz="1900" dirty="0"/>
              <a:t>, so named because the telephone company operates and </a:t>
            </a:r>
            <a:r>
              <a:rPr lang="en-US" sz="1900" dirty="0" smtClean="0"/>
              <a:t>maintains the </a:t>
            </a:r>
            <a:r>
              <a:rPr lang="en-US" sz="1900" dirty="0"/>
              <a:t>switching centers that make it possible to transmit data and information.</a:t>
            </a:r>
          </a:p>
          <a:p>
            <a:pPr marL="900113">
              <a:buFont typeface="Wingdings" panose="05000000000000000000" pitchFamily="2" charset="2"/>
              <a:buChar char="Ø"/>
            </a:pPr>
            <a:r>
              <a:rPr lang="en-US" sz="1900" b="1" i="1" dirty="0" smtClean="0"/>
              <a:t>Packet </a:t>
            </a:r>
            <a:r>
              <a:rPr lang="en-US" sz="1900" b="1" i="1" dirty="0"/>
              <a:t>Switching: </a:t>
            </a:r>
            <a:r>
              <a:rPr lang="en-US" sz="1900" dirty="0"/>
              <a:t>A network communication method in which messages </a:t>
            </a:r>
            <a:r>
              <a:rPr lang="en-US" sz="1900" dirty="0" smtClean="0"/>
              <a:t>are divided </a:t>
            </a:r>
            <a:r>
              <a:rPr lang="en-US" sz="1900" dirty="0"/>
              <a:t>into packets. Each packet is then transmitted individually and can </a:t>
            </a:r>
            <a:r>
              <a:rPr lang="en-US" sz="1900" dirty="0" smtClean="0"/>
              <a:t>even follow </a:t>
            </a:r>
            <a:r>
              <a:rPr lang="en-US" sz="1900" dirty="0"/>
              <a:t>different routes to its destination.</a:t>
            </a:r>
          </a:p>
          <a:p>
            <a:pPr marL="900113">
              <a:buFont typeface="Wingdings" panose="05000000000000000000" pitchFamily="2" charset="2"/>
              <a:buChar char="Ø"/>
            </a:pPr>
            <a:r>
              <a:rPr lang="en-US" sz="1900" b="1" i="1" dirty="0" smtClean="0"/>
              <a:t>Packet</a:t>
            </a:r>
            <a:r>
              <a:rPr lang="en-US" sz="1900" b="1" i="1" dirty="0"/>
              <a:t>: </a:t>
            </a:r>
            <a:r>
              <a:rPr lang="en-US" sz="1900" dirty="0"/>
              <a:t>A piece or section of a transmitted message that contains both </a:t>
            </a:r>
            <a:r>
              <a:rPr lang="en-US" sz="1900" dirty="0" smtClean="0"/>
              <a:t>data and </a:t>
            </a:r>
            <a:r>
              <a:rPr lang="en-US" sz="1900" dirty="0"/>
              <a:t>address information enabling the network to deliver the packet to </a:t>
            </a:r>
            <a:r>
              <a:rPr lang="en-US" sz="1900" dirty="0" smtClean="0"/>
              <a:t>its intended </a:t>
            </a:r>
            <a:r>
              <a:rPr lang="en-US" sz="1900" dirty="0"/>
              <a:t>destination</a:t>
            </a:r>
            <a:r>
              <a:rPr lang="en-US" sz="1900" dirty="0" smtClean="0"/>
              <a:t>.</a:t>
            </a:r>
          </a:p>
          <a:p>
            <a:pPr>
              <a:lnSpc>
                <a:spcPct val="150000"/>
              </a:lnSpc>
            </a:pPr>
            <a:endParaRPr lang="en-US" sz="1900" dirty="0"/>
          </a:p>
        </p:txBody>
      </p:sp>
    </p:spTree>
    <p:extLst>
      <p:ext uri="{BB962C8B-B14F-4D97-AF65-F5344CB8AC3E}">
        <p14:creationId xmlns:p14="http://schemas.microsoft.com/office/powerpoint/2010/main" val="374109522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260648"/>
            <a:ext cx="8229600" cy="1224136"/>
          </a:xfrm>
        </p:spPr>
        <p:txBody>
          <a:bodyPr>
            <a:noAutofit/>
          </a:bodyPr>
          <a:lstStyle/>
          <a:p>
            <a:pPr algn="ctr">
              <a:defRPr/>
            </a:pPr>
            <a:r>
              <a:rPr lang="en-US" sz="4000" b="1" dirty="0"/>
              <a:t>COMMUNICATION CHANNELS FOR WANS, MAN AND LANS</a:t>
            </a:r>
            <a:endParaRPr lang="en-GB" sz="4000" b="1" dirty="0">
              <a:latin typeface="Comic Sans MS" panose="030F0702030302020204" pitchFamily="66" charset="0"/>
            </a:endParaRPr>
          </a:p>
        </p:txBody>
      </p:sp>
      <p:sp>
        <p:nvSpPr>
          <p:cNvPr id="5" name="Rectangle 3"/>
          <p:cNvSpPr txBox="1">
            <a:spLocks noChangeArrowheads="1"/>
          </p:cNvSpPr>
          <p:nvPr/>
        </p:nvSpPr>
        <p:spPr bwMode="auto">
          <a:xfrm>
            <a:off x="323528" y="1412776"/>
            <a:ext cx="8496944" cy="5184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gn="just">
              <a:lnSpc>
                <a:spcPct val="200000"/>
              </a:lnSpc>
            </a:pPr>
            <a:r>
              <a:rPr lang="en-US" sz="1900" b="1" i="1" dirty="0" smtClean="0"/>
              <a:t>Private </a:t>
            </a:r>
            <a:r>
              <a:rPr lang="en-US" sz="1900" b="1" i="1" dirty="0"/>
              <a:t>Network: </a:t>
            </a:r>
            <a:r>
              <a:rPr lang="en-US" sz="1900" dirty="0"/>
              <a:t>A network made up for leased (dedicated) communications lines.</a:t>
            </a:r>
          </a:p>
          <a:p>
            <a:pPr marL="900113" algn="just">
              <a:lnSpc>
                <a:spcPct val="200000"/>
              </a:lnSpc>
              <a:buFont typeface="Wingdings" panose="05000000000000000000" pitchFamily="2" charset="2"/>
              <a:buChar char="Ø"/>
            </a:pPr>
            <a:r>
              <a:rPr lang="en-US" sz="1900" b="1" i="1" dirty="0" smtClean="0"/>
              <a:t>Leased </a:t>
            </a:r>
            <a:r>
              <a:rPr lang="en-US" sz="1900" b="1" i="1" dirty="0"/>
              <a:t>Line/Dedicated Line: </a:t>
            </a:r>
            <a:r>
              <a:rPr lang="en-US" sz="1900" dirty="0"/>
              <a:t>A communications line reserved from a </a:t>
            </a:r>
            <a:r>
              <a:rPr lang="en-US" sz="1900" dirty="0" smtClean="0"/>
              <a:t>carrier by </a:t>
            </a:r>
            <a:r>
              <a:rPr lang="en-US" sz="1900" dirty="0"/>
              <a:t>a company for its exclusive use.</a:t>
            </a:r>
          </a:p>
          <a:p>
            <a:pPr marL="900113" algn="just">
              <a:lnSpc>
                <a:spcPct val="200000"/>
              </a:lnSpc>
              <a:buFont typeface="Wingdings" panose="05000000000000000000" pitchFamily="2" charset="2"/>
              <a:buChar char="Ø"/>
            </a:pPr>
            <a:r>
              <a:rPr lang="en-US" sz="1900" b="1" i="1" dirty="0" smtClean="0"/>
              <a:t>Value-added </a:t>
            </a:r>
            <a:r>
              <a:rPr lang="en-US" sz="1900" b="1" i="1" dirty="0"/>
              <a:t>Network (VAN): </a:t>
            </a:r>
            <a:r>
              <a:rPr lang="en-US" sz="1900" dirty="0"/>
              <a:t>A public </a:t>
            </a:r>
            <a:r>
              <a:rPr lang="en-US" sz="1900" dirty="0" smtClean="0"/>
              <a:t>data communications </a:t>
            </a:r>
            <a:r>
              <a:rPr lang="en-US" sz="1900" dirty="0"/>
              <a:t>network </a:t>
            </a:r>
            <a:r>
              <a:rPr lang="en-US" sz="1900" dirty="0" smtClean="0"/>
              <a:t>that provides </a:t>
            </a:r>
            <a:r>
              <a:rPr lang="en-US" sz="1900" dirty="0"/>
              <a:t>basic transmission facilities plus enhancements (e.g. temporary </a:t>
            </a:r>
            <a:r>
              <a:rPr lang="en-US" sz="1900" dirty="0" smtClean="0"/>
              <a:t>data storage </a:t>
            </a:r>
            <a:r>
              <a:rPr lang="en-US" sz="1900" dirty="0"/>
              <a:t>and error detection).</a:t>
            </a:r>
          </a:p>
        </p:txBody>
      </p:sp>
    </p:spTree>
    <p:extLst>
      <p:ext uri="{BB962C8B-B14F-4D97-AF65-F5344CB8AC3E}">
        <p14:creationId xmlns:p14="http://schemas.microsoft.com/office/powerpoint/2010/main" val="103472806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260648"/>
            <a:ext cx="8229600" cy="1224136"/>
          </a:xfrm>
        </p:spPr>
        <p:txBody>
          <a:bodyPr>
            <a:noAutofit/>
          </a:bodyPr>
          <a:lstStyle/>
          <a:p>
            <a:pPr algn="ctr">
              <a:defRPr/>
            </a:pPr>
            <a:r>
              <a:rPr lang="en-US" sz="5400" b="1" dirty="0"/>
              <a:t>Connecting to the Channel</a:t>
            </a:r>
            <a:endParaRPr lang="en-GB" sz="5400" b="1" dirty="0">
              <a:latin typeface="Comic Sans MS" panose="030F0702030302020204" pitchFamily="66" charset="0"/>
            </a:endParaRPr>
          </a:p>
        </p:txBody>
      </p:sp>
      <p:sp>
        <p:nvSpPr>
          <p:cNvPr id="5" name="Rectangle 3"/>
          <p:cNvSpPr txBox="1">
            <a:spLocks noChangeArrowheads="1"/>
          </p:cNvSpPr>
          <p:nvPr/>
        </p:nvSpPr>
        <p:spPr bwMode="auto">
          <a:xfrm>
            <a:off x="457200" y="1412776"/>
            <a:ext cx="8003232" cy="53285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gn="just">
              <a:lnSpc>
                <a:spcPct val="150000"/>
              </a:lnSpc>
            </a:pPr>
            <a:r>
              <a:rPr lang="en-US" sz="1900" dirty="0"/>
              <a:t>The devices used as channels to connect to networks are:</a:t>
            </a:r>
          </a:p>
          <a:p>
            <a:pPr marL="900113" algn="just">
              <a:lnSpc>
                <a:spcPct val="150000"/>
              </a:lnSpc>
              <a:buFont typeface="Wingdings" panose="05000000000000000000" pitchFamily="2" charset="2"/>
              <a:buChar char="Ø"/>
            </a:pPr>
            <a:r>
              <a:rPr lang="en-US" sz="1900" b="1" i="1" dirty="0" smtClean="0"/>
              <a:t>Modem</a:t>
            </a:r>
            <a:r>
              <a:rPr lang="en-US" sz="1900" b="1" i="1" dirty="0"/>
              <a:t>: </a:t>
            </a:r>
            <a:r>
              <a:rPr lang="en-US" sz="1800" dirty="0"/>
              <a:t>A device that connects a computer to </a:t>
            </a:r>
            <a:r>
              <a:rPr lang="en-US" sz="1800" dirty="0" smtClean="0"/>
              <a:t>a communications </a:t>
            </a:r>
            <a:r>
              <a:rPr lang="en-US" sz="1800" dirty="0"/>
              <a:t>medium </a:t>
            </a:r>
            <a:r>
              <a:rPr lang="en-US" sz="1800" dirty="0" smtClean="0"/>
              <a:t>and translates </a:t>
            </a:r>
            <a:r>
              <a:rPr lang="en-US" sz="1800" dirty="0"/>
              <a:t>the data </a:t>
            </a:r>
            <a:r>
              <a:rPr lang="en-US" sz="1800" dirty="0" smtClean="0"/>
              <a:t>or information </a:t>
            </a:r>
            <a:r>
              <a:rPr lang="en-US" sz="1800" dirty="0"/>
              <a:t>from the computer into a form that can </a:t>
            </a:r>
            <a:r>
              <a:rPr lang="en-US" sz="1800" dirty="0" smtClean="0"/>
              <a:t>be transmitted </a:t>
            </a:r>
            <a:r>
              <a:rPr lang="en-US" sz="1800" dirty="0"/>
              <a:t>over the channel. Used in WANs.</a:t>
            </a:r>
          </a:p>
          <a:p>
            <a:pPr marL="900113" algn="just">
              <a:lnSpc>
                <a:spcPct val="150000"/>
              </a:lnSpc>
              <a:buFont typeface="Wingdings" panose="05000000000000000000" pitchFamily="2" charset="2"/>
              <a:buChar char="Ø"/>
            </a:pPr>
            <a:r>
              <a:rPr lang="en-US" sz="1900" b="1" i="1" dirty="0" smtClean="0"/>
              <a:t>Multiplexer</a:t>
            </a:r>
            <a:r>
              <a:rPr lang="en-US" sz="1900" b="1" i="1" dirty="0"/>
              <a:t>: </a:t>
            </a:r>
            <a:r>
              <a:rPr lang="en-US" sz="1800" dirty="0"/>
              <a:t>A device that converts data from digital to analog form and vice versa </a:t>
            </a:r>
            <a:r>
              <a:rPr lang="en-US" sz="1800" dirty="0" smtClean="0"/>
              <a:t>in order </a:t>
            </a:r>
            <a:r>
              <a:rPr lang="en-US" sz="1800" dirty="0"/>
              <a:t>to allow a </a:t>
            </a:r>
            <a:r>
              <a:rPr lang="en-US" sz="1800" dirty="0" smtClean="0"/>
              <a:t>single communications </a:t>
            </a:r>
            <a:r>
              <a:rPr lang="en-US" sz="1800" dirty="0"/>
              <a:t>channel to carry simultaneous </a:t>
            </a:r>
            <a:r>
              <a:rPr lang="en-US" sz="1800" dirty="0" smtClean="0"/>
              <a:t>data transmissions </a:t>
            </a:r>
            <a:r>
              <a:rPr lang="en-US" sz="1800" dirty="0"/>
              <a:t>from the many terminals that are sharing the channel.</a:t>
            </a:r>
          </a:p>
          <a:p>
            <a:pPr marL="900113" algn="just">
              <a:lnSpc>
                <a:spcPct val="150000"/>
              </a:lnSpc>
              <a:buFont typeface="Wingdings" panose="05000000000000000000" pitchFamily="2" charset="2"/>
              <a:buChar char="Ø"/>
            </a:pPr>
            <a:r>
              <a:rPr lang="en-US" sz="1900" b="1" i="1" dirty="0" smtClean="0"/>
              <a:t>Network </a:t>
            </a:r>
            <a:r>
              <a:rPr lang="en-US" sz="1900" b="1" i="1" dirty="0"/>
              <a:t>Interface Card (NIC): </a:t>
            </a:r>
            <a:r>
              <a:rPr lang="en-US" sz="1800" dirty="0"/>
              <a:t>A circuit board used in LANs to transmit digital </a:t>
            </a:r>
            <a:r>
              <a:rPr lang="en-US" sz="1800" dirty="0" smtClean="0"/>
              <a:t>data or </a:t>
            </a:r>
            <a:r>
              <a:rPr lang="en-US" sz="1800" dirty="0"/>
              <a:t>information.</a:t>
            </a:r>
          </a:p>
        </p:txBody>
      </p:sp>
    </p:spTree>
    <p:extLst>
      <p:ext uri="{BB962C8B-B14F-4D97-AF65-F5344CB8AC3E}">
        <p14:creationId xmlns:p14="http://schemas.microsoft.com/office/powerpoint/2010/main" val="34014840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260648"/>
            <a:ext cx="8229600" cy="1224136"/>
          </a:xfrm>
        </p:spPr>
        <p:txBody>
          <a:bodyPr>
            <a:noAutofit/>
          </a:bodyPr>
          <a:lstStyle/>
          <a:p>
            <a:pPr algn="ctr">
              <a:defRPr/>
            </a:pPr>
            <a:r>
              <a:rPr lang="en-US" sz="5400" b="1" dirty="0"/>
              <a:t>Interconnecting Networks</a:t>
            </a:r>
            <a:endParaRPr lang="en-GB" sz="5400" b="1" dirty="0">
              <a:latin typeface="Comic Sans MS" panose="030F0702030302020204" pitchFamily="66" charset="0"/>
            </a:endParaRPr>
          </a:p>
        </p:txBody>
      </p:sp>
      <p:sp>
        <p:nvSpPr>
          <p:cNvPr id="5" name="Rectangle 3"/>
          <p:cNvSpPr txBox="1">
            <a:spLocks noChangeArrowheads="1"/>
          </p:cNvSpPr>
          <p:nvPr/>
        </p:nvSpPr>
        <p:spPr bwMode="auto">
          <a:xfrm>
            <a:off x="457200" y="1412776"/>
            <a:ext cx="8003232" cy="53285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gn="just">
              <a:lnSpc>
                <a:spcPct val="200000"/>
              </a:lnSpc>
            </a:pPr>
            <a:r>
              <a:rPr lang="en-US" sz="2400" b="1" i="1" dirty="0" smtClean="0"/>
              <a:t>Bridge/Router</a:t>
            </a:r>
            <a:r>
              <a:rPr lang="en-US" sz="2400" b="1" i="1" dirty="0"/>
              <a:t>: </a:t>
            </a:r>
            <a:r>
              <a:rPr lang="en-US" sz="2400" dirty="0"/>
              <a:t>A device that interconnects compatible LANs.</a:t>
            </a:r>
          </a:p>
          <a:p>
            <a:pPr algn="just">
              <a:lnSpc>
                <a:spcPct val="200000"/>
              </a:lnSpc>
            </a:pPr>
            <a:r>
              <a:rPr lang="en-US" sz="2400" b="1" i="1" dirty="0" smtClean="0"/>
              <a:t>Gateway</a:t>
            </a:r>
            <a:r>
              <a:rPr lang="en-US" sz="2400" b="1" i="1" dirty="0"/>
              <a:t>: </a:t>
            </a:r>
            <a:r>
              <a:rPr lang="en-US" sz="2400" dirty="0"/>
              <a:t>A device that connects two otherwise incompatible networks, </a:t>
            </a:r>
            <a:r>
              <a:rPr lang="en-US" sz="2400" dirty="0" smtClean="0"/>
              <a:t>network nodes</a:t>
            </a:r>
            <a:r>
              <a:rPr lang="en-US" sz="2400" dirty="0"/>
              <a:t>, or devices.</a:t>
            </a:r>
          </a:p>
        </p:txBody>
      </p:sp>
    </p:spTree>
    <p:extLst>
      <p:ext uri="{BB962C8B-B14F-4D97-AF65-F5344CB8AC3E}">
        <p14:creationId xmlns:p14="http://schemas.microsoft.com/office/powerpoint/2010/main" val="90853013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260648"/>
            <a:ext cx="8229600" cy="1224136"/>
          </a:xfrm>
        </p:spPr>
        <p:txBody>
          <a:bodyPr>
            <a:noAutofit/>
          </a:bodyPr>
          <a:lstStyle/>
          <a:p>
            <a:pPr algn="ctr">
              <a:defRPr/>
            </a:pPr>
            <a:r>
              <a:rPr lang="en-US" sz="6600" b="1" dirty="0"/>
              <a:t>Extending Networks</a:t>
            </a:r>
            <a:endParaRPr lang="en-GB" sz="6600" b="1" dirty="0">
              <a:latin typeface="Comic Sans MS" panose="030F0702030302020204" pitchFamily="66" charset="0"/>
            </a:endParaRPr>
          </a:p>
        </p:txBody>
      </p:sp>
      <p:sp>
        <p:nvSpPr>
          <p:cNvPr id="5" name="Rectangle 3"/>
          <p:cNvSpPr txBox="1">
            <a:spLocks noChangeArrowheads="1"/>
          </p:cNvSpPr>
          <p:nvPr/>
        </p:nvSpPr>
        <p:spPr bwMode="auto">
          <a:xfrm>
            <a:off x="611560" y="1484784"/>
            <a:ext cx="7704856" cy="5256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150000"/>
              </a:lnSpc>
            </a:pPr>
            <a:r>
              <a:rPr lang="en-US" sz="4000" i="1" dirty="0" smtClean="0"/>
              <a:t> Microwave/RF </a:t>
            </a:r>
            <a:r>
              <a:rPr lang="en-US" sz="4000" i="1" dirty="0"/>
              <a:t>Radios</a:t>
            </a:r>
          </a:p>
          <a:p>
            <a:pPr>
              <a:lnSpc>
                <a:spcPct val="150000"/>
              </a:lnSpc>
            </a:pPr>
            <a:r>
              <a:rPr lang="en-US" sz="4000" i="1" dirty="0" smtClean="0"/>
              <a:t> Switch</a:t>
            </a:r>
            <a:endParaRPr lang="en-US" sz="4000" i="1" dirty="0"/>
          </a:p>
          <a:p>
            <a:pPr>
              <a:lnSpc>
                <a:spcPct val="150000"/>
              </a:lnSpc>
            </a:pPr>
            <a:r>
              <a:rPr lang="en-US" sz="4000" i="1" dirty="0" smtClean="0"/>
              <a:t> Hub</a:t>
            </a:r>
            <a:endParaRPr lang="en-US" sz="4000" dirty="0"/>
          </a:p>
        </p:txBody>
      </p:sp>
    </p:spTree>
    <p:extLst>
      <p:ext uri="{BB962C8B-B14F-4D97-AF65-F5344CB8AC3E}">
        <p14:creationId xmlns:p14="http://schemas.microsoft.com/office/powerpoint/2010/main" val="38400322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bwMode="auto">
          <a:xfrm>
            <a:off x="374848" y="1052736"/>
            <a:ext cx="8229600" cy="1728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ctr" rtl="0" eaLnBrk="1" fontAlgn="base" hangingPunct="1">
              <a:spcBef>
                <a:spcPct val="0"/>
              </a:spcBef>
              <a:spcAft>
                <a:spcPct val="0"/>
              </a:spcAft>
              <a:defRPr sz="5800">
                <a:solidFill>
                  <a:schemeClr val="tx2"/>
                </a:solidFill>
                <a:latin typeface="+mj-lt"/>
                <a:ea typeface="+mj-ea"/>
                <a:cs typeface="+mj-cs"/>
              </a:defRPr>
            </a:lvl1pPr>
            <a:lvl2pPr algn="l" rtl="0" eaLnBrk="1" fontAlgn="base" hangingPunct="1">
              <a:spcBef>
                <a:spcPct val="0"/>
              </a:spcBef>
              <a:spcAft>
                <a:spcPct val="0"/>
              </a:spcAft>
              <a:defRPr sz="4400">
                <a:solidFill>
                  <a:schemeClr val="tx2"/>
                </a:solidFill>
                <a:latin typeface="Garamond" pitchFamily="18" charset="0"/>
                <a:cs typeface="Arial" charset="0"/>
              </a:defRPr>
            </a:lvl2pPr>
            <a:lvl3pPr algn="l" rtl="0" eaLnBrk="1" fontAlgn="base" hangingPunct="1">
              <a:spcBef>
                <a:spcPct val="0"/>
              </a:spcBef>
              <a:spcAft>
                <a:spcPct val="0"/>
              </a:spcAft>
              <a:defRPr sz="4400">
                <a:solidFill>
                  <a:schemeClr val="tx2"/>
                </a:solidFill>
                <a:latin typeface="Garamond" pitchFamily="18" charset="0"/>
                <a:cs typeface="Arial" charset="0"/>
              </a:defRPr>
            </a:lvl3pPr>
            <a:lvl4pPr algn="l" rtl="0" eaLnBrk="1" fontAlgn="base" hangingPunct="1">
              <a:spcBef>
                <a:spcPct val="0"/>
              </a:spcBef>
              <a:spcAft>
                <a:spcPct val="0"/>
              </a:spcAft>
              <a:defRPr sz="4400">
                <a:solidFill>
                  <a:schemeClr val="tx2"/>
                </a:solidFill>
                <a:latin typeface="Garamond" pitchFamily="18" charset="0"/>
                <a:cs typeface="Arial" charset="0"/>
              </a:defRPr>
            </a:lvl4pPr>
            <a:lvl5pPr algn="l" rtl="0" eaLnBrk="1" fontAlgn="base" hangingPunct="1">
              <a:spcBef>
                <a:spcPct val="0"/>
              </a:spcBef>
              <a:spcAft>
                <a:spcPct val="0"/>
              </a:spcAft>
              <a:defRPr sz="4400">
                <a:solidFill>
                  <a:schemeClr val="tx2"/>
                </a:solidFill>
                <a:latin typeface="Garamond" pitchFamily="18" charset="0"/>
                <a:cs typeface="Arial" charset="0"/>
              </a:defRPr>
            </a:lvl5pPr>
            <a:lvl6pPr marL="457200" algn="l" rtl="0" eaLnBrk="1" fontAlgn="base" hangingPunct="1">
              <a:spcBef>
                <a:spcPct val="0"/>
              </a:spcBef>
              <a:spcAft>
                <a:spcPct val="0"/>
              </a:spcAft>
              <a:defRPr sz="4400">
                <a:solidFill>
                  <a:schemeClr val="tx2"/>
                </a:solidFill>
                <a:latin typeface="Garamond" pitchFamily="18" charset="0"/>
                <a:cs typeface="Arial" charset="0"/>
              </a:defRPr>
            </a:lvl6pPr>
            <a:lvl7pPr marL="914400" algn="l" rtl="0" eaLnBrk="1" fontAlgn="base" hangingPunct="1">
              <a:spcBef>
                <a:spcPct val="0"/>
              </a:spcBef>
              <a:spcAft>
                <a:spcPct val="0"/>
              </a:spcAft>
              <a:defRPr sz="4400">
                <a:solidFill>
                  <a:schemeClr val="tx2"/>
                </a:solidFill>
                <a:latin typeface="Garamond" pitchFamily="18" charset="0"/>
                <a:cs typeface="Arial" charset="0"/>
              </a:defRPr>
            </a:lvl7pPr>
            <a:lvl8pPr marL="1371600" algn="l" rtl="0" eaLnBrk="1" fontAlgn="base" hangingPunct="1">
              <a:spcBef>
                <a:spcPct val="0"/>
              </a:spcBef>
              <a:spcAft>
                <a:spcPct val="0"/>
              </a:spcAft>
              <a:defRPr sz="4400">
                <a:solidFill>
                  <a:schemeClr val="tx2"/>
                </a:solidFill>
                <a:latin typeface="Garamond" pitchFamily="18" charset="0"/>
                <a:cs typeface="Arial" charset="0"/>
              </a:defRPr>
            </a:lvl8pPr>
            <a:lvl9pPr marL="1828800" algn="l" rtl="0" eaLnBrk="1" fontAlgn="base" hangingPunct="1">
              <a:spcBef>
                <a:spcPct val="0"/>
              </a:spcBef>
              <a:spcAft>
                <a:spcPct val="0"/>
              </a:spcAft>
              <a:defRPr sz="4400">
                <a:solidFill>
                  <a:schemeClr val="tx2"/>
                </a:solidFill>
                <a:latin typeface="Garamond" pitchFamily="18" charset="0"/>
                <a:cs typeface="Arial" charset="0"/>
              </a:defRPr>
            </a:lvl9pPr>
          </a:lstStyle>
          <a:p>
            <a:r>
              <a:rPr lang="en-US" sz="8800" b="1" kern="0" dirty="0"/>
              <a:t>Week </a:t>
            </a:r>
            <a:r>
              <a:rPr lang="en-US" sz="8800" b="1" kern="0" dirty="0" smtClean="0"/>
              <a:t>6</a:t>
            </a:r>
            <a:endParaRPr lang="en-US" altLang="en-US" sz="8800" kern="0" dirty="0"/>
          </a:p>
        </p:txBody>
      </p:sp>
      <p:sp>
        <p:nvSpPr>
          <p:cNvPr id="3" name="Rectangle 2">
            <a:extLst>
              <a:ext uri="{FF2B5EF4-FFF2-40B4-BE49-F238E27FC236}">
                <a16:creationId xmlns:a16="http://schemas.microsoft.com/office/drawing/2014/main" id="{C43AEFA3-0843-4CFF-AA77-BB416BFA9B54}"/>
              </a:ext>
            </a:extLst>
          </p:cNvPr>
          <p:cNvSpPr txBox="1">
            <a:spLocks noChangeArrowheads="1"/>
          </p:cNvSpPr>
          <p:nvPr/>
        </p:nvSpPr>
        <p:spPr bwMode="auto">
          <a:xfrm>
            <a:off x="374848" y="3140968"/>
            <a:ext cx="8382000" cy="1584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ctr" rtl="0" eaLnBrk="1" fontAlgn="base" hangingPunct="1">
              <a:spcBef>
                <a:spcPct val="0"/>
              </a:spcBef>
              <a:spcAft>
                <a:spcPct val="0"/>
              </a:spcAft>
              <a:defRPr sz="5800">
                <a:solidFill>
                  <a:schemeClr val="tx2"/>
                </a:solidFill>
                <a:latin typeface="+mj-lt"/>
                <a:ea typeface="+mj-ea"/>
                <a:cs typeface="+mj-cs"/>
              </a:defRPr>
            </a:lvl1pPr>
            <a:lvl2pPr algn="l" rtl="0" eaLnBrk="1" fontAlgn="base" hangingPunct="1">
              <a:spcBef>
                <a:spcPct val="0"/>
              </a:spcBef>
              <a:spcAft>
                <a:spcPct val="0"/>
              </a:spcAft>
              <a:defRPr sz="4400">
                <a:solidFill>
                  <a:schemeClr val="tx2"/>
                </a:solidFill>
                <a:latin typeface="Garamond" pitchFamily="18" charset="0"/>
                <a:cs typeface="Arial" charset="0"/>
              </a:defRPr>
            </a:lvl2pPr>
            <a:lvl3pPr algn="l" rtl="0" eaLnBrk="1" fontAlgn="base" hangingPunct="1">
              <a:spcBef>
                <a:spcPct val="0"/>
              </a:spcBef>
              <a:spcAft>
                <a:spcPct val="0"/>
              </a:spcAft>
              <a:defRPr sz="4400">
                <a:solidFill>
                  <a:schemeClr val="tx2"/>
                </a:solidFill>
                <a:latin typeface="Garamond" pitchFamily="18" charset="0"/>
                <a:cs typeface="Arial" charset="0"/>
              </a:defRPr>
            </a:lvl3pPr>
            <a:lvl4pPr algn="l" rtl="0" eaLnBrk="1" fontAlgn="base" hangingPunct="1">
              <a:spcBef>
                <a:spcPct val="0"/>
              </a:spcBef>
              <a:spcAft>
                <a:spcPct val="0"/>
              </a:spcAft>
              <a:defRPr sz="4400">
                <a:solidFill>
                  <a:schemeClr val="tx2"/>
                </a:solidFill>
                <a:latin typeface="Garamond" pitchFamily="18" charset="0"/>
                <a:cs typeface="Arial" charset="0"/>
              </a:defRPr>
            </a:lvl4pPr>
            <a:lvl5pPr algn="l" rtl="0" eaLnBrk="1" fontAlgn="base" hangingPunct="1">
              <a:spcBef>
                <a:spcPct val="0"/>
              </a:spcBef>
              <a:spcAft>
                <a:spcPct val="0"/>
              </a:spcAft>
              <a:defRPr sz="4400">
                <a:solidFill>
                  <a:schemeClr val="tx2"/>
                </a:solidFill>
                <a:latin typeface="Garamond" pitchFamily="18" charset="0"/>
                <a:cs typeface="Arial" charset="0"/>
              </a:defRPr>
            </a:lvl5pPr>
            <a:lvl6pPr marL="457200" algn="l" rtl="0" eaLnBrk="1" fontAlgn="base" hangingPunct="1">
              <a:spcBef>
                <a:spcPct val="0"/>
              </a:spcBef>
              <a:spcAft>
                <a:spcPct val="0"/>
              </a:spcAft>
              <a:defRPr sz="4400">
                <a:solidFill>
                  <a:schemeClr val="tx2"/>
                </a:solidFill>
                <a:latin typeface="Garamond" pitchFamily="18" charset="0"/>
                <a:cs typeface="Arial" charset="0"/>
              </a:defRPr>
            </a:lvl6pPr>
            <a:lvl7pPr marL="914400" algn="l" rtl="0" eaLnBrk="1" fontAlgn="base" hangingPunct="1">
              <a:spcBef>
                <a:spcPct val="0"/>
              </a:spcBef>
              <a:spcAft>
                <a:spcPct val="0"/>
              </a:spcAft>
              <a:defRPr sz="4400">
                <a:solidFill>
                  <a:schemeClr val="tx2"/>
                </a:solidFill>
                <a:latin typeface="Garamond" pitchFamily="18" charset="0"/>
                <a:cs typeface="Arial" charset="0"/>
              </a:defRPr>
            </a:lvl7pPr>
            <a:lvl8pPr marL="1371600" algn="l" rtl="0" eaLnBrk="1" fontAlgn="base" hangingPunct="1">
              <a:spcBef>
                <a:spcPct val="0"/>
              </a:spcBef>
              <a:spcAft>
                <a:spcPct val="0"/>
              </a:spcAft>
              <a:defRPr sz="4400">
                <a:solidFill>
                  <a:schemeClr val="tx2"/>
                </a:solidFill>
                <a:latin typeface="Garamond" pitchFamily="18" charset="0"/>
                <a:cs typeface="Arial" charset="0"/>
              </a:defRPr>
            </a:lvl8pPr>
            <a:lvl9pPr marL="1828800" algn="l" rtl="0" eaLnBrk="1" fontAlgn="base" hangingPunct="1">
              <a:spcBef>
                <a:spcPct val="0"/>
              </a:spcBef>
              <a:spcAft>
                <a:spcPct val="0"/>
              </a:spcAft>
              <a:defRPr sz="4400">
                <a:solidFill>
                  <a:schemeClr val="tx2"/>
                </a:solidFill>
                <a:latin typeface="Garamond" pitchFamily="18" charset="0"/>
                <a:cs typeface="Arial" charset="0"/>
              </a:defRPr>
            </a:lvl9pPr>
          </a:lstStyle>
          <a:p>
            <a:pPr marL="14288">
              <a:lnSpc>
                <a:spcPct val="150000"/>
              </a:lnSpc>
            </a:pPr>
            <a:r>
              <a:rPr lang="en-US" sz="3200" b="1" dirty="0" smtClean="0">
                <a:latin typeface="Comic Sans MS" panose="030F0702030302020204" pitchFamily="66" charset="0"/>
              </a:rPr>
              <a:t>ENTERPRISE AND WIRELESS COMMUNICATIONS NETWORKS</a:t>
            </a:r>
            <a:endParaRPr lang="en-US" sz="3200" b="1" dirty="0">
              <a:latin typeface="Comic Sans MS" panose="030F0702030302020204" pitchFamily="66" charset="0"/>
            </a:endParaRPr>
          </a:p>
        </p:txBody>
      </p:sp>
    </p:spTree>
    <p:extLst>
      <p:ext uri="{BB962C8B-B14F-4D97-AF65-F5344CB8AC3E}">
        <p14:creationId xmlns:p14="http://schemas.microsoft.com/office/powerpoint/2010/main" val="236765484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488975"/>
            <a:ext cx="8229600" cy="1139825"/>
          </a:xfrm>
        </p:spPr>
        <p:txBody>
          <a:bodyPr>
            <a:noAutofit/>
          </a:bodyPr>
          <a:lstStyle/>
          <a:p>
            <a:pPr algn="ctr">
              <a:defRPr/>
            </a:pPr>
            <a:r>
              <a:rPr lang="en-US" sz="6000" b="1" dirty="0">
                <a:latin typeface="Comic Sans MS" panose="030F0702030302020204" pitchFamily="66" charset="0"/>
              </a:rPr>
              <a:t>Presentation Outline</a:t>
            </a:r>
            <a:r>
              <a:rPr lang="en-GB" sz="6000" b="1" dirty="0">
                <a:latin typeface="Comic Sans MS" panose="030F0702030302020204" pitchFamily="66" charset="0"/>
              </a:rPr>
              <a:t>  </a:t>
            </a:r>
          </a:p>
        </p:txBody>
      </p:sp>
      <p:sp>
        <p:nvSpPr>
          <p:cNvPr id="5" name="Rectangle 3"/>
          <p:cNvSpPr txBox="1">
            <a:spLocks noChangeArrowheads="1"/>
          </p:cNvSpPr>
          <p:nvPr/>
        </p:nvSpPr>
        <p:spPr bwMode="auto">
          <a:xfrm>
            <a:off x="611560" y="1484784"/>
            <a:ext cx="7776864" cy="48897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150000"/>
              </a:lnSpc>
              <a:buFont typeface="Wingdings" panose="05000000000000000000" pitchFamily="2" charset="2"/>
              <a:buChar char="§"/>
            </a:pPr>
            <a:r>
              <a:rPr lang="en-US" dirty="0"/>
              <a:t>Wireless Communications </a:t>
            </a:r>
            <a:r>
              <a:rPr lang="en-US" dirty="0" smtClean="0"/>
              <a:t>Networks</a:t>
            </a:r>
          </a:p>
          <a:p>
            <a:pPr>
              <a:lnSpc>
                <a:spcPct val="150000"/>
              </a:lnSpc>
              <a:buFont typeface="Wingdings" panose="05000000000000000000" pitchFamily="2" charset="2"/>
              <a:buChar char="§"/>
            </a:pPr>
            <a:r>
              <a:rPr lang="en-US" dirty="0"/>
              <a:t>Network Operating </a:t>
            </a:r>
            <a:r>
              <a:rPr lang="en-US" dirty="0" smtClean="0"/>
              <a:t>Systems</a:t>
            </a:r>
          </a:p>
          <a:p>
            <a:pPr>
              <a:lnSpc>
                <a:spcPct val="150000"/>
              </a:lnSpc>
              <a:buFont typeface="Wingdings" panose="05000000000000000000" pitchFamily="2" charset="2"/>
              <a:buChar char="§"/>
            </a:pPr>
            <a:r>
              <a:rPr lang="en-US" dirty="0"/>
              <a:t>Enterprise Architectures</a:t>
            </a:r>
            <a:endParaRPr lang="en-US" sz="2100" kern="0" dirty="0"/>
          </a:p>
        </p:txBody>
      </p:sp>
    </p:spTree>
    <p:extLst>
      <p:ext uri="{BB962C8B-B14F-4D97-AF65-F5344CB8AC3E}">
        <p14:creationId xmlns:p14="http://schemas.microsoft.com/office/powerpoint/2010/main" val="243481472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488975"/>
            <a:ext cx="8229600" cy="1139825"/>
          </a:xfrm>
        </p:spPr>
        <p:txBody>
          <a:bodyPr>
            <a:noAutofit/>
          </a:bodyPr>
          <a:lstStyle/>
          <a:p>
            <a:pPr algn="ctr">
              <a:defRPr/>
            </a:pPr>
            <a:r>
              <a:rPr lang="en-US" sz="8800" b="1" dirty="0"/>
              <a:t>OBJECTIVES</a:t>
            </a:r>
            <a:endParaRPr lang="en-GB" sz="8800" b="1" dirty="0">
              <a:latin typeface="Comic Sans MS" panose="030F0702030302020204" pitchFamily="66" charset="0"/>
            </a:endParaRPr>
          </a:p>
        </p:txBody>
      </p:sp>
      <p:sp>
        <p:nvSpPr>
          <p:cNvPr id="5" name="Rectangle 3"/>
          <p:cNvSpPr txBox="1">
            <a:spLocks noChangeArrowheads="1"/>
          </p:cNvSpPr>
          <p:nvPr/>
        </p:nvSpPr>
        <p:spPr bwMode="auto">
          <a:xfrm>
            <a:off x="539552" y="1484784"/>
            <a:ext cx="7992888" cy="48897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150000"/>
              </a:lnSpc>
            </a:pPr>
            <a:r>
              <a:rPr lang="en-US" sz="2100" dirty="0"/>
              <a:t>By the end of this unit you should be able to:</a:t>
            </a:r>
          </a:p>
          <a:p>
            <a:pPr marL="900113">
              <a:lnSpc>
                <a:spcPct val="150000"/>
              </a:lnSpc>
              <a:buFont typeface="Wingdings" panose="05000000000000000000" pitchFamily="2" charset="2"/>
              <a:buChar char="Ø"/>
            </a:pPr>
            <a:r>
              <a:rPr lang="en-US" sz="2100" dirty="0" smtClean="0"/>
              <a:t>Describe </a:t>
            </a:r>
            <a:r>
              <a:rPr lang="en-US" sz="2100" dirty="0"/>
              <a:t>the four forms of wireless communications.</a:t>
            </a:r>
          </a:p>
          <a:p>
            <a:pPr marL="900113">
              <a:lnSpc>
                <a:spcPct val="150000"/>
              </a:lnSpc>
              <a:buFont typeface="Wingdings" panose="05000000000000000000" pitchFamily="2" charset="2"/>
              <a:buChar char="Ø"/>
            </a:pPr>
            <a:r>
              <a:rPr lang="en-US" sz="2100" dirty="0" smtClean="0"/>
              <a:t>Explain </a:t>
            </a:r>
            <a:r>
              <a:rPr lang="en-US" sz="2100" dirty="0"/>
              <a:t>the role of a network operating system.</a:t>
            </a:r>
          </a:p>
          <a:p>
            <a:pPr marL="900113">
              <a:lnSpc>
                <a:spcPct val="150000"/>
              </a:lnSpc>
              <a:buFont typeface="Wingdings" panose="05000000000000000000" pitchFamily="2" charset="2"/>
              <a:buChar char="Ø"/>
            </a:pPr>
            <a:r>
              <a:rPr lang="en-US" sz="2100" dirty="0" smtClean="0"/>
              <a:t>Discuss </a:t>
            </a:r>
            <a:r>
              <a:rPr lang="en-US" sz="2100" dirty="0"/>
              <a:t>the activities involved in network administration.</a:t>
            </a:r>
          </a:p>
          <a:p>
            <a:pPr marL="900113">
              <a:lnSpc>
                <a:spcPct val="150000"/>
              </a:lnSpc>
              <a:buFont typeface="Wingdings" panose="05000000000000000000" pitchFamily="2" charset="2"/>
              <a:buChar char="Ø"/>
            </a:pPr>
            <a:r>
              <a:rPr lang="en-US" sz="2100" dirty="0" smtClean="0"/>
              <a:t>Explain </a:t>
            </a:r>
            <a:r>
              <a:rPr lang="en-US" sz="2100" dirty="0"/>
              <a:t>the three types of enterprise architectures and the advantages offered by each.</a:t>
            </a:r>
            <a:endParaRPr lang="en-US" sz="2100" kern="0" dirty="0"/>
          </a:p>
        </p:txBody>
      </p:sp>
    </p:spTree>
    <p:extLst>
      <p:ext uri="{BB962C8B-B14F-4D97-AF65-F5344CB8AC3E}">
        <p14:creationId xmlns:p14="http://schemas.microsoft.com/office/powerpoint/2010/main" val="79715908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260649"/>
            <a:ext cx="8229600" cy="1368152"/>
          </a:xfrm>
        </p:spPr>
        <p:txBody>
          <a:bodyPr>
            <a:noAutofit/>
          </a:bodyPr>
          <a:lstStyle/>
          <a:p>
            <a:pPr algn="ctr">
              <a:defRPr/>
            </a:pPr>
            <a:r>
              <a:rPr lang="en-US" sz="4000" b="1" dirty="0"/>
              <a:t>WIRELESS COMMUNICATIONS NETWORKS</a:t>
            </a:r>
            <a:endParaRPr lang="en-GB" sz="4000" b="1" dirty="0">
              <a:latin typeface="Comic Sans MS" panose="030F0702030302020204" pitchFamily="66" charset="0"/>
            </a:endParaRPr>
          </a:p>
        </p:txBody>
      </p:sp>
      <p:sp>
        <p:nvSpPr>
          <p:cNvPr id="5" name="Rectangle 3"/>
          <p:cNvSpPr txBox="1">
            <a:spLocks noChangeArrowheads="1"/>
          </p:cNvSpPr>
          <p:nvPr/>
        </p:nvSpPr>
        <p:spPr bwMode="auto">
          <a:xfrm>
            <a:off x="539552" y="1484784"/>
            <a:ext cx="7992888" cy="48897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200000"/>
              </a:lnSpc>
            </a:pPr>
            <a:r>
              <a:rPr lang="en-US" sz="2100" dirty="0"/>
              <a:t>Wireless communication has gained a lot of interest for a wide range of ICT applications. </a:t>
            </a:r>
            <a:endParaRPr lang="en-US" sz="2100" dirty="0" smtClean="0"/>
          </a:p>
          <a:p>
            <a:pPr>
              <a:lnSpc>
                <a:spcPct val="200000"/>
              </a:lnSpc>
            </a:pPr>
            <a:r>
              <a:rPr lang="en-US" sz="2100" dirty="0" smtClean="0"/>
              <a:t>The four </a:t>
            </a:r>
            <a:r>
              <a:rPr lang="en-US" sz="2100" dirty="0"/>
              <a:t>wireless forms of interest are:</a:t>
            </a:r>
          </a:p>
          <a:p>
            <a:pPr marL="900113">
              <a:lnSpc>
                <a:spcPct val="200000"/>
              </a:lnSpc>
              <a:buFont typeface="Wingdings" panose="05000000000000000000" pitchFamily="2" charset="2"/>
              <a:buChar char="Ø"/>
            </a:pPr>
            <a:r>
              <a:rPr lang="en-US" sz="1900" dirty="0" smtClean="0"/>
              <a:t>Cellular </a:t>
            </a:r>
            <a:r>
              <a:rPr lang="en-US" sz="1900" dirty="0"/>
              <a:t>Communication Service</a:t>
            </a:r>
          </a:p>
          <a:p>
            <a:pPr marL="900113">
              <a:lnSpc>
                <a:spcPct val="200000"/>
              </a:lnSpc>
              <a:buFont typeface="Wingdings" panose="05000000000000000000" pitchFamily="2" charset="2"/>
              <a:buChar char="Ø"/>
            </a:pPr>
            <a:r>
              <a:rPr lang="en-US" sz="1900" dirty="0" smtClean="0"/>
              <a:t>Wireless </a:t>
            </a:r>
            <a:r>
              <a:rPr lang="en-US" sz="1900" dirty="0"/>
              <a:t>LAN (WLAN)</a:t>
            </a:r>
          </a:p>
          <a:p>
            <a:pPr marL="900113">
              <a:lnSpc>
                <a:spcPct val="200000"/>
              </a:lnSpc>
              <a:buFont typeface="Wingdings" panose="05000000000000000000" pitchFamily="2" charset="2"/>
              <a:buChar char="Ø"/>
            </a:pPr>
            <a:r>
              <a:rPr lang="en-US" sz="1900" dirty="0" smtClean="0"/>
              <a:t>Bluetooth </a:t>
            </a:r>
            <a:r>
              <a:rPr lang="en-US" sz="1900" dirty="0"/>
              <a:t>Personal Area Network/Personal Area Network</a:t>
            </a:r>
          </a:p>
          <a:p>
            <a:pPr marL="900113">
              <a:lnSpc>
                <a:spcPct val="200000"/>
              </a:lnSpc>
              <a:buFont typeface="Wingdings" panose="05000000000000000000" pitchFamily="2" charset="2"/>
              <a:buChar char="Ø"/>
            </a:pPr>
            <a:r>
              <a:rPr lang="en-US" sz="1900" dirty="0" smtClean="0"/>
              <a:t>Wireless </a:t>
            </a:r>
            <a:r>
              <a:rPr lang="en-US" sz="1900" dirty="0"/>
              <a:t>Data Networks</a:t>
            </a:r>
            <a:endParaRPr lang="en-US" sz="1900" kern="0" dirty="0"/>
          </a:p>
        </p:txBody>
      </p:sp>
    </p:spTree>
    <p:extLst>
      <p:ext uri="{BB962C8B-B14F-4D97-AF65-F5344CB8AC3E}">
        <p14:creationId xmlns:p14="http://schemas.microsoft.com/office/powerpoint/2010/main" val="172618572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Lst>
</file>

<file path=ppt/theme/theme1.xml><?xml version="1.0" encoding="utf-8"?>
<a:theme xmlns:a="http://schemas.openxmlformats.org/drawingml/2006/main" name="Level">
  <a:themeElements>
    <a:clrScheme name="Level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Level">
      <a:majorFont>
        <a:latin typeface="Garamond"/>
        <a:ea typeface=""/>
        <a:cs typeface="Arial"/>
      </a:majorFont>
      <a:minorFont>
        <a:latin typeface="Verdana"/>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Level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Level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Level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Level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Level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Level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Level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Level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1_MIT809-Topic1</Template>
  <TotalTime>4429</TotalTime>
  <Words>3959</Words>
  <Application>Microsoft Office PowerPoint</Application>
  <PresentationFormat>On-screen Show (4:3)</PresentationFormat>
  <Paragraphs>336</Paragraphs>
  <Slides>58</Slides>
  <Notes>10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58</vt:i4>
      </vt:variant>
    </vt:vector>
  </HeadingPairs>
  <TitlesOfParts>
    <vt:vector size="67" baseType="lpstr">
      <vt:lpstr>ＭＳ Ｐゴシック</vt:lpstr>
      <vt:lpstr>ＭＳ Ｐゴシック</vt:lpstr>
      <vt:lpstr>Arial</vt:lpstr>
      <vt:lpstr>Comic Sans MS</vt:lpstr>
      <vt:lpstr>Garamond</vt:lpstr>
      <vt:lpstr>Times New Roman</vt:lpstr>
      <vt:lpstr>Verdana</vt:lpstr>
      <vt:lpstr>Wingdings</vt:lpstr>
      <vt:lpstr>Level</vt:lpstr>
      <vt:lpstr>PowerPoint Presentation</vt:lpstr>
      <vt:lpstr>PowerPoint Presentation</vt:lpstr>
      <vt:lpstr>Course Schedule </vt:lpstr>
      <vt:lpstr>Learning Outcomes</vt:lpstr>
      <vt:lpstr>Course Contents</vt:lpstr>
      <vt:lpstr>Course Module</vt:lpstr>
      <vt:lpstr>Course Outline</vt:lpstr>
      <vt:lpstr>Books and References</vt:lpstr>
      <vt:lpstr>Pre-Requisite </vt:lpstr>
      <vt:lpstr>Course Evaluation</vt:lpstr>
      <vt:lpstr>PowerPoint Presentation</vt:lpstr>
      <vt:lpstr>Presentation Outline  </vt:lpstr>
      <vt:lpstr>COMPUTER NETWORKING</vt:lpstr>
      <vt:lpstr>TYPES OF NETWORK CONNECTION</vt:lpstr>
      <vt:lpstr>Physical Connections</vt:lpstr>
      <vt:lpstr>Logical or Virtual</vt:lpstr>
      <vt:lpstr>BASIC COMPONENTS OF A NETWORK</vt:lpstr>
      <vt:lpstr>NETWORK SOFTWARE</vt:lpstr>
      <vt:lpstr>APPLICATION SOFTWARE</vt:lpstr>
      <vt:lpstr>APPLICATION SOFTWARE</vt:lpstr>
      <vt:lpstr>NETWORK HARDWARE</vt:lpstr>
      <vt:lpstr>Basic Components of a Network</vt:lpstr>
      <vt:lpstr>NETWORKING DEVICES</vt:lpstr>
      <vt:lpstr>NETWORK MANAGEMENT</vt:lpstr>
      <vt:lpstr>SECURITY</vt:lpstr>
      <vt:lpstr>SYMBOL OF A FIREWALL</vt:lpstr>
      <vt:lpstr>STANDARDS FOR NETWORKS</vt:lpstr>
      <vt:lpstr>Open Systems Interconnectivity (OSI)</vt:lpstr>
      <vt:lpstr>Open Systems Interconnectivity (OSI)</vt:lpstr>
      <vt:lpstr>NETWORKING CHECKLIST</vt:lpstr>
      <vt:lpstr>NETWORKING TECHNOLOGIES</vt:lpstr>
      <vt:lpstr>NETWORKING TECHNOLOGIES</vt:lpstr>
      <vt:lpstr>NETWORK TOPOLOGY</vt:lpstr>
      <vt:lpstr>Point-To-Point Network Topology</vt:lpstr>
      <vt:lpstr>Bus Network Topology</vt:lpstr>
      <vt:lpstr>Star Network Topology</vt:lpstr>
      <vt:lpstr>Ring Network Topology</vt:lpstr>
      <vt:lpstr>Tree Network Topology</vt:lpstr>
      <vt:lpstr>BASIC ADVANTAGES OF USING NETWORKS</vt:lpstr>
      <vt:lpstr>COMMUNICATIONS NETWORKS</vt:lpstr>
      <vt:lpstr>PRINCIPLES OF COMMUNICATIONS NETWORKS</vt:lpstr>
      <vt:lpstr>ROLE OF COMMUNICATIONS NETWORKS</vt:lpstr>
      <vt:lpstr>NETWORK SERVICE APPLICATIONS</vt:lpstr>
      <vt:lpstr>NETWORK SERVICE APPLICATIONS</vt:lpstr>
      <vt:lpstr>NETWORK SERVICE APPLICATIONS</vt:lpstr>
      <vt:lpstr>NETWORK SERVICE APPLICATIONS</vt:lpstr>
      <vt:lpstr>NETWORK CHANNELS</vt:lpstr>
      <vt:lpstr>NETWORK CHANNELS</vt:lpstr>
      <vt:lpstr>NETWORK CHANNELS</vt:lpstr>
      <vt:lpstr>COMMUNICATION CHANNELS FOR WANS, MAN AND LANS</vt:lpstr>
      <vt:lpstr>COMMUNICATION CHANNELS FOR WANS, MAN AND LANS</vt:lpstr>
      <vt:lpstr>Connecting to the Channel</vt:lpstr>
      <vt:lpstr>Interconnecting Networks</vt:lpstr>
      <vt:lpstr>Extending Networks</vt:lpstr>
      <vt:lpstr>PowerPoint Presentation</vt:lpstr>
      <vt:lpstr>Presentation Outline  </vt:lpstr>
      <vt:lpstr>OBJECTIVES</vt:lpstr>
      <vt:lpstr>WIRELESS COMMUNICATIONS NETWORKS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CISE 301</dc:subject>
  <dc:creator>Administrator</dc:creator>
  <cp:lastModifiedBy>Administrator</cp:lastModifiedBy>
  <cp:revision>521</cp:revision>
  <dcterms:created xsi:type="dcterms:W3CDTF">2022-01-09T18:11:19Z</dcterms:created>
  <dcterms:modified xsi:type="dcterms:W3CDTF">2026-01-12T09:40:32Z</dcterms:modified>
</cp:coreProperties>
</file>