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20"/>
  </p:notesMasterIdLst>
  <p:handoutMasterIdLst>
    <p:handoutMasterId r:id="rId21"/>
  </p:handoutMasterIdLst>
  <p:sldIdLst>
    <p:sldId id="256" r:id="rId2"/>
    <p:sldId id="526" r:id="rId3"/>
    <p:sldId id="527" r:id="rId4"/>
    <p:sldId id="879" r:id="rId5"/>
    <p:sldId id="519" r:id="rId6"/>
    <p:sldId id="878" r:id="rId7"/>
    <p:sldId id="915" r:id="rId8"/>
    <p:sldId id="880" r:id="rId9"/>
    <p:sldId id="514" r:id="rId10"/>
    <p:sldId id="565" r:id="rId11"/>
    <p:sldId id="1074" r:id="rId12"/>
    <p:sldId id="1075" r:id="rId13"/>
    <p:sldId id="1077" r:id="rId14"/>
    <p:sldId id="1078" r:id="rId15"/>
    <p:sldId id="1091" r:id="rId16"/>
    <p:sldId id="1103" r:id="rId17"/>
    <p:sldId id="1104" r:id="rId18"/>
    <p:sldId id="1105" r:id="rId19"/>
  </p:sldIdLst>
  <p:sldSz cx="9144000" cy="6858000" type="screen4x3"/>
  <p:notesSz cx="7315200" cy="9601200"/>
  <p:custDataLst>
    <p:tags r:id="rId22"/>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4660"/>
  </p:normalViewPr>
  <p:slideViewPr>
    <p:cSldViewPr>
      <p:cViewPr varScale="1">
        <p:scale>
          <a:sx n="68" d="100"/>
          <a:sy n="68" d="100"/>
        </p:scale>
        <p:origin x="122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74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7"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77828"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9"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2ED81C8-EB9E-43D7-BE83-0805E619C0C7}" type="slidenum">
              <a:rPr lang="ar-SA" altLang="en-US"/>
              <a:pPr>
                <a:defRPr/>
              </a:pPr>
              <a:t>‹#›</a:t>
            </a:fld>
            <a:endParaRPr lang="en-US" altLang="en-US"/>
          </a:p>
        </p:txBody>
      </p:sp>
    </p:spTree>
    <p:extLst>
      <p:ext uri="{BB962C8B-B14F-4D97-AF65-F5344CB8AC3E}">
        <p14:creationId xmlns:p14="http://schemas.microsoft.com/office/powerpoint/2010/main" val="34095013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7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8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894A09FF-A2DA-476C-B039-18DBC396A5DF}" type="slidenum">
              <a:rPr lang="ar-SA" altLang="en-US"/>
              <a:pPr>
                <a:defRPr/>
              </a:pPr>
              <a:t>‹#›</a:t>
            </a:fld>
            <a:endParaRPr lang="en-US" altLang="en-US"/>
          </a:p>
        </p:txBody>
      </p:sp>
    </p:spTree>
    <p:extLst>
      <p:ext uri="{BB962C8B-B14F-4D97-AF65-F5344CB8AC3E}">
        <p14:creationId xmlns:p14="http://schemas.microsoft.com/office/powerpoint/2010/main" val="42809169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1</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171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2</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471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3</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9537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4</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651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5</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58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6</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195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7</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744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8</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071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9</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6523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10</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5559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grpSp>
      <p:sp>
        <p:nvSpPr>
          <p:cNvPr id="97282"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9728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fld id="{7A6A57B4-2DBC-4857-ABD2-C4E1F5AD309D}" type="datetime1">
              <a:rPr lang="en-US"/>
              <a:pPr>
                <a:defRPr/>
              </a:pPr>
              <a:t>2/2/2026</a:t>
            </a:fld>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pPr>
              <a:defRPr/>
            </a:pPr>
            <a:fld id="{5101CF6D-3A52-48B7-8F5A-BDD857CE30CD}" type="slidenum">
              <a:rPr lang="ar-SA" altLang="en-US"/>
              <a:pPr>
                <a:defRPr/>
              </a:pPr>
              <a:t>‹#›</a:t>
            </a:fld>
            <a:endParaRPr lang="en-US" altLang="en-US"/>
          </a:p>
        </p:txBody>
      </p:sp>
    </p:spTree>
    <p:extLst>
      <p:ext uri="{BB962C8B-B14F-4D97-AF65-F5344CB8AC3E}">
        <p14:creationId xmlns:p14="http://schemas.microsoft.com/office/powerpoint/2010/main" val="24992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4937C412-EF2B-42E7-B238-285F472DECCC}" type="datetime1">
              <a:rPr lang="en-US"/>
              <a:pPr>
                <a:defRPr/>
              </a:pPr>
              <a:t>2/2/2026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0D1010C-2F64-482A-AC10-0B9E85ACDB7D}" type="slidenum">
              <a:rPr lang="ar-SA" altLang="en-US"/>
              <a:pPr>
                <a:defRPr/>
              </a:pPr>
              <a:t>‹#›</a:t>
            </a:fld>
            <a:endParaRPr lang="en-US" altLang="en-US"/>
          </a:p>
        </p:txBody>
      </p:sp>
    </p:spTree>
    <p:extLst>
      <p:ext uri="{BB962C8B-B14F-4D97-AF65-F5344CB8AC3E}">
        <p14:creationId xmlns:p14="http://schemas.microsoft.com/office/powerpoint/2010/main" val="1916591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9C7A87A-2E13-4674-9FBB-5EF41D8D942C}" type="datetime1">
              <a:rPr lang="en-US"/>
              <a:pPr>
                <a:defRPr/>
              </a:pPr>
              <a:t>2/2/2026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D42B3B-252A-4661-ADF9-9BFE76F8F944}" type="slidenum">
              <a:rPr lang="ar-SA" altLang="en-US"/>
              <a:pPr>
                <a:defRPr/>
              </a:pPr>
              <a:t>‹#›</a:t>
            </a:fld>
            <a:endParaRPr lang="en-US" altLang="en-US"/>
          </a:p>
        </p:txBody>
      </p:sp>
    </p:spTree>
    <p:extLst>
      <p:ext uri="{BB962C8B-B14F-4D97-AF65-F5344CB8AC3E}">
        <p14:creationId xmlns:p14="http://schemas.microsoft.com/office/powerpoint/2010/main" val="1926285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E609DD42-A4AF-4E69-B741-E80403319C11}" type="datetime1">
              <a:rPr lang="en-US"/>
              <a:pPr>
                <a:defRPr/>
              </a:pPr>
              <a:t>2/2/2026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6AC05BD-71D8-42BD-AF35-ADFEDF91D5D1}" type="slidenum">
              <a:rPr lang="ar-SA" altLang="en-US"/>
              <a:pPr>
                <a:defRPr/>
              </a:pPr>
              <a:t>‹#›</a:t>
            </a:fld>
            <a:endParaRPr lang="en-US" altLang="en-US"/>
          </a:p>
        </p:txBody>
      </p:sp>
    </p:spTree>
    <p:extLst>
      <p:ext uri="{BB962C8B-B14F-4D97-AF65-F5344CB8AC3E}">
        <p14:creationId xmlns:p14="http://schemas.microsoft.com/office/powerpoint/2010/main" val="3808512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9B463D3-C53D-4145-B75E-A82AFDA8D032}" type="datetime1">
              <a:rPr lang="en-US"/>
              <a:pPr>
                <a:defRPr/>
              </a:pPr>
              <a:t>2/2/2026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CB0B3F09-3563-40EF-811B-9A4BE18E0B2F}" type="slidenum">
              <a:rPr lang="ar-SA" altLang="en-US"/>
              <a:pPr>
                <a:defRPr/>
              </a:pPr>
              <a:t>‹#›</a:t>
            </a:fld>
            <a:endParaRPr lang="en-US" altLang="en-US"/>
          </a:p>
        </p:txBody>
      </p:sp>
    </p:spTree>
    <p:extLst>
      <p:ext uri="{BB962C8B-B14F-4D97-AF65-F5344CB8AC3E}">
        <p14:creationId xmlns:p14="http://schemas.microsoft.com/office/powerpoint/2010/main" val="22577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0D8AB667-4595-4177-8504-FB627296AB33}" type="datetime1">
              <a:rPr lang="en-US"/>
              <a:pPr>
                <a:defRPr/>
              </a:pPr>
              <a:t>2/2/2026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E15D301-F532-4E8E-A495-065FC6D461A7}" type="slidenum">
              <a:rPr lang="ar-SA" altLang="en-US"/>
              <a:pPr>
                <a:defRPr/>
              </a:pPr>
              <a:t>‹#›</a:t>
            </a:fld>
            <a:endParaRPr lang="en-US" altLang="en-US"/>
          </a:p>
        </p:txBody>
      </p:sp>
    </p:spTree>
    <p:extLst>
      <p:ext uri="{BB962C8B-B14F-4D97-AF65-F5344CB8AC3E}">
        <p14:creationId xmlns:p14="http://schemas.microsoft.com/office/powerpoint/2010/main" val="276277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8FF0628-67F2-4EF4-86D3-324F007F14B0}" type="datetime1">
              <a:rPr lang="en-US"/>
              <a:pPr>
                <a:defRPr/>
              </a:pPr>
              <a:t>2/2/2026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C79993A-9EAE-42CD-B8A8-EEF40C1E0D51}" type="slidenum">
              <a:rPr lang="ar-SA" altLang="en-US"/>
              <a:pPr>
                <a:defRPr/>
              </a:pPr>
              <a:t>‹#›</a:t>
            </a:fld>
            <a:endParaRPr lang="en-US" altLang="en-US"/>
          </a:p>
        </p:txBody>
      </p:sp>
    </p:spTree>
    <p:extLst>
      <p:ext uri="{BB962C8B-B14F-4D97-AF65-F5344CB8AC3E}">
        <p14:creationId xmlns:p14="http://schemas.microsoft.com/office/powerpoint/2010/main" val="2230988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9DC5F05-ED40-454D-95C8-3453B7E7BB5B}" type="datetime1">
              <a:rPr lang="en-US"/>
              <a:pPr>
                <a:defRPr/>
              </a:pPr>
              <a:t>2/2/2026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FAFEAF1-3044-4204-8B6F-F53936E6E60A}" type="slidenum">
              <a:rPr lang="ar-SA" altLang="en-US"/>
              <a:pPr>
                <a:defRPr/>
              </a:pPr>
              <a:t>‹#›</a:t>
            </a:fld>
            <a:endParaRPr lang="en-US" altLang="en-US"/>
          </a:p>
        </p:txBody>
      </p:sp>
    </p:spTree>
    <p:extLst>
      <p:ext uri="{BB962C8B-B14F-4D97-AF65-F5344CB8AC3E}">
        <p14:creationId xmlns:p14="http://schemas.microsoft.com/office/powerpoint/2010/main" val="2139360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A92DFE8-9BCF-414E-AED7-5563BFB4AA38}" type="datetime1">
              <a:rPr lang="en-US"/>
              <a:pPr>
                <a:defRPr/>
              </a:pPr>
              <a:t>2/2/2026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4139072-BCFF-4B00-ACD4-6DF1BA958382}" type="slidenum">
              <a:rPr lang="ar-SA" altLang="en-US"/>
              <a:pPr>
                <a:defRPr/>
              </a:pPr>
              <a:t>‹#›</a:t>
            </a:fld>
            <a:endParaRPr lang="en-US" altLang="en-US"/>
          </a:p>
        </p:txBody>
      </p:sp>
    </p:spTree>
    <p:extLst>
      <p:ext uri="{BB962C8B-B14F-4D97-AF65-F5344CB8AC3E}">
        <p14:creationId xmlns:p14="http://schemas.microsoft.com/office/powerpoint/2010/main" val="424522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15348B16-74D5-4854-8AB8-9D4A4DF3A19A}" type="datetime1">
              <a:rPr lang="en-US"/>
              <a:pPr>
                <a:defRPr/>
              </a:pPr>
              <a:t>2/2/2026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42C787-322D-45BF-A103-35EE7773702D}" type="slidenum">
              <a:rPr lang="ar-SA" altLang="en-US"/>
              <a:pPr>
                <a:defRPr/>
              </a:pPr>
              <a:t>‹#›</a:t>
            </a:fld>
            <a:endParaRPr lang="en-US" altLang="en-US"/>
          </a:p>
        </p:txBody>
      </p:sp>
    </p:spTree>
    <p:extLst>
      <p:ext uri="{BB962C8B-B14F-4D97-AF65-F5344CB8AC3E}">
        <p14:creationId xmlns:p14="http://schemas.microsoft.com/office/powerpoint/2010/main" val="4079385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553E0A1-5428-499E-A086-042824C3739D}" type="datetime1">
              <a:rPr lang="en-US"/>
              <a:pPr>
                <a:defRPr/>
              </a:pPr>
              <a:t>2/2/2026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5820A5-4DC5-43F5-9BA2-B42E567F43C3}" type="slidenum">
              <a:rPr lang="ar-SA" altLang="en-US"/>
              <a:pPr>
                <a:defRPr/>
              </a:pPr>
              <a:t>‹#›</a:t>
            </a:fld>
            <a:endParaRPr lang="en-US" altLang="en-US"/>
          </a:p>
        </p:txBody>
      </p:sp>
    </p:spTree>
    <p:extLst>
      <p:ext uri="{BB962C8B-B14F-4D97-AF65-F5344CB8AC3E}">
        <p14:creationId xmlns:p14="http://schemas.microsoft.com/office/powerpoint/2010/main" val="45831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DEEA5EEE-51A1-44A1-9A46-0EBE715EE6EC}" type="datetime1">
              <a:rPr lang="en-US"/>
              <a:pPr>
                <a:defRPr/>
              </a:pPr>
              <a:t>2/2/2026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69299B50-F463-407A-BCCB-B9D2AD4327B7}" type="slidenum">
              <a:rPr lang="ar-SA" altLang="en-US"/>
              <a:pPr>
                <a:defRPr/>
              </a:pPr>
              <a:t>‹#›</a:t>
            </a:fld>
            <a:endParaRPr lang="en-US" altLang="en-US"/>
          </a:p>
        </p:txBody>
      </p:sp>
    </p:spTree>
    <p:extLst>
      <p:ext uri="{BB962C8B-B14F-4D97-AF65-F5344CB8AC3E}">
        <p14:creationId xmlns:p14="http://schemas.microsoft.com/office/powerpoint/2010/main" val="2137216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6EE95FA3-5977-4F81-8E44-468604C95138}" type="datetime1">
              <a:rPr lang="en-US"/>
              <a:pPr>
                <a:defRPr/>
              </a:pPr>
              <a:t>2/2/2026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A25454AC-C24E-455A-B2FE-658E4A7B77BA}" type="slidenum">
              <a:rPr lang="ar-SA" altLang="en-US"/>
              <a:pPr>
                <a:defRPr/>
              </a:pPr>
              <a:t>‹#›</a:t>
            </a:fld>
            <a:endParaRPr lang="en-US" altLang="en-US"/>
          </a:p>
        </p:txBody>
      </p:sp>
    </p:spTree>
    <p:extLst>
      <p:ext uri="{BB962C8B-B14F-4D97-AF65-F5344CB8AC3E}">
        <p14:creationId xmlns:p14="http://schemas.microsoft.com/office/powerpoint/2010/main" val="2689701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6260"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cs typeface="Arial" charset="0"/>
              </a:defRPr>
            </a:lvl1pPr>
          </a:lstStyle>
          <a:p>
            <a:pPr>
              <a:defRPr/>
            </a:pPr>
            <a:fld id="{97F3FF16-A966-4720-B871-21D0EBD4D873}" type="datetime1">
              <a:rPr lang="en-US"/>
              <a:pPr>
                <a:defRPr/>
              </a:pPr>
              <a:t>2/2/2026</a:t>
            </a:fld>
            <a:endParaRPr lang="en-US"/>
          </a:p>
        </p:txBody>
      </p:sp>
      <p:sp>
        <p:nvSpPr>
          <p:cNvPr id="962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cs typeface="Arial" charset="0"/>
              </a:defRPr>
            </a:lvl1pPr>
          </a:lstStyle>
          <a:p>
            <a:pPr>
              <a:defRPr/>
            </a:pPr>
            <a:endParaRPr lang="en-US"/>
          </a:p>
        </p:txBody>
      </p:sp>
      <p:sp>
        <p:nvSpPr>
          <p:cNvPr id="96262"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AA6F67FD-1207-490D-809C-65CC19F8E7B4}" type="slidenum">
              <a:rPr lang="ar-SA" altLang="en-US"/>
              <a:pPr>
                <a:defRPr/>
              </a:pPr>
              <a:t>‹#›</a:t>
            </a:fld>
            <a:endParaRPr lang="en-US" altLang="en-US"/>
          </a:p>
        </p:txBody>
      </p:sp>
      <p:sp>
        <p:nvSpPr>
          <p:cNvPr id="1031"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hf hdr="0" ftr="0" dt="0"/>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16632"/>
            <a:ext cx="8534400"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5400" b="1" kern="0" dirty="0">
                <a:solidFill>
                  <a:schemeClr val="tx2"/>
                </a:solidFill>
                <a:latin typeface="Garamond" panose="02020404030301010803" pitchFamily="18" charset="0"/>
              </a:rPr>
              <a:t>ICT 201: </a:t>
            </a:r>
          </a:p>
          <a:p>
            <a:r>
              <a:rPr lang="en-US" altLang="en-US" sz="3600" b="1" kern="0" dirty="0">
                <a:solidFill>
                  <a:schemeClr val="tx2"/>
                </a:solidFill>
                <a:latin typeface="Garamond" panose="02020404030301010803" pitchFamily="18" charset="0"/>
              </a:rPr>
              <a:t>INTRODUCTION TO INFORMATION AND COMMUNICATION TECHNOLOGY</a:t>
            </a:r>
            <a:r>
              <a:rPr lang="en-US" altLang="en-US" sz="7200" b="1" kern="0" dirty="0">
                <a:solidFill>
                  <a:schemeClr val="tx2"/>
                </a:solidFill>
                <a:latin typeface="Garamond" panose="02020404030301010803" pitchFamily="18" charset="0"/>
              </a:rPr>
              <a:t/>
            </a:r>
            <a:br>
              <a:rPr lang="en-US" altLang="en-US" sz="7200" b="1" kern="0" dirty="0">
                <a:solidFill>
                  <a:schemeClr val="tx2"/>
                </a:solidFill>
                <a:latin typeface="Garamond" panose="02020404030301010803" pitchFamily="18" charset="0"/>
              </a:rPr>
            </a:br>
            <a:endParaRPr lang="en-US" altLang="en-US" sz="7200" b="1" kern="0" dirty="0">
              <a:latin typeface="Comic Sans MS" panose="030F0702030302020204" pitchFamily="66" charset="0"/>
              <a:ea typeface="MS PGothic" panose="020B0600070205080204" pitchFamily="34" charset="-128"/>
            </a:endParaRPr>
          </a:p>
          <a:p>
            <a:endParaRPr lang="en-US" altLang="en-US" sz="2700" kern="0" dirty="0">
              <a:latin typeface="Comic Sans MS" panose="030F0702030302020204" pitchFamily="66" charset="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844824"/>
            <a:ext cx="85344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7000" b="1" kern="0" dirty="0">
                <a:solidFill>
                  <a:schemeClr val="tx2"/>
                </a:solidFill>
                <a:latin typeface="Garamond" panose="02020404030301010803" pitchFamily="18" charset="0"/>
              </a:rPr>
              <a:t>Lecturers/Instructors </a:t>
            </a:r>
            <a:endParaRPr lang="en-US" sz="7000" kern="0" dirty="0"/>
          </a:p>
        </p:txBody>
      </p:sp>
      <p:sp>
        <p:nvSpPr>
          <p:cNvPr id="4" name="Rectangle 10"/>
          <p:cNvSpPr>
            <a:spLocks noGrp="1" noChangeArrowheads="1"/>
          </p:cNvSpPr>
          <p:nvPr>
            <p:ph type="subTitle" idx="1"/>
          </p:nvPr>
        </p:nvSpPr>
        <p:spPr>
          <a:xfrm>
            <a:off x="251520" y="3192016"/>
            <a:ext cx="8659688" cy="3549352"/>
          </a:xfrm>
          <a:noFill/>
        </p:spPr>
        <p:txBody>
          <a:bodyPr/>
          <a:lstStyle/>
          <a:p>
            <a:r>
              <a:rPr lang="en-US" altLang="en-US" sz="4500" dirty="0">
                <a:latin typeface="Comic Sans MS" panose="030F0702030302020204" pitchFamily="66" charset="0"/>
              </a:rPr>
              <a:t>Dr. S. </a:t>
            </a:r>
            <a:r>
              <a:rPr lang="en-US" altLang="en-US" sz="4500" dirty="0" err="1">
                <a:latin typeface="Comic Sans MS" panose="030F0702030302020204" pitchFamily="66" charset="0"/>
              </a:rPr>
              <a:t>Akinboro</a:t>
            </a:r>
            <a:endParaRPr lang="en-US" altLang="en-US" sz="4500" dirty="0">
              <a:latin typeface="Comic Sans MS" panose="030F0702030302020204" pitchFamily="66" charset="0"/>
            </a:endParaRPr>
          </a:p>
          <a:p>
            <a:r>
              <a:rPr lang="en-US" altLang="en-US" sz="4500" dirty="0">
                <a:latin typeface="Comic Sans MS" panose="030F0702030302020204" pitchFamily="66" charset="0"/>
              </a:rPr>
              <a:t>Dr. </a:t>
            </a:r>
            <a:r>
              <a:rPr lang="en-US" altLang="en-US" sz="4500" dirty="0" err="1">
                <a:latin typeface="Comic Sans MS" panose="030F0702030302020204" pitchFamily="66" charset="0"/>
              </a:rPr>
              <a:t>Ufuoma</a:t>
            </a:r>
            <a:r>
              <a:rPr lang="en-US" altLang="en-US" sz="4500" dirty="0">
                <a:latin typeface="Comic Sans MS" panose="030F0702030302020204" pitchFamily="66" charset="0"/>
              </a:rPr>
              <a:t> C. </a:t>
            </a:r>
            <a:r>
              <a:rPr lang="en-US" altLang="en-US" sz="4500" dirty="0" err="1">
                <a:latin typeface="Comic Sans MS" panose="030F0702030302020204" pitchFamily="66" charset="0"/>
              </a:rPr>
              <a:t>Ogude</a:t>
            </a:r>
            <a:endParaRPr lang="en-US" altLang="en-US" sz="4500" dirty="0">
              <a:latin typeface="Comic Sans MS" panose="030F0702030302020204" pitchFamily="66" charset="0"/>
            </a:endParaRPr>
          </a:p>
          <a:p>
            <a:r>
              <a:rPr lang="en-GB" altLang="en-US" sz="4500" dirty="0">
                <a:latin typeface="Comic Sans MS" panose="030F0702030302020204" pitchFamily="66" charset="0"/>
                <a:ea typeface="MS PGothic" panose="020B0600070205080204" pitchFamily="34" charset="-128"/>
              </a:rPr>
              <a:t>0803 820 7103</a:t>
            </a:r>
            <a:endParaRPr lang="en-US" altLang="en-US" sz="4500" dirty="0">
              <a:latin typeface="Comic Sans MS" panose="030F0702030302020204" pitchFamily="66" charset="0"/>
              <a:ea typeface="MS PGothic" panose="020B0600070205080204" pitchFamily="34" charset="-128"/>
            </a:endParaRPr>
          </a:p>
          <a:p>
            <a:r>
              <a:rPr lang="en-US" sz="2200" dirty="0">
                <a:latin typeface="Comic Sans MS" panose="030F0702030302020204" pitchFamily="66" charset="0"/>
              </a:rPr>
              <a:t>	</a:t>
            </a:r>
          </a:p>
          <a:p>
            <a:pPr eaLnBrk="1" hangingPunct="1"/>
            <a:endParaRPr lang="en-US" altLang="en-US" sz="2700" dirty="0">
              <a:latin typeface="Comic Sans MS" panose="030F0702030302020204" pitchFamily="66" charset="0"/>
              <a:ea typeface="MS PGothic" panose="020B0600070205080204" pitchFamily="34" charset="-128"/>
            </a:endParaRPr>
          </a:p>
        </p:txBody>
      </p:sp>
    </p:spTree>
    <p:extLst>
      <p:ext uri="{BB962C8B-B14F-4D97-AF65-F5344CB8AC3E}">
        <p14:creationId xmlns:p14="http://schemas.microsoft.com/office/powerpoint/2010/main" val="33380011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Schedule</a:t>
            </a:r>
            <a:r>
              <a:rPr lang="en-US" sz="6600" b="1" dirty="0"/>
              <a:t> </a:t>
            </a:r>
            <a:endParaRPr lang="en-US" sz="6600" dirty="0"/>
          </a:p>
        </p:txBody>
      </p:sp>
      <p:sp>
        <p:nvSpPr>
          <p:cNvPr id="4" name="Rectangle 3"/>
          <p:cNvSpPr/>
          <p:nvPr/>
        </p:nvSpPr>
        <p:spPr>
          <a:xfrm>
            <a:off x="457200" y="1492181"/>
            <a:ext cx="8075240" cy="5681235"/>
          </a:xfrm>
          <a:prstGeom prst="rect">
            <a:avLst/>
          </a:prstGeom>
        </p:spPr>
        <p:txBody>
          <a:bodyPr wrap="square">
            <a:spAutoFit/>
          </a:bodyPr>
          <a:lstStyle/>
          <a:p>
            <a:pPr marL="355600" indent="-355600">
              <a:buFont typeface="Wingdings" panose="05000000000000000000" pitchFamily="2" charset="2"/>
              <a:buChar char="§"/>
            </a:pPr>
            <a:r>
              <a:rPr lang="en-GB" sz="1700" b="1" kern="0" dirty="0">
                <a:latin typeface="Comic Sans MS" panose="030F0702030302020204" pitchFamily="66" charset="0"/>
              </a:rPr>
              <a:t>Lecture Schedule:</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Mondays: </a:t>
            </a:r>
            <a:r>
              <a:rPr lang="en-GB" sz="1700" kern="0" dirty="0">
                <a:latin typeface="Comic Sans MS" panose="030F0702030302020204" pitchFamily="66" charset="0"/>
              </a:rPr>
              <a:t>8:00am - 10:00am</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Class Venue:</a:t>
            </a:r>
            <a:r>
              <a:rPr lang="en-GB" sz="1700" kern="0" dirty="0">
                <a:latin typeface="Comic Sans MS" panose="030F0702030302020204" pitchFamily="66" charset="0"/>
              </a:rPr>
              <a:t> Physical (Room S006) and Virtual </a:t>
            </a:r>
          </a:p>
          <a:p>
            <a:pPr marL="1077913" lvl="1" indent="-354013">
              <a:lnSpc>
                <a:spcPct val="150000"/>
              </a:lnSpc>
              <a:buFont typeface="Wingdings" panose="05000000000000000000" pitchFamily="2" charset="2"/>
              <a:buChar char="Ø"/>
            </a:pPr>
            <a:r>
              <a:rPr lang="en-GB" sz="1700" kern="0" dirty="0">
                <a:latin typeface="Comic Sans MS" panose="030F0702030302020204" pitchFamily="66" charset="0"/>
              </a:rPr>
              <a:t>Please attend your lectures. Attendance is mandatory</a:t>
            </a:r>
          </a:p>
          <a:p>
            <a:pPr marL="357188" lvl="1" indent="-357188">
              <a:buFont typeface="Wingdings" panose="05000000000000000000" pitchFamily="2" charset="2"/>
              <a:buChar char="§"/>
            </a:pPr>
            <a:r>
              <a:rPr lang="en-US" sz="1700" b="1" kern="0" dirty="0">
                <a:latin typeface="Comic Sans MS" panose="030F0702030302020204" pitchFamily="66" charset="0"/>
              </a:rPr>
              <a:t>Classroom Policy</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Review recommended material before coming to class</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Must be on time</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Turn off cell phones</a:t>
            </a:r>
            <a:endParaRPr lang="en-GB" sz="1700" kern="0" dirty="0">
              <a:latin typeface="Comic Sans MS" panose="030F0702030302020204" pitchFamily="66" charset="0"/>
            </a:endParaRPr>
          </a:p>
          <a:p>
            <a:pPr marL="357188" indent="-357188" eaLnBrk="1" hangingPunct="1">
              <a:buFont typeface="Wingdings" panose="05000000000000000000" pitchFamily="2" charset="2"/>
              <a:buChar char="§"/>
              <a:tabLst>
                <a:tab pos="271463" algn="l"/>
              </a:tabLst>
              <a:defRPr/>
            </a:pPr>
            <a:r>
              <a:rPr lang="en-US" sz="1700" b="1" dirty="0">
                <a:latin typeface="Comic Sans MS" pitchFamily="66" charset="0"/>
                <a:ea typeface="ＭＳ Ｐゴシック" pitchFamily="34" charset="-128"/>
              </a:rPr>
              <a:t>Expectations  </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Read assigned readings</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Attend lectures and participate in discussions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Bring your ideas and concerns to class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Work effectively in a group setting</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Learn how to use the tools and understand your project very well when necessary </a:t>
            </a:r>
            <a:endParaRPr lang="en-US" sz="1700" dirty="0">
              <a:solidFill>
                <a:srgbClr val="663300"/>
              </a:solidFill>
              <a:latin typeface="Comic Sans MS" pitchFamily="66" charset="0"/>
              <a:ea typeface="ＭＳ Ｐゴシック" pitchFamily="34" charset="-128"/>
            </a:endParaRPr>
          </a:p>
        </p:txBody>
      </p:sp>
    </p:spTree>
    <p:extLst>
      <p:ext uri="{BB962C8B-B14F-4D97-AF65-F5344CB8AC3E}">
        <p14:creationId xmlns:p14="http://schemas.microsoft.com/office/powerpoint/2010/main" val="17225189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7000" b="1" dirty="0"/>
              <a:t>Learning Outcomes</a:t>
            </a:r>
            <a:endParaRPr lang="en-US" sz="7000" dirty="0"/>
          </a:p>
        </p:txBody>
      </p:sp>
      <p:sp>
        <p:nvSpPr>
          <p:cNvPr id="4" name="Rectangle 3"/>
          <p:cNvSpPr/>
          <p:nvPr/>
        </p:nvSpPr>
        <p:spPr>
          <a:xfrm>
            <a:off x="457200" y="1484784"/>
            <a:ext cx="8229600" cy="4657942"/>
          </a:xfrm>
          <a:prstGeom prst="rect">
            <a:avLst/>
          </a:prstGeom>
        </p:spPr>
        <p:txBody>
          <a:bodyPr wrap="square">
            <a:spAutoFit/>
          </a:bodyPr>
          <a:lstStyle/>
          <a:p>
            <a:pPr algn="just">
              <a:lnSpc>
                <a:spcPct val="150000"/>
              </a:lnSpc>
            </a:pPr>
            <a:r>
              <a:rPr lang="en-US" sz="2000" dirty="0">
                <a:latin typeface="Comic Sans MS" panose="030F0702030302020204" pitchFamily="66" charset="0"/>
              </a:rPr>
              <a:t>At the end of the course, students should be able to:</a:t>
            </a:r>
          </a:p>
          <a:p>
            <a:pPr marL="714375" indent="-357188" algn="just">
              <a:lnSpc>
                <a:spcPct val="150000"/>
              </a:lnSpc>
            </a:pPr>
            <a:r>
              <a:rPr lang="en-US" sz="2000" dirty="0">
                <a:latin typeface="Comic Sans MS" panose="030F0702030302020204" pitchFamily="66" charset="0"/>
              </a:rPr>
              <a:t>1. Identify components of the computer and know-how the components communicate;</a:t>
            </a:r>
          </a:p>
          <a:p>
            <a:pPr marL="714375" indent="-357188" algn="just">
              <a:lnSpc>
                <a:spcPct val="150000"/>
              </a:lnSpc>
            </a:pPr>
            <a:r>
              <a:rPr lang="en-US" sz="2000" dirty="0">
                <a:latin typeface="Comic Sans MS" panose="030F0702030302020204" pitchFamily="66" charset="0"/>
              </a:rPr>
              <a:t>2. Know the concept of data transfer and memory types and management;</a:t>
            </a:r>
          </a:p>
          <a:p>
            <a:pPr marL="714375" indent="-357188" algn="just">
              <a:lnSpc>
                <a:spcPct val="150000"/>
              </a:lnSpc>
            </a:pPr>
            <a:r>
              <a:rPr lang="en-US" sz="2000" dirty="0">
                <a:latin typeface="Comic Sans MS" panose="030F0702030302020204" pitchFamily="66" charset="0"/>
              </a:rPr>
              <a:t>3. Be comfortable with graphics processing;</a:t>
            </a:r>
          </a:p>
          <a:p>
            <a:pPr marL="714375" indent="-357188" algn="just">
              <a:lnSpc>
                <a:spcPct val="150000"/>
              </a:lnSpc>
            </a:pPr>
            <a:r>
              <a:rPr lang="en-US" sz="2000" dirty="0">
                <a:latin typeface="Comic Sans MS" panose="030F0702030302020204" pitchFamily="66" charset="0"/>
              </a:rPr>
              <a:t>4. Identify and be able to use different communication ports;</a:t>
            </a:r>
          </a:p>
          <a:p>
            <a:pPr marL="714375" indent="-357188" algn="just">
              <a:lnSpc>
                <a:spcPct val="150000"/>
              </a:lnSpc>
            </a:pPr>
            <a:r>
              <a:rPr lang="en-US" sz="2000" dirty="0">
                <a:latin typeface="Comic Sans MS" panose="030F0702030302020204" pitchFamily="66" charset="0"/>
              </a:rPr>
              <a:t>5. Know the software types;</a:t>
            </a:r>
          </a:p>
          <a:p>
            <a:pPr marL="714375" indent="-357188" algn="just">
              <a:lnSpc>
                <a:spcPct val="150000"/>
              </a:lnSpc>
            </a:pPr>
            <a:r>
              <a:rPr lang="en-US" sz="2000" dirty="0">
                <a:latin typeface="Comic Sans MS" panose="030F0702030302020204" pitchFamily="66" charset="0"/>
              </a:rPr>
              <a:t>6. State different computer network topologies and their sizes; </a:t>
            </a:r>
          </a:p>
          <a:p>
            <a:pPr marL="714375" indent="-357188" algn="just">
              <a:lnSpc>
                <a:spcPct val="150000"/>
              </a:lnSpc>
            </a:pPr>
            <a:r>
              <a:rPr lang="en-US" sz="2000" dirty="0">
                <a:latin typeface="Comic Sans MS" panose="030F0702030302020204" pitchFamily="66" charset="0"/>
              </a:rPr>
              <a:t>7. Be able to use office applications and the internet.</a:t>
            </a:r>
          </a:p>
        </p:txBody>
      </p:sp>
    </p:spTree>
    <p:extLst>
      <p:ext uri="{BB962C8B-B14F-4D97-AF65-F5344CB8AC3E}">
        <p14:creationId xmlns:p14="http://schemas.microsoft.com/office/powerpoint/2010/main" val="30433645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404664"/>
            <a:ext cx="8229600" cy="1012974"/>
          </a:xfrm>
        </p:spPr>
        <p:txBody>
          <a:bodyPr/>
          <a:lstStyle/>
          <a:p>
            <a:pPr algn="ctr"/>
            <a:r>
              <a:rPr lang="en-US" sz="8000" b="1" dirty="0"/>
              <a:t>Course Contents</a:t>
            </a:r>
            <a:endParaRPr lang="en-US" sz="8000" dirty="0"/>
          </a:p>
        </p:txBody>
      </p:sp>
      <p:sp>
        <p:nvSpPr>
          <p:cNvPr id="4" name="Rectangle 3"/>
          <p:cNvSpPr/>
          <p:nvPr/>
        </p:nvSpPr>
        <p:spPr>
          <a:xfrm>
            <a:off x="539552" y="1340768"/>
            <a:ext cx="7920880" cy="5551713"/>
          </a:xfrm>
          <a:prstGeom prst="rect">
            <a:avLst/>
          </a:prstGeom>
        </p:spPr>
        <p:txBody>
          <a:bodyPr wrap="square">
            <a:spAutoFit/>
          </a:bodyPr>
          <a:lstStyle/>
          <a:p>
            <a:pPr algn="just">
              <a:lnSpc>
                <a:spcPct val="200000"/>
              </a:lnSpc>
            </a:pPr>
            <a:r>
              <a:rPr lang="en-US" dirty="0">
                <a:latin typeface="Comic Sans MS" panose="030F0702030302020204" pitchFamily="66" charset="0"/>
              </a:rPr>
              <a:t>Basic principle of computers. Computer "backbone".  Data transmission. Random Access Memory. Permanent Memory. Graphic processing. Communication Ports. Input and Output Devices. Software types. Accessibility options. Computer types. Portable digital devices. Network Types. Internet. Instant messaging. Voice over Internet Protocol. Really Simple Syndication. Network communication. Internet data transfer. Data rate units. Internet access. Virtual (online) communities. Computer in the workplace. Office Applications (word processing, spreadsheets, presentation, etc.). Other well-known applications. Telecommuting (telework).</a:t>
            </a:r>
          </a:p>
        </p:txBody>
      </p:sp>
    </p:spTree>
    <p:extLst>
      <p:ext uri="{BB962C8B-B14F-4D97-AF65-F5344CB8AC3E}">
        <p14:creationId xmlns:p14="http://schemas.microsoft.com/office/powerpoint/2010/main" val="34421755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Module</a:t>
            </a:r>
            <a:endParaRPr lang="en-US" sz="8000" dirty="0"/>
          </a:p>
        </p:txBody>
      </p:sp>
      <p:sp>
        <p:nvSpPr>
          <p:cNvPr id="4" name="Rectangle 3"/>
          <p:cNvSpPr/>
          <p:nvPr/>
        </p:nvSpPr>
        <p:spPr>
          <a:xfrm>
            <a:off x="457200" y="1484784"/>
            <a:ext cx="8003232" cy="5047536"/>
          </a:xfrm>
          <a:prstGeom prst="rect">
            <a:avLst/>
          </a:prstGeom>
        </p:spPr>
        <p:txBody>
          <a:bodyPr wrap="square">
            <a:spAutoFit/>
          </a:bodyPr>
          <a:lstStyle/>
          <a:p>
            <a:pPr marL="342900" indent="-342900" algn="just">
              <a:buFont typeface="Wingdings" panose="05000000000000000000" pitchFamily="2" charset="2"/>
              <a:buChar char="Ø"/>
            </a:pPr>
            <a:r>
              <a:rPr lang="en-US" sz="1700" b="1" dirty="0">
                <a:latin typeface="Comic Sans MS" panose="030F0702030302020204" pitchFamily="66" charset="0"/>
              </a:rPr>
              <a:t>Module 1 Introduction to Information Communication Technology</a:t>
            </a:r>
          </a:p>
          <a:p>
            <a:pPr marL="714375" indent="-342900" algn="just">
              <a:buFont typeface="Wingdings" panose="05000000000000000000" pitchFamily="2" charset="2"/>
              <a:buChar char="§"/>
            </a:pPr>
            <a:r>
              <a:rPr lang="en-US" sz="1600" dirty="0">
                <a:latin typeface="Comic Sans MS" panose="030F0702030302020204" pitchFamily="66" charset="0"/>
              </a:rPr>
              <a:t>Unit 1: Information Communication Technology: Principles, Practices, and Opportunities.</a:t>
            </a:r>
          </a:p>
          <a:p>
            <a:pPr marL="714375" indent="-342900" algn="just">
              <a:buFont typeface="Wingdings" panose="05000000000000000000" pitchFamily="2" charset="2"/>
              <a:buChar char="§"/>
            </a:pPr>
            <a:r>
              <a:rPr lang="en-US" sz="1600" dirty="0">
                <a:latin typeface="Comic Sans MS" panose="030F0702030302020204" pitchFamily="66" charset="0"/>
              </a:rPr>
              <a:t>Unit 2: Essentials of Computing</a:t>
            </a:r>
          </a:p>
          <a:p>
            <a:pPr marL="714375" indent="-342900" algn="just">
              <a:buFont typeface="Wingdings" panose="05000000000000000000" pitchFamily="2" charset="2"/>
              <a:buChar char="§"/>
            </a:pPr>
            <a:r>
              <a:rPr lang="en-US" sz="1600" dirty="0">
                <a:latin typeface="Comic Sans MS" panose="030F0702030302020204" pitchFamily="66" charset="0"/>
              </a:rPr>
              <a:t>Unit 3: The System Unit and the Central Processing Unit</a:t>
            </a:r>
          </a:p>
          <a:p>
            <a:pPr marL="714375" indent="-342900" algn="just">
              <a:buFont typeface="Wingdings" panose="05000000000000000000" pitchFamily="2" charset="2"/>
              <a:buChar char="§"/>
            </a:pPr>
            <a:r>
              <a:rPr lang="en-US" sz="1600" dirty="0">
                <a:latin typeface="Comic Sans MS" panose="030F0702030302020204" pitchFamily="66" charset="0"/>
              </a:rPr>
              <a:t>Unit 4: Input Devices, Output Devices and Storage Devices and Memory</a:t>
            </a:r>
          </a:p>
          <a:p>
            <a:pPr marL="714375" indent="-342900" algn="just">
              <a:buFont typeface="Wingdings" panose="05000000000000000000" pitchFamily="2" charset="2"/>
              <a:buChar char="§"/>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2 Computer Networks, Distributed Networks and the Internet</a:t>
            </a:r>
          </a:p>
          <a:p>
            <a:pPr marL="714375" indent="-342900" algn="just">
              <a:buFont typeface="Wingdings" panose="05000000000000000000" pitchFamily="2" charset="2"/>
              <a:buChar char="§"/>
            </a:pPr>
            <a:r>
              <a:rPr lang="en-US" sz="1600" dirty="0">
                <a:latin typeface="Comic Sans MS" panose="030F0702030302020204" pitchFamily="66" charset="0"/>
              </a:rPr>
              <a:t>Unit 5: Computer Networks, Networking Technologies and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6: Enterprise and Wireless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7: Essentials of the Internet and World Wide Web</a:t>
            </a:r>
          </a:p>
          <a:p>
            <a:pPr marL="714375" indent="-342900" algn="just">
              <a:buFont typeface="Wingdings" panose="05000000000000000000" pitchFamily="2" charset="2"/>
              <a:buChar char="§"/>
            </a:pPr>
            <a:r>
              <a:rPr lang="en-US" sz="1600" dirty="0">
                <a:latin typeface="Comic Sans MS" panose="030F0702030302020204" pitchFamily="66" charset="0"/>
              </a:rPr>
              <a:t>Unit 8: Electronic Commerce and Electronic Business</a:t>
            </a:r>
          </a:p>
          <a:p>
            <a:pPr marL="714375" indent="-342900" algn="just">
              <a:buFont typeface="Wingdings" panose="05000000000000000000" pitchFamily="2" charset="2"/>
              <a:buChar char="§"/>
            </a:pPr>
            <a:r>
              <a:rPr lang="en-US" sz="1600" dirty="0">
                <a:latin typeface="Comic Sans MS" panose="030F0702030302020204" pitchFamily="66" charset="0"/>
              </a:rPr>
              <a:t>Unit 9: Launching Information Technology Applications Projects</a:t>
            </a:r>
          </a:p>
          <a:p>
            <a:pPr marL="342900" indent="-342900" algn="just">
              <a:buFont typeface="Wingdings" panose="05000000000000000000" pitchFamily="2" charset="2"/>
              <a:buChar char="Ø"/>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3 Managing Information and Communication Technology Applications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10: Creating Enterprise Applications and Project Management</a:t>
            </a:r>
          </a:p>
          <a:p>
            <a:pPr marL="714375" indent="-342900" algn="just">
              <a:buFont typeface="Wingdings" panose="05000000000000000000" pitchFamily="2" charset="2"/>
              <a:buChar char="§"/>
            </a:pPr>
            <a:r>
              <a:rPr lang="en-US" sz="1600" dirty="0">
                <a:latin typeface="Comic Sans MS" panose="030F0702030302020204" pitchFamily="66" charset="0"/>
              </a:rPr>
              <a:t>Unit 11: Web Based Application and Information Systems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12: Issues in Information Technology and Careers in ICT</a:t>
            </a:r>
            <a:endParaRPr lang="en-US" sz="1600" b="1" dirty="0">
              <a:latin typeface="Comic Sans MS" panose="030F0702030302020204" pitchFamily="66" charset="0"/>
            </a:endParaRPr>
          </a:p>
        </p:txBody>
      </p:sp>
    </p:spTree>
    <p:extLst>
      <p:ext uri="{BB962C8B-B14F-4D97-AF65-F5344CB8AC3E}">
        <p14:creationId xmlns:p14="http://schemas.microsoft.com/office/powerpoint/2010/main" val="31247745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Outline</a:t>
            </a:r>
            <a:endParaRPr lang="en-US" sz="8000" dirty="0"/>
          </a:p>
        </p:txBody>
      </p:sp>
      <p:sp>
        <p:nvSpPr>
          <p:cNvPr id="4" name="Rectangle 3"/>
          <p:cNvSpPr/>
          <p:nvPr/>
        </p:nvSpPr>
        <p:spPr>
          <a:xfrm>
            <a:off x="457200" y="1493585"/>
            <a:ext cx="8229600" cy="5247783"/>
          </a:xfrm>
          <a:prstGeom prst="rect">
            <a:avLst/>
          </a:prstGeom>
        </p:spPr>
        <p:txBody>
          <a:bodyPr wrap="square">
            <a:spAutoFit/>
          </a:bodyPr>
          <a:lstStyle/>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 Information Communication Technology: Principles, Practices, and Opportunities.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2: Essentials of Computing</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3: The System Unit and the Central Processing Unit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4: Input Devices, Output Devices and Storage Devices and Memory</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5: Computer Networks, Networking Technologies and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6: Enterprise and Wireless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7: Essentials of the Internet </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8: Electronic Commerce and Electronic Business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9: Launching Information Technology Applications Projects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10: Creating Enterprise Applications and Project Management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11: Web Based Application and Information Systems in the Enterprise</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12: Issues in Information Technology and Careers in ICT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13: Continuous Assessment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14: Examination   </a:t>
            </a:r>
          </a:p>
        </p:txBody>
      </p:sp>
    </p:spTree>
    <p:extLst>
      <p:ext uri="{BB962C8B-B14F-4D97-AF65-F5344CB8AC3E}">
        <p14:creationId xmlns:p14="http://schemas.microsoft.com/office/powerpoint/2010/main" val="25253207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6600" b="1" dirty="0"/>
              <a:t>Books and References</a:t>
            </a:r>
            <a:endParaRPr lang="en-US" sz="6600" dirty="0"/>
          </a:p>
        </p:txBody>
      </p:sp>
      <p:sp>
        <p:nvSpPr>
          <p:cNvPr id="4" name="Rectangle 3"/>
          <p:cNvSpPr/>
          <p:nvPr/>
        </p:nvSpPr>
        <p:spPr>
          <a:xfrm>
            <a:off x="457199" y="1538010"/>
            <a:ext cx="8043863" cy="4555286"/>
          </a:xfrm>
          <a:prstGeom prst="rect">
            <a:avLst/>
          </a:prstGeom>
        </p:spPr>
        <p:txBody>
          <a:bodyPr wrap="square">
            <a:spAutoFit/>
          </a:bodyPr>
          <a:lstStyle/>
          <a:p>
            <a:pPr marL="536575" indent="-361950" algn="just">
              <a:lnSpc>
                <a:spcPct val="150000"/>
              </a:lnSpc>
              <a:buFont typeface="Wingdings" pitchFamily="2" charset="2"/>
              <a:buChar char="§"/>
              <a:defRPr/>
            </a:pPr>
            <a:r>
              <a:rPr lang="en-US" sz="1500" dirty="0">
                <a:latin typeface="Comic Sans MS" panose="030F0702030302020204" pitchFamily="66" charset="0"/>
              </a:rPr>
              <a:t>Use and Effects By: Harry </a:t>
            </a:r>
            <a:r>
              <a:rPr lang="en-US" sz="1500" dirty="0" err="1">
                <a:latin typeface="Comic Sans MS" panose="030F0702030302020204" pitchFamily="66" charset="0"/>
              </a:rPr>
              <a:t>Bouwman</a:t>
            </a:r>
            <a:r>
              <a:rPr lang="en-US" sz="1500" dirty="0">
                <a:latin typeface="Comic Sans MS" panose="030F0702030302020204" pitchFamily="66" charset="0"/>
              </a:rPr>
              <a:t>, Bart van den </a:t>
            </a:r>
            <a:r>
              <a:rPr lang="en-US" sz="1500" dirty="0" err="1">
                <a:latin typeface="Comic Sans MS" panose="030F0702030302020204" pitchFamily="66" charset="0"/>
              </a:rPr>
              <a:t>Hooff</a:t>
            </a:r>
            <a:r>
              <a:rPr lang="en-US" sz="1500" dirty="0">
                <a:latin typeface="Comic Sans MS" panose="030F0702030302020204" pitchFamily="66" charset="0"/>
              </a:rPr>
              <a:t>, </a:t>
            </a:r>
            <a:r>
              <a:rPr lang="en-US" sz="1500" dirty="0" err="1">
                <a:latin typeface="Comic Sans MS" panose="030F0702030302020204" pitchFamily="66" charset="0"/>
              </a:rPr>
              <a:t>Lidwien</a:t>
            </a:r>
            <a:r>
              <a:rPr lang="en-US" sz="1500" dirty="0">
                <a:latin typeface="Comic Sans MS" panose="030F0702030302020204" pitchFamily="66" charset="0"/>
              </a:rPr>
              <a:t> van de </a:t>
            </a:r>
            <a:r>
              <a:rPr lang="en-US" sz="1500" dirty="0" err="1">
                <a:latin typeface="Comic Sans MS" panose="030F0702030302020204" pitchFamily="66" charset="0"/>
              </a:rPr>
              <a:t>Wijngaert</a:t>
            </a:r>
            <a:r>
              <a:rPr lang="en-US" sz="1500" dirty="0">
                <a:latin typeface="Comic Sans MS" panose="030F0702030302020204" pitchFamily="66" charset="0"/>
              </a:rPr>
              <a:t> &amp; Jan van Dijk, Publisher: SAGE Publications Ltd, Publication year: 2005, Online pub date: June 19, 2012</a:t>
            </a:r>
          </a:p>
          <a:p>
            <a:pPr marL="536575" indent="-361950" algn="just">
              <a:lnSpc>
                <a:spcPct val="150000"/>
              </a:lnSpc>
              <a:buFont typeface="Wingdings" pitchFamily="2" charset="2"/>
              <a:buChar char="§"/>
              <a:defRPr/>
            </a:pPr>
            <a:r>
              <a:rPr lang="en-US" sz="1500" dirty="0">
                <a:latin typeface="Comic Sans MS" panose="030F0702030302020204" pitchFamily="66" charset="0"/>
              </a:rPr>
              <a:t>Discovering Computers. Living in a Digital World. FUNDAMENTALS, 2011 EDITION. Gary B. Shelly. Misty E. </a:t>
            </a:r>
            <a:r>
              <a:rPr lang="en-US" sz="1500" dirty="0" err="1">
                <a:latin typeface="Comic Sans MS" panose="030F0702030302020204" pitchFamily="66" charset="0"/>
              </a:rPr>
              <a:t>Vermaat</a:t>
            </a:r>
            <a:r>
              <a:rPr lang="en-US" sz="1500" dirty="0">
                <a:latin typeface="Comic Sans MS" panose="030F0702030302020204" pitchFamily="66" charset="0"/>
              </a:rPr>
              <a:t>. Shelly Cashman</a:t>
            </a:r>
          </a:p>
          <a:p>
            <a:pPr marL="536575" indent="-361950" algn="just">
              <a:lnSpc>
                <a:spcPct val="150000"/>
              </a:lnSpc>
              <a:buFont typeface="Wingdings" pitchFamily="2" charset="2"/>
              <a:buChar char="§"/>
              <a:defRPr/>
            </a:pPr>
            <a:r>
              <a:rPr lang="en-US" sz="1500" dirty="0">
                <a:latin typeface="Comic Sans MS" panose="030F0702030302020204" pitchFamily="66" charset="0"/>
              </a:rPr>
              <a:t>Charles S. Parker, Understanding Computers: Today and Tomorrow, Course Technology, 25 Thomson Place, Boston, Massachusetts 02210, USA</a:t>
            </a:r>
          </a:p>
          <a:p>
            <a:pPr marL="536575" indent="-361950" algn="just">
              <a:lnSpc>
                <a:spcPct val="150000"/>
              </a:lnSpc>
              <a:buFont typeface="Wingdings" pitchFamily="2" charset="2"/>
              <a:buChar char="§"/>
              <a:defRPr/>
            </a:pPr>
            <a:r>
              <a:rPr lang="en-US" sz="1500" dirty="0" err="1">
                <a:latin typeface="Comic Sans MS" panose="030F0702030302020204" pitchFamily="66" charset="0"/>
              </a:rPr>
              <a:t>Livesley</a:t>
            </a:r>
            <a:r>
              <a:rPr lang="en-US" sz="1500" dirty="0">
                <a:latin typeface="Comic Sans MS" panose="030F0702030302020204" pitchFamily="66" charset="0"/>
              </a:rPr>
              <a:t>, Robert Kenneth. An introduction to automatic digital computers. Cambridge University Press, 2017.</a:t>
            </a:r>
          </a:p>
          <a:p>
            <a:pPr marL="536575" indent="-361950" algn="just">
              <a:lnSpc>
                <a:spcPct val="150000"/>
              </a:lnSpc>
              <a:buFont typeface="Wingdings" pitchFamily="2" charset="2"/>
              <a:buChar char="§"/>
              <a:defRPr/>
            </a:pPr>
            <a:r>
              <a:rPr lang="en-US" sz="1500" dirty="0" err="1">
                <a:latin typeface="Comic Sans MS" panose="030F0702030302020204" pitchFamily="66" charset="0"/>
              </a:rPr>
              <a:t>Zawacki</a:t>
            </a:r>
            <a:r>
              <a:rPr lang="en-US" sz="1500" dirty="0">
                <a:latin typeface="Comic Sans MS" panose="030F0702030302020204" pitchFamily="66" charset="0"/>
              </a:rPr>
              <a:t>-Richter, Olaf, and Colin </a:t>
            </a:r>
            <a:r>
              <a:rPr lang="en-US" sz="1500" dirty="0" err="1">
                <a:latin typeface="Comic Sans MS" panose="030F0702030302020204" pitchFamily="66" charset="0"/>
              </a:rPr>
              <a:t>Latchem</a:t>
            </a:r>
            <a:r>
              <a:rPr lang="en-US" sz="1500" dirty="0">
                <a:latin typeface="Comic Sans MS" panose="030F0702030302020204" pitchFamily="66" charset="0"/>
              </a:rPr>
              <a:t>. "Exploring four decades of research in Computers &amp; Education." Computers &amp; Education 122 (2018): 136-152.</a:t>
            </a:r>
          </a:p>
          <a:p>
            <a:pPr marL="536575" indent="-361950" algn="just">
              <a:lnSpc>
                <a:spcPct val="150000"/>
              </a:lnSpc>
              <a:buFont typeface="Wingdings" pitchFamily="2" charset="2"/>
              <a:buChar char="§"/>
              <a:defRPr/>
            </a:pPr>
            <a:r>
              <a:rPr lang="en-US" sz="1500" dirty="0">
                <a:latin typeface="Comic Sans MS" panose="030F0702030302020204" pitchFamily="66" charset="0"/>
              </a:rPr>
              <a:t>Sinha, Pradeep K., and </a:t>
            </a:r>
            <a:r>
              <a:rPr lang="en-US" sz="1500" dirty="0" err="1">
                <a:latin typeface="Comic Sans MS" panose="030F0702030302020204" pitchFamily="66" charset="0"/>
              </a:rPr>
              <a:t>Priti</a:t>
            </a:r>
            <a:r>
              <a:rPr lang="en-US" sz="1500" dirty="0">
                <a:latin typeface="Comic Sans MS" panose="030F0702030302020204" pitchFamily="66" charset="0"/>
              </a:rPr>
              <a:t> Sinha. Computer fundamentals. BPB publications, 2010. </a:t>
            </a:r>
          </a:p>
          <a:p>
            <a:pPr marL="536575" indent="-361950" algn="just">
              <a:lnSpc>
                <a:spcPct val="150000"/>
              </a:lnSpc>
              <a:buFont typeface="Wingdings" pitchFamily="2" charset="2"/>
              <a:buChar char="§"/>
              <a:defRPr/>
            </a:pPr>
            <a:r>
              <a:rPr lang="en-US" sz="1500" dirty="0">
                <a:latin typeface="Comic Sans MS" panose="030F0702030302020204" pitchFamily="66" charset="0"/>
              </a:rPr>
              <a:t>Goel, Anita. Computer fundamentals. Pearson Education India, 2010.</a:t>
            </a:r>
            <a:endParaRPr lang="en-US" sz="1500" dirty="0">
              <a:latin typeface="Comic Sans MS" pitchFamily="66" charset="0"/>
              <a:ea typeface="ＭＳ Ｐゴシック" pitchFamily="34" charset="-128"/>
            </a:endParaRPr>
          </a:p>
        </p:txBody>
      </p:sp>
    </p:spTree>
    <p:extLst>
      <p:ext uri="{BB962C8B-B14F-4D97-AF65-F5344CB8AC3E}">
        <p14:creationId xmlns:p14="http://schemas.microsoft.com/office/powerpoint/2010/main" val="34148405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altLang="en-US" sz="9600" b="1" dirty="0"/>
              <a:t>Pre-Requisite</a:t>
            </a:r>
            <a:r>
              <a:rPr lang="en-US" altLang="en-US" sz="6600" b="1" dirty="0"/>
              <a:t> </a:t>
            </a:r>
            <a:endParaRPr lang="en-US" altLang="en-US" sz="6600" dirty="0"/>
          </a:p>
        </p:txBody>
      </p:sp>
      <p:pic>
        <p:nvPicPr>
          <p:cNvPr id="5" name="Picture 4"/>
          <p:cNvPicPr>
            <a:picLocks noChangeAspect="1"/>
          </p:cNvPicPr>
          <p:nvPr/>
        </p:nvPicPr>
        <p:blipFill>
          <a:blip r:embed="rId3"/>
          <a:stretch>
            <a:fillRect/>
          </a:stretch>
        </p:blipFill>
        <p:spPr>
          <a:xfrm>
            <a:off x="1259632" y="1499249"/>
            <a:ext cx="6624736" cy="5080937"/>
          </a:xfrm>
          <a:prstGeom prst="rect">
            <a:avLst/>
          </a:prstGeom>
        </p:spPr>
      </p:pic>
    </p:spTree>
    <p:extLst>
      <p:ext uri="{BB962C8B-B14F-4D97-AF65-F5344CB8AC3E}">
        <p14:creationId xmlns:p14="http://schemas.microsoft.com/office/powerpoint/2010/main" val="14429000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Evaluation</a:t>
            </a:r>
            <a:endParaRPr lang="en-US" altLang="en-US" sz="8000" dirty="0"/>
          </a:p>
        </p:txBody>
      </p:sp>
      <p:sp>
        <p:nvSpPr>
          <p:cNvPr id="4" name="Rectangle 3"/>
          <p:cNvSpPr/>
          <p:nvPr/>
        </p:nvSpPr>
        <p:spPr>
          <a:xfrm>
            <a:off x="457200" y="1484784"/>
            <a:ext cx="8229600" cy="3447098"/>
          </a:xfrm>
          <a:prstGeom prst="rect">
            <a:avLst/>
          </a:prstGeom>
        </p:spPr>
        <p:txBody>
          <a:bodyPr wrap="square">
            <a:spAutoFit/>
          </a:bodyPr>
          <a:lstStyle/>
          <a:p>
            <a:pPr>
              <a:defRPr/>
            </a:pPr>
            <a:endParaRPr lang="en-US" b="1" dirty="0">
              <a:latin typeface="Comic Sans MS" pitchFamily="66" charset="0"/>
            </a:endParaRPr>
          </a:p>
          <a:p>
            <a:pPr>
              <a:buFont typeface="Wingdings" pitchFamily="2" charset="2"/>
              <a:buChar char="Ø"/>
              <a:defRPr/>
            </a:pPr>
            <a:r>
              <a:rPr lang="en-US" sz="4000" b="1" dirty="0">
                <a:latin typeface="Comic Sans MS" pitchFamily="66" charset="0"/>
              </a:rPr>
              <a:t>Final Examination: 70%</a:t>
            </a:r>
          </a:p>
          <a:p>
            <a:pPr lvl="2">
              <a:defRPr/>
            </a:pPr>
            <a:endParaRPr lang="en-US" sz="4000" dirty="0">
              <a:latin typeface="Comic Sans MS" pitchFamily="66" charset="0"/>
            </a:endParaRPr>
          </a:p>
          <a:p>
            <a:pPr>
              <a:buFont typeface="Wingdings" pitchFamily="2" charset="2"/>
              <a:buChar char="Ø"/>
              <a:defRPr/>
            </a:pPr>
            <a:r>
              <a:rPr lang="en-US" sz="4000" b="1" dirty="0">
                <a:latin typeface="Comic Sans MS" pitchFamily="66" charset="0"/>
              </a:rPr>
              <a:t>Continuous Assessment: 30% </a:t>
            </a:r>
          </a:p>
          <a:p>
            <a:pPr marL="1139825" lvl="3" indent="-346075">
              <a:buFont typeface="Wingdings" panose="05000000000000000000" pitchFamily="2" charset="2"/>
              <a:buChar char="§"/>
              <a:defRPr/>
            </a:pPr>
            <a:r>
              <a:rPr lang="en-US" sz="4000" dirty="0">
                <a:latin typeface="Comic Sans MS" pitchFamily="66" charset="0"/>
              </a:rPr>
              <a:t>Written test</a:t>
            </a:r>
          </a:p>
          <a:p>
            <a:pPr marL="1139825" lvl="3" indent="-346075">
              <a:buFont typeface="Wingdings" panose="05000000000000000000" pitchFamily="2" charset="2"/>
              <a:buChar char="§"/>
              <a:defRPr/>
            </a:pPr>
            <a:r>
              <a:rPr lang="en-US" sz="4000" dirty="0">
                <a:latin typeface="Comic Sans MS" pitchFamily="66" charset="0"/>
              </a:rPr>
              <a:t>Assignments/Project</a:t>
            </a:r>
          </a:p>
        </p:txBody>
      </p:sp>
    </p:spTree>
    <p:extLst>
      <p:ext uri="{BB962C8B-B14F-4D97-AF65-F5344CB8AC3E}">
        <p14:creationId xmlns:p14="http://schemas.microsoft.com/office/powerpoint/2010/main" val="29548308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a:t>
            </a:r>
            <a:r>
              <a:rPr lang="en-US" sz="8800" b="1" kern="0" dirty="0" smtClean="0"/>
              <a:t>9</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212976"/>
            <a:ext cx="83820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3000" b="1" dirty="0" smtClean="0">
                <a:latin typeface="Comic Sans MS" panose="030F0702030302020204" pitchFamily="66" charset="0"/>
              </a:rPr>
              <a:t>LAUNCHING INFORMATION TECHNOLOGY APPLICATIONS PROJECTS</a:t>
            </a:r>
            <a:endParaRPr lang="en-US" sz="3000" b="1" dirty="0">
              <a:latin typeface="Comic Sans MS" panose="030F0702030302020204" pitchFamily="66" charset="0"/>
            </a:endParaRPr>
          </a:p>
        </p:txBody>
      </p:sp>
    </p:spTree>
    <p:extLst>
      <p:ext uri="{BB962C8B-B14F-4D97-AF65-F5344CB8AC3E}">
        <p14:creationId xmlns:p14="http://schemas.microsoft.com/office/powerpoint/2010/main" val="25413806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776864"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buFont typeface="Wingdings" panose="05000000000000000000" pitchFamily="2" charset="2"/>
              <a:buChar char="q"/>
            </a:pPr>
            <a:r>
              <a:rPr lang="en-US" sz="2000" b="1" dirty="0"/>
              <a:t>Information Technology Applications</a:t>
            </a:r>
          </a:p>
          <a:p>
            <a:pPr>
              <a:lnSpc>
                <a:spcPct val="200000"/>
              </a:lnSpc>
              <a:buFont typeface="Wingdings" panose="05000000000000000000" pitchFamily="2" charset="2"/>
              <a:buChar char="q"/>
            </a:pPr>
            <a:r>
              <a:rPr lang="en-US" sz="2000" b="1" dirty="0"/>
              <a:t>Characteristics of Personal and Enterprise System</a:t>
            </a:r>
          </a:p>
          <a:p>
            <a:pPr>
              <a:lnSpc>
                <a:spcPct val="200000"/>
              </a:lnSpc>
              <a:buFont typeface="Wingdings" panose="05000000000000000000" pitchFamily="2" charset="2"/>
              <a:buChar char="q"/>
            </a:pPr>
            <a:r>
              <a:rPr lang="en-US" sz="2000" b="1" dirty="0"/>
              <a:t>Impact of ICT Applications</a:t>
            </a:r>
          </a:p>
          <a:p>
            <a:pPr>
              <a:lnSpc>
                <a:spcPct val="200000"/>
              </a:lnSpc>
              <a:buFont typeface="Wingdings" panose="05000000000000000000" pitchFamily="2" charset="2"/>
              <a:buChar char="q"/>
            </a:pPr>
            <a:r>
              <a:rPr lang="en-US" sz="2000" b="1" dirty="0"/>
              <a:t>Enterprise Systems Project: Project Proposal</a:t>
            </a:r>
          </a:p>
        </p:txBody>
      </p:sp>
    </p:spTree>
    <p:extLst>
      <p:ext uri="{BB962C8B-B14F-4D97-AF65-F5344CB8AC3E}">
        <p14:creationId xmlns:p14="http://schemas.microsoft.com/office/powerpoint/2010/main" val="2380755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sz="4000" b="1" dirty="0"/>
              <a:t>INFORMATION TECHNOLOGY </a:t>
            </a:r>
            <a:r>
              <a:rPr lang="en-US" sz="4000" b="1" dirty="0" smtClean="0"/>
              <a:t>APPLICATIONS </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200" dirty="0" smtClean="0">
                <a:latin typeface="Times New Roman" panose="02020603050405020304" pitchFamily="18" charset="0"/>
                <a:cs typeface="Times New Roman" panose="02020603050405020304" pitchFamily="18" charset="0"/>
              </a:rPr>
              <a:t>There </a:t>
            </a:r>
            <a:r>
              <a:rPr lang="en-US" sz="2200" dirty="0">
                <a:latin typeface="Times New Roman" panose="02020603050405020304" pitchFamily="18" charset="0"/>
                <a:cs typeface="Times New Roman" panose="02020603050405020304" pitchFamily="18" charset="0"/>
              </a:rPr>
              <a:t>are basically two categories of IT applications, they are:</a:t>
            </a:r>
          </a:p>
          <a:p>
            <a:pPr marL="717550">
              <a:lnSpc>
                <a:spcPct val="150000"/>
              </a:lnSpc>
              <a:buFont typeface="Wingdings" panose="05000000000000000000" pitchFamily="2" charset="2"/>
              <a:buChar char="Ø"/>
            </a:pPr>
            <a:r>
              <a:rPr lang="en-US" sz="2200" i="1" dirty="0" smtClean="0">
                <a:latin typeface="Times New Roman" panose="02020603050405020304" pitchFamily="18" charset="0"/>
                <a:cs typeface="Times New Roman" panose="02020603050405020304" pitchFamily="18" charset="0"/>
              </a:rPr>
              <a:t>Single-user </a:t>
            </a:r>
            <a:r>
              <a:rPr lang="en-US" sz="2200" i="1" dirty="0">
                <a:latin typeface="Times New Roman" panose="02020603050405020304" pitchFamily="18" charset="0"/>
                <a:cs typeface="Times New Roman" panose="02020603050405020304" pitchFamily="18" charset="0"/>
              </a:rPr>
              <a:t>System/Personal System: </a:t>
            </a:r>
            <a:r>
              <a:rPr lang="en-US" sz="2200" dirty="0">
                <a:latin typeface="Times New Roman" panose="02020603050405020304" pitchFamily="18" charset="0"/>
                <a:cs typeface="Times New Roman" panose="02020603050405020304" pitchFamily="18" charset="0"/>
              </a:rPr>
              <a:t>An IT system used by only one person. </a:t>
            </a:r>
            <a:r>
              <a:rPr lang="en-US" sz="2200" dirty="0" smtClean="0">
                <a:latin typeface="Times New Roman" panose="02020603050405020304" pitchFamily="18" charset="0"/>
                <a:cs typeface="Times New Roman" panose="02020603050405020304" pitchFamily="18" charset="0"/>
              </a:rPr>
              <a:t>A system </a:t>
            </a:r>
            <a:r>
              <a:rPr lang="en-US" sz="2200" dirty="0">
                <a:latin typeface="Times New Roman" panose="02020603050405020304" pitchFamily="18" charset="0"/>
                <a:cs typeface="Times New Roman" panose="02020603050405020304" pitchFamily="18" charset="0"/>
              </a:rPr>
              <a:t>that stands alone and is not interconnected with other companies or shared </a:t>
            </a:r>
            <a:r>
              <a:rPr lang="en-US" sz="2200" dirty="0" smtClean="0">
                <a:latin typeface="Times New Roman" panose="02020603050405020304" pitchFamily="18" charset="0"/>
                <a:cs typeface="Times New Roman" panose="02020603050405020304" pitchFamily="18" charset="0"/>
              </a:rPr>
              <a:t>by other </a:t>
            </a:r>
            <a:r>
              <a:rPr lang="en-US" sz="2200" dirty="0">
                <a:latin typeface="Times New Roman" panose="02020603050405020304" pitchFamily="18" charset="0"/>
                <a:cs typeface="Times New Roman" panose="02020603050405020304" pitchFamily="18" charset="0"/>
              </a:rPr>
              <a:t>people.</a:t>
            </a:r>
          </a:p>
          <a:p>
            <a:pPr>
              <a:lnSpc>
                <a:spcPct val="150000"/>
              </a:lnSpc>
            </a:pP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Enterprise System: </a:t>
            </a:r>
            <a:r>
              <a:rPr lang="en-US" sz="2200" dirty="0">
                <a:latin typeface="Times New Roman" panose="02020603050405020304" pitchFamily="18" charset="0"/>
                <a:cs typeface="Times New Roman" panose="02020603050405020304" pitchFamily="18" charset="0"/>
              </a:rPr>
              <a:t>Usually involves the same types of components as a </a:t>
            </a:r>
            <a:r>
              <a:rPr lang="en-US" sz="2200" dirty="0" smtClean="0">
                <a:latin typeface="Times New Roman" panose="02020603050405020304" pitchFamily="18" charset="0"/>
                <a:cs typeface="Times New Roman" panose="02020603050405020304" pitchFamily="18" charset="0"/>
              </a:rPr>
              <a:t>personal system</a:t>
            </a: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plus server </a:t>
            </a:r>
            <a:r>
              <a:rPr lang="en-US" sz="2200" dirty="0">
                <a:latin typeface="Times New Roman" panose="02020603050405020304" pitchFamily="18" charset="0"/>
                <a:cs typeface="Times New Roman" panose="02020603050405020304" pitchFamily="18" charset="0"/>
              </a:rPr>
              <a:t>or mainframe, database, and network. It is generally a </a:t>
            </a:r>
            <a:r>
              <a:rPr lang="en-US" sz="2200" dirty="0" smtClean="0">
                <a:latin typeface="Times New Roman" panose="02020603050405020304" pitchFamily="18" charset="0"/>
                <a:cs typeface="Times New Roman" panose="02020603050405020304" pitchFamily="18" charset="0"/>
              </a:rPr>
              <a:t>shared system</a:t>
            </a:r>
            <a:r>
              <a:rPr lang="en-US" sz="2200" dirty="0">
                <a:latin typeface="Times New Roman" panose="02020603050405020304" pitchFamily="18" charset="0"/>
                <a:cs typeface="Times New Roman" panose="02020603050405020304" pitchFamily="18" charset="0"/>
              </a:rPr>
              <a:t>.</a:t>
            </a:r>
            <a:endParaRPr lang="en-US"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74901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sz="3600" b="1" dirty="0"/>
              <a:t>CHARACTERISTICS OF PERSONAL AND ENTERPRISE SYSTEM</a:t>
            </a:r>
            <a:r>
              <a:rPr lang="en-US" sz="3600" b="1" dirty="0" smtClean="0"/>
              <a:t> </a:t>
            </a:r>
            <a:endParaRPr lang="en-GB" sz="3600" b="1" dirty="0">
              <a:latin typeface="Comic Sans MS" panose="030F0702030302020204" pitchFamily="66" charset="0"/>
            </a:endParaRPr>
          </a:p>
        </p:txBody>
      </p:sp>
      <p:pic>
        <p:nvPicPr>
          <p:cNvPr id="2" name="Picture 1"/>
          <p:cNvPicPr>
            <a:picLocks noChangeAspect="1"/>
          </p:cNvPicPr>
          <p:nvPr/>
        </p:nvPicPr>
        <p:blipFill>
          <a:blip r:embed="rId2"/>
          <a:stretch>
            <a:fillRect/>
          </a:stretch>
        </p:blipFill>
        <p:spPr>
          <a:xfrm>
            <a:off x="457200" y="1412776"/>
            <a:ext cx="8229600" cy="5256583"/>
          </a:xfrm>
          <a:prstGeom prst="rect">
            <a:avLst/>
          </a:prstGeom>
        </p:spPr>
      </p:pic>
    </p:spTree>
    <p:extLst>
      <p:ext uri="{BB962C8B-B14F-4D97-AF65-F5344CB8AC3E}">
        <p14:creationId xmlns:p14="http://schemas.microsoft.com/office/powerpoint/2010/main" val="23626848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4000" b="1" dirty="0"/>
              <a:t>IMPACT OF IT APPLICATIONS</a:t>
            </a:r>
          </a:p>
        </p:txBody>
      </p:sp>
      <p:sp>
        <p:nvSpPr>
          <p:cNvPr id="5" name="Rectangle 3"/>
          <p:cNvSpPr txBox="1">
            <a:spLocks noChangeArrowheads="1"/>
          </p:cNvSpPr>
          <p:nvPr/>
        </p:nvSpPr>
        <p:spPr bwMode="auto">
          <a:xfrm>
            <a:off x="457200" y="1484785"/>
            <a:ext cx="8064896"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b="1" dirty="0" smtClean="0">
                <a:latin typeface="Times New Roman" panose="02020603050405020304" pitchFamily="18" charset="0"/>
                <a:cs typeface="Times New Roman" panose="02020603050405020304" pitchFamily="18" charset="0"/>
              </a:rPr>
              <a:t>Improved </a:t>
            </a:r>
            <a:r>
              <a:rPr lang="en-US" sz="2100" b="1" dirty="0">
                <a:latin typeface="Times New Roman" panose="02020603050405020304" pitchFamily="18" charset="0"/>
                <a:cs typeface="Times New Roman" panose="02020603050405020304" pitchFamily="18" charset="0"/>
              </a:rPr>
              <a:t>Productivity</a:t>
            </a:r>
          </a:p>
          <a:p>
            <a:pPr marL="717550">
              <a:lnSpc>
                <a:spcPct val="150000"/>
              </a:lnSpc>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Productivity</a:t>
            </a:r>
            <a:r>
              <a:rPr lang="en-US" sz="2100" b="1" i="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The relationship between the results of an activity (output) </a:t>
            </a:r>
            <a:r>
              <a:rPr lang="en-US" sz="2100" dirty="0" smtClean="0">
                <a:latin typeface="Times New Roman" panose="02020603050405020304" pitchFamily="18" charset="0"/>
                <a:cs typeface="Times New Roman" panose="02020603050405020304" pitchFamily="18" charset="0"/>
              </a:rPr>
              <a:t>and the </a:t>
            </a:r>
            <a:r>
              <a:rPr lang="en-US" sz="2100" dirty="0">
                <a:latin typeface="Times New Roman" panose="02020603050405020304" pitchFamily="18" charset="0"/>
                <a:cs typeface="Times New Roman" panose="02020603050405020304" pitchFamily="18" charset="0"/>
              </a:rPr>
              <a:t>resources used to create those results (inputs</a:t>
            </a:r>
            <a:r>
              <a:rPr lang="en-US" sz="2100" dirty="0" smtClean="0">
                <a:latin typeface="Times New Roman" panose="02020603050405020304" pitchFamily="18" charset="0"/>
                <a:cs typeface="Times New Roman" panose="02020603050405020304" pitchFamily="18" charset="0"/>
              </a:rPr>
              <a:t>).</a:t>
            </a:r>
          </a:p>
          <a:p>
            <a:pPr marL="717550">
              <a:lnSpc>
                <a:spcPct val="150000"/>
              </a:lnSpc>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Personal </a:t>
            </a:r>
            <a:r>
              <a:rPr lang="en-US" sz="2100" b="1" i="1" dirty="0">
                <a:latin typeface="Times New Roman" panose="02020603050405020304" pitchFamily="18" charset="0"/>
                <a:cs typeface="Times New Roman" panose="02020603050405020304" pitchFamily="18" charset="0"/>
              </a:rPr>
              <a:t>Productivity Software: </a:t>
            </a:r>
            <a:r>
              <a:rPr lang="en-US" sz="2100" dirty="0">
                <a:latin typeface="Times New Roman" panose="02020603050405020304" pitchFamily="18" charset="0"/>
                <a:cs typeface="Times New Roman" panose="02020603050405020304" pitchFamily="18" charset="0"/>
              </a:rPr>
              <a:t>Software packages that permit activities </a:t>
            </a:r>
            <a:r>
              <a:rPr lang="en-US" sz="2100" dirty="0" smtClean="0">
                <a:latin typeface="Times New Roman" panose="02020603050405020304" pitchFamily="18" charset="0"/>
                <a:cs typeface="Times New Roman" panose="02020603050405020304" pitchFamily="18" charset="0"/>
              </a:rPr>
              <a:t>to be </a:t>
            </a:r>
            <a:r>
              <a:rPr lang="en-US" sz="2100" dirty="0">
                <a:latin typeface="Times New Roman" panose="02020603050405020304" pitchFamily="18" charset="0"/>
                <a:cs typeface="Times New Roman" panose="02020603050405020304" pitchFamily="18" charset="0"/>
              </a:rPr>
              <a:t>completed more quickly, allow more activities to be completed in </a:t>
            </a:r>
            <a:r>
              <a:rPr lang="en-US" sz="2100" dirty="0" smtClean="0">
                <a:latin typeface="Times New Roman" panose="02020603050405020304" pitchFamily="18" charset="0"/>
                <a:cs typeface="Times New Roman" panose="02020603050405020304" pitchFamily="18" charset="0"/>
              </a:rPr>
              <a:t>a particular </a:t>
            </a:r>
            <a:r>
              <a:rPr lang="en-US" sz="2100" dirty="0">
                <a:latin typeface="Times New Roman" panose="02020603050405020304" pitchFamily="18" charset="0"/>
                <a:cs typeface="Times New Roman" panose="02020603050405020304" pitchFamily="18" charset="0"/>
              </a:rPr>
              <a:t>period of time, or allow a task to be completed with fewer resources.</a:t>
            </a:r>
          </a:p>
          <a:p>
            <a:pPr>
              <a:lnSpc>
                <a:spcPct val="150000"/>
              </a:lnSpc>
            </a:pPr>
            <a:r>
              <a:rPr lang="en-US" sz="2100" b="1" dirty="0" smtClean="0">
                <a:latin typeface="Times New Roman" panose="02020603050405020304" pitchFamily="18" charset="0"/>
                <a:cs typeface="Times New Roman" panose="02020603050405020304" pitchFamily="18" charset="0"/>
              </a:rPr>
              <a:t>Greater </a:t>
            </a:r>
            <a:r>
              <a:rPr lang="en-US" sz="2100" b="1" dirty="0">
                <a:latin typeface="Times New Roman" panose="02020603050405020304" pitchFamily="18" charset="0"/>
                <a:cs typeface="Times New Roman" panose="02020603050405020304" pitchFamily="18" charset="0"/>
              </a:rPr>
              <a:t>Effectiveness</a:t>
            </a:r>
          </a:p>
          <a:p>
            <a:pPr marL="717550">
              <a:lnSpc>
                <a:spcPct val="150000"/>
              </a:lnSpc>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Effectiveness</a:t>
            </a:r>
            <a:r>
              <a:rPr lang="en-US" sz="2100" b="1" i="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The extent to which desirable results are achieved.</a:t>
            </a:r>
          </a:p>
          <a:p>
            <a:pPr>
              <a:lnSpc>
                <a:spcPct val="150000"/>
              </a:lnSpc>
            </a:pPr>
            <a:r>
              <a:rPr lang="en-US" sz="2100" b="1" dirty="0" smtClean="0">
                <a:latin typeface="Times New Roman" panose="02020603050405020304" pitchFamily="18" charset="0"/>
                <a:cs typeface="Times New Roman" panose="02020603050405020304" pitchFamily="18" charset="0"/>
              </a:rPr>
              <a:t>Increased </a:t>
            </a:r>
            <a:r>
              <a:rPr lang="en-US" sz="2100" b="1" dirty="0">
                <a:latin typeface="Times New Roman" panose="02020603050405020304" pitchFamily="18" charset="0"/>
                <a:cs typeface="Times New Roman" panose="02020603050405020304" pitchFamily="18" charset="0"/>
              </a:rPr>
              <a:t>Creativity and Innovation</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87573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4000" b="1" dirty="0" smtClean="0"/>
              <a:t>Relationship </a:t>
            </a:r>
            <a:r>
              <a:rPr lang="en-US" sz="4000" b="1" dirty="0"/>
              <a:t>between an activity and r</a:t>
            </a:r>
            <a:r>
              <a:rPr lang="en-US" sz="4000" b="1" dirty="0" smtClean="0"/>
              <a:t>esources </a:t>
            </a:r>
            <a:r>
              <a:rPr lang="en-US" sz="4000" b="1" dirty="0"/>
              <a:t>in Productivity</a:t>
            </a:r>
          </a:p>
        </p:txBody>
      </p:sp>
      <p:pic>
        <p:nvPicPr>
          <p:cNvPr id="3" name="Picture 2"/>
          <p:cNvPicPr>
            <a:picLocks noChangeAspect="1"/>
          </p:cNvPicPr>
          <p:nvPr/>
        </p:nvPicPr>
        <p:blipFill>
          <a:blip r:embed="rId2"/>
          <a:stretch>
            <a:fillRect/>
          </a:stretch>
        </p:blipFill>
        <p:spPr>
          <a:xfrm>
            <a:off x="457200" y="1484786"/>
            <a:ext cx="8229600" cy="2449110"/>
          </a:xfrm>
          <a:prstGeom prst="rect">
            <a:avLst/>
          </a:prstGeom>
        </p:spPr>
      </p:pic>
    </p:spTree>
    <p:extLst>
      <p:ext uri="{BB962C8B-B14F-4D97-AF65-F5344CB8AC3E}">
        <p14:creationId xmlns:p14="http://schemas.microsoft.com/office/powerpoint/2010/main" val="38278866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t>ENTERPRISE SYSTEMS PROJECT</a:t>
            </a:r>
            <a:endParaRPr lang="en-US" sz="4000" b="1" dirty="0"/>
          </a:p>
        </p:txBody>
      </p:sp>
      <p:sp>
        <p:nvSpPr>
          <p:cNvPr id="5" name="Rectangle 3"/>
          <p:cNvSpPr txBox="1">
            <a:spLocks noChangeArrowheads="1"/>
          </p:cNvSpPr>
          <p:nvPr/>
        </p:nvSpPr>
        <p:spPr bwMode="auto">
          <a:xfrm>
            <a:off x="457200" y="1484785"/>
            <a:ext cx="8064896"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100" dirty="0">
                <a:latin typeface="Times New Roman" panose="02020603050405020304" pitchFamily="18" charset="0"/>
                <a:cs typeface="Times New Roman" panose="02020603050405020304" pitchFamily="18" charset="0"/>
              </a:rPr>
              <a:t>These are projects designed for organizations to promote efficient and safe use of data </a:t>
            </a:r>
            <a:r>
              <a:rPr lang="en-US" sz="2100" dirty="0" smtClean="0">
                <a:latin typeface="Times New Roman" panose="02020603050405020304" pitchFamily="18" charset="0"/>
                <a:cs typeface="Times New Roman" panose="02020603050405020304" pitchFamily="18" charset="0"/>
              </a:rPr>
              <a:t>across the </a:t>
            </a:r>
            <a:r>
              <a:rPr lang="en-US" sz="2100" dirty="0">
                <a:latin typeface="Times New Roman" panose="02020603050405020304" pitchFamily="18" charset="0"/>
                <a:cs typeface="Times New Roman" panose="02020603050405020304" pitchFamily="18" charset="0"/>
              </a:rPr>
              <a:t>networks within their organizations.</a:t>
            </a:r>
          </a:p>
          <a:p>
            <a:pPr marL="900113" algn="just">
              <a:lnSpc>
                <a:spcPct val="150000"/>
              </a:lnSpc>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Systems </a:t>
            </a:r>
            <a:r>
              <a:rPr lang="en-US" sz="2100" b="1" i="1" dirty="0">
                <a:latin typeface="Times New Roman" panose="02020603050405020304" pitchFamily="18" charset="0"/>
                <a:cs typeface="Times New Roman" panose="02020603050405020304" pitchFamily="18" charset="0"/>
              </a:rPr>
              <a:t>Development: </a:t>
            </a:r>
            <a:r>
              <a:rPr lang="en-US" sz="2100" dirty="0">
                <a:latin typeface="Times New Roman" panose="02020603050405020304" pitchFamily="18" charset="0"/>
                <a:cs typeface="Times New Roman" panose="02020603050405020304" pitchFamily="18" charset="0"/>
              </a:rPr>
              <a:t>The process of examining a business situation, designing </a:t>
            </a:r>
            <a:r>
              <a:rPr lang="en-US" sz="2100" dirty="0" smtClean="0">
                <a:latin typeface="Times New Roman" panose="02020603050405020304" pitchFamily="18" charset="0"/>
                <a:cs typeface="Times New Roman" panose="02020603050405020304" pitchFamily="18" charset="0"/>
              </a:rPr>
              <a:t>a system </a:t>
            </a:r>
            <a:r>
              <a:rPr lang="en-US" sz="2100" dirty="0">
                <a:latin typeface="Times New Roman" panose="02020603050405020304" pitchFamily="18" charset="0"/>
                <a:cs typeface="Times New Roman" panose="02020603050405020304" pitchFamily="18" charset="0"/>
              </a:rPr>
              <a:t>solution to improve that situation, and acquiring the human, financial, </a:t>
            </a:r>
            <a:r>
              <a:rPr lang="en-US" sz="2100" dirty="0" smtClean="0">
                <a:latin typeface="Times New Roman" panose="02020603050405020304" pitchFamily="18" charset="0"/>
                <a:cs typeface="Times New Roman" panose="02020603050405020304" pitchFamily="18" charset="0"/>
              </a:rPr>
              <a:t>and information </a:t>
            </a:r>
            <a:r>
              <a:rPr lang="en-US" sz="2100" dirty="0">
                <a:latin typeface="Times New Roman" panose="02020603050405020304" pitchFamily="18" charset="0"/>
                <a:cs typeface="Times New Roman" panose="02020603050405020304" pitchFamily="18" charset="0"/>
              </a:rPr>
              <a:t>technology resources needed to develop and implement the </a:t>
            </a:r>
            <a:r>
              <a:rPr lang="en-US" sz="2100" dirty="0" smtClean="0">
                <a:latin typeface="Times New Roman" panose="02020603050405020304" pitchFamily="18" charset="0"/>
                <a:cs typeface="Times New Roman" panose="02020603050405020304" pitchFamily="18" charset="0"/>
              </a:rPr>
              <a:t>solution</a:t>
            </a:r>
            <a:r>
              <a:rPr lang="en-US" sz="2100" dirty="0">
                <a:latin typeface="Times New Roman" panose="02020603050405020304" pitchFamily="18" charset="0"/>
                <a:cs typeface="Times New Roman" panose="02020603050405020304" pitchFamily="18" charset="0"/>
              </a:rPr>
              <a:t>.</a:t>
            </a:r>
          </a:p>
          <a:p>
            <a:pPr marL="900113" algn="just">
              <a:lnSpc>
                <a:spcPct val="150000"/>
              </a:lnSpc>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Project </a:t>
            </a:r>
            <a:r>
              <a:rPr lang="en-US" sz="2100" b="1" i="1" dirty="0">
                <a:latin typeface="Times New Roman" panose="02020603050405020304" pitchFamily="18" charset="0"/>
                <a:cs typeface="Times New Roman" panose="02020603050405020304" pitchFamily="18" charset="0"/>
              </a:rPr>
              <a:t>Management: </a:t>
            </a:r>
            <a:r>
              <a:rPr lang="en-US" sz="2100" dirty="0">
                <a:latin typeface="Times New Roman" panose="02020603050405020304" pitchFamily="18" charset="0"/>
                <a:cs typeface="Times New Roman" panose="02020603050405020304" pitchFamily="18" charset="0"/>
              </a:rPr>
              <a:t>The process of planning, organizing, integrating, </a:t>
            </a:r>
            <a:r>
              <a:rPr lang="en-US" sz="2100" dirty="0" smtClean="0">
                <a:latin typeface="Times New Roman" panose="02020603050405020304" pitchFamily="18" charset="0"/>
                <a:cs typeface="Times New Roman" panose="02020603050405020304" pitchFamily="18" charset="0"/>
              </a:rPr>
              <a:t>and overseeing </a:t>
            </a:r>
            <a:r>
              <a:rPr lang="en-US" sz="2100" dirty="0">
                <a:latin typeface="Times New Roman" panose="02020603050405020304" pitchFamily="18" charset="0"/>
                <a:cs typeface="Times New Roman" panose="02020603050405020304" pitchFamily="18" charset="0"/>
              </a:rPr>
              <a:t>the development of an IT application to ensure that the project’s </a:t>
            </a:r>
            <a:r>
              <a:rPr lang="en-US" sz="2100" dirty="0" smtClean="0">
                <a:latin typeface="Times New Roman" panose="02020603050405020304" pitchFamily="18" charset="0"/>
                <a:cs typeface="Times New Roman" panose="02020603050405020304" pitchFamily="18" charset="0"/>
              </a:rPr>
              <a:t>objectives are </a:t>
            </a:r>
            <a:r>
              <a:rPr lang="en-US" sz="2100" dirty="0">
                <a:latin typeface="Times New Roman" panose="02020603050405020304" pitchFamily="18" charset="0"/>
                <a:cs typeface="Times New Roman" panose="02020603050405020304" pitchFamily="18" charset="0"/>
              </a:rPr>
              <a:t>achieved and the system is implemented according to </a:t>
            </a:r>
            <a:r>
              <a:rPr lang="en-US" sz="2100" dirty="0" smtClean="0">
                <a:latin typeface="Times New Roman" panose="02020603050405020304" pitchFamily="18" charset="0"/>
                <a:cs typeface="Times New Roman" panose="02020603050405020304" pitchFamily="18" charset="0"/>
              </a:rPr>
              <a:t>expectations. </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63360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t>PROJECT PROPOSAL</a:t>
            </a:r>
            <a:endParaRPr lang="en-US" sz="4000" b="1" dirty="0"/>
          </a:p>
        </p:txBody>
      </p:sp>
      <p:sp>
        <p:nvSpPr>
          <p:cNvPr id="5" name="Rectangle 3"/>
          <p:cNvSpPr txBox="1">
            <a:spLocks noChangeArrowheads="1"/>
          </p:cNvSpPr>
          <p:nvPr/>
        </p:nvSpPr>
        <p:spPr bwMode="auto">
          <a:xfrm>
            <a:off x="457200" y="1484785"/>
            <a:ext cx="8064896"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100" b="1" i="1" dirty="0" smtClean="0">
                <a:latin typeface="Times New Roman" panose="02020603050405020304" pitchFamily="18" charset="0"/>
                <a:cs typeface="Times New Roman" panose="02020603050405020304" pitchFamily="18" charset="0"/>
              </a:rPr>
              <a:t>Project </a:t>
            </a:r>
            <a:r>
              <a:rPr lang="en-US" sz="2100" b="1" i="1" dirty="0">
                <a:latin typeface="Times New Roman" panose="02020603050405020304" pitchFamily="18" charset="0"/>
                <a:cs typeface="Times New Roman" panose="02020603050405020304" pitchFamily="18" charset="0"/>
              </a:rPr>
              <a:t>Proposal: </a:t>
            </a:r>
            <a:r>
              <a:rPr lang="en-US" sz="2100" dirty="0">
                <a:latin typeface="Times New Roman" panose="02020603050405020304" pitchFamily="18" charset="0"/>
                <a:cs typeface="Times New Roman" panose="02020603050405020304" pitchFamily="18" charset="0"/>
              </a:rPr>
              <a:t>A proposal for a systems project prepared by users or </a:t>
            </a:r>
            <a:r>
              <a:rPr lang="en-US" sz="2100" dirty="0" smtClean="0">
                <a:latin typeface="Times New Roman" panose="02020603050405020304" pitchFamily="18" charset="0"/>
                <a:cs typeface="Times New Roman" panose="02020603050405020304" pitchFamily="18" charset="0"/>
              </a:rPr>
              <a:t>systems analysts </a:t>
            </a:r>
            <a:r>
              <a:rPr lang="en-US" sz="2100" dirty="0">
                <a:latin typeface="Times New Roman" panose="02020603050405020304" pitchFamily="18" charset="0"/>
                <a:cs typeface="Times New Roman" panose="02020603050405020304" pitchFamily="18" charset="0"/>
              </a:rPr>
              <a:t>and submitted to a steering committee for approval.</a:t>
            </a:r>
          </a:p>
          <a:p>
            <a:pPr algn="just">
              <a:lnSpc>
                <a:spcPct val="200000"/>
              </a:lnSpc>
            </a:pPr>
            <a:r>
              <a:rPr lang="en-US" sz="2100" dirty="0">
                <a:latin typeface="Times New Roman" panose="02020603050405020304" pitchFamily="18" charset="0"/>
                <a:cs typeface="Times New Roman" panose="02020603050405020304" pitchFamily="18" charset="0"/>
              </a:rPr>
              <a:t>• </a:t>
            </a:r>
            <a:r>
              <a:rPr lang="en-US" sz="2100" b="1" dirty="0">
                <a:latin typeface="Times New Roman" panose="02020603050405020304" pitchFamily="18" charset="0"/>
                <a:cs typeface="Times New Roman" panose="02020603050405020304" pitchFamily="18" charset="0"/>
              </a:rPr>
              <a:t>Steering Committee Review</a:t>
            </a:r>
          </a:p>
          <a:p>
            <a:pPr marL="717550" algn="just">
              <a:lnSpc>
                <a:spcPct val="200000"/>
              </a:lnSpc>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Steering </a:t>
            </a:r>
            <a:r>
              <a:rPr lang="en-US" sz="2100" b="1" i="1" dirty="0">
                <a:latin typeface="Times New Roman" panose="02020603050405020304" pitchFamily="18" charset="0"/>
                <a:cs typeface="Times New Roman" panose="02020603050405020304" pitchFamily="18" charset="0"/>
              </a:rPr>
              <a:t>Committee: </a:t>
            </a:r>
            <a:r>
              <a:rPr lang="en-US" sz="2100" dirty="0">
                <a:latin typeface="Times New Roman" panose="02020603050405020304" pitchFamily="18" charset="0"/>
                <a:cs typeface="Times New Roman" panose="02020603050405020304" pitchFamily="18" charset="0"/>
              </a:rPr>
              <a:t>A group of people from various functional areas of </a:t>
            </a:r>
            <a:r>
              <a:rPr lang="en-US" sz="2100" dirty="0" smtClean="0">
                <a:latin typeface="Times New Roman" panose="02020603050405020304" pitchFamily="18" charset="0"/>
                <a:cs typeface="Times New Roman" panose="02020603050405020304" pitchFamily="18" charset="0"/>
              </a:rPr>
              <a:t>a business </a:t>
            </a:r>
            <a:r>
              <a:rPr lang="en-US" sz="2100" dirty="0">
                <a:latin typeface="Times New Roman" panose="02020603050405020304" pitchFamily="18" charset="0"/>
                <a:cs typeface="Times New Roman" panose="02020603050405020304" pitchFamily="18" charset="0"/>
              </a:rPr>
              <a:t>that determines whether a systems development project proposal </a:t>
            </a:r>
            <a:r>
              <a:rPr lang="en-US" sz="2100" dirty="0" smtClean="0">
                <a:latin typeface="Times New Roman" panose="02020603050405020304" pitchFamily="18" charset="0"/>
                <a:cs typeface="Times New Roman" panose="02020603050405020304" pitchFamily="18" charset="0"/>
              </a:rPr>
              <a:t>is desirable </a:t>
            </a:r>
            <a:r>
              <a:rPr lang="en-US" sz="2100" dirty="0">
                <a:latin typeface="Times New Roman" panose="02020603050405020304" pitchFamily="18" charset="0"/>
                <a:cs typeface="Times New Roman" panose="02020603050405020304" pitchFamily="18" charset="0"/>
              </a:rPr>
              <a:t>and should be pursued.</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0032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1_MIT809-Topic1</Template>
  <TotalTime>5024</TotalTime>
  <Words>1150</Words>
  <Application>Microsoft Office PowerPoint</Application>
  <PresentationFormat>On-screen Show (4:3)</PresentationFormat>
  <Paragraphs>120</Paragraphs>
  <Slides>18</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ＭＳ Ｐゴシック</vt:lpstr>
      <vt:lpstr>ＭＳ Ｐゴシック</vt:lpstr>
      <vt:lpstr>Arial</vt:lpstr>
      <vt:lpstr>Comic Sans MS</vt:lpstr>
      <vt:lpstr>Garamond</vt:lpstr>
      <vt:lpstr>Times New Roman</vt:lpstr>
      <vt:lpstr>Verdana</vt:lpstr>
      <vt:lpstr>Wingdings</vt:lpstr>
      <vt:lpstr>Level</vt:lpstr>
      <vt:lpstr>PowerPoint Presentation</vt:lpstr>
      <vt:lpstr>PowerPoint Presentation</vt:lpstr>
      <vt:lpstr>Course Schedule </vt:lpstr>
      <vt:lpstr>Learning Outcomes</vt:lpstr>
      <vt:lpstr>Course Contents</vt:lpstr>
      <vt:lpstr>Course Module</vt:lpstr>
      <vt:lpstr>Course Outline</vt:lpstr>
      <vt:lpstr>Books and References</vt:lpstr>
      <vt:lpstr>Pre-Requisite </vt:lpstr>
      <vt:lpstr>Course Evaluation</vt:lpstr>
      <vt:lpstr>PowerPoint Presentation</vt:lpstr>
      <vt:lpstr>Presentation Outline  </vt:lpstr>
      <vt:lpstr>INFORMATION TECHNOLOGY APPLICATIONS </vt:lpstr>
      <vt:lpstr>CHARACTERISTICS OF PERSONAL AND ENTERPRISE SYSTEM </vt:lpstr>
      <vt:lpstr>IMPACT OF IT APPLICATIONS</vt:lpstr>
      <vt:lpstr>Relationship between an activity and resources in Productivity</vt:lpstr>
      <vt:lpstr>ENTERPRISE SYSTEMS PROJECT</vt:lpstr>
      <vt:lpstr>PROJECT PROPOSAL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CISE 301</dc:subject>
  <dc:creator>Administrator</dc:creator>
  <cp:lastModifiedBy>Administrator</cp:lastModifiedBy>
  <cp:revision>599</cp:revision>
  <dcterms:created xsi:type="dcterms:W3CDTF">2022-01-09T18:11:19Z</dcterms:created>
  <dcterms:modified xsi:type="dcterms:W3CDTF">2026-02-02T09:20:39Z</dcterms:modified>
</cp:coreProperties>
</file>