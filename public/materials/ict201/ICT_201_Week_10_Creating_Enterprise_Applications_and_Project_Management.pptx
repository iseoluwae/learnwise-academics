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7"/>
  </p:notesMasterIdLst>
  <p:handoutMasterIdLst>
    <p:handoutMasterId r:id="rId28"/>
  </p:handoutMasterIdLst>
  <p:sldIdLst>
    <p:sldId id="256" r:id="rId2"/>
    <p:sldId id="526" r:id="rId3"/>
    <p:sldId id="527" r:id="rId4"/>
    <p:sldId id="879" r:id="rId5"/>
    <p:sldId id="519" r:id="rId6"/>
    <p:sldId id="878" r:id="rId7"/>
    <p:sldId id="915" r:id="rId8"/>
    <p:sldId id="880" r:id="rId9"/>
    <p:sldId id="514" r:id="rId10"/>
    <p:sldId id="565" r:id="rId11"/>
    <p:sldId id="1106" r:id="rId12"/>
    <p:sldId id="1107" r:id="rId13"/>
    <p:sldId id="1092" r:id="rId14"/>
    <p:sldId id="1108" r:id="rId15"/>
    <p:sldId id="1109" r:id="rId16"/>
    <p:sldId id="1110" r:id="rId17"/>
    <p:sldId id="1111" r:id="rId18"/>
    <p:sldId id="1112" r:id="rId19"/>
    <p:sldId id="1113" r:id="rId20"/>
    <p:sldId id="1114" r:id="rId21"/>
    <p:sldId id="1115" r:id="rId22"/>
    <p:sldId id="1116" r:id="rId23"/>
    <p:sldId id="1117" r:id="rId24"/>
    <p:sldId id="1118" r:id="rId25"/>
    <p:sldId id="1119" r:id="rId26"/>
  </p:sldIdLst>
  <p:sldSz cx="9144000" cy="6858000" type="screen4x3"/>
  <p:notesSz cx="7315200" cy="9601200"/>
  <p:custDataLst>
    <p:tags r:id="rId29"/>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2/2/2026</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2/2/2026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2/2/2026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2/2/2026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2/2/2026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2/2/2026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2/2/2026</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10</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12976"/>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000" b="1" dirty="0" smtClean="0">
                <a:latin typeface="Comic Sans MS" panose="030F0702030302020204" pitchFamily="66" charset="0"/>
              </a:rPr>
              <a:t>CREATING ENTERPRISE APPLICATIONS AND PROJECT MANAGEMENT</a:t>
            </a:r>
            <a:endParaRPr lang="en-US" sz="3000" b="1" dirty="0">
              <a:latin typeface="Comic Sans MS" panose="030F0702030302020204" pitchFamily="66" charset="0"/>
            </a:endParaRPr>
          </a:p>
        </p:txBody>
      </p:sp>
    </p:spTree>
    <p:extLst>
      <p:ext uri="{BB962C8B-B14F-4D97-AF65-F5344CB8AC3E}">
        <p14:creationId xmlns:p14="http://schemas.microsoft.com/office/powerpoint/2010/main" val="7914089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457200" y="1484784"/>
            <a:ext cx="793122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q"/>
            </a:pPr>
            <a:r>
              <a:rPr lang="en-US" sz="2100" b="1" dirty="0">
                <a:latin typeface="Times New Roman" panose="02020603050405020304" pitchFamily="18" charset="0"/>
                <a:cs typeface="Times New Roman" panose="02020603050405020304" pitchFamily="18" charset="0"/>
              </a:rPr>
              <a:t>Developing Open Shared Systems</a:t>
            </a:r>
          </a:p>
          <a:p>
            <a:pPr>
              <a:lnSpc>
                <a:spcPct val="200000"/>
              </a:lnSpc>
              <a:buFont typeface="Wingdings" panose="05000000000000000000" pitchFamily="2" charset="2"/>
              <a:buChar char="q"/>
            </a:pPr>
            <a:r>
              <a:rPr lang="en-US" sz="2100" b="1" dirty="0">
                <a:latin typeface="Times New Roman" panose="02020603050405020304" pitchFamily="18" charset="0"/>
                <a:cs typeface="Times New Roman" panose="02020603050405020304" pitchFamily="18" charset="0"/>
              </a:rPr>
              <a:t>Development Alternatives</a:t>
            </a:r>
          </a:p>
          <a:p>
            <a:pPr>
              <a:lnSpc>
                <a:spcPct val="200000"/>
              </a:lnSpc>
              <a:buFont typeface="Wingdings" panose="05000000000000000000" pitchFamily="2" charset="2"/>
              <a:buChar char="q"/>
            </a:pPr>
            <a:r>
              <a:rPr lang="en-US" sz="2100" b="1" dirty="0">
                <a:latin typeface="Times New Roman" panose="02020603050405020304" pitchFamily="18" charset="0"/>
                <a:cs typeface="Times New Roman" panose="02020603050405020304" pitchFamily="18" charset="0"/>
              </a:rPr>
              <a:t>Open Systems for Sharing</a:t>
            </a:r>
          </a:p>
          <a:p>
            <a:pPr>
              <a:lnSpc>
                <a:spcPct val="200000"/>
              </a:lnSpc>
              <a:buFont typeface="Wingdings" panose="05000000000000000000" pitchFamily="2" charset="2"/>
              <a:buChar char="q"/>
            </a:pPr>
            <a:r>
              <a:rPr lang="en-US" sz="2100" b="1" dirty="0">
                <a:latin typeface="Times New Roman" panose="02020603050405020304" pitchFamily="18" charset="0"/>
                <a:cs typeface="Times New Roman" panose="02020603050405020304" pitchFamily="18" charset="0"/>
              </a:rPr>
              <a:t>Shifting </a:t>
            </a:r>
            <a:r>
              <a:rPr lang="en-US" sz="2100" b="1" dirty="0" smtClean="0">
                <a:latin typeface="Times New Roman" panose="02020603050405020304" pitchFamily="18" charset="0"/>
                <a:cs typeface="Times New Roman" panose="02020603050405020304" pitchFamily="18" charset="0"/>
              </a:rPr>
              <a:t>Development</a:t>
            </a:r>
            <a:endParaRPr lang="en-US"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46967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latin typeface="Times New Roman" panose="02020603050405020304" pitchFamily="18" charset="0"/>
                <a:cs typeface="Times New Roman" panose="02020603050405020304" pitchFamily="18" charset="0"/>
              </a:rPr>
              <a:t>DEVELOPING OPEN SHARED SYSTEMS</a:t>
            </a:r>
          </a:p>
        </p:txBody>
      </p:sp>
      <p:sp>
        <p:nvSpPr>
          <p:cNvPr id="5" name="Rectangle 3"/>
          <p:cNvSpPr txBox="1">
            <a:spLocks noChangeArrowheads="1"/>
          </p:cNvSpPr>
          <p:nvPr/>
        </p:nvSpPr>
        <p:spPr bwMode="auto">
          <a:xfrm>
            <a:off x="457200" y="1484784"/>
            <a:ext cx="807524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In </a:t>
            </a:r>
            <a:r>
              <a:rPr lang="en-US" sz="2100" dirty="0">
                <a:latin typeface="Times New Roman" panose="02020603050405020304" pitchFamily="18" charset="0"/>
                <a:cs typeface="Times New Roman" panose="02020603050405020304" pitchFamily="18" charset="0"/>
              </a:rPr>
              <a:t>an enterprise system, two or more users share computers, communication technology, </a:t>
            </a:r>
            <a:r>
              <a:rPr lang="en-US" sz="2100" dirty="0" smtClean="0">
                <a:latin typeface="Times New Roman" panose="02020603050405020304" pitchFamily="18" charset="0"/>
                <a:cs typeface="Times New Roman" panose="02020603050405020304" pitchFamily="18" charset="0"/>
              </a:rPr>
              <a:t>and applications</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introduction of an enterprise system into an </a:t>
            </a:r>
            <a:r>
              <a:rPr lang="en-US" sz="2100" dirty="0" smtClean="0">
                <a:latin typeface="Times New Roman" panose="02020603050405020304" pitchFamily="18" charset="0"/>
                <a:cs typeface="Times New Roman" panose="02020603050405020304" pitchFamily="18" charset="0"/>
              </a:rPr>
              <a:t>organization </a:t>
            </a:r>
            <a:r>
              <a:rPr lang="en-US" sz="2100" dirty="0">
                <a:latin typeface="Times New Roman" panose="02020603050405020304" pitchFamily="18" charset="0"/>
                <a:cs typeface="Times New Roman" panose="02020603050405020304" pitchFamily="18" charset="0"/>
              </a:rPr>
              <a:t>affects </a:t>
            </a:r>
            <a:r>
              <a:rPr lang="en-US" sz="2100" dirty="0" smtClean="0">
                <a:latin typeface="Times New Roman" panose="02020603050405020304" pitchFamily="18" charset="0"/>
                <a:cs typeface="Times New Roman" panose="02020603050405020304" pitchFamily="18" charset="0"/>
              </a:rPr>
              <a:t>everyone who </a:t>
            </a:r>
            <a:r>
              <a:rPr lang="en-US" sz="2100" dirty="0">
                <a:latin typeface="Times New Roman" panose="02020603050405020304" pitchFamily="18" charset="0"/>
                <a:cs typeface="Times New Roman" panose="02020603050405020304" pitchFamily="18" charset="0"/>
              </a:rPr>
              <a:t>interacts with the application or receives information generated by the system.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For this reason </a:t>
            </a:r>
            <a:r>
              <a:rPr lang="en-US" sz="2100" dirty="0">
                <a:latin typeface="Times New Roman" panose="02020603050405020304" pitchFamily="18" charset="0"/>
                <a:cs typeface="Times New Roman" panose="02020603050405020304" pitchFamily="18" charset="0"/>
              </a:rPr>
              <a:t>enterprise systems are not developed by individual staff members, but rather by </a:t>
            </a:r>
            <a:r>
              <a:rPr lang="en-US" sz="2100" dirty="0" smtClean="0">
                <a:latin typeface="Times New Roman" panose="02020603050405020304" pitchFamily="18" charset="0"/>
                <a:cs typeface="Times New Roman" panose="02020603050405020304" pitchFamily="18" charset="0"/>
              </a:rPr>
              <a:t>the organizations </a:t>
            </a:r>
            <a:r>
              <a:rPr lang="en-US" sz="2100" dirty="0">
                <a:latin typeface="Times New Roman" panose="02020603050405020304" pitchFamily="18" charset="0"/>
                <a:cs typeface="Times New Roman" panose="02020603050405020304" pitchFamily="18" charset="0"/>
              </a:rPr>
              <a:t>information group known as the Management Information System (MIS</a:t>
            </a:r>
            <a:r>
              <a:rPr lang="en-US" sz="2100" dirty="0" smtClean="0">
                <a:latin typeface="Times New Roman" panose="02020603050405020304" pitchFamily="18" charset="0"/>
                <a:cs typeface="Times New Roman" panose="02020603050405020304" pitchFamily="18" charset="0"/>
              </a:rPr>
              <a:t>) department</a:t>
            </a:r>
            <a:r>
              <a:rPr lang="en-US" sz="2100" dirty="0">
                <a:latin typeface="Times New Roman" panose="02020603050405020304" pitchFamily="18" charset="0"/>
                <a:cs typeface="Times New Roman" panose="02020603050405020304" pitchFamily="18" charset="0"/>
              </a:rPr>
              <a:t>.</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867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DEVELOPMENT ALTERNATIVES</a:t>
            </a:r>
          </a:p>
        </p:txBody>
      </p:sp>
      <p:sp>
        <p:nvSpPr>
          <p:cNvPr id="5" name="Rectangle 3"/>
          <p:cNvSpPr txBox="1">
            <a:spLocks noChangeArrowheads="1"/>
          </p:cNvSpPr>
          <p:nvPr/>
        </p:nvSpPr>
        <p:spPr bwMode="auto">
          <a:xfrm>
            <a:off x="457200" y="1484784"/>
            <a:ext cx="807524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information technology group can take any of the three approaches to developing </a:t>
            </a:r>
            <a:r>
              <a:rPr lang="en-US" sz="2300" dirty="0" smtClean="0">
                <a:latin typeface="Times New Roman" panose="02020603050405020304" pitchFamily="18" charset="0"/>
                <a:cs typeface="Times New Roman" panose="02020603050405020304" pitchFamily="18" charset="0"/>
              </a:rPr>
              <a:t>an application</a:t>
            </a:r>
            <a:r>
              <a:rPr lang="en-US" sz="2300" dirty="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Build </a:t>
            </a:r>
            <a:r>
              <a:rPr lang="en-US" sz="2300" dirty="0">
                <a:latin typeface="Times New Roman" panose="02020603050405020304" pitchFamily="18" charset="0"/>
                <a:cs typeface="Times New Roman" panose="02020603050405020304" pitchFamily="18" charset="0"/>
              </a:rPr>
              <a:t>the application itself.</a:t>
            </a:r>
          </a:p>
          <a:p>
            <a:pPr marL="900113">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Purchase </a:t>
            </a:r>
            <a:r>
              <a:rPr lang="en-US" sz="2300" dirty="0">
                <a:latin typeface="Times New Roman" panose="02020603050405020304" pitchFamily="18" charset="0"/>
                <a:cs typeface="Times New Roman" panose="02020603050405020304" pitchFamily="18" charset="0"/>
              </a:rPr>
              <a:t>a prewritten application.</a:t>
            </a:r>
          </a:p>
          <a:p>
            <a:pPr marL="900113">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Contract </a:t>
            </a:r>
            <a:r>
              <a:rPr lang="en-US" sz="2300" dirty="0">
                <a:latin typeface="Times New Roman" panose="02020603050405020304" pitchFamily="18" charset="0"/>
                <a:cs typeface="Times New Roman" panose="02020603050405020304" pitchFamily="18" charset="0"/>
              </a:rPr>
              <a:t>out the application development.</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0317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OPEN SYSTEMS FOR SHARING</a:t>
            </a:r>
          </a:p>
        </p:txBody>
      </p:sp>
      <p:sp>
        <p:nvSpPr>
          <p:cNvPr id="5" name="Rectangle 3"/>
          <p:cNvSpPr txBox="1">
            <a:spLocks noChangeArrowheads="1"/>
          </p:cNvSpPr>
          <p:nvPr/>
        </p:nvSpPr>
        <p:spPr bwMode="auto">
          <a:xfrm>
            <a:off x="457200" y="1484784"/>
            <a:ext cx="822960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smtClean="0">
                <a:latin typeface="Times New Roman" panose="02020603050405020304" pitchFamily="18" charset="0"/>
                <a:cs typeface="Times New Roman" panose="02020603050405020304" pitchFamily="18" charset="0"/>
              </a:rPr>
              <a:t>Open </a:t>
            </a:r>
            <a:r>
              <a:rPr lang="en-US" sz="2300" b="1" i="1" dirty="0">
                <a:latin typeface="Times New Roman" panose="02020603050405020304" pitchFamily="18" charset="0"/>
                <a:cs typeface="Times New Roman" panose="02020603050405020304" pitchFamily="18" charset="0"/>
              </a:rPr>
              <a:t>System: </a:t>
            </a:r>
            <a:r>
              <a:rPr lang="en-US" sz="2300" dirty="0">
                <a:latin typeface="Times New Roman" panose="02020603050405020304" pitchFamily="18" charset="0"/>
                <a:cs typeface="Times New Roman" panose="02020603050405020304" pitchFamily="18" charset="0"/>
              </a:rPr>
              <a:t>A software system that runs on different computer </a:t>
            </a:r>
            <a:r>
              <a:rPr lang="en-US" sz="2300" dirty="0" smtClean="0">
                <a:latin typeface="Times New Roman" panose="02020603050405020304" pitchFamily="18" charset="0"/>
                <a:cs typeface="Times New Roman" panose="02020603050405020304" pitchFamily="18" charset="0"/>
              </a:rPr>
              <a:t>and communications </a:t>
            </a:r>
            <a:r>
              <a:rPr lang="en-US" sz="2300" dirty="0">
                <a:latin typeface="Times New Roman" panose="02020603050405020304" pitchFamily="18" charset="0"/>
                <a:cs typeface="Times New Roman" panose="02020603050405020304" pitchFamily="18" charset="0"/>
              </a:rPr>
              <a:t>hardware.</a:t>
            </a:r>
          </a:p>
          <a:p>
            <a:pPr>
              <a:lnSpc>
                <a:spcPct val="200000"/>
              </a:lnSpc>
            </a:pPr>
            <a:r>
              <a:rPr lang="en-US" sz="2300" b="1" i="1" dirty="0" smtClean="0">
                <a:latin typeface="Times New Roman" panose="02020603050405020304" pitchFamily="18" charset="0"/>
                <a:cs typeface="Times New Roman" panose="02020603050405020304" pitchFamily="18" charset="0"/>
              </a:rPr>
              <a:t>Interoperability</a:t>
            </a:r>
            <a:r>
              <a:rPr lang="en-US" sz="2300" b="1"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The perfect exchange of data and information in all forms (data</a:t>
            </a:r>
            <a:r>
              <a:rPr lang="en-US" sz="2300" dirty="0" smtClean="0">
                <a:latin typeface="Times New Roman" panose="02020603050405020304" pitchFamily="18" charset="0"/>
                <a:cs typeface="Times New Roman" panose="02020603050405020304" pitchFamily="18" charset="0"/>
              </a:rPr>
              <a:t>, text</a:t>
            </a:r>
            <a:r>
              <a:rPr lang="en-US" sz="2300" dirty="0">
                <a:latin typeface="Times New Roman" panose="02020603050405020304" pitchFamily="18" charset="0"/>
                <a:cs typeface="Times New Roman" panose="02020603050405020304" pitchFamily="18" charset="0"/>
              </a:rPr>
              <a:t>, sound, and image, including animation) between the individual components of </a:t>
            </a:r>
            <a:r>
              <a:rPr lang="en-US" sz="2300" dirty="0" smtClean="0">
                <a:latin typeface="Times New Roman" panose="02020603050405020304" pitchFamily="18" charset="0"/>
                <a:cs typeface="Times New Roman" panose="02020603050405020304" pitchFamily="18" charset="0"/>
              </a:rPr>
              <a:t>an application </a:t>
            </a:r>
            <a:r>
              <a:rPr lang="en-US" sz="2300" dirty="0">
                <a:latin typeface="Times New Roman" panose="02020603050405020304" pitchFamily="18" charset="0"/>
                <a:cs typeface="Times New Roman" panose="02020603050405020304" pitchFamily="18" charset="0"/>
              </a:rPr>
              <a:t>(hardware, software, and network).</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97202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SHIFTING DEVELOPMENT</a:t>
            </a:r>
          </a:p>
        </p:txBody>
      </p:sp>
      <p:sp>
        <p:nvSpPr>
          <p:cNvPr id="5" name="Rectangle 3"/>
          <p:cNvSpPr txBox="1">
            <a:spLocks noChangeArrowheads="1"/>
          </p:cNvSpPr>
          <p:nvPr/>
        </p:nvSpPr>
        <p:spPr bwMode="auto">
          <a:xfrm>
            <a:off x="457200" y="1484784"/>
            <a:ext cx="822960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smtClean="0">
                <a:latin typeface="Times New Roman" panose="02020603050405020304" pitchFamily="18" charset="0"/>
                <a:cs typeface="Times New Roman" panose="02020603050405020304" pitchFamily="18" charset="0"/>
              </a:rPr>
              <a:t>Craft </a:t>
            </a:r>
            <a:r>
              <a:rPr lang="en-US" sz="2300" dirty="0">
                <a:latin typeface="Times New Roman" panose="02020603050405020304" pitchFamily="18" charset="0"/>
                <a:cs typeface="Times New Roman" panose="02020603050405020304" pitchFamily="18" charset="0"/>
              </a:rPr>
              <a:t>Approach</a:t>
            </a:r>
          </a:p>
          <a:p>
            <a:pPr>
              <a:lnSpc>
                <a:spcPct val="200000"/>
              </a:lnSpc>
            </a:pPr>
            <a:r>
              <a:rPr lang="en-US" sz="2300" dirty="0" smtClean="0">
                <a:latin typeface="Times New Roman" panose="02020603050405020304" pitchFamily="18" charset="0"/>
                <a:cs typeface="Times New Roman" panose="02020603050405020304" pitchFamily="18" charset="0"/>
              </a:rPr>
              <a:t>Assembly </a:t>
            </a:r>
            <a:r>
              <a:rPr lang="en-US" sz="2300" dirty="0">
                <a:latin typeface="Times New Roman" panose="02020603050405020304" pitchFamily="18" charset="0"/>
                <a:cs typeface="Times New Roman" panose="02020603050405020304" pitchFamily="18" charset="0"/>
              </a:rPr>
              <a:t>Approach</a:t>
            </a:r>
          </a:p>
          <a:p>
            <a:pPr>
              <a:lnSpc>
                <a:spcPct val="200000"/>
              </a:lnSpc>
            </a:pPr>
            <a:r>
              <a:rPr lang="en-US" sz="2300" i="1" dirty="0" smtClean="0">
                <a:latin typeface="Times New Roman" panose="02020603050405020304" pitchFamily="18" charset="0"/>
                <a:cs typeface="Times New Roman" panose="02020603050405020304" pitchFamily="18" charset="0"/>
              </a:rPr>
              <a:t>Object</a:t>
            </a:r>
            <a:r>
              <a:rPr lang="en-US" sz="2300"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 component that contains data about itself and how it is to be processed.</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760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PROJECT MANAGEMENT</a:t>
            </a:r>
          </a:p>
        </p:txBody>
      </p:sp>
      <p:sp>
        <p:nvSpPr>
          <p:cNvPr id="5" name="Rectangle 3"/>
          <p:cNvSpPr txBox="1">
            <a:spLocks noChangeArrowheads="1"/>
          </p:cNvSpPr>
          <p:nvPr/>
        </p:nvSpPr>
        <p:spPr bwMode="auto">
          <a:xfrm>
            <a:off x="457200" y="1484784"/>
            <a:ext cx="822960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a:latin typeface="Times New Roman" panose="02020603050405020304" pitchFamily="18" charset="0"/>
                <a:cs typeface="Times New Roman" panose="02020603050405020304" pitchFamily="18" charset="0"/>
              </a:rPr>
              <a:t>Project management is the art of matching a project's goals, tasks, and resources </a:t>
            </a:r>
            <a:r>
              <a:rPr lang="en-US" sz="2100" dirty="0" smtClean="0">
                <a:latin typeface="Times New Roman" panose="02020603050405020304" pitchFamily="18" charset="0"/>
                <a:cs typeface="Times New Roman" panose="02020603050405020304" pitchFamily="18" charset="0"/>
              </a:rPr>
              <a:t>to accomplish </a:t>
            </a:r>
            <a:r>
              <a:rPr lang="en-US" sz="2100" dirty="0">
                <a:latin typeface="Times New Roman" panose="02020603050405020304" pitchFamily="18" charset="0"/>
                <a:cs typeface="Times New Roman" panose="02020603050405020304" pitchFamily="18" charset="0"/>
              </a:rPr>
              <a:t>a goal.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To </a:t>
            </a:r>
            <a:r>
              <a:rPr lang="en-US" sz="2100" dirty="0">
                <a:latin typeface="Times New Roman" panose="02020603050405020304" pitchFamily="18" charset="0"/>
                <a:cs typeface="Times New Roman" panose="02020603050405020304" pitchFamily="18" charset="0"/>
              </a:rPr>
              <a:t>accomplish a goal one need limited time, money, and </a:t>
            </a:r>
            <a:r>
              <a:rPr lang="en-US" sz="2100" dirty="0" smtClean="0">
                <a:latin typeface="Times New Roman" panose="02020603050405020304" pitchFamily="18" charset="0"/>
                <a:cs typeface="Times New Roman" panose="02020603050405020304" pitchFamily="18" charset="0"/>
              </a:rPr>
              <a:t>resources (</a:t>
            </a:r>
            <a:r>
              <a:rPr lang="en-US" sz="2100" dirty="0">
                <a:latin typeface="Times New Roman" panose="02020603050405020304" pitchFamily="18" charset="0"/>
                <a:cs typeface="Times New Roman" panose="02020603050405020304" pitchFamily="18" charset="0"/>
              </a:rPr>
              <a:t>human and machinery).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One </a:t>
            </a:r>
            <a:r>
              <a:rPr lang="en-US" sz="2100" dirty="0">
                <a:latin typeface="Times New Roman" panose="02020603050405020304" pitchFamily="18" charset="0"/>
                <a:cs typeface="Times New Roman" panose="02020603050405020304" pitchFamily="18" charset="0"/>
              </a:rPr>
              <a:t>can think of a project as a process that involves inputs </a:t>
            </a:r>
            <a:r>
              <a:rPr lang="en-US" sz="2100" dirty="0" smtClean="0">
                <a:latin typeface="Times New Roman" panose="02020603050405020304" pitchFamily="18" charset="0"/>
                <a:cs typeface="Times New Roman" panose="02020603050405020304" pitchFamily="18" charset="0"/>
              </a:rPr>
              <a:t>and outputs</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Successful </a:t>
            </a:r>
            <a:r>
              <a:rPr lang="en-US" sz="2100" dirty="0">
                <a:latin typeface="Times New Roman" panose="02020603050405020304" pitchFamily="18" charset="0"/>
                <a:cs typeface="Times New Roman" panose="02020603050405020304" pitchFamily="18" charset="0"/>
              </a:rPr>
              <a:t>projects require doing the right things, with the right tools, and in </a:t>
            </a:r>
            <a:r>
              <a:rPr lang="en-US" sz="2100" dirty="0" smtClean="0">
                <a:latin typeface="Times New Roman" panose="02020603050405020304" pitchFamily="18" charset="0"/>
                <a:cs typeface="Times New Roman" panose="02020603050405020304" pitchFamily="18" charset="0"/>
              </a:rPr>
              <a:t>the right </a:t>
            </a:r>
            <a:r>
              <a:rPr lang="en-US" sz="2100" dirty="0">
                <a:latin typeface="Times New Roman" panose="02020603050405020304" pitchFamily="18" charset="0"/>
                <a:cs typeface="Times New Roman" panose="02020603050405020304" pitchFamily="18" charset="0"/>
              </a:rPr>
              <a:t>way.</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4426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Simple Project Management System</a:t>
            </a:r>
          </a:p>
        </p:txBody>
      </p:sp>
      <p:pic>
        <p:nvPicPr>
          <p:cNvPr id="2" name="Picture 1"/>
          <p:cNvPicPr>
            <a:picLocks noChangeAspect="1"/>
          </p:cNvPicPr>
          <p:nvPr/>
        </p:nvPicPr>
        <p:blipFill>
          <a:blip r:embed="rId2"/>
          <a:stretch>
            <a:fillRect/>
          </a:stretch>
        </p:blipFill>
        <p:spPr>
          <a:xfrm>
            <a:off x="611560" y="1484784"/>
            <a:ext cx="7920879" cy="5256584"/>
          </a:xfrm>
          <a:prstGeom prst="rect">
            <a:avLst/>
          </a:prstGeom>
        </p:spPr>
      </p:pic>
    </p:spTree>
    <p:extLst>
      <p:ext uri="{BB962C8B-B14F-4D97-AF65-F5344CB8AC3E}">
        <p14:creationId xmlns:p14="http://schemas.microsoft.com/office/powerpoint/2010/main" val="25021650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STAGES OF A PROJECT AND HOW TO COMPLETE THEM</a:t>
            </a:r>
          </a:p>
        </p:txBody>
      </p:sp>
      <p:sp>
        <p:nvSpPr>
          <p:cNvPr id="5" name="Rectangle 3"/>
          <p:cNvSpPr txBox="1">
            <a:spLocks noChangeArrowheads="1"/>
          </p:cNvSpPr>
          <p:nvPr/>
        </p:nvSpPr>
        <p:spPr bwMode="auto">
          <a:xfrm>
            <a:off x="457200" y="1484784"/>
            <a:ext cx="8003232"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dirty="0">
                <a:latin typeface="Times New Roman" panose="02020603050405020304" pitchFamily="18" charset="0"/>
                <a:cs typeface="Times New Roman" panose="02020603050405020304" pitchFamily="18" charset="0"/>
              </a:rPr>
              <a:t>Stage 1: Defining the goals of the </a:t>
            </a:r>
            <a:r>
              <a:rPr lang="en-US" sz="2100" b="1" dirty="0" smtClean="0">
                <a:latin typeface="Times New Roman" panose="02020603050405020304" pitchFamily="18" charset="0"/>
                <a:cs typeface="Times New Roman" panose="02020603050405020304" pitchFamily="18" charset="0"/>
              </a:rPr>
              <a:t>project</a:t>
            </a:r>
          </a:p>
          <a:p>
            <a:pPr>
              <a:lnSpc>
                <a:spcPct val="150000"/>
              </a:lnSpc>
            </a:pPr>
            <a:r>
              <a:rPr lang="en-US" sz="2100" b="1" dirty="0">
                <a:latin typeface="Times New Roman" panose="02020603050405020304" pitchFamily="18" charset="0"/>
                <a:cs typeface="Times New Roman" panose="02020603050405020304" pitchFamily="18" charset="0"/>
              </a:rPr>
              <a:t>Stage 2: Define project </a:t>
            </a:r>
            <a:r>
              <a:rPr lang="en-US" sz="2100" b="1" dirty="0" smtClean="0">
                <a:latin typeface="Times New Roman" panose="02020603050405020304" pitchFamily="18" charset="0"/>
                <a:cs typeface="Times New Roman" panose="02020603050405020304" pitchFamily="18" charset="0"/>
              </a:rPr>
              <a:t>tasks/activities</a:t>
            </a:r>
          </a:p>
          <a:p>
            <a:pPr>
              <a:lnSpc>
                <a:spcPct val="150000"/>
              </a:lnSpc>
            </a:pPr>
            <a:r>
              <a:rPr lang="en-US" sz="2100" b="1" dirty="0">
                <a:latin typeface="Times New Roman" panose="02020603050405020304" pitchFamily="18" charset="0"/>
                <a:cs typeface="Times New Roman" panose="02020603050405020304" pitchFamily="18" charset="0"/>
              </a:rPr>
              <a:t>Stage 3: Determine and verify resource </a:t>
            </a:r>
            <a:r>
              <a:rPr lang="en-US" sz="2100" b="1" dirty="0" smtClean="0">
                <a:latin typeface="Times New Roman" panose="02020603050405020304" pitchFamily="18" charset="0"/>
                <a:cs typeface="Times New Roman" panose="02020603050405020304" pitchFamily="18" charset="0"/>
              </a:rPr>
              <a:t>requirements</a:t>
            </a:r>
          </a:p>
          <a:p>
            <a:pPr>
              <a:lnSpc>
                <a:spcPct val="150000"/>
              </a:lnSpc>
            </a:pPr>
            <a:r>
              <a:rPr lang="en-US" sz="2100" b="1" dirty="0">
                <a:latin typeface="Times New Roman" panose="02020603050405020304" pitchFamily="18" charset="0"/>
                <a:cs typeface="Times New Roman" panose="02020603050405020304" pitchFamily="18" charset="0"/>
              </a:rPr>
              <a:t>Stage 4: Identify risks and develop mitigation (backup) </a:t>
            </a:r>
            <a:r>
              <a:rPr lang="en-US" sz="2100" b="1" dirty="0" smtClean="0">
                <a:latin typeface="Times New Roman" panose="02020603050405020304" pitchFamily="18" charset="0"/>
                <a:cs typeface="Times New Roman" panose="02020603050405020304" pitchFamily="18" charset="0"/>
              </a:rPr>
              <a:t>plans</a:t>
            </a:r>
          </a:p>
          <a:p>
            <a:pPr>
              <a:lnSpc>
                <a:spcPct val="150000"/>
              </a:lnSpc>
            </a:pPr>
            <a:r>
              <a:rPr lang="en-US" sz="2100" b="1" dirty="0" smtClean="0">
                <a:latin typeface="Times New Roman" panose="02020603050405020304" pitchFamily="18" charset="0"/>
                <a:cs typeface="Times New Roman" panose="02020603050405020304" pitchFamily="18" charset="0"/>
              </a:rPr>
              <a:t>Stage 5: Develop a schedule</a:t>
            </a:r>
          </a:p>
          <a:p>
            <a:pPr>
              <a:lnSpc>
                <a:spcPct val="150000"/>
              </a:lnSpc>
            </a:pPr>
            <a:r>
              <a:rPr lang="en-US" sz="2100" b="1" dirty="0" smtClean="0">
                <a:latin typeface="Times New Roman" panose="02020603050405020304" pitchFamily="18" charset="0"/>
                <a:cs typeface="Times New Roman" panose="02020603050405020304" pitchFamily="18" charset="0"/>
              </a:rPr>
              <a:t>Stage </a:t>
            </a:r>
            <a:r>
              <a:rPr lang="en-US" sz="2100" b="1" dirty="0">
                <a:latin typeface="Times New Roman" panose="02020603050405020304" pitchFamily="18" charset="0"/>
                <a:cs typeface="Times New Roman" panose="02020603050405020304" pitchFamily="18" charset="0"/>
              </a:rPr>
              <a:t>6: Execute the </a:t>
            </a:r>
            <a:r>
              <a:rPr lang="en-US" sz="2100" b="1" dirty="0" smtClean="0">
                <a:latin typeface="Times New Roman" panose="02020603050405020304" pitchFamily="18" charset="0"/>
                <a:cs typeface="Times New Roman" panose="02020603050405020304" pitchFamily="18" charset="0"/>
              </a:rPr>
              <a:t>schedule</a:t>
            </a:r>
          </a:p>
          <a:p>
            <a:pPr>
              <a:lnSpc>
                <a:spcPct val="150000"/>
              </a:lnSpc>
            </a:pPr>
            <a:r>
              <a:rPr lang="en-US" sz="2100" b="1" dirty="0">
                <a:latin typeface="Times New Roman" panose="02020603050405020304" pitchFamily="18" charset="0"/>
                <a:cs typeface="Times New Roman" panose="02020603050405020304" pitchFamily="18" charset="0"/>
              </a:rPr>
              <a:t>Stage 7: Finish the project and assessing performance</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9093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CONCLUSION</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dirty="0">
                <a:latin typeface="Times New Roman" panose="02020603050405020304" pitchFamily="18" charset="0"/>
                <a:cs typeface="Times New Roman" panose="02020603050405020304" pitchFamily="18" charset="0"/>
              </a:rPr>
              <a:t>Project Management provides the basic skills and knowledge needed to effectively manage </a:t>
            </a:r>
            <a:r>
              <a:rPr lang="en-US" sz="2200" dirty="0" smtClean="0">
                <a:latin typeface="Times New Roman" panose="02020603050405020304" pitchFamily="18" charset="0"/>
                <a:cs typeface="Times New Roman" panose="02020603050405020304" pitchFamily="18" charset="0"/>
              </a:rPr>
              <a:t>a group </a:t>
            </a:r>
            <a:r>
              <a:rPr lang="en-US" sz="2200" dirty="0">
                <a:latin typeface="Times New Roman" panose="02020603050405020304" pitchFamily="18" charset="0"/>
                <a:cs typeface="Times New Roman" panose="02020603050405020304" pitchFamily="18" charset="0"/>
              </a:rPr>
              <a:t>project through project scheduling, understanding and handling risk. </a:t>
            </a:r>
            <a:endParaRPr lang="en-US" sz="2200" dirty="0" smtClean="0">
              <a:latin typeface="Times New Roman" panose="02020603050405020304" pitchFamily="18" charset="0"/>
              <a:cs typeface="Times New Roman" panose="02020603050405020304" pitchFamily="18" charset="0"/>
            </a:endParaRPr>
          </a:p>
          <a:p>
            <a:pPr>
              <a:lnSpc>
                <a:spcPct val="150000"/>
              </a:lnSpc>
            </a:pPr>
            <a:r>
              <a:rPr lang="en-US" sz="2200" dirty="0" smtClean="0">
                <a:latin typeface="Times New Roman" panose="02020603050405020304" pitchFamily="18" charset="0"/>
                <a:cs typeface="Times New Roman" panose="02020603050405020304" pitchFamily="18" charset="0"/>
              </a:rPr>
              <a:t>Project management </a:t>
            </a:r>
            <a:r>
              <a:rPr lang="en-US" sz="2200" dirty="0">
                <a:latin typeface="Times New Roman" panose="02020603050405020304" pitchFamily="18" charset="0"/>
                <a:cs typeface="Times New Roman" panose="02020603050405020304" pitchFamily="18" charset="0"/>
              </a:rPr>
              <a:t>can be managed by either an IT staff or a Specialist with management skills </a:t>
            </a:r>
            <a:r>
              <a:rPr lang="en-US" sz="2200" dirty="0" smtClean="0">
                <a:latin typeface="Times New Roman" panose="02020603050405020304" pitchFamily="18" charset="0"/>
                <a:cs typeface="Times New Roman" panose="02020603050405020304" pitchFamily="18" charset="0"/>
              </a:rPr>
              <a:t>or by </a:t>
            </a:r>
            <a:r>
              <a:rPr lang="en-US" sz="2200" dirty="0">
                <a:latin typeface="Times New Roman" panose="02020603050405020304" pitchFamily="18" charset="0"/>
                <a:cs typeface="Times New Roman" panose="02020603050405020304" pitchFamily="18" charset="0"/>
              </a:rPr>
              <a:t>Software</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98965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8800" b="1" dirty="0"/>
              <a:t>SUMMARY</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dirty="0">
                <a:latin typeface="Times New Roman" panose="02020603050405020304" pitchFamily="18" charset="0"/>
                <a:cs typeface="Times New Roman" panose="02020603050405020304" pitchFamily="18" charset="0"/>
              </a:rPr>
              <a:t>In this unit, you learnt that:</a:t>
            </a:r>
          </a:p>
          <a:p>
            <a:pPr marL="900113">
              <a:lnSpc>
                <a:spcPct val="150000"/>
              </a:lnSpc>
              <a:buFont typeface="Wingdings" panose="05000000000000000000" pitchFamily="2" charset="2"/>
              <a:buChar char="Ø"/>
              <a:tabLst>
                <a:tab pos="717550" algn="l"/>
              </a:tabLst>
            </a:pPr>
            <a:r>
              <a:rPr lang="en-US" sz="2200" dirty="0" smtClean="0">
                <a:latin typeface="Times New Roman" panose="02020603050405020304" pitchFamily="18" charset="0"/>
                <a:cs typeface="Times New Roman" panose="02020603050405020304" pitchFamily="18" charset="0"/>
              </a:rPr>
              <a:t>Project </a:t>
            </a:r>
            <a:r>
              <a:rPr lang="en-US" sz="2200" dirty="0">
                <a:latin typeface="Times New Roman" panose="02020603050405020304" pitchFamily="18" charset="0"/>
                <a:cs typeface="Times New Roman" panose="02020603050405020304" pitchFamily="18" charset="0"/>
              </a:rPr>
              <a:t>management is a team work</a:t>
            </a:r>
          </a:p>
          <a:p>
            <a:pPr marL="900113">
              <a:lnSpc>
                <a:spcPct val="150000"/>
              </a:lnSpc>
              <a:buFont typeface="Wingdings" panose="05000000000000000000" pitchFamily="2" charset="2"/>
              <a:buChar char="Ø"/>
              <a:tabLst>
                <a:tab pos="717550" algn="l"/>
              </a:tabLst>
            </a:pPr>
            <a:r>
              <a:rPr lang="en-US" sz="2200" dirty="0" smtClean="0">
                <a:latin typeface="Times New Roman" panose="02020603050405020304" pitchFamily="18" charset="0"/>
                <a:cs typeface="Times New Roman" panose="02020603050405020304" pitchFamily="18" charset="0"/>
              </a:rPr>
              <a:t>Responsibilities </a:t>
            </a:r>
            <a:r>
              <a:rPr lang="en-US" sz="2200" dirty="0">
                <a:latin typeface="Times New Roman" panose="02020603050405020304" pitchFamily="18" charset="0"/>
                <a:cs typeface="Times New Roman" panose="02020603050405020304" pitchFamily="18" charset="0"/>
              </a:rPr>
              <a:t>should be shared among team members</a:t>
            </a:r>
          </a:p>
          <a:p>
            <a:pPr marL="900113">
              <a:lnSpc>
                <a:spcPct val="150000"/>
              </a:lnSpc>
              <a:buFont typeface="Wingdings" panose="05000000000000000000" pitchFamily="2" charset="2"/>
              <a:buChar char="Ø"/>
              <a:tabLst>
                <a:tab pos="717550" algn="l"/>
              </a:tabLst>
            </a:pPr>
            <a:r>
              <a:rPr lang="en-US" sz="2200" dirty="0" smtClean="0">
                <a:latin typeface="Times New Roman" panose="02020603050405020304" pitchFamily="18" charset="0"/>
                <a:cs typeface="Times New Roman" panose="02020603050405020304" pitchFamily="18" charset="0"/>
              </a:rPr>
              <a:t>Project </a:t>
            </a:r>
            <a:r>
              <a:rPr lang="en-US" sz="2200" dirty="0">
                <a:latin typeface="Times New Roman" panose="02020603050405020304" pitchFamily="18" charset="0"/>
                <a:cs typeface="Times New Roman" panose="02020603050405020304" pitchFamily="18" charset="0"/>
              </a:rPr>
              <a:t>Managers are designed to schedule, plan, and control project resources.</a:t>
            </a:r>
          </a:p>
          <a:p>
            <a:pPr marL="900113">
              <a:lnSpc>
                <a:spcPct val="150000"/>
              </a:lnSpc>
              <a:buFont typeface="Wingdings" panose="05000000000000000000" pitchFamily="2" charset="2"/>
              <a:buChar char="Ø"/>
              <a:tabLst>
                <a:tab pos="717550" algn="l"/>
              </a:tabLst>
            </a:pPr>
            <a:r>
              <a:rPr lang="en-US" sz="2200" dirty="0" smtClean="0">
                <a:latin typeface="Times New Roman" panose="02020603050405020304" pitchFamily="18" charset="0"/>
                <a:cs typeface="Times New Roman" panose="02020603050405020304" pitchFamily="18" charset="0"/>
              </a:rPr>
              <a:t>Pert </a:t>
            </a:r>
            <a:r>
              <a:rPr lang="en-US" sz="2200" dirty="0">
                <a:latin typeface="Times New Roman" panose="02020603050405020304" pitchFamily="18" charset="0"/>
                <a:cs typeface="Times New Roman" panose="02020603050405020304" pitchFamily="18" charset="0"/>
              </a:rPr>
              <a:t>charts and Gant charts are tools used in scheduling activities</a:t>
            </a:r>
          </a:p>
          <a:p>
            <a:pPr marL="900113">
              <a:lnSpc>
                <a:spcPct val="150000"/>
              </a:lnSpc>
              <a:buFont typeface="Wingdings" panose="05000000000000000000" pitchFamily="2" charset="2"/>
              <a:buChar char="Ø"/>
              <a:tabLst>
                <a:tab pos="717550" algn="l"/>
              </a:tabLst>
            </a:pPr>
            <a:r>
              <a:rPr lang="en-US" sz="2200" dirty="0" smtClean="0">
                <a:latin typeface="Times New Roman" panose="02020603050405020304" pitchFamily="18" charset="0"/>
                <a:cs typeface="Times New Roman" panose="02020603050405020304" pitchFamily="18" charset="0"/>
              </a:rPr>
              <a:t>Having </a:t>
            </a:r>
            <a:r>
              <a:rPr lang="en-US" sz="2200" dirty="0">
                <a:latin typeface="Times New Roman" panose="02020603050405020304" pitchFamily="18" charset="0"/>
                <a:cs typeface="Times New Roman" panose="02020603050405020304" pitchFamily="18" charset="0"/>
              </a:rPr>
              <a:t>a vision, setting a goal and working towards achieving it reduces </a:t>
            </a:r>
            <a:r>
              <a:rPr lang="en-US" sz="2200" dirty="0" smtClean="0">
                <a:latin typeface="Times New Roman" panose="02020603050405020304" pitchFamily="18" charset="0"/>
                <a:cs typeface="Times New Roman" panose="02020603050405020304" pitchFamily="18" charset="0"/>
              </a:rPr>
              <a:t>missing target</a:t>
            </a:r>
            <a:r>
              <a:rPr lang="en-US" sz="2200" dirty="0">
                <a:latin typeface="Times New Roman" panose="02020603050405020304" pitchFamily="18" charset="0"/>
                <a:cs typeface="Times New Roman" panose="02020603050405020304" pitchFamily="18" charset="0"/>
              </a:rPr>
              <a:t>.</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7528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11</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12976"/>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2800" b="1" dirty="0" smtClean="0">
                <a:latin typeface="Times New Roman" panose="02020603050405020304" pitchFamily="18" charset="0"/>
                <a:cs typeface="Times New Roman" panose="02020603050405020304" pitchFamily="18" charset="0"/>
              </a:rPr>
              <a:t>WEB BASED APPLICATION AND INFORMATION SYSTEMS IN THE ENTERPRISE</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1061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q"/>
            </a:pPr>
            <a:r>
              <a:rPr lang="en-US" sz="2000" b="1" dirty="0"/>
              <a:t>How Web-Based Application Work</a:t>
            </a:r>
          </a:p>
          <a:p>
            <a:pPr>
              <a:lnSpc>
                <a:spcPct val="200000"/>
              </a:lnSpc>
              <a:buFont typeface="Wingdings" panose="05000000000000000000" pitchFamily="2" charset="2"/>
              <a:buChar char="q"/>
            </a:pPr>
            <a:r>
              <a:rPr lang="en-US" sz="2000" b="1" dirty="0"/>
              <a:t>Procedures of Using Web-Based Application</a:t>
            </a:r>
          </a:p>
          <a:p>
            <a:pPr>
              <a:lnSpc>
                <a:spcPct val="200000"/>
              </a:lnSpc>
              <a:buFont typeface="Wingdings" panose="05000000000000000000" pitchFamily="2" charset="2"/>
              <a:buChar char="q"/>
            </a:pPr>
            <a:r>
              <a:rPr lang="en-US" sz="2000" b="1" dirty="0"/>
              <a:t>Forces behind Web-Enabled Systems: Web Services</a:t>
            </a:r>
          </a:p>
        </p:txBody>
      </p:sp>
    </p:spTree>
    <p:extLst>
      <p:ext uri="{BB962C8B-B14F-4D97-AF65-F5344CB8AC3E}">
        <p14:creationId xmlns:p14="http://schemas.microsoft.com/office/powerpoint/2010/main" val="18185544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4000" b="1" dirty="0"/>
              <a:t>APPLICATION SERVICE PROVIDER (ASPS)</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Special </a:t>
            </a:r>
            <a:r>
              <a:rPr lang="en-US" sz="2100" dirty="0">
                <a:latin typeface="Times New Roman" panose="02020603050405020304" pitchFamily="18" charset="0"/>
                <a:cs typeface="Times New Roman" panose="02020603050405020304" pitchFamily="18" charset="0"/>
              </a:rPr>
              <a:t>web sites, called Application Service Providers (ASPs), allow access to </a:t>
            </a:r>
            <a:r>
              <a:rPr lang="en-US" sz="2100" dirty="0" smtClean="0">
                <a:latin typeface="Times New Roman" panose="02020603050405020304" pitchFamily="18" charset="0"/>
                <a:cs typeface="Times New Roman" panose="02020603050405020304" pitchFamily="18" charset="0"/>
              </a:rPr>
              <a:t>their application </a:t>
            </a:r>
            <a:r>
              <a:rPr lang="en-US" sz="2100" dirty="0">
                <a:latin typeface="Times New Roman" panose="02020603050405020304" pitchFamily="18" charset="0"/>
                <a:cs typeface="Times New Roman" panose="02020603050405020304" pitchFamily="18" charset="0"/>
              </a:rPr>
              <a:t>programs.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To </a:t>
            </a:r>
            <a:r>
              <a:rPr lang="en-US" sz="2100" dirty="0">
                <a:latin typeface="Times New Roman" panose="02020603050405020304" pitchFamily="18" charset="0"/>
                <a:cs typeface="Times New Roman" panose="02020603050405020304" pitchFamily="18" charset="0"/>
              </a:rPr>
              <a:t>use one of these Web-based applications, you would connect to </a:t>
            </a:r>
            <a:r>
              <a:rPr lang="en-US" sz="2100" dirty="0" smtClean="0">
                <a:latin typeface="Times New Roman" panose="02020603050405020304" pitchFamily="18" charset="0"/>
                <a:cs typeface="Times New Roman" panose="02020603050405020304" pitchFamily="18" charset="0"/>
              </a:rPr>
              <a:t>the ASP</a:t>
            </a:r>
            <a:r>
              <a:rPr lang="en-US" sz="2100" dirty="0">
                <a:latin typeface="Times New Roman" panose="02020603050405020304" pitchFamily="18" charset="0"/>
                <a:cs typeface="Times New Roman" panose="02020603050405020304" pitchFamily="18" charset="0"/>
              </a:rPr>
              <a:t>, copy the application program to your computer system’s memory, and then run </a:t>
            </a:r>
            <a:r>
              <a:rPr lang="en-US" sz="2100" dirty="0" smtClean="0">
                <a:latin typeface="Times New Roman" panose="02020603050405020304" pitchFamily="18" charset="0"/>
                <a:cs typeface="Times New Roman" panose="02020603050405020304" pitchFamily="18" charset="0"/>
              </a:rPr>
              <a:t>the application</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Most </a:t>
            </a:r>
            <a:r>
              <a:rPr lang="en-US" sz="2100" dirty="0">
                <a:latin typeface="Times New Roman" panose="02020603050405020304" pitchFamily="18" charset="0"/>
                <a:cs typeface="Times New Roman" panose="02020603050405020304" pitchFamily="18" charset="0"/>
              </a:rPr>
              <a:t>ASPs provide access to a wide range of application programs and charge </a:t>
            </a:r>
            <a:r>
              <a:rPr lang="en-US" sz="2100" dirty="0" smtClean="0">
                <a:latin typeface="Times New Roman" panose="02020603050405020304" pitchFamily="18" charset="0"/>
                <a:cs typeface="Times New Roman" panose="02020603050405020304" pitchFamily="18" charset="0"/>
              </a:rPr>
              <a:t>a fee </a:t>
            </a:r>
            <a:r>
              <a:rPr lang="en-US" sz="2100" dirty="0">
                <a:latin typeface="Times New Roman" panose="02020603050405020304" pitchFamily="18" charset="0"/>
                <a:cs typeface="Times New Roman" panose="02020603050405020304" pitchFamily="18" charset="0"/>
              </a:rPr>
              <a:t>for their services</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26641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4000" b="1" dirty="0"/>
              <a:t>HOW WEB-BASED APPLICATION WORK</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b="1" dirty="0" smtClean="0"/>
              <a:t>Step </a:t>
            </a:r>
            <a:r>
              <a:rPr lang="en-US" b="1" dirty="0"/>
              <a:t>1: Connect</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321506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5023</TotalTime>
  <Words>1359</Words>
  <Application>Microsoft Office PowerPoint</Application>
  <PresentationFormat>On-screen Show (4:3)</PresentationFormat>
  <Paragraphs>151</Paragraphs>
  <Slides>25</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DEVELOPING OPEN SHARED SYSTEMS</vt:lpstr>
      <vt:lpstr>DEVELOPMENT ALTERNATIVES</vt:lpstr>
      <vt:lpstr>OPEN SYSTEMS FOR SHARING</vt:lpstr>
      <vt:lpstr>SHIFTING DEVELOPMENT</vt:lpstr>
      <vt:lpstr>PROJECT MANAGEMENT</vt:lpstr>
      <vt:lpstr>Simple Project Management System</vt:lpstr>
      <vt:lpstr>STAGES OF A PROJECT AND HOW TO COMPLETE THEM</vt:lpstr>
      <vt:lpstr>CONCLUSION</vt:lpstr>
      <vt:lpstr>SUMMARY</vt:lpstr>
      <vt:lpstr>PowerPoint Presentation</vt:lpstr>
      <vt:lpstr>Presentation Outline  </vt:lpstr>
      <vt:lpstr>APPLICATION SERVICE PROVIDER (ASPS)</vt:lpstr>
      <vt:lpstr>HOW WEB-BASED APPLICATION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599</cp:revision>
  <dcterms:created xsi:type="dcterms:W3CDTF">2022-01-09T18:11:19Z</dcterms:created>
  <dcterms:modified xsi:type="dcterms:W3CDTF">2026-02-02T09:21:22Z</dcterms:modified>
</cp:coreProperties>
</file>