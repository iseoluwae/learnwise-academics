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45"/>
  </p:notesMasterIdLst>
  <p:handoutMasterIdLst>
    <p:handoutMasterId r:id="rId46"/>
  </p:handoutMasterIdLst>
  <p:sldIdLst>
    <p:sldId id="256" r:id="rId2"/>
    <p:sldId id="526" r:id="rId3"/>
    <p:sldId id="527" r:id="rId4"/>
    <p:sldId id="879" r:id="rId5"/>
    <p:sldId id="519" r:id="rId6"/>
    <p:sldId id="878" r:id="rId7"/>
    <p:sldId id="915" r:id="rId8"/>
    <p:sldId id="880" r:id="rId9"/>
    <p:sldId id="514" r:id="rId10"/>
    <p:sldId id="565" r:id="rId11"/>
    <p:sldId id="935" r:id="rId12"/>
    <p:sldId id="936" r:id="rId13"/>
    <p:sldId id="937" r:id="rId14"/>
    <p:sldId id="938" r:id="rId15"/>
    <p:sldId id="940" r:id="rId16"/>
    <p:sldId id="941" r:id="rId17"/>
    <p:sldId id="942" r:id="rId18"/>
    <p:sldId id="943" r:id="rId19"/>
    <p:sldId id="944" r:id="rId20"/>
    <p:sldId id="945" r:id="rId21"/>
    <p:sldId id="946" r:id="rId22"/>
    <p:sldId id="947" r:id="rId23"/>
    <p:sldId id="948" r:id="rId24"/>
    <p:sldId id="949" r:id="rId25"/>
    <p:sldId id="950" r:id="rId26"/>
    <p:sldId id="951" r:id="rId27"/>
    <p:sldId id="952" r:id="rId28"/>
    <p:sldId id="953" r:id="rId29"/>
    <p:sldId id="954" r:id="rId30"/>
    <p:sldId id="955" r:id="rId31"/>
    <p:sldId id="956" r:id="rId32"/>
    <p:sldId id="957" r:id="rId33"/>
    <p:sldId id="958" r:id="rId34"/>
    <p:sldId id="959" r:id="rId35"/>
    <p:sldId id="960" r:id="rId36"/>
    <p:sldId id="961" r:id="rId37"/>
    <p:sldId id="962" r:id="rId38"/>
    <p:sldId id="963" r:id="rId39"/>
    <p:sldId id="964" r:id="rId40"/>
    <p:sldId id="965" r:id="rId41"/>
    <p:sldId id="966" r:id="rId42"/>
    <p:sldId id="967" r:id="rId43"/>
    <p:sldId id="968" r:id="rId44"/>
  </p:sldIdLst>
  <p:sldSz cx="9144000" cy="6858000" type="screen4x3"/>
  <p:notesSz cx="7315200" cy="9601200"/>
  <p:custDataLst>
    <p:tags r:id="rId47"/>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7" d="100"/>
          <a:sy n="67" d="100"/>
        </p:scale>
        <p:origin x="125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12/1/2025</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12/1/2025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12/1/2025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12/1/2025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12/1/2025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12/1/2025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12/1/2025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12/1/2025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12/1/2025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12/1/2025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12/1/2025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12/1/2025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12/1/2025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12/1/2025</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and World Wide Web</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2</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527248" y="3212976"/>
            <a:ext cx="82296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5400" dirty="0">
                <a:latin typeface="Comic Sans MS" panose="030F0702030302020204" pitchFamily="66" charset="0"/>
              </a:rPr>
              <a:t>ESSENTIALS OF COMPUTING</a:t>
            </a:r>
          </a:p>
        </p:txBody>
      </p:sp>
    </p:spTree>
    <p:extLst>
      <p:ext uri="{BB962C8B-B14F-4D97-AF65-F5344CB8AC3E}">
        <p14:creationId xmlns:p14="http://schemas.microsoft.com/office/powerpoint/2010/main" val="3884675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457200" y="1546447"/>
            <a:ext cx="8075240"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buFont typeface="Wingdings" panose="05000000000000000000" pitchFamily="2" charset="2"/>
              <a:buChar char="Ø"/>
            </a:pPr>
            <a:r>
              <a:rPr lang="en-US" sz="2000" b="1" kern="0" dirty="0"/>
              <a:t>COMPUTER AND COMPUTER SYSTEM</a:t>
            </a:r>
          </a:p>
          <a:p>
            <a:pPr>
              <a:lnSpc>
                <a:spcPct val="200000"/>
              </a:lnSpc>
              <a:buFont typeface="Wingdings" panose="05000000000000000000" pitchFamily="2" charset="2"/>
              <a:buChar char="Ø"/>
            </a:pPr>
            <a:r>
              <a:rPr lang="en-US" sz="2000" b="1" kern="0" dirty="0"/>
              <a:t>FOUR CATEGORIES OF HARDWARE</a:t>
            </a:r>
          </a:p>
          <a:p>
            <a:pPr>
              <a:lnSpc>
                <a:spcPct val="200000"/>
              </a:lnSpc>
              <a:buFont typeface="Wingdings" panose="05000000000000000000" pitchFamily="2" charset="2"/>
              <a:buChar char="Ø"/>
            </a:pPr>
            <a:r>
              <a:rPr lang="en-US" sz="2000" b="1" kern="0" dirty="0"/>
              <a:t>RELATIONSHIP BETWEEN HARDWARE AND SOFTWARE.</a:t>
            </a:r>
          </a:p>
          <a:p>
            <a:pPr>
              <a:lnSpc>
                <a:spcPct val="200000"/>
              </a:lnSpc>
              <a:buFont typeface="Wingdings" panose="05000000000000000000" pitchFamily="2" charset="2"/>
              <a:buChar char="Ø"/>
            </a:pPr>
            <a:r>
              <a:rPr lang="en-US" sz="2000" b="1" kern="0" dirty="0"/>
              <a:t>USERS OF INFORMATION TECHNOLOGY AND IT PROFESSIONALS.</a:t>
            </a:r>
          </a:p>
        </p:txBody>
      </p:sp>
    </p:spTree>
    <p:extLst>
      <p:ext uri="{BB962C8B-B14F-4D97-AF65-F5344CB8AC3E}">
        <p14:creationId xmlns:p14="http://schemas.microsoft.com/office/powerpoint/2010/main" val="72497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nSpc>
                <a:spcPct val="200000"/>
              </a:lnSpc>
            </a:pPr>
            <a:r>
              <a:rPr lang="en-US" sz="3200" b="1" kern="0" dirty="0"/>
              <a:t>COMPUTER AND COMPUTER SYSTEM</a:t>
            </a:r>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b="1" i="0" u="none" strike="noStrike" baseline="0">
                <a:latin typeface="Times New Roman" panose="02020603050405020304" pitchFamily="18" charset="0"/>
              </a:rPr>
              <a:t>Computer</a:t>
            </a:r>
            <a:r>
              <a:rPr lang="en-US" b="1" i="0" u="none" strike="noStrike" baseline="0" dirty="0">
                <a:latin typeface="Times New Roman" panose="02020603050405020304" pitchFamily="18" charset="0"/>
              </a:rPr>
              <a:t>:</a:t>
            </a:r>
            <a:r>
              <a:rPr lang="en-US" i="0" u="none" strike="noStrike" baseline="0" dirty="0">
                <a:latin typeface="Times New Roman" panose="02020603050405020304" pitchFamily="18" charset="0"/>
              </a:rPr>
              <a:t> </a:t>
            </a:r>
          </a:p>
          <a:p>
            <a:pPr marL="0" indent="0" algn="just">
              <a:lnSpc>
                <a:spcPct val="200000"/>
              </a:lnSpc>
              <a:buNone/>
            </a:pPr>
            <a:r>
              <a:rPr lang="en-US" sz="2200" i="0" u="none" strike="noStrike" baseline="0" dirty="0">
                <a:latin typeface="Times New Roman" panose="02020603050405020304" pitchFamily="18" charset="0"/>
              </a:rPr>
              <a:t>An electronic system that can be instructed to accept data as an input, process it and gives a result as an output, and in turn stores the data for retrieval in the long run is a computer</a:t>
            </a:r>
          </a:p>
        </p:txBody>
      </p:sp>
    </p:spTree>
    <p:extLst>
      <p:ext uri="{BB962C8B-B14F-4D97-AF65-F5344CB8AC3E}">
        <p14:creationId xmlns:p14="http://schemas.microsoft.com/office/powerpoint/2010/main" val="29719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nSpc>
                <a:spcPct val="200000"/>
              </a:lnSpc>
            </a:pPr>
            <a:r>
              <a:rPr lang="en-US" sz="3200" b="1" kern="0" dirty="0"/>
              <a:t>COMPUTER AND COMPUTER SYSTEM</a:t>
            </a:r>
          </a:p>
        </p:txBody>
      </p:sp>
      <p:sp>
        <p:nvSpPr>
          <p:cNvPr id="5" name="Rectangle 3"/>
          <p:cNvSpPr txBox="1">
            <a:spLocks noChangeArrowheads="1"/>
          </p:cNvSpPr>
          <p:nvPr/>
        </p:nvSpPr>
        <p:spPr bwMode="auto">
          <a:xfrm>
            <a:off x="429245"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b="1" i="0" u="none" strike="noStrike" baseline="0" dirty="0">
                <a:latin typeface="Times New Roman" panose="02020603050405020304" pitchFamily="18" charset="0"/>
              </a:rPr>
              <a:t>Computer System: </a:t>
            </a:r>
          </a:p>
          <a:p>
            <a:pPr marL="0" indent="0" algn="just">
              <a:lnSpc>
                <a:spcPct val="150000"/>
              </a:lnSpc>
              <a:buNone/>
            </a:pPr>
            <a:r>
              <a:rPr lang="en-US" sz="2000" i="0" u="none" strike="noStrike" baseline="0" dirty="0">
                <a:latin typeface="Times New Roman" panose="02020603050405020304" pitchFamily="18" charset="0"/>
              </a:rPr>
              <a:t>The computer system is made up of two components parts (Hardware and Software). These components integrate and interrelate. They do this independently by interacting together to perform the basic operations of the computer system. </a:t>
            </a:r>
          </a:p>
          <a:p>
            <a:pPr marL="0" indent="0" algn="just">
              <a:lnSpc>
                <a:spcPct val="150000"/>
              </a:lnSpc>
              <a:buNone/>
            </a:pPr>
            <a:r>
              <a:rPr lang="en-US" sz="2000" i="0" u="none" strike="noStrike" baseline="0" dirty="0">
                <a:latin typeface="Times New Roman" panose="02020603050405020304" pitchFamily="18" charset="0"/>
              </a:rPr>
              <a:t>These </a:t>
            </a:r>
            <a:r>
              <a:rPr lang="en-US" sz="2000" b="1" i="0" u="none" strike="noStrike" baseline="0" dirty="0">
                <a:latin typeface="Times New Roman" panose="02020603050405020304" pitchFamily="18" charset="0"/>
              </a:rPr>
              <a:t>components are linked together via cords and interface connectors, except for the user who is the people ware</a:t>
            </a:r>
            <a:r>
              <a:rPr lang="en-US" sz="2000" i="0" u="none" strike="noStrike" baseline="0" dirty="0">
                <a:latin typeface="Times New Roman" panose="02020603050405020304" pitchFamily="18" charset="0"/>
              </a:rPr>
              <a:t>, the processes (procedures), and information (processed data).</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Hardware</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Software (Programs)</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Information</a:t>
            </a:r>
          </a:p>
        </p:txBody>
      </p:sp>
      <p:sp>
        <p:nvSpPr>
          <p:cNvPr id="4" name="Rectangle 3">
            <a:extLst>
              <a:ext uri="{FF2B5EF4-FFF2-40B4-BE49-F238E27FC236}">
                <a16:creationId xmlns:a16="http://schemas.microsoft.com/office/drawing/2014/main" id="{3A3A7F4B-5022-4A04-AB9F-EB7BCCD04A94}"/>
              </a:ext>
            </a:extLst>
          </p:cNvPr>
          <p:cNvSpPr txBox="1">
            <a:spLocks noChangeArrowheads="1"/>
          </p:cNvSpPr>
          <p:nvPr/>
        </p:nvSpPr>
        <p:spPr bwMode="auto">
          <a:xfrm>
            <a:off x="4067944" y="5373216"/>
            <a:ext cx="4588940" cy="148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People (People Ware)</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Procedures</a:t>
            </a:r>
          </a:p>
        </p:txBody>
      </p:sp>
    </p:spTree>
    <p:extLst>
      <p:ext uri="{BB962C8B-B14F-4D97-AF65-F5344CB8AC3E}">
        <p14:creationId xmlns:p14="http://schemas.microsoft.com/office/powerpoint/2010/main" val="2706673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3778"/>
            <a:ext cx="8229600" cy="1228998"/>
          </a:xfrm>
        </p:spPr>
        <p:txBody>
          <a:bodyPr>
            <a:noAutofit/>
          </a:bodyPr>
          <a:lstStyle/>
          <a:p>
            <a:pPr algn="ctr">
              <a:lnSpc>
                <a:spcPct val="150000"/>
              </a:lnSpc>
            </a:pPr>
            <a:r>
              <a:rPr lang="en-US" sz="3200" b="1" kern="0" dirty="0"/>
              <a:t>FIVE COMPONENTS OF </a:t>
            </a:r>
            <a:br>
              <a:rPr lang="en-US" sz="3200" b="1" kern="0" dirty="0"/>
            </a:br>
            <a:r>
              <a:rPr lang="en-US" sz="3200" b="1" kern="0" dirty="0"/>
              <a:t>A COMPUTER SYSTEM</a:t>
            </a:r>
          </a:p>
        </p:txBody>
      </p:sp>
      <p:pic>
        <p:nvPicPr>
          <p:cNvPr id="3" name="Picture 2">
            <a:extLst>
              <a:ext uri="{FF2B5EF4-FFF2-40B4-BE49-F238E27FC236}">
                <a16:creationId xmlns:a16="http://schemas.microsoft.com/office/drawing/2014/main" id="{75A0B6EA-E9BE-4CD8-BF8C-2DAC603D1A85}"/>
              </a:ext>
            </a:extLst>
          </p:cNvPr>
          <p:cNvPicPr>
            <a:picLocks noChangeAspect="1"/>
          </p:cNvPicPr>
          <p:nvPr/>
        </p:nvPicPr>
        <p:blipFill>
          <a:blip r:embed="rId2"/>
          <a:stretch>
            <a:fillRect/>
          </a:stretch>
        </p:blipFill>
        <p:spPr>
          <a:xfrm>
            <a:off x="539552" y="1484784"/>
            <a:ext cx="7920880" cy="5189438"/>
          </a:xfrm>
          <a:prstGeom prst="rect">
            <a:avLst/>
          </a:prstGeom>
        </p:spPr>
      </p:pic>
    </p:spTree>
    <p:extLst>
      <p:ext uri="{BB962C8B-B14F-4D97-AF65-F5344CB8AC3E}">
        <p14:creationId xmlns:p14="http://schemas.microsoft.com/office/powerpoint/2010/main" val="172926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lnSpc>
                <a:spcPct val="150000"/>
              </a:lnSpc>
            </a:pPr>
            <a:r>
              <a:rPr lang="en-US" sz="3200" b="1" i="0" u="none" strike="noStrike" baseline="0" dirty="0">
                <a:latin typeface="Times New Roman" panose="02020603050405020304" pitchFamily="18" charset="0"/>
              </a:rPr>
              <a:t>HARDWARE </a:t>
            </a:r>
            <a:br>
              <a:rPr lang="en-US" sz="3200" b="1" i="0" u="none" strike="noStrike" baseline="0" dirty="0">
                <a:latin typeface="Times New Roman" panose="02020603050405020304" pitchFamily="18" charset="0"/>
              </a:rPr>
            </a:br>
            <a:r>
              <a:rPr lang="en-US" sz="3200" b="1" i="0" u="none" strike="noStrike" baseline="0" dirty="0">
                <a:latin typeface="Times New Roman" panose="02020603050405020304" pitchFamily="18" charset="0"/>
              </a:rPr>
              <a:t>(COMPUTER HARDWARE OR DEVICES)</a:t>
            </a:r>
            <a:endParaRPr lang="en-US" sz="32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100" b="0" i="0" u="none" strike="noStrike" baseline="0" dirty="0">
                <a:latin typeface="Times New Roman" panose="02020603050405020304" pitchFamily="18" charset="0"/>
              </a:rPr>
              <a:t>The hardware component is the physical component of a computer system i.e. those parts of the computer that can be touched, felt and seen physically. </a:t>
            </a:r>
          </a:p>
          <a:p>
            <a:pPr algn="l"/>
            <a:r>
              <a:rPr lang="en-US" sz="2100" b="0" i="0" u="none" strike="noStrike" baseline="0" dirty="0">
                <a:latin typeface="Times New Roman" panose="02020603050405020304" pitchFamily="18" charset="0"/>
              </a:rPr>
              <a:t>More or less, the hardware component consists of a combination of different devices which play specific roles in the operation of the computer system.</a:t>
            </a:r>
          </a:p>
          <a:p>
            <a:pPr algn="l"/>
            <a:r>
              <a:rPr lang="en-US" sz="2100" b="0" i="0" u="none" strike="noStrike" baseline="0" dirty="0">
                <a:latin typeface="Times New Roman" panose="02020603050405020304" pitchFamily="18" charset="0"/>
              </a:rPr>
              <a:t>These devices that make up the hardware are classified into one of four units depending on the role they play in the computer system as follows:</a:t>
            </a:r>
          </a:p>
          <a:p>
            <a:pPr marL="1071563" algn="l">
              <a:buFont typeface="Wingdings" panose="05000000000000000000" pitchFamily="2" charset="2"/>
              <a:buChar char="Ø"/>
            </a:pPr>
            <a:r>
              <a:rPr lang="en-US" sz="2100" b="0" i="0" u="none" strike="noStrike" baseline="0" dirty="0">
                <a:latin typeface="Times New Roman" panose="02020603050405020304" pitchFamily="18" charset="0"/>
              </a:rPr>
              <a:t>Input devices (Keyboard, Mouse, Scanner, Camera </a:t>
            </a:r>
            <a:r>
              <a:rPr lang="en-US" sz="2100" b="0" i="0" u="none" strike="noStrike" baseline="0" dirty="0" err="1">
                <a:latin typeface="Times New Roman" panose="02020603050405020304" pitchFamily="18" charset="0"/>
              </a:rPr>
              <a:t>etc</a:t>
            </a:r>
            <a:r>
              <a:rPr lang="en-US" sz="2100" b="0" i="0" u="none" strike="noStrike" baseline="0" dirty="0">
                <a:latin typeface="Times New Roman" panose="02020603050405020304" pitchFamily="18" charset="0"/>
              </a:rPr>
              <a:t>)</a:t>
            </a:r>
          </a:p>
          <a:p>
            <a:pPr marL="1071563" algn="l">
              <a:buFont typeface="Wingdings" panose="05000000000000000000" pitchFamily="2" charset="2"/>
              <a:buChar char="Ø"/>
            </a:pPr>
            <a:r>
              <a:rPr lang="fr-FR" sz="2100" b="0" i="0" u="none" strike="noStrike" baseline="0" dirty="0">
                <a:latin typeface="Times New Roman" panose="02020603050405020304" pitchFamily="18" charset="0"/>
              </a:rPr>
              <a:t>Output </a:t>
            </a:r>
            <a:r>
              <a:rPr lang="fr-FR" sz="2100" b="0" i="0" u="none" strike="noStrike" baseline="0" dirty="0" err="1">
                <a:latin typeface="Times New Roman" panose="02020603050405020304" pitchFamily="18" charset="0"/>
              </a:rPr>
              <a:t>devices</a:t>
            </a:r>
            <a:r>
              <a:rPr lang="fr-FR" sz="2100" b="0" i="0" u="none" strike="noStrike" baseline="0" dirty="0">
                <a:latin typeface="Times New Roman" panose="02020603050405020304" pitchFamily="18" charset="0"/>
              </a:rPr>
              <a:t> (Printers, </a:t>
            </a:r>
            <a:r>
              <a:rPr lang="fr-FR" sz="2100" b="0" i="0" u="none" strike="noStrike" baseline="0" dirty="0" err="1">
                <a:latin typeface="Times New Roman" panose="02020603050405020304" pitchFamily="18" charset="0"/>
              </a:rPr>
              <a:t>plotters</a:t>
            </a:r>
            <a:r>
              <a:rPr lang="fr-FR" sz="2100" b="0" i="0" u="none" strike="noStrike" baseline="0" dirty="0">
                <a:latin typeface="Times New Roman" panose="02020603050405020304" pitchFamily="18" charset="0"/>
              </a:rPr>
              <a:t> </a:t>
            </a:r>
            <a:r>
              <a:rPr lang="fr-FR" sz="2100" b="0" i="0" u="none" strike="noStrike" baseline="0" dirty="0" err="1">
                <a:latin typeface="Times New Roman" panose="02020603050405020304" pitchFamily="18" charset="0"/>
              </a:rPr>
              <a:t>etc</a:t>
            </a:r>
            <a:r>
              <a:rPr lang="fr-FR" sz="2100" b="0" i="0" u="none" strike="noStrike" baseline="0" dirty="0">
                <a:latin typeface="Times New Roman" panose="02020603050405020304" pitchFamily="18" charset="0"/>
              </a:rPr>
              <a:t>)</a:t>
            </a:r>
          </a:p>
          <a:p>
            <a:pPr marL="1071563" algn="l">
              <a:buFont typeface="Wingdings" panose="05000000000000000000" pitchFamily="2" charset="2"/>
              <a:buChar char="Ø"/>
            </a:pPr>
            <a:r>
              <a:rPr lang="en-US" sz="2100" b="0" i="0" u="none" strike="noStrike" baseline="0" dirty="0">
                <a:latin typeface="Times New Roman" panose="02020603050405020304" pitchFamily="18" charset="0"/>
              </a:rPr>
              <a:t>Storage (Hard disk, floppy disk, CD, flash drives </a:t>
            </a:r>
            <a:r>
              <a:rPr lang="en-US" sz="2100" b="0" i="0" u="none" strike="noStrike" baseline="0" dirty="0" err="1">
                <a:latin typeface="Times New Roman" panose="02020603050405020304" pitchFamily="18" charset="0"/>
              </a:rPr>
              <a:t>etc</a:t>
            </a:r>
            <a:r>
              <a:rPr lang="en-US" sz="2100" b="0" i="0" u="none" strike="noStrike" baseline="0" dirty="0">
                <a:latin typeface="Times New Roman" panose="02020603050405020304" pitchFamily="18" charset="0"/>
              </a:rPr>
              <a:t>)</a:t>
            </a:r>
          </a:p>
          <a:p>
            <a:pPr marL="1071563" algn="l">
              <a:buFont typeface="Wingdings" panose="05000000000000000000" pitchFamily="2" charset="2"/>
              <a:buChar char="Ø"/>
            </a:pPr>
            <a:r>
              <a:rPr lang="en-US" sz="2100" b="0" i="0" u="none" strike="noStrike" baseline="0" dirty="0">
                <a:latin typeface="Times New Roman" panose="02020603050405020304" pitchFamily="18" charset="0"/>
              </a:rPr>
              <a:t>System unit (SU).</a:t>
            </a:r>
            <a:endParaRPr lang="en-US" sz="21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130654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lnSpc>
                <a:spcPct val="150000"/>
              </a:lnSpc>
            </a:pPr>
            <a:r>
              <a:rPr lang="en-US" sz="2800" b="1" i="0" u="none" strike="noStrike" baseline="0" dirty="0">
                <a:latin typeface="Times New Roman" panose="02020603050405020304" pitchFamily="18" charset="0"/>
              </a:rPr>
              <a:t>FOUR CATEGORIES OF HARDWARE AND COMMONLY USED MEDIA</a:t>
            </a:r>
            <a:endParaRPr lang="en-US" sz="2800" b="1" kern="0" dirty="0"/>
          </a:p>
        </p:txBody>
      </p:sp>
      <p:pic>
        <p:nvPicPr>
          <p:cNvPr id="3" name="Picture 2">
            <a:extLst>
              <a:ext uri="{FF2B5EF4-FFF2-40B4-BE49-F238E27FC236}">
                <a16:creationId xmlns:a16="http://schemas.microsoft.com/office/drawing/2014/main" id="{4DABD65A-7641-4350-A803-2709BB1B9AD8}"/>
              </a:ext>
            </a:extLst>
          </p:cNvPr>
          <p:cNvPicPr>
            <a:picLocks noChangeAspect="1"/>
          </p:cNvPicPr>
          <p:nvPr/>
        </p:nvPicPr>
        <p:blipFill>
          <a:blip r:embed="rId2"/>
          <a:stretch>
            <a:fillRect/>
          </a:stretch>
        </p:blipFill>
        <p:spPr>
          <a:xfrm>
            <a:off x="539552" y="1484784"/>
            <a:ext cx="7920880" cy="5373216"/>
          </a:xfrm>
          <a:prstGeom prst="rect">
            <a:avLst/>
          </a:prstGeom>
        </p:spPr>
      </p:pic>
    </p:spTree>
    <p:extLst>
      <p:ext uri="{BB962C8B-B14F-4D97-AF65-F5344CB8AC3E}">
        <p14:creationId xmlns:p14="http://schemas.microsoft.com/office/powerpoint/2010/main" val="3262330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12776"/>
          </a:xfrm>
        </p:spPr>
        <p:txBody>
          <a:bodyPr>
            <a:noAutofit/>
          </a:bodyPr>
          <a:lstStyle/>
          <a:p>
            <a:pPr algn="ctr">
              <a:lnSpc>
                <a:spcPct val="150000"/>
              </a:lnSpc>
            </a:pPr>
            <a:r>
              <a:rPr lang="en-US" sz="3600" b="1" i="0" u="none" strike="noStrike" baseline="0" dirty="0">
                <a:latin typeface="Times New Roman" panose="02020603050405020304" pitchFamily="18" charset="0"/>
              </a:rPr>
              <a:t>FOUR CATEGORIES OF HARDWARE</a:t>
            </a:r>
            <a:endParaRPr lang="en-US" sz="3600" b="1" kern="0" dirty="0"/>
          </a:p>
        </p:txBody>
      </p:sp>
      <p:pic>
        <p:nvPicPr>
          <p:cNvPr id="6" name="Picture 5">
            <a:extLst>
              <a:ext uri="{FF2B5EF4-FFF2-40B4-BE49-F238E27FC236}">
                <a16:creationId xmlns:a16="http://schemas.microsoft.com/office/drawing/2014/main" id="{C1350C2B-3B46-4F4F-B951-86560B7AD015}"/>
              </a:ext>
            </a:extLst>
          </p:cNvPr>
          <p:cNvPicPr>
            <a:picLocks noChangeAspect="1"/>
          </p:cNvPicPr>
          <p:nvPr/>
        </p:nvPicPr>
        <p:blipFill>
          <a:blip r:embed="rId2"/>
          <a:stretch>
            <a:fillRect/>
          </a:stretch>
        </p:blipFill>
        <p:spPr>
          <a:xfrm>
            <a:off x="539552" y="1484784"/>
            <a:ext cx="7920880" cy="4824536"/>
          </a:xfrm>
          <a:prstGeom prst="rect">
            <a:avLst/>
          </a:prstGeom>
        </p:spPr>
      </p:pic>
    </p:spTree>
    <p:extLst>
      <p:ext uri="{BB962C8B-B14F-4D97-AF65-F5344CB8AC3E}">
        <p14:creationId xmlns:p14="http://schemas.microsoft.com/office/powerpoint/2010/main" val="1565509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9600" b="1" i="0" u="none" strike="noStrike" baseline="0" dirty="0">
                <a:latin typeface="Times New Roman" panose="02020603050405020304" pitchFamily="18" charset="0"/>
              </a:rPr>
              <a:t>SOFTWARE </a:t>
            </a:r>
            <a:endParaRPr lang="en-US" sz="9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100" b="0" i="0" u="none" strike="noStrike" baseline="0" dirty="0">
                <a:latin typeface="Times New Roman" panose="02020603050405020304" pitchFamily="18" charset="0"/>
              </a:rPr>
              <a:t>Software is the general term for the set of programs and data, which direct the hardware on what to do. </a:t>
            </a:r>
          </a:p>
          <a:p>
            <a:pPr algn="just">
              <a:lnSpc>
                <a:spcPct val="150000"/>
              </a:lnSpc>
            </a:pPr>
            <a:r>
              <a:rPr lang="en-US" sz="2100" b="0" i="0" u="none" strike="noStrike" baseline="0" dirty="0">
                <a:latin typeface="Times New Roman" panose="02020603050405020304" pitchFamily="18" charset="0"/>
              </a:rPr>
              <a:t>A program is an independent set of instructions, which work to direct the hardware to perform specified tasks. </a:t>
            </a:r>
          </a:p>
          <a:p>
            <a:pPr algn="just">
              <a:lnSpc>
                <a:spcPct val="150000"/>
              </a:lnSpc>
            </a:pPr>
            <a:r>
              <a:rPr lang="en-US" sz="2100" b="0" i="0" u="none" strike="noStrike" baseline="0" dirty="0">
                <a:latin typeface="Times New Roman" panose="02020603050405020304" pitchFamily="18" charset="0"/>
              </a:rPr>
              <a:t>In other words, software’s are set of logical instructions that put the hardware to tasks assigned to it. Software's are subdivided into </a:t>
            </a:r>
            <a:r>
              <a:rPr lang="en-US" sz="2100" b="1" i="1" u="none" strike="noStrike" baseline="0" dirty="0">
                <a:latin typeface="Times New Roman" panose="02020603050405020304" pitchFamily="18" charset="0"/>
              </a:rPr>
              <a:t>Application </a:t>
            </a:r>
            <a:r>
              <a:rPr lang="en-US" sz="2100" b="0" i="0" u="none" strike="noStrike" baseline="0" dirty="0">
                <a:latin typeface="Times New Roman" panose="02020603050405020304" pitchFamily="18" charset="0"/>
              </a:rPr>
              <a:t>and </a:t>
            </a:r>
            <a:r>
              <a:rPr lang="en-US" sz="2100" b="1" i="1" u="none" strike="noStrike" baseline="0" dirty="0">
                <a:latin typeface="Times New Roman" panose="02020603050405020304" pitchFamily="18" charset="0"/>
              </a:rPr>
              <a:t>System software</a:t>
            </a:r>
            <a:r>
              <a:rPr lang="en-US" sz="2100" b="0" i="0" u="none" strike="noStrike" baseline="0" dirty="0">
                <a:latin typeface="Times New Roman" panose="02020603050405020304" pitchFamily="18" charset="0"/>
              </a:rPr>
              <a:t>.</a:t>
            </a:r>
          </a:p>
          <a:p>
            <a:pPr marL="900113" algn="just">
              <a:lnSpc>
                <a:spcPct val="150000"/>
              </a:lnSpc>
              <a:buFont typeface="Wingdings" panose="05000000000000000000" pitchFamily="2" charset="2"/>
              <a:buChar char="Ø"/>
            </a:pPr>
            <a:r>
              <a:rPr lang="en-US" sz="2100" b="0" i="0" u="none" strike="noStrike" baseline="0" dirty="0">
                <a:latin typeface="Times New Roman" panose="02020603050405020304" pitchFamily="18" charset="0"/>
              </a:rPr>
              <a:t>System software focuses on handling technical details.</a:t>
            </a:r>
          </a:p>
          <a:p>
            <a:pPr marL="900113" algn="just">
              <a:lnSpc>
                <a:spcPct val="150000"/>
              </a:lnSpc>
              <a:buFont typeface="Wingdings" panose="05000000000000000000" pitchFamily="2" charset="2"/>
              <a:buChar char="Ø"/>
            </a:pPr>
            <a:r>
              <a:rPr lang="en-US" sz="2100" b="0" i="0" u="none" strike="noStrike" baseline="0" dirty="0">
                <a:latin typeface="Times New Roman" panose="02020603050405020304" pitchFamily="18" charset="0"/>
              </a:rPr>
              <a:t>Application software focuses on completing specific tasks or application.</a:t>
            </a:r>
            <a:endParaRPr lang="en-US" sz="21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741708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6000" b="1" i="0" u="none" strike="noStrike" baseline="0" dirty="0">
                <a:latin typeface="Times New Roman" panose="02020603050405020304" pitchFamily="18" charset="0"/>
              </a:rPr>
              <a:t>SYSTEM SOFTWARE </a:t>
            </a:r>
            <a:endParaRPr lang="en-US" sz="60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100" b="0" i="0" u="none" strike="noStrike" baseline="0" dirty="0">
                <a:latin typeface="Times New Roman" panose="02020603050405020304" pitchFamily="18" charset="0"/>
              </a:rPr>
              <a:t>These are programs expressly designed to make the computer more efficient and flexible as a human tool. </a:t>
            </a:r>
          </a:p>
          <a:p>
            <a:pPr algn="just">
              <a:lnSpc>
                <a:spcPct val="150000"/>
              </a:lnSpc>
            </a:pPr>
            <a:r>
              <a:rPr lang="en-US" sz="2100" b="0" i="0" u="none" strike="noStrike" baseline="0" dirty="0">
                <a:latin typeface="Times New Roman" panose="02020603050405020304" pitchFamily="18" charset="0"/>
              </a:rPr>
              <a:t>System software works with end users, application programs, and computer hardware to handle many details relating to computer operations.</a:t>
            </a:r>
          </a:p>
          <a:p>
            <a:pPr algn="just">
              <a:lnSpc>
                <a:spcPct val="150000"/>
              </a:lnSpc>
            </a:pPr>
            <a:r>
              <a:rPr lang="en-US" sz="2100" b="0" i="0" u="none" strike="noStrike" baseline="0" dirty="0">
                <a:latin typeface="Times New Roman" panose="02020603050405020304" pitchFamily="18" charset="0"/>
              </a:rPr>
              <a:t>Not a single program but a collection or system of programs. These programs handle hundreds of technical details with little or no user intervention. </a:t>
            </a:r>
          </a:p>
          <a:p>
            <a:pPr algn="just">
              <a:lnSpc>
                <a:spcPct val="150000"/>
              </a:lnSpc>
            </a:pPr>
            <a:r>
              <a:rPr lang="en-US" sz="2100" b="0" i="0" u="none" strike="noStrike" baseline="0" dirty="0">
                <a:latin typeface="Times New Roman" panose="02020603050405020304" pitchFamily="18" charset="0"/>
              </a:rPr>
              <a:t>Four kinds of system programs are operating systems, utilities, device drivers, and language translators.</a:t>
            </a:r>
          </a:p>
        </p:txBody>
      </p:sp>
    </p:spTree>
    <p:extLst>
      <p:ext uri="{BB962C8B-B14F-4D97-AF65-F5344CB8AC3E}">
        <p14:creationId xmlns:p14="http://schemas.microsoft.com/office/powerpoint/2010/main" val="3489363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6000" b="1" i="0" u="none" strike="noStrike" baseline="0" dirty="0">
                <a:latin typeface="Times New Roman" panose="02020603050405020304" pitchFamily="18" charset="0"/>
              </a:rPr>
              <a:t>SYSTEM SOFTWARE </a:t>
            </a:r>
            <a:endParaRPr lang="en-US" sz="60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54292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Operating Systems (OS): </a:t>
            </a:r>
            <a:r>
              <a:rPr lang="en-US" sz="1900" b="0" i="0" u="none" strike="noStrike" baseline="0" dirty="0">
                <a:latin typeface="Times New Roman" panose="02020603050405020304" pitchFamily="18" charset="0"/>
              </a:rPr>
              <a:t>coordinates resources, provide an interfaces between users and the computer, and run programs.</a:t>
            </a:r>
          </a:p>
          <a:p>
            <a:pPr marL="54292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Utility (service programs): </a:t>
            </a:r>
            <a:r>
              <a:rPr lang="en-US" sz="1900" b="0" i="0" u="none" strike="noStrike" baseline="0" dirty="0">
                <a:latin typeface="Times New Roman" panose="02020603050405020304" pitchFamily="18" charset="0"/>
              </a:rPr>
              <a:t>performs specific tasks related to managing computer resources.</a:t>
            </a:r>
          </a:p>
          <a:p>
            <a:pPr marL="54292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Device Drivers: </a:t>
            </a:r>
            <a:r>
              <a:rPr lang="en-US" sz="1900" b="0" i="0" u="none" strike="noStrike" baseline="0" dirty="0">
                <a:latin typeface="Times New Roman" panose="02020603050405020304" pitchFamily="18" charset="0"/>
              </a:rPr>
              <a:t>This is a program developed by the manufacturer of a device or computer hardware component to make the devices work on different software platforms. </a:t>
            </a:r>
          </a:p>
          <a:p>
            <a:pPr marL="542925" indent="0" algn="just">
              <a:lnSpc>
                <a:spcPct val="150000"/>
              </a:lnSpc>
              <a:buNone/>
            </a:pPr>
            <a:r>
              <a:rPr lang="en-US" sz="1900" b="0" i="0" u="none" strike="noStrike" baseline="0" dirty="0">
                <a:latin typeface="Times New Roman" panose="02020603050405020304" pitchFamily="18" charset="0"/>
              </a:rPr>
              <a:t>The examples of such devices are network interface cards (NIC), sound cards, printers, and other computer peripherals.</a:t>
            </a:r>
          </a:p>
          <a:p>
            <a:pPr marL="54292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Language Translator: </a:t>
            </a:r>
            <a:r>
              <a:rPr lang="en-US" sz="1900" b="0" i="0" u="none" strike="noStrike" baseline="0" dirty="0">
                <a:latin typeface="Times New Roman" panose="02020603050405020304" pitchFamily="18" charset="0"/>
              </a:rPr>
              <a:t>converts programming instructions written by programmers into a language that computers can understand and process.</a:t>
            </a:r>
            <a:endParaRPr lang="en-US" sz="19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500423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5400" b="1" i="0" u="none" strike="noStrike" baseline="0" dirty="0">
                <a:latin typeface="Times New Roman" panose="02020603050405020304" pitchFamily="18" charset="0"/>
              </a:rPr>
              <a:t>OPERATING SYSTEMS</a:t>
            </a:r>
            <a:endParaRPr lang="en-US" sz="54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b="1" i="0" u="none" strike="noStrike" baseline="0" dirty="0">
                <a:latin typeface="Times New Roman" panose="02020603050405020304" pitchFamily="18" charset="0"/>
              </a:rPr>
              <a:t>Operating Systems</a:t>
            </a:r>
            <a:r>
              <a:rPr lang="en-US" sz="2000" b="0" i="0" u="none" strike="noStrike" baseline="0" dirty="0">
                <a:latin typeface="Times New Roman" panose="02020603050405020304" pitchFamily="18" charset="0"/>
              </a:rPr>
              <a:t>, also known as software environments or platforms, consist of a collection of programs to handle technical details.</a:t>
            </a:r>
          </a:p>
          <a:p>
            <a:pPr algn="just">
              <a:lnSpc>
                <a:spcPct val="150000"/>
              </a:lnSpc>
            </a:pPr>
            <a:r>
              <a:rPr lang="en-US" sz="2000" b="0" i="0" u="none" strike="noStrike" baseline="0" dirty="0">
                <a:latin typeface="Times New Roman" panose="02020603050405020304" pitchFamily="18" charset="0"/>
              </a:rPr>
              <a:t>Operating systems perform a variety of functions. These functions can be classified into three groups:</a:t>
            </a:r>
          </a:p>
          <a:p>
            <a:pPr marL="71437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Resources manager</a:t>
            </a:r>
            <a:r>
              <a:rPr lang="en-US" sz="1900" b="0" i="0" u="none" strike="noStrike" baseline="0" dirty="0">
                <a:latin typeface="Times New Roman" panose="02020603050405020304" pitchFamily="18" charset="0"/>
              </a:rPr>
              <a:t> – coordinates and monitor all computer resources.</a:t>
            </a:r>
          </a:p>
          <a:p>
            <a:pPr marL="71437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Provides user interface</a:t>
            </a:r>
            <a:r>
              <a:rPr lang="en-US" sz="1900" b="0" i="0" u="none" strike="noStrike" baseline="0" dirty="0">
                <a:latin typeface="Times New Roman" panose="02020603050405020304" pitchFamily="18" charset="0"/>
              </a:rPr>
              <a:t> – provides interface between users, application programs, and computer hardware. Character based interface uses written commands. Graphical user interface (GUI) uses graphical elements.</a:t>
            </a:r>
          </a:p>
          <a:p>
            <a:pPr marL="71437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Applications control</a:t>
            </a:r>
            <a:r>
              <a:rPr lang="en-US" sz="1900" b="0" i="0" u="none" strike="noStrike" baseline="0" dirty="0">
                <a:latin typeface="Times New Roman" panose="02020603050405020304" pitchFamily="18" charset="0"/>
              </a:rPr>
              <a:t> – load and run programs. It has the ability to switch between applications stored in memory. Current program run in foreground. Others run in background.</a:t>
            </a:r>
          </a:p>
        </p:txBody>
      </p:sp>
    </p:spTree>
    <p:extLst>
      <p:ext uri="{BB962C8B-B14F-4D97-AF65-F5344CB8AC3E}">
        <p14:creationId xmlns:p14="http://schemas.microsoft.com/office/powerpoint/2010/main" val="386236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5400" b="1" i="0" u="none" strike="noStrike" baseline="0" dirty="0">
                <a:latin typeface="Times New Roman" panose="02020603050405020304" pitchFamily="18" charset="0"/>
              </a:rPr>
              <a:t>OPERATING SYSTEMS</a:t>
            </a:r>
            <a:endParaRPr lang="en-US" sz="54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b="1" i="0" u="none" strike="noStrike" baseline="0" dirty="0">
                <a:latin typeface="Times New Roman" panose="02020603050405020304" pitchFamily="18" charset="0"/>
              </a:rPr>
              <a:t>Categories: </a:t>
            </a:r>
            <a:r>
              <a:rPr lang="en-US" sz="2000" b="0" i="0" u="none" strike="noStrike" baseline="0" dirty="0">
                <a:latin typeface="Times New Roman" panose="02020603050405020304" pitchFamily="18" charset="0"/>
              </a:rPr>
              <a:t>There are hundreds of operating systems but only three basic categories: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Embedded for handheld </a:t>
            </a:r>
            <a:r>
              <a:rPr lang="en-US" sz="2000" b="0" i="0" u="none" strike="noStrike" baseline="0" dirty="0">
                <a:latin typeface="Times New Roman" panose="02020603050405020304" pitchFamily="18" charset="0"/>
              </a:rPr>
              <a:t>computers and small devices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Network (NOS) </a:t>
            </a:r>
            <a:r>
              <a:rPr lang="en-US" sz="2000" b="0" i="0" u="none" strike="noStrike" baseline="0" dirty="0">
                <a:latin typeface="Times New Roman" panose="02020603050405020304" pitchFamily="18" charset="0"/>
              </a:rPr>
              <a:t>control and coordinate computers on a network. Network server coordinates all network communication.</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Stand-alone (desktop) </a:t>
            </a:r>
            <a:r>
              <a:rPr lang="en-US" sz="2000" b="0" i="0" u="none" strike="noStrike" baseline="0" dirty="0">
                <a:latin typeface="Times New Roman" panose="02020603050405020304" pitchFamily="18" charset="0"/>
              </a:rPr>
              <a:t>for desktop and notebook computers; called client operating systems in networked environment.</a:t>
            </a:r>
          </a:p>
          <a:p>
            <a:pPr algn="just">
              <a:lnSpc>
                <a:spcPct val="150000"/>
              </a:lnSpc>
            </a:pPr>
            <a:r>
              <a:rPr lang="en-US" sz="2000" b="0" i="0" u="none" strike="noStrike" baseline="0" dirty="0">
                <a:latin typeface="Times New Roman" panose="02020603050405020304" pitchFamily="18" charset="0"/>
              </a:rPr>
              <a:t>Propriety operating systems are owned and licensed by a corporation; non proprietary are free and called open source programs.</a:t>
            </a:r>
            <a:endParaRPr lang="en-US" sz="20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930632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4800" b="1" i="0" u="none" strike="noStrike" baseline="0" dirty="0">
                <a:latin typeface="Times New Roman" panose="02020603050405020304" pitchFamily="18" charset="0"/>
              </a:rPr>
              <a:t>APPLICATION SOFTWARE</a:t>
            </a:r>
            <a:endParaRPr lang="en-US" sz="4800" b="1" kern="0" dirty="0"/>
          </a:p>
        </p:txBody>
      </p:sp>
      <p:sp>
        <p:nvSpPr>
          <p:cNvPr id="5" name="Rectangle 3"/>
          <p:cNvSpPr txBox="1">
            <a:spLocks noChangeArrowheads="1"/>
          </p:cNvSpPr>
          <p:nvPr/>
        </p:nvSpPr>
        <p:spPr bwMode="auto">
          <a:xfrm>
            <a:off x="429245" y="1484784"/>
            <a:ext cx="8257555"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300" b="1" i="0" u="none" strike="noStrike" baseline="0" dirty="0">
                <a:latin typeface="Times New Roman" panose="02020603050405020304" pitchFamily="18" charset="0"/>
              </a:rPr>
              <a:t>Application software: </a:t>
            </a:r>
            <a:r>
              <a:rPr lang="en-US" sz="2300" i="0" u="none" strike="noStrike" baseline="0" dirty="0">
                <a:latin typeface="Times New Roman" panose="02020603050405020304" pitchFamily="18" charset="0"/>
              </a:rPr>
              <a:t>There are two categories:</a:t>
            </a:r>
          </a:p>
          <a:p>
            <a:pPr marL="714375">
              <a:lnSpc>
                <a:spcPct val="150000"/>
              </a:lnSpc>
              <a:buFont typeface="Wingdings" panose="05000000000000000000" pitchFamily="2" charset="2"/>
              <a:buChar char="Ø"/>
            </a:pPr>
            <a:r>
              <a:rPr lang="en-US" sz="2300" i="0" u="none" strike="noStrike" baseline="0" dirty="0">
                <a:latin typeface="Times New Roman" panose="02020603050405020304" pitchFamily="18" charset="0"/>
              </a:rPr>
              <a:t>Basic applications (general-purpose applications, productivity applications) are widely use.</a:t>
            </a:r>
          </a:p>
          <a:p>
            <a:pPr marL="714375">
              <a:lnSpc>
                <a:spcPct val="150000"/>
              </a:lnSpc>
              <a:buFont typeface="Wingdings" panose="05000000000000000000" pitchFamily="2" charset="2"/>
              <a:buChar char="Ø"/>
            </a:pPr>
            <a:r>
              <a:rPr lang="en-US" sz="2300" i="0" u="none" strike="noStrike" baseline="0" dirty="0">
                <a:latin typeface="Times New Roman" panose="02020603050405020304" pitchFamily="18" charset="0"/>
              </a:rPr>
              <a:t>Specialized applications (special-purpose applications) are more specialized. </a:t>
            </a:r>
          </a:p>
        </p:txBody>
      </p:sp>
    </p:spTree>
    <p:extLst>
      <p:ext uri="{BB962C8B-B14F-4D97-AF65-F5344CB8AC3E}">
        <p14:creationId xmlns:p14="http://schemas.microsoft.com/office/powerpoint/2010/main" val="2558233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4800" b="1" i="0" u="none" strike="noStrike" baseline="0" dirty="0">
                <a:latin typeface="Times New Roman" panose="02020603050405020304" pitchFamily="18" charset="0"/>
              </a:rPr>
              <a:t>APPLICATION SOFTWARE</a:t>
            </a:r>
            <a:endParaRPr lang="en-US" sz="4800" b="1" kern="0" dirty="0"/>
          </a:p>
        </p:txBody>
      </p:sp>
      <p:sp>
        <p:nvSpPr>
          <p:cNvPr id="5" name="Rectangle 3"/>
          <p:cNvSpPr txBox="1">
            <a:spLocks noChangeArrowheads="1"/>
          </p:cNvSpPr>
          <p:nvPr/>
        </p:nvSpPr>
        <p:spPr bwMode="auto">
          <a:xfrm>
            <a:off x="429244" y="1484784"/>
            <a:ext cx="8463236"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800" b="1" i="0" u="none" strike="noStrike" baseline="0" dirty="0">
                <a:latin typeface="Times New Roman" panose="02020603050405020304" pitchFamily="18" charset="0"/>
              </a:rPr>
              <a:t>Common Features</a:t>
            </a:r>
          </a:p>
          <a:p>
            <a:pPr marL="0" indent="0" algn="just">
              <a:lnSpc>
                <a:spcPct val="150000"/>
              </a:lnSpc>
              <a:buNone/>
            </a:pPr>
            <a:r>
              <a:rPr lang="en-US" sz="1800" i="0" u="none" strike="noStrike" baseline="0" dirty="0">
                <a:latin typeface="Times New Roman" panose="02020603050405020304" pitchFamily="18" charset="0"/>
              </a:rPr>
              <a:t>Common features of most application programs include:</a:t>
            </a:r>
          </a:p>
          <a:p>
            <a:pPr marL="4429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User interface </a:t>
            </a:r>
            <a:r>
              <a:rPr lang="en-US" sz="1800" i="0" u="none" strike="noStrike" baseline="0" dirty="0">
                <a:latin typeface="Times New Roman" panose="02020603050405020304" pitchFamily="18" charset="0"/>
              </a:rPr>
              <a:t>– most have graphical user interface (GUI) that displays icons. Graphic User Interface (GUI) is a link to an operating system that allows users to use icons rather than command words to start processing. An Interface is the means by which a person interacts with a computer.</a:t>
            </a:r>
          </a:p>
          <a:p>
            <a:pPr marL="4429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Windows</a:t>
            </a:r>
            <a:r>
              <a:rPr lang="en-US" sz="1800" i="0" u="none" strike="noStrike" baseline="0" dirty="0">
                <a:latin typeface="Times New Roman" panose="02020603050405020304" pitchFamily="18" charset="0"/>
              </a:rPr>
              <a:t> – rectangular areas that can contain documents, programs, and messages.</a:t>
            </a:r>
          </a:p>
          <a:p>
            <a:pPr marL="4429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Menus</a:t>
            </a:r>
            <a:r>
              <a:rPr lang="en-US" sz="1800" i="0" u="none" strike="noStrike" baseline="0" dirty="0">
                <a:latin typeface="Times New Roman" panose="02020603050405020304" pitchFamily="18" charset="0"/>
              </a:rPr>
              <a:t> – present commands listed on the menu bar; use pull-down (drop down) menus. Help menu provides access to online assistance.</a:t>
            </a:r>
          </a:p>
          <a:p>
            <a:pPr marL="4429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Dialog box </a:t>
            </a:r>
            <a:r>
              <a:rPr lang="en-US" sz="1800" i="0" u="none" strike="noStrike" baseline="0" dirty="0">
                <a:latin typeface="Times New Roman" panose="02020603050405020304" pitchFamily="18" charset="0"/>
              </a:rPr>
              <a:t>– provides additional information or requests user input.</a:t>
            </a:r>
          </a:p>
          <a:p>
            <a:pPr marL="4429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Toolbars</a:t>
            </a:r>
            <a:r>
              <a:rPr lang="en-US" sz="1800" i="0" u="none" strike="noStrike" baseline="0" dirty="0">
                <a:latin typeface="Times New Roman" panose="02020603050405020304" pitchFamily="18" charset="0"/>
              </a:rPr>
              <a:t> – contains buttons and menus; standard toolbar common to most applications </a:t>
            </a:r>
            <a:endParaRPr lang="en-US" sz="1800" dirty="0">
              <a:latin typeface="Times New Roman" panose="02020603050405020304" pitchFamily="18" charset="0"/>
            </a:endParaRPr>
          </a:p>
        </p:txBody>
      </p:sp>
    </p:spTree>
    <p:extLst>
      <p:ext uri="{BB962C8B-B14F-4D97-AF65-F5344CB8AC3E}">
        <p14:creationId xmlns:p14="http://schemas.microsoft.com/office/powerpoint/2010/main" val="1268147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4800" b="1" i="0" u="none" strike="noStrike" baseline="0" dirty="0">
                <a:latin typeface="Times New Roman" panose="02020603050405020304" pitchFamily="18" charset="0"/>
              </a:rPr>
              <a:t>APPLICATION SOFTWARE</a:t>
            </a:r>
            <a:endParaRPr lang="en-US" sz="4800" b="1" kern="0" dirty="0"/>
          </a:p>
        </p:txBody>
      </p:sp>
      <p:sp>
        <p:nvSpPr>
          <p:cNvPr id="5" name="Rectangle 3"/>
          <p:cNvSpPr txBox="1">
            <a:spLocks noChangeArrowheads="1"/>
          </p:cNvSpPr>
          <p:nvPr/>
        </p:nvSpPr>
        <p:spPr bwMode="auto">
          <a:xfrm>
            <a:off x="429244" y="1484784"/>
            <a:ext cx="8463236"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buFont typeface="Wingdings" panose="05000000000000000000" pitchFamily="2" charset="2"/>
              <a:buChar char="q"/>
            </a:pPr>
            <a:r>
              <a:rPr lang="en-US" sz="2100" i="0" u="none" strike="noStrike" baseline="0" dirty="0">
                <a:latin typeface="Times New Roman" panose="02020603050405020304" pitchFamily="18" charset="0"/>
              </a:rPr>
              <a:t>Some of the most popular applications software’s are data management packages, spread sheets, graphics packages; word-processing packages, communication packages; presentation software and integrated packages. </a:t>
            </a:r>
          </a:p>
          <a:p>
            <a:pPr algn="just">
              <a:lnSpc>
                <a:spcPct val="200000"/>
              </a:lnSpc>
              <a:buFont typeface="Wingdings" panose="05000000000000000000" pitchFamily="2" charset="2"/>
              <a:buChar char="q"/>
            </a:pPr>
            <a:r>
              <a:rPr lang="en-US" sz="2100" i="0" u="none" strike="noStrike" baseline="0" dirty="0">
                <a:latin typeface="Times New Roman" panose="02020603050405020304" pitchFamily="18" charset="0"/>
              </a:rPr>
              <a:t>We now look at some application software’s in detail.</a:t>
            </a:r>
          </a:p>
        </p:txBody>
      </p:sp>
    </p:spTree>
    <p:extLst>
      <p:ext uri="{BB962C8B-B14F-4D97-AF65-F5344CB8AC3E}">
        <p14:creationId xmlns:p14="http://schemas.microsoft.com/office/powerpoint/2010/main" val="2693243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5400" b="1" i="0" u="none" strike="noStrike" baseline="0" dirty="0">
                <a:latin typeface="Times New Roman" panose="02020603050405020304" pitchFamily="18" charset="0"/>
              </a:rPr>
              <a:t>SOFTWARE PACKAGE</a:t>
            </a:r>
            <a:endParaRPr lang="en-US" sz="5400" b="1" kern="0" dirty="0"/>
          </a:p>
        </p:txBody>
      </p:sp>
      <p:sp>
        <p:nvSpPr>
          <p:cNvPr id="5" name="Rectangle 3"/>
          <p:cNvSpPr txBox="1">
            <a:spLocks noChangeArrowheads="1"/>
          </p:cNvSpPr>
          <p:nvPr/>
        </p:nvSpPr>
        <p:spPr bwMode="auto">
          <a:xfrm>
            <a:off x="429244" y="1484784"/>
            <a:ext cx="8463236"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000" i="0" u="none" strike="noStrike" baseline="0" dirty="0">
                <a:latin typeface="Times New Roman" panose="02020603050405020304" pitchFamily="18" charset="0"/>
              </a:rPr>
              <a:t>An application that focuses on a particular subject, such as word processing, and is sold to businesses and the general public. </a:t>
            </a:r>
          </a:p>
          <a:p>
            <a:pPr algn="just">
              <a:lnSpc>
                <a:spcPct val="150000"/>
              </a:lnSpc>
            </a:pPr>
            <a:r>
              <a:rPr lang="en-US" sz="2000" i="0" u="none" strike="noStrike" baseline="0" dirty="0">
                <a:latin typeface="Times New Roman" panose="02020603050405020304" pitchFamily="18" charset="0"/>
              </a:rPr>
              <a:t>Examples are:</a:t>
            </a:r>
          </a:p>
          <a:p>
            <a:pPr marL="714375" algn="just">
              <a:lnSpc>
                <a:spcPct val="150000"/>
              </a:lnSpc>
              <a:buFont typeface="Wingdings" panose="05000000000000000000" pitchFamily="2" charset="2"/>
              <a:buChar char="Ø"/>
            </a:pPr>
            <a:r>
              <a:rPr lang="en-US" sz="2000" i="0" u="none" strike="noStrike" baseline="0" dirty="0">
                <a:latin typeface="Times New Roman" panose="02020603050405020304" pitchFamily="18" charset="0"/>
              </a:rPr>
              <a:t> </a:t>
            </a:r>
            <a:r>
              <a:rPr lang="en-US" sz="2000" b="1" i="0" u="none" strike="noStrike" baseline="0" dirty="0">
                <a:latin typeface="Times New Roman" panose="02020603050405020304" pitchFamily="18" charset="0"/>
              </a:rPr>
              <a:t>Spreadsheet:</a:t>
            </a:r>
            <a:r>
              <a:rPr lang="en-US" sz="2000" i="0" u="none" strike="noStrike" baseline="0" dirty="0">
                <a:latin typeface="Times New Roman" panose="02020603050405020304" pitchFamily="18" charset="0"/>
              </a:rPr>
              <a:t> A table of columns and rows used by people responsible for tracking revenues, expenses, profits, and losses.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Word-processing (WP) Program:</a:t>
            </a:r>
            <a:r>
              <a:rPr lang="en-US" sz="2000" i="0" u="none" strike="noStrike" baseline="0" dirty="0">
                <a:latin typeface="Times New Roman" panose="02020603050405020304" pitchFamily="18" charset="0"/>
              </a:rPr>
              <a:t> A program that allows the user to enter, change (edit), move, store, and print text information.</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Desktop Publishing (DTP) Program:</a:t>
            </a:r>
            <a:r>
              <a:rPr lang="en-US" sz="2000" i="0" u="none" strike="noStrike" baseline="0" dirty="0">
                <a:latin typeface="Times New Roman" panose="02020603050405020304" pitchFamily="18" charset="0"/>
              </a:rPr>
              <a:t> A program that combines text and image handling features with document-design capabilities.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Graphics Presentation Program:</a:t>
            </a:r>
            <a:r>
              <a:rPr lang="en-US" sz="2000" i="0" u="none" strike="noStrike" baseline="0" dirty="0">
                <a:latin typeface="Times New Roman" panose="02020603050405020304" pitchFamily="18" charset="0"/>
              </a:rPr>
              <a:t> A program that translates data into visual representations using charts, graphs, and map.</a:t>
            </a:r>
          </a:p>
        </p:txBody>
      </p:sp>
    </p:spTree>
    <p:extLst>
      <p:ext uri="{BB962C8B-B14F-4D97-AF65-F5344CB8AC3E}">
        <p14:creationId xmlns:p14="http://schemas.microsoft.com/office/powerpoint/2010/main" val="148824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5400" b="1" i="0" u="none" strike="noStrike" baseline="0" dirty="0">
                <a:latin typeface="Times New Roman" panose="02020603050405020304" pitchFamily="18" charset="0"/>
              </a:rPr>
              <a:t>SOFTWARE PACKAGE</a:t>
            </a:r>
            <a:endParaRPr lang="en-US" sz="5400" b="1" kern="0" dirty="0"/>
          </a:p>
        </p:txBody>
      </p:sp>
      <p:sp>
        <p:nvSpPr>
          <p:cNvPr id="5" name="Rectangle 3"/>
          <p:cNvSpPr txBox="1">
            <a:spLocks noChangeArrowheads="1"/>
          </p:cNvSpPr>
          <p:nvPr/>
        </p:nvSpPr>
        <p:spPr bwMode="auto">
          <a:xfrm>
            <a:off x="429244" y="1484784"/>
            <a:ext cx="8463236"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Photo Editing Program:</a:t>
            </a:r>
            <a:r>
              <a:rPr lang="en-US" sz="2000" i="0" u="none" strike="noStrike" baseline="0" dirty="0">
                <a:latin typeface="Times New Roman" panose="02020603050405020304" pitchFamily="18" charset="0"/>
              </a:rPr>
              <a:t> A program used to touch up, remove, or add features to a digital version of photographs.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Illustration Program:</a:t>
            </a:r>
            <a:r>
              <a:rPr lang="en-US" sz="2000" i="0" u="none" strike="noStrike" baseline="0" dirty="0">
                <a:latin typeface="Times New Roman" panose="02020603050405020304" pitchFamily="18" charset="0"/>
              </a:rPr>
              <a:t> A program in which the computer screen becomes a drawing board on which artists translate their ideas into visual form.</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Database Management Program:</a:t>
            </a:r>
            <a:r>
              <a:rPr lang="en-US" sz="2000" i="0" u="none" strike="noStrike" baseline="0" dirty="0">
                <a:latin typeface="Times New Roman" panose="02020603050405020304" pitchFamily="18" charset="0"/>
              </a:rPr>
              <a:t> A program that makes it possible for users to manage the data in ways that increase accessibility and productivity.</a:t>
            </a:r>
          </a:p>
          <a:p>
            <a:pPr marL="900113" indent="0" algn="just">
              <a:lnSpc>
                <a:spcPct val="150000"/>
              </a:lnSpc>
              <a:buNone/>
            </a:pPr>
            <a:r>
              <a:rPr lang="en-US" sz="2000" i="0" u="none" strike="noStrike" baseline="0" dirty="0">
                <a:latin typeface="Times New Roman" panose="02020603050405020304" pitchFamily="18" charset="0"/>
              </a:rPr>
              <a:t>– </a:t>
            </a:r>
            <a:r>
              <a:rPr lang="en-US" sz="2000" b="1" i="0" u="none" strike="noStrike" baseline="0" dirty="0">
                <a:latin typeface="Times New Roman" panose="02020603050405020304" pitchFamily="18" charset="0"/>
              </a:rPr>
              <a:t>Database: </a:t>
            </a:r>
            <a:r>
              <a:rPr lang="en-US" sz="2000" i="0" u="none" strike="noStrike" baseline="0" dirty="0">
                <a:latin typeface="Times New Roman" panose="02020603050405020304" pitchFamily="18" charset="0"/>
              </a:rPr>
              <a:t>A collection of data and information describing items of interest to an organization.</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Browser:</a:t>
            </a:r>
            <a:r>
              <a:rPr lang="en-US" sz="2000" i="0" u="none" strike="noStrike" baseline="0" dirty="0">
                <a:latin typeface="Times New Roman" panose="02020603050405020304" pitchFamily="18" charset="0"/>
              </a:rPr>
              <a:t> Client computer program designed to locate and display information on the World Wide Web.</a:t>
            </a:r>
          </a:p>
        </p:txBody>
      </p:sp>
    </p:spTree>
    <p:extLst>
      <p:ext uri="{BB962C8B-B14F-4D97-AF65-F5344CB8AC3E}">
        <p14:creationId xmlns:p14="http://schemas.microsoft.com/office/powerpoint/2010/main" val="4002317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5400" b="1" i="0" u="none" strike="noStrike" baseline="0" dirty="0">
                <a:latin typeface="Times New Roman" panose="02020603050405020304" pitchFamily="18" charset="0"/>
              </a:rPr>
              <a:t>SOFTWARE PACKAGE</a:t>
            </a:r>
            <a:endParaRPr lang="en-US" sz="5400" b="1" kern="0" dirty="0"/>
          </a:p>
        </p:txBody>
      </p:sp>
      <p:sp>
        <p:nvSpPr>
          <p:cNvPr id="5" name="Rectangle 3"/>
          <p:cNvSpPr txBox="1">
            <a:spLocks noChangeArrowheads="1"/>
          </p:cNvSpPr>
          <p:nvPr/>
        </p:nvSpPr>
        <p:spPr bwMode="auto">
          <a:xfrm>
            <a:off x="429244" y="1484784"/>
            <a:ext cx="8463236"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Information System or Management Information System (MIS):</a:t>
            </a:r>
            <a:r>
              <a:rPr lang="en-US" sz="2000" i="0" u="none" strike="noStrike" baseline="0" dirty="0">
                <a:latin typeface="Times New Roman" panose="02020603050405020304" pitchFamily="18" charset="0"/>
              </a:rPr>
              <a:t> A business information system designed to produce the information needed for successful management of a structured problem, process, department, or business.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Transaction Processing:</a:t>
            </a:r>
            <a:r>
              <a:rPr lang="en-US" sz="2000" i="0" u="none" strike="noStrike" baseline="0" dirty="0">
                <a:latin typeface="Times New Roman" panose="02020603050405020304" pitchFamily="18" charset="0"/>
              </a:rPr>
              <a:t> A shared business information system that uses a combination of information technology and manual procedures to process data and information and to manage transactions.</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Computer Programming Language:</a:t>
            </a:r>
            <a:r>
              <a:rPr lang="en-US" sz="2000" i="0" u="none" strike="noStrike" baseline="0" dirty="0">
                <a:latin typeface="Times New Roman" panose="02020603050405020304" pitchFamily="18" charset="0"/>
              </a:rPr>
              <a:t> A series of commands or codes that a computer can translate into the electronic pulses that underlie all computing activities.</a:t>
            </a:r>
          </a:p>
        </p:txBody>
      </p:sp>
    </p:spTree>
    <p:extLst>
      <p:ext uri="{BB962C8B-B14F-4D97-AF65-F5344CB8AC3E}">
        <p14:creationId xmlns:p14="http://schemas.microsoft.com/office/powerpoint/2010/main" val="3939495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5400" b="1" i="0" u="none" strike="noStrike" baseline="0" dirty="0">
                <a:latin typeface="Times New Roman" panose="02020603050405020304" pitchFamily="18" charset="0"/>
              </a:rPr>
              <a:t>SOFTWARE PACKAGE</a:t>
            </a:r>
            <a:endParaRPr lang="en-US" sz="5400" b="1" kern="0" dirty="0"/>
          </a:p>
        </p:txBody>
      </p:sp>
      <p:sp>
        <p:nvSpPr>
          <p:cNvPr id="5" name="Rectangle 3"/>
          <p:cNvSpPr txBox="1">
            <a:spLocks noChangeArrowheads="1"/>
          </p:cNvSpPr>
          <p:nvPr/>
        </p:nvSpPr>
        <p:spPr bwMode="auto">
          <a:xfrm>
            <a:off x="429244" y="1484784"/>
            <a:ext cx="8463236"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Utility Program (Utilities): </a:t>
            </a:r>
            <a:r>
              <a:rPr lang="en-US" sz="2000" i="0" u="none" strike="noStrike" baseline="0" dirty="0">
                <a:latin typeface="Times New Roman" panose="02020603050405020304" pitchFamily="18" charset="0"/>
              </a:rPr>
              <a:t>Special programs used to perform tasks that occur repeatedly using processing.</a:t>
            </a:r>
          </a:p>
          <a:p>
            <a:pPr marL="714375" algn="just">
              <a:lnSpc>
                <a:spcPct val="150000"/>
              </a:lnSpc>
              <a:buFont typeface="Wingdings" panose="05000000000000000000" pitchFamily="2" charset="2"/>
              <a:buChar char="Ø"/>
            </a:pPr>
            <a:r>
              <a:rPr lang="en-US" sz="2000" b="1" i="0" u="none" strike="noStrike" baseline="0" dirty="0">
                <a:latin typeface="Times New Roman" panose="02020603050405020304" pitchFamily="18" charset="0"/>
              </a:rPr>
              <a:t>Custom Software:</a:t>
            </a:r>
            <a:r>
              <a:rPr lang="en-US" sz="2000" i="0" u="none" strike="noStrike" baseline="0" dirty="0">
                <a:latin typeface="Times New Roman" panose="02020603050405020304" pitchFamily="18" charset="0"/>
              </a:rPr>
              <a:t> Software written specially for a particular business.</a:t>
            </a:r>
          </a:p>
          <a:p>
            <a:pPr marL="985838" indent="0" algn="just">
              <a:lnSpc>
                <a:spcPct val="150000"/>
              </a:lnSpc>
              <a:buNone/>
            </a:pPr>
            <a:r>
              <a:rPr lang="en-US" sz="2000" i="0" u="none" strike="noStrike" baseline="0" dirty="0">
                <a:latin typeface="Times New Roman" panose="02020603050405020304" pitchFamily="18" charset="0"/>
              </a:rPr>
              <a:t>– Documentation: An instruction manual that accompanies software. Also, a technical, detailed written description of the specific facts of a program.</a:t>
            </a:r>
          </a:p>
        </p:txBody>
      </p:sp>
    </p:spTree>
    <p:extLst>
      <p:ext uri="{BB962C8B-B14F-4D97-AF65-F5344CB8AC3E}">
        <p14:creationId xmlns:p14="http://schemas.microsoft.com/office/powerpoint/2010/main" val="2779252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8000" b="1" i="0" u="none" strike="noStrike" baseline="0" dirty="0">
                <a:latin typeface="Times New Roman" panose="02020603050405020304" pitchFamily="18" charset="0"/>
              </a:rPr>
              <a:t>INFORMATION</a:t>
            </a:r>
            <a:endParaRPr lang="en-US" sz="8000" b="1" kern="0" dirty="0"/>
          </a:p>
        </p:txBody>
      </p:sp>
      <p:sp>
        <p:nvSpPr>
          <p:cNvPr id="5" name="Rectangle 3"/>
          <p:cNvSpPr txBox="1">
            <a:spLocks noChangeArrowheads="1"/>
          </p:cNvSpPr>
          <p:nvPr/>
        </p:nvSpPr>
        <p:spPr bwMode="auto">
          <a:xfrm>
            <a:off x="429244" y="1484784"/>
            <a:ext cx="8463236"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3200" b="1" i="1" u="none" strike="noStrike" baseline="0" dirty="0">
                <a:latin typeface="Times New Roman" panose="02020603050405020304" pitchFamily="18" charset="0"/>
              </a:rPr>
              <a:t>Information: </a:t>
            </a:r>
            <a:r>
              <a:rPr lang="en-US" sz="3200" b="0" i="0" u="none" strike="noStrike" baseline="0" dirty="0">
                <a:latin typeface="Times New Roman" panose="02020603050405020304" pitchFamily="18" charset="0"/>
              </a:rPr>
              <a:t>An organized, meaningful, and useful interpretation of data.</a:t>
            </a:r>
          </a:p>
          <a:p>
            <a:pPr marL="900113" algn="l">
              <a:buFont typeface="Wingdings" panose="05000000000000000000" pitchFamily="2" charset="2"/>
              <a:buChar char="Ø"/>
            </a:pPr>
            <a:r>
              <a:rPr lang="en-US" sz="3200" b="0" i="0" u="none" strike="noStrike" baseline="0" dirty="0">
                <a:latin typeface="Times New Roman" panose="02020603050405020304" pitchFamily="18" charset="0"/>
              </a:rPr>
              <a:t>Data</a:t>
            </a:r>
          </a:p>
          <a:p>
            <a:pPr marL="900113" algn="l">
              <a:buFont typeface="Wingdings" panose="05000000000000000000" pitchFamily="2" charset="2"/>
              <a:buChar char="Ø"/>
            </a:pPr>
            <a:r>
              <a:rPr lang="en-US" sz="3200" b="0" i="0" u="none" strike="noStrike" baseline="0" dirty="0">
                <a:latin typeface="Times New Roman" panose="02020603050405020304" pitchFamily="18" charset="0"/>
              </a:rPr>
              <a:t>Text</a:t>
            </a:r>
          </a:p>
          <a:p>
            <a:pPr marL="900113" algn="l">
              <a:buFont typeface="Wingdings" panose="05000000000000000000" pitchFamily="2" charset="2"/>
              <a:buChar char="Ø"/>
            </a:pPr>
            <a:r>
              <a:rPr lang="en-US" sz="3200" b="0" i="0" u="none" strike="noStrike" baseline="0" dirty="0">
                <a:latin typeface="Times New Roman" panose="02020603050405020304" pitchFamily="18" charset="0"/>
              </a:rPr>
              <a:t>Sound</a:t>
            </a:r>
          </a:p>
          <a:p>
            <a:pPr marL="900113" algn="l">
              <a:buFont typeface="Wingdings" panose="05000000000000000000" pitchFamily="2" charset="2"/>
              <a:buChar char="Ø"/>
            </a:pPr>
            <a:r>
              <a:rPr lang="en-US" sz="3200" b="0" i="0" u="none" strike="noStrike" baseline="0" dirty="0">
                <a:latin typeface="Times New Roman" panose="02020603050405020304" pitchFamily="18" charset="0"/>
              </a:rPr>
              <a:t>Images</a:t>
            </a:r>
          </a:p>
          <a:p>
            <a:pPr algn="l"/>
            <a:r>
              <a:rPr lang="en-US" sz="3200" b="1" i="1" u="none" strike="noStrike" baseline="0" dirty="0">
                <a:latin typeface="Times New Roman" panose="02020603050405020304" pitchFamily="18" charset="0"/>
              </a:rPr>
              <a:t>Data: </a:t>
            </a:r>
            <a:r>
              <a:rPr lang="en-US" sz="3200" b="0" i="0" u="none" strike="noStrike" baseline="0" dirty="0">
                <a:latin typeface="Times New Roman" panose="02020603050405020304" pitchFamily="18" charset="0"/>
              </a:rPr>
              <a:t>Raw facts, figures, and details.</a:t>
            </a:r>
          </a:p>
          <a:p>
            <a:pPr algn="l"/>
            <a:r>
              <a:rPr lang="en-US" sz="3200" b="1" i="1" u="none" strike="noStrike" baseline="0" dirty="0">
                <a:latin typeface="Times New Roman" panose="02020603050405020304" pitchFamily="18" charset="0"/>
              </a:rPr>
              <a:t>Spoken Information: </a:t>
            </a:r>
            <a:r>
              <a:rPr lang="en-US" sz="3200" b="0" i="0" u="none" strike="noStrike" baseline="0" dirty="0">
                <a:latin typeface="Times New Roman" panose="02020603050405020304" pitchFamily="18" charset="0"/>
              </a:rPr>
              <a:t>Information that is conveyed by sound.</a:t>
            </a:r>
            <a:endParaRPr lang="en-US" sz="32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992821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628800"/>
          </a:xfrm>
        </p:spPr>
        <p:txBody>
          <a:bodyPr>
            <a:noAutofit/>
          </a:bodyPr>
          <a:lstStyle/>
          <a:p>
            <a:pPr algn="ctr"/>
            <a:r>
              <a:rPr lang="en-US" sz="5400" b="1" i="0" u="none" strike="noStrike" baseline="0" dirty="0">
                <a:latin typeface="Times New Roman" panose="02020603050405020304" pitchFamily="18" charset="0"/>
              </a:rPr>
              <a:t>FOUR COMPONENTS </a:t>
            </a:r>
            <a:br>
              <a:rPr lang="en-US" sz="5400" b="1" i="0" u="none" strike="noStrike" baseline="0" dirty="0">
                <a:latin typeface="Times New Roman" panose="02020603050405020304" pitchFamily="18" charset="0"/>
              </a:rPr>
            </a:br>
            <a:r>
              <a:rPr lang="en-US" sz="5400" b="1" i="0" u="none" strike="noStrike" baseline="0" dirty="0">
                <a:latin typeface="Times New Roman" panose="02020603050405020304" pitchFamily="18" charset="0"/>
              </a:rPr>
              <a:t>OF INFORMATION</a:t>
            </a:r>
            <a:endParaRPr lang="en-US" sz="5400" b="1" kern="0" dirty="0"/>
          </a:p>
        </p:txBody>
      </p:sp>
      <p:pic>
        <p:nvPicPr>
          <p:cNvPr id="3" name="Picture 2">
            <a:extLst>
              <a:ext uri="{FF2B5EF4-FFF2-40B4-BE49-F238E27FC236}">
                <a16:creationId xmlns:a16="http://schemas.microsoft.com/office/drawing/2014/main" id="{C9268E38-E2EE-446A-9CD6-0C723F391EF0}"/>
              </a:ext>
            </a:extLst>
          </p:cNvPr>
          <p:cNvPicPr>
            <a:picLocks noChangeAspect="1"/>
          </p:cNvPicPr>
          <p:nvPr/>
        </p:nvPicPr>
        <p:blipFill>
          <a:blip r:embed="rId2"/>
          <a:stretch>
            <a:fillRect/>
          </a:stretch>
        </p:blipFill>
        <p:spPr>
          <a:xfrm>
            <a:off x="467544" y="1412776"/>
            <a:ext cx="8142753" cy="5373216"/>
          </a:xfrm>
          <a:prstGeom prst="rect">
            <a:avLst/>
          </a:prstGeom>
        </p:spPr>
      </p:pic>
    </p:spTree>
    <p:extLst>
      <p:ext uri="{BB962C8B-B14F-4D97-AF65-F5344CB8AC3E}">
        <p14:creationId xmlns:p14="http://schemas.microsoft.com/office/powerpoint/2010/main" val="2174192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4000" b="1" i="0" u="none" strike="noStrike" baseline="0" dirty="0">
                <a:latin typeface="Times New Roman" panose="02020603050405020304" pitchFamily="18" charset="0"/>
              </a:rPr>
              <a:t>IT USERS AND PROFESSIONALS</a:t>
            </a:r>
            <a:endParaRPr lang="en-US" sz="4000" b="1" kern="0" dirty="0"/>
          </a:p>
        </p:txBody>
      </p:sp>
      <p:sp>
        <p:nvSpPr>
          <p:cNvPr id="5" name="Rectangle 3"/>
          <p:cNvSpPr txBox="1">
            <a:spLocks noChangeArrowheads="1"/>
          </p:cNvSpPr>
          <p:nvPr/>
        </p:nvSpPr>
        <p:spPr bwMode="auto">
          <a:xfrm>
            <a:off x="429244" y="1484784"/>
            <a:ext cx="8463236"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buFont typeface="Wingdings" panose="05000000000000000000" pitchFamily="2" charset="2"/>
              <a:buChar char="q"/>
            </a:pPr>
            <a:r>
              <a:rPr lang="en-US" sz="1800" i="0" u="none" strike="noStrike" baseline="0" dirty="0">
                <a:latin typeface="Times New Roman" panose="02020603050405020304" pitchFamily="18" charset="0"/>
              </a:rPr>
              <a:t>The following are the users </a:t>
            </a:r>
            <a:r>
              <a:rPr lang="en-US" sz="1800" b="1" i="0" u="none" strike="noStrike" baseline="0" dirty="0">
                <a:latin typeface="Times New Roman" panose="02020603050405020304" pitchFamily="18" charset="0"/>
              </a:rPr>
              <a:t>of IT resources</a:t>
            </a:r>
            <a:r>
              <a:rPr lang="en-US" sz="1800" i="0" u="none" strike="noStrike" baseline="0" dirty="0">
                <a:latin typeface="Times New Roman" panose="02020603050405020304" pitchFamily="18" charset="0"/>
              </a:rPr>
              <a:t>:</a:t>
            </a:r>
          </a:p>
          <a:p>
            <a:pPr marL="9001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Hands-on users:</a:t>
            </a:r>
            <a:r>
              <a:rPr lang="en-US" sz="1800" i="0" u="none" strike="noStrike" baseline="0" dirty="0">
                <a:latin typeface="Times New Roman" panose="02020603050405020304" pitchFamily="18" charset="0"/>
              </a:rPr>
              <a:t> these are the people who use computers or communications systems directly, interacting with them to enter data, do processing, store and retrieve information, transmit details, or produce output.</a:t>
            </a:r>
          </a:p>
          <a:p>
            <a:pPr marL="9001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Indirect end users:</a:t>
            </a:r>
            <a:r>
              <a:rPr lang="en-US" sz="1800" i="0" u="none" strike="noStrike" baseline="0" dirty="0">
                <a:latin typeface="Times New Roman" panose="02020603050405020304" pitchFamily="18" charset="0"/>
              </a:rPr>
              <a:t> these individuals do not directly operate a computer but benefit from IT as the recipients of reports, electronic messages, communications, or multimedia presentations.</a:t>
            </a:r>
          </a:p>
          <a:p>
            <a:pPr marL="9001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User managers:</a:t>
            </a:r>
            <a:r>
              <a:rPr lang="en-US" sz="1800" i="0" u="none" strike="noStrike" baseline="0" dirty="0">
                <a:latin typeface="Times New Roman" panose="02020603050405020304" pitchFamily="18" charset="0"/>
              </a:rPr>
              <a:t> people who have supervisory responsibility for activities that involve or are affected by IT are known as user managers.</a:t>
            </a:r>
          </a:p>
          <a:p>
            <a:pPr marL="900113" algn="just">
              <a:lnSpc>
                <a:spcPct val="150000"/>
              </a:lnSpc>
              <a:buFont typeface="Wingdings" panose="05000000000000000000" pitchFamily="2" charset="2"/>
              <a:buChar char="Ø"/>
            </a:pPr>
            <a:r>
              <a:rPr lang="en-US" sz="1800" b="1" i="0" u="none" strike="noStrike" baseline="0" dirty="0">
                <a:latin typeface="Times New Roman" panose="02020603050405020304" pitchFamily="18" charset="0"/>
              </a:rPr>
              <a:t>Senior managers:</a:t>
            </a:r>
            <a:r>
              <a:rPr lang="en-US" sz="1800" i="0" u="none" strike="noStrike" baseline="0" dirty="0">
                <a:latin typeface="Times New Roman" panose="02020603050405020304" pitchFamily="18" charset="0"/>
              </a:rPr>
              <a:t> these managers evaluate the organization's dependence on IT and identify the problems that could arise if appropriate operating procedures are not established or followed.</a:t>
            </a:r>
          </a:p>
        </p:txBody>
      </p:sp>
    </p:spTree>
    <p:extLst>
      <p:ext uri="{BB962C8B-B14F-4D97-AF65-F5344CB8AC3E}">
        <p14:creationId xmlns:p14="http://schemas.microsoft.com/office/powerpoint/2010/main" val="27719807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4000" b="1" i="0" u="none" strike="noStrike" baseline="0" dirty="0">
                <a:latin typeface="Times New Roman" panose="02020603050405020304" pitchFamily="18" charset="0"/>
              </a:rPr>
              <a:t>IT USERS AND PROFESSIONALS</a:t>
            </a:r>
            <a:endParaRPr lang="en-US" sz="4000" b="1" kern="0" dirty="0"/>
          </a:p>
        </p:txBody>
      </p:sp>
      <p:sp>
        <p:nvSpPr>
          <p:cNvPr id="5" name="Rectangle 3"/>
          <p:cNvSpPr txBox="1">
            <a:spLocks noChangeArrowheads="1"/>
          </p:cNvSpPr>
          <p:nvPr/>
        </p:nvSpPr>
        <p:spPr bwMode="auto">
          <a:xfrm>
            <a:off x="395536" y="1484784"/>
            <a:ext cx="8463236"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buFont typeface="Wingdings" panose="05000000000000000000" pitchFamily="2" charset="2"/>
              <a:buChar char="q"/>
            </a:pPr>
            <a:r>
              <a:rPr lang="en-US" sz="2000" b="1" i="0" u="none" strike="noStrike" baseline="0" dirty="0">
                <a:latin typeface="Times New Roman" panose="02020603050405020304" pitchFamily="18" charset="0"/>
              </a:rPr>
              <a:t>Information Technology Professional</a:t>
            </a:r>
            <a:r>
              <a:rPr lang="en-US" sz="2000" i="0" u="none" strike="noStrike" baseline="0" dirty="0">
                <a:latin typeface="Times New Roman" panose="02020603050405020304" pitchFamily="18" charset="0"/>
              </a:rPr>
              <a:t> is a person who is responsible for acquiring developing, maintaining, or operating the hardware associated with </a:t>
            </a:r>
            <a:r>
              <a:rPr lang="en-US" sz="2000" b="1" i="0" u="none" strike="noStrike" baseline="0" dirty="0">
                <a:latin typeface="Times New Roman" panose="02020603050405020304" pitchFamily="18" charset="0"/>
              </a:rPr>
              <a:t>computers and communications networks. </a:t>
            </a:r>
          </a:p>
          <a:p>
            <a:pPr algn="just">
              <a:lnSpc>
                <a:spcPct val="150000"/>
              </a:lnSpc>
              <a:buFont typeface="Wingdings" panose="05000000000000000000" pitchFamily="2" charset="2"/>
              <a:buChar char="q"/>
            </a:pPr>
            <a:r>
              <a:rPr lang="en-US" sz="2000" i="0" u="none" strike="noStrike" baseline="0" dirty="0">
                <a:latin typeface="Times New Roman" panose="02020603050405020304" pitchFamily="18" charset="0"/>
              </a:rPr>
              <a:t>They are:</a:t>
            </a:r>
          </a:p>
          <a:p>
            <a:pPr marL="71437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Programmers:</a:t>
            </a:r>
            <a:r>
              <a:rPr lang="en-US" sz="1900" i="0" u="none" strike="noStrike" baseline="0" dirty="0">
                <a:latin typeface="Times New Roman" panose="02020603050405020304" pitchFamily="18" charset="0"/>
              </a:rPr>
              <a:t> write codes using programming languages to solve problems.</a:t>
            </a:r>
          </a:p>
          <a:p>
            <a:pPr marL="71437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Systems Analysts:</a:t>
            </a:r>
            <a:r>
              <a:rPr lang="en-US" sz="1900" i="0" u="none" strike="noStrike" baseline="0" dirty="0">
                <a:latin typeface="Times New Roman" panose="02020603050405020304" pitchFamily="18" charset="0"/>
              </a:rPr>
              <a:t> work with users to determine the requirements an application must meet.</a:t>
            </a:r>
          </a:p>
          <a:p>
            <a:pPr marL="71437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System Designers:</a:t>
            </a:r>
            <a:r>
              <a:rPr lang="en-US" sz="1900" i="0" u="none" strike="noStrike" baseline="0" dirty="0">
                <a:latin typeface="Times New Roman" panose="02020603050405020304" pitchFamily="18" charset="0"/>
              </a:rPr>
              <a:t> they formulate application specification and design the features of custom software.</a:t>
            </a:r>
          </a:p>
          <a:p>
            <a:pPr marL="714375"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Web Designers:</a:t>
            </a:r>
            <a:r>
              <a:rPr lang="en-US" sz="1900" i="0" u="none" strike="noStrike" baseline="0" dirty="0">
                <a:latin typeface="Times New Roman" panose="02020603050405020304" pitchFamily="18" charset="0"/>
              </a:rPr>
              <a:t> these are specialists who focus primarily on developing applications for the internet and the World Wide Web.</a:t>
            </a:r>
          </a:p>
          <a:p>
            <a:pPr marL="900113" algn="just">
              <a:lnSpc>
                <a:spcPct val="150000"/>
              </a:lnSpc>
              <a:buFont typeface="Wingdings" panose="05000000000000000000" pitchFamily="2" charset="2"/>
              <a:buChar char="Ø"/>
            </a:pPr>
            <a:endParaRPr lang="en-US" sz="20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407941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4000" b="1" i="0" u="none" strike="noStrike" baseline="0" dirty="0">
                <a:latin typeface="Times New Roman" panose="02020603050405020304" pitchFamily="18" charset="0"/>
              </a:rPr>
              <a:t>IT USERS AND PROFESSIONALS</a:t>
            </a:r>
            <a:endParaRPr lang="en-US" sz="4000" b="1" kern="0" dirty="0"/>
          </a:p>
        </p:txBody>
      </p:sp>
      <p:sp>
        <p:nvSpPr>
          <p:cNvPr id="5" name="Rectangle 3"/>
          <p:cNvSpPr txBox="1">
            <a:spLocks noChangeArrowheads="1"/>
          </p:cNvSpPr>
          <p:nvPr/>
        </p:nvSpPr>
        <p:spPr bwMode="auto">
          <a:xfrm>
            <a:off x="395536" y="1484784"/>
            <a:ext cx="85072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542925" indent="-357188"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Project Managers:</a:t>
            </a:r>
            <a:r>
              <a:rPr lang="en-US" sz="1900" i="0" u="none" strike="noStrike" baseline="0" dirty="0">
                <a:latin typeface="Times New Roman" panose="02020603050405020304" pitchFamily="18" charset="0"/>
              </a:rPr>
              <a:t> coordinate the development of a project and manage the team of programmer / analyst.</a:t>
            </a:r>
          </a:p>
          <a:p>
            <a:pPr marL="542925" indent="-357188"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Network Specialists:</a:t>
            </a:r>
            <a:r>
              <a:rPr lang="en-US" sz="1900" i="0" u="none" strike="noStrike" baseline="0" dirty="0">
                <a:latin typeface="Times New Roman" panose="02020603050405020304" pitchFamily="18" charset="0"/>
              </a:rPr>
              <a:t> design, operate, and manage computer communications networks, including networks that interconnect with the internet.</a:t>
            </a:r>
          </a:p>
          <a:p>
            <a:pPr marL="542925" indent="-357188"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Trainers:</a:t>
            </a:r>
            <a:r>
              <a:rPr lang="en-US" sz="1900" i="0" u="none" strike="noStrike" baseline="0" dirty="0">
                <a:latin typeface="Times New Roman" panose="02020603050405020304" pitchFamily="18" charset="0"/>
              </a:rPr>
              <a:t> work with end users, helping them to become comfortable with and skilled at using hardware and software.</a:t>
            </a:r>
          </a:p>
          <a:p>
            <a:pPr marL="542925" indent="-357188" algn="just">
              <a:lnSpc>
                <a:spcPct val="150000"/>
              </a:lnSpc>
              <a:buFont typeface="Wingdings" panose="05000000000000000000" pitchFamily="2" charset="2"/>
              <a:buChar char="Ø"/>
            </a:pPr>
            <a:r>
              <a:rPr lang="en-US" sz="1900" b="1" i="0" u="none" strike="noStrike" baseline="0" dirty="0">
                <a:latin typeface="Times New Roman" panose="02020603050405020304" pitchFamily="18" charset="0"/>
              </a:rPr>
              <a:t>Computer Operators:</a:t>
            </a:r>
            <a:r>
              <a:rPr lang="en-US" sz="1900" i="0" u="none" strike="noStrike" baseline="0" dirty="0">
                <a:latin typeface="Times New Roman" panose="02020603050405020304" pitchFamily="18" charset="0"/>
              </a:rPr>
              <a:t> oversee the operations of computers in data centers. They also perform support activities, such as starting applications, loading magnetic tapes, and any other job that will ensure the smooth operation of the computer facilities.</a:t>
            </a:r>
          </a:p>
        </p:txBody>
      </p:sp>
    </p:spTree>
    <p:extLst>
      <p:ext uri="{BB962C8B-B14F-4D97-AF65-F5344CB8AC3E}">
        <p14:creationId xmlns:p14="http://schemas.microsoft.com/office/powerpoint/2010/main" val="2324872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6600" b="1" i="0" u="none" strike="noStrike" baseline="0" dirty="0">
                <a:latin typeface="Times New Roman" panose="02020603050405020304" pitchFamily="18" charset="0"/>
              </a:rPr>
              <a:t>IT PROCEDURES</a:t>
            </a:r>
            <a:endParaRPr lang="en-US" sz="6600" b="1" kern="0" dirty="0"/>
          </a:p>
        </p:txBody>
      </p:sp>
      <p:sp>
        <p:nvSpPr>
          <p:cNvPr id="5" name="Rectangle 3"/>
          <p:cNvSpPr txBox="1">
            <a:spLocks noChangeArrowheads="1"/>
          </p:cNvSpPr>
          <p:nvPr/>
        </p:nvSpPr>
        <p:spPr bwMode="auto">
          <a:xfrm>
            <a:off x="457200" y="1484784"/>
            <a:ext cx="8167936"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100" b="0" i="0" u="none" strike="noStrike" baseline="0" dirty="0">
                <a:latin typeface="Times New Roman" panose="02020603050405020304" pitchFamily="18" charset="0"/>
              </a:rPr>
              <a:t>A Procedure is a step-by-step process or a set of instructions for accomplishing specific results. </a:t>
            </a:r>
          </a:p>
          <a:p>
            <a:pPr algn="l"/>
            <a:r>
              <a:rPr lang="en-US" sz="2100" b="0" i="0" u="none" strike="noStrike" baseline="0" dirty="0">
                <a:latin typeface="Times New Roman" panose="02020603050405020304" pitchFamily="18" charset="0"/>
              </a:rPr>
              <a:t>These are: Operations, Backup and Recovery, Security, Development.</a:t>
            </a:r>
          </a:p>
        </p:txBody>
      </p:sp>
      <p:pic>
        <p:nvPicPr>
          <p:cNvPr id="3" name="Picture 2">
            <a:extLst>
              <a:ext uri="{FF2B5EF4-FFF2-40B4-BE49-F238E27FC236}">
                <a16:creationId xmlns:a16="http://schemas.microsoft.com/office/drawing/2014/main" id="{751316F7-E8F6-4560-9BDE-E2CC75360816}"/>
              </a:ext>
            </a:extLst>
          </p:cNvPr>
          <p:cNvPicPr>
            <a:picLocks noChangeAspect="1"/>
          </p:cNvPicPr>
          <p:nvPr/>
        </p:nvPicPr>
        <p:blipFill>
          <a:blip r:embed="rId2"/>
          <a:stretch>
            <a:fillRect/>
          </a:stretch>
        </p:blipFill>
        <p:spPr>
          <a:xfrm>
            <a:off x="683568" y="2609459"/>
            <a:ext cx="7560840" cy="4131909"/>
          </a:xfrm>
          <a:prstGeom prst="rect">
            <a:avLst/>
          </a:prstGeom>
        </p:spPr>
      </p:pic>
    </p:spTree>
    <p:extLst>
      <p:ext uri="{BB962C8B-B14F-4D97-AF65-F5344CB8AC3E}">
        <p14:creationId xmlns:p14="http://schemas.microsoft.com/office/powerpoint/2010/main" val="1681585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296144"/>
          </a:xfrm>
        </p:spPr>
        <p:txBody>
          <a:bodyPr>
            <a:noAutofit/>
          </a:bodyPr>
          <a:lstStyle/>
          <a:p>
            <a:pPr algn="ctr"/>
            <a:r>
              <a:rPr lang="en-US" sz="6600" b="1" i="0" u="none" strike="noStrike" baseline="0" dirty="0">
                <a:latin typeface="Times New Roman" panose="02020603050405020304" pitchFamily="18" charset="0"/>
              </a:rPr>
              <a:t>IT PROCEDURES</a:t>
            </a:r>
            <a:endParaRPr lang="en-US" sz="6600" b="1" kern="0" dirty="0"/>
          </a:p>
        </p:txBody>
      </p:sp>
      <p:sp>
        <p:nvSpPr>
          <p:cNvPr id="5" name="Rectangle 3"/>
          <p:cNvSpPr txBox="1">
            <a:spLocks noChangeArrowheads="1"/>
          </p:cNvSpPr>
          <p:nvPr/>
        </p:nvSpPr>
        <p:spPr bwMode="auto">
          <a:xfrm>
            <a:off x="395536" y="1484784"/>
            <a:ext cx="85072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000" b="0" i="0" u="none" strike="noStrike" baseline="0" dirty="0">
                <a:latin typeface="Times New Roman" panose="02020603050405020304" pitchFamily="18" charset="0"/>
              </a:rPr>
              <a:t>A Procedure is a step-by-step process or a set of instructions for accomplishing specific results. </a:t>
            </a:r>
          </a:p>
          <a:p>
            <a:pPr algn="l"/>
            <a:r>
              <a:rPr lang="en-US" sz="2000" b="0" i="0" u="none" strike="noStrike" baseline="0" dirty="0">
                <a:latin typeface="Times New Roman" panose="02020603050405020304" pitchFamily="18" charset="0"/>
              </a:rPr>
              <a:t>These are: Operations, Backup and Recovery, Security, Development.</a:t>
            </a:r>
          </a:p>
          <a:p>
            <a:pPr marL="714375" algn="l">
              <a:buFont typeface="Wingdings" panose="05000000000000000000" pitchFamily="2" charset="2"/>
              <a:buChar char="Ø"/>
            </a:pPr>
            <a:r>
              <a:rPr lang="en-US" sz="2000" b="1" i="0" u="none" strike="noStrike" baseline="0" dirty="0">
                <a:latin typeface="Times New Roman" panose="02020603050405020304" pitchFamily="18" charset="0"/>
              </a:rPr>
              <a:t>Operations Procedure: </a:t>
            </a:r>
            <a:r>
              <a:rPr lang="en-US" sz="2000" b="0" i="0" u="none" strike="noStrike" baseline="0" dirty="0">
                <a:latin typeface="Times New Roman" panose="02020603050405020304" pitchFamily="18" charset="0"/>
              </a:rPr>
              <a:t>A procedure that describes how a computer system or application is used, how often it can be used, who is authorized to use it, and where the results of processing should go.</a:t>
            </a:r>
          </a:p>
          <a:p>
            <a:pPr marL="714375" algn="l">
              <a:buFont typeface="Wingdings" panose="05000000000000000000" pitchFamily="2" charset="2"/>
              <a:buChar char="Ø"/>
            </a:pPr>
            <a:r>
              <a:rPr lang="en-US" sz="2000" b="1" i="1" u="none" strike="noStrike" baseline="0" dirty="0">
                <a:latin typeface="Times New Roman" panose="02020603050405020304" pitchFamily="18" charset="0"/>
              </a:rPr>
              <a:t>Backup Procedure: </a:t>
            </a:r>
            <a:r>
              <a:rPr lang="en-US" sz="2000" b="0" i="0" u="none" strike="noStrike" baseline="0" dirty="0">
                <a:latin typeface="Times New Roman" panose="02020603050405020304" pitchFamily="18" charset="0"/>
              </a:rPr>
              <a:t>A procedure that describes how and when to make extra copies of information or software to protect against losses.</a:t>
            </a:r>
          </a:p>
          <a:p>
            <a:pPr marL="714375" algn="l">
              <a:buFont typeface="Wingdings" panose="05000000000000000000" pitchFamily="2" charset="2"/>
              <a:buChar char="Ø"/>
            </a:pPr>
            <a:r>
              <a:rPr lang="en-US" sz="2000" b="1" i="1" u="none" strike="noStrike" baseline="0" dirty="0">
                <a:latin typeface="Times New Roman" panose="02020603050405020304" pitchFamily="18" charset="0"/>
              </a:rPr>
              <a:t>Recovery Procedure: </a:t>
            </a:r>
            <a:r>
              <a:rPr lang="en-US" sz="2000" b="0" i="0" u="none" strike="noStrike" baseline="0" dirty="0">
                <a:latin typeface="Times New Roman" panose="02020603050405020304" pitchFamily="18" charset="0"/>
              </a:rPr>
              <a:t>An action taken when information or software must be restored.</a:t>
            </a:r>
          </a:p>
          <a:p>
            <a:pPr marL="714375" algn="l">
              <a:buFont typeface="Wingdings" panose="05000000000000000000" pitchFamily="2" charset="2"/>
              <a:buChar char="Ø"/>
            </a:pPr>
            <a:r>
              <a:rPr lang="en-US" sz="2000" b="1" i="1" u="none" strike="noStrike" baseline="0" dirty="0">
                <a:latin typeface="Times New Roman" panose="02020603050405020304" pitchFamily="18" charset="0"/>
              </a:rPr>
              <a:t>Security Procedure: </a:t>
            </a:r>
            <a:r>
              <a:rPr lang="en-US" sz="2000" b="0" i="0" u="none" strike="noStrike" baseline="0" dirty="0">
                <a:latin typeface="Times New Roman" panose="02020603050405020304" pitchFamily="18" charset="0"/>
              </a:rPr>
              <a:t>A procedure designed to safeguard data centers, communications networks, computers, and other IT components from accidental intrusion or intentional damage.</a:t>
            </a:r>
          </a:p>
          <a:p>
            <a:pPr marL="714375" algn="l">
              <a:buFont typeface="Wingdings" panose="05000000000000000000" pitchFamily="2" charset="2"/>
              <a:buChar char="Ø"/>
            </a:pPr>
            <a:r>
              <a:rPr lang="en-US" sz="2000" b="1" i="1" u="none" strike="noStrike" baseline="0" dirty="0">
                <a:latin typeface="Times New Roman" panose="02020603050405020304" pitchFamily="18" charset="0"/>
              </a:rPr>
              <a:t>Security Software: </a:t>
            </a:r>
            <a:r>
              <a:rPr lang="en-US" sz="2000" b="0" i="0" u="none" strike="noStrike" baseline="0" dirty="0">
                <a:latin typeface="Times New Roman" panose="02020603050405020304" pitchFamily="18" charset="0"/>
              </a:rPr>
              <a:t>Software that is designed to protect systems and data.</a:t>
            </a:r>
          </a:p>
          <a:p>
            <a:pPr marL="714375" algn="l">
              <a:buFont typeface="Wingdings" panose="05000000000000000000" pitchFamily="2" charset="2"/>
              <a:buChar char="Ø"/>
            </a:pPr>
            <a:r>
              <a:rPr lang="en-US" sz="2000" b="1" i="1" u="none" strike="noStrike" baseline="0" dirty="0">
                <a:latin typeface="Times New Roman" panose="02020603050405020304" pitchFamily="18" charset="0"/>
              </a:rPr>
              <a:t>Development Procedure: </a:t>
            </a:r>
            <a:r>
              <a:rPr lang="en-US" sz="2000" b="0" i="0" u="none" strike="noStrike" baseline="0" dirty="0">
                <a:latin typeface="Times New Roman" panose="02020603050405020304" pitchFamily="18" charset="0"/>
              </a:rPr>
              <a:t>A procedure that explains how IT professionals should describe user needs and develop applications to meet those needs.</a:t>
            </a:r>
            <a:endParaRPr lang="en-US" sz="20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738705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4800" b="1" i="0" u="none" strike="noStrike" baseline="0" dirty="0">
                <a:latin typeface="Times New Roman" panose="02020603050405020304" pitchFamily="18" charset="0"/>
              </a:rPr>
              <a:t>AN INTRODUCTION TO SYSTEMS</a:t>
            </a:r>
            <a:endParaRPr lang="en-US" sz="4800" b="1" kern="0" dirty="0"/>
          </a:p>
        </p:txBody>
      </p:sp>
      <p:sp>
        <p:nvSpPr>
          <p:cNvPr id="5" name="Rectangle 3"/>
          <p:cNvSpPr txBox="1">
            <a:spLocks noChangeArrowheads="1"/>
          </p:cNvSpPr>
          <p:nvPr/>
        </p:nvSpPr>
        <p:spPr bwMode="auto">
          <a:xfrm>
            <a:off x="539552" y="1484784"/>
            <a:ext cx="7947223"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100" b="0" i="0" u="none" strike="noStrike" baseline="0" dirty="0">
                <a:latin typeface="Times New Roman" panose="02020603050405020304" pitchFamily="18" charset="0"/>
              </a:rPr>
              <a:t>A System is a set of components that interact to accomplish a purpose.</a:t>
            </a:r>
          </a:p>
          <a:p>
            <a:pPr marL="900113" algn="l">
              <a:buFont typeface="Wingdings" panose="05000000000000000000" pitchFamily="2" charset="2"/>
              <a:buChar char="Ø"/>
            </a:pPr>
            <a:r>
              <a:rPr lang="en-US" sz="2100" b="1" i="0" u="none" strike="noStrike" baseline="0" dirty="0">
                <a:latin typeface="Times New Roman" panose="02020603050405020304" pitchFamily="18" charset="0"/>
              </a:rPr>
              <a:t>Single-User System (Personal Computer)</a:t>
            </a:r>
            <a:r>
              <a:rPr lang="en-US" sz="2100" b="0" i="0" u="none" strike="noStrike" baseline="0" dirty="0">
                <a:latin typeface="Times New Roman" panose="02020603050405020304" pitchFamily="18" charset="0"/>
              </a:rPr>
              <a:t>: </a:t>
            </a:r>
          </a:p>
          <a:p>
            <a:pPr marL="900113" indent="0" algn="l">
              <a:buNone/>
            </a:pPr>
            <a:r>
              <a:rPr lang="en-US" sz="2100" b="0" i="0" u="none" strike="noStrike" baseline="0" dirty="0">
                <a:latin typeface="Times New Roman" panose="02020603050405020304" pitchFamily="18" charset="0"/>
              </a:rPr>
              <a:t>An IT system used by only one person. A system that stands alone and is not interconnected with other companies or shared by other people.</a:t>
            </a:r>
          </a:p>
          <a:p>
            <a:pPr marL="900113" algn="l">
              <a:buFont typeface="Wingdings" panose="05000000000000000000" pitchFamily="2" charset="2"/>
              <a:buChar char="Ø"/>
            </a:pPr>
            <a:r>
              <a:rPr lang="en-US" sz="2100" b="1" i="0" u="none" strike="noStrike" baseline="0" dirty="0">
                <a:latin typeface="Times New Roman" panose="02020603050405020304" pitchFamily="18" charset="0"/>
              </a:rPr>
              <a:t>Multi-user System:</a:t>
            </a:r>
            <a:r>
              <a:rPr lang="en-US" sz="2100" b="0" i="0" u="none" strike="noStrike" baseline="0" dirty="0">
                <a:latin typeface="Times New Roman" panose="02020603050405020304" pitchFamily="18" charset="0"/>
              </a:rPr>
              <a:t> </a:t>
            </a:r>
          </a:p>
          <a:p>
            <a:pPr marL="900113" indent="0" algn="l">
              <a:buNone/>
            </a:pPr>
            <a:r>
              <a:rPr lang="en-US" sz="2100" b="0" i="0" u="none" strike="noStrike" baseline="0" dirty="0">
                <a:latin typeface="Times New Roman" panose="02020603050405020304" pitchFamily="18" charset="0"/>
              </a:rPr>
              <a:t>A communication system in which more than one user share hardware, programs, information, people, and procedures.</a:t>
            </a:r>
          </a:p>
          <a:p>
            <a:pPr marL="1343025" indent="0" algn="l">
              <a:buNone/>
            </a:pPr>
            <a:r>
              <a:rPr lang="en-US" sz="2100" b="0" i="0" u="none" strike="noStrike" baseline="0" dirty="0">
                <a:latin typeface="Times New Roman" panose="02020603050405020304" pitchFamily="18" charset="0"/>
              </a:rPr>
              <a:t>– To share a computer</a:t>
            </a:r>
          </a:p>
          <a:p>
            <a:pPr marL="1343025" indent="0" algn="l">
              <a:buNone/>
            </a:pPr>
            <a:r>
              <a:rPr lang="en-US" sz="2100" b="0" i="0" u="none" strike="noStrike" baseline="0" dirty="0">
                <a:latin typeface="Times New Roman" panose="02020603050405020304" pitchFamily="18" charset="0"/>
              </a:rPr>
              <a:t>– To share hardware</a:t>
            </a:r>
          </a:p>
          <a:p>
            <a:pPr marL="1343025" indent="0" algn="l">
              <a:buNone/>
            </a:pPr>
            <a:r>
              <a:rPr lang="en-US" sz="2100" b="0" i="0" u="none" strike="noStrike" baseline="0" dirty="0">
                <a:latin typeface="Times New Roman" panose="02020603050405020304" pitchFamily="18" charset="0"/>
              </a:rPr>
              <a:t>– To share software</a:t>
            </a:r>
          </a:p>
          <a:p>
            <a:pPr marL="1343025" indent="0" algn="l">
              <a:buNone/>
            </a:pPr>
            <a:r>
              <a:rPr lang="en-US" sz="2100" b="0" i="0" u="none" strike="noStrike" baseline="0" dirty="0">
                <a:latin typeface="Times New Roman" panose="02020603050405020304" pitchFamily="18" charset="0"/>
              </a:rPr>
              <a:t>– To share information</a:t>
            </a:r>
          </a:p>
          <a:p>
            <a:pPr marL="1343025" indent="0" algn="l">
              <a:buNone/>
            </a:pPr>
            <a:r>
              <a:rPr lang="en-US" sz="2100" b="0" i="0" u="none" strike="noStrike" baseline="0" dirty="0">
                <a:latin typeface="Times New Roman" panose="02020603050405020304" pitchFamily="18" charset="0"/>
              </a:rPr>
              <a:t>– To share communications</a:t>
            </a:r>
          </a:p>
        </p:txBody>
      </p:sp>
    </p:spTree>
    <p:extLst>
      <p:ext uri="{BB962C8B-B14F-4D97-AF65-F5344CB8AC3E}">
        <p14:creationId xmlns:p14="http://schemas.microsoft.com/office/powerpoint/2010/main" val="1176694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i="0" u="none" strike="noStrike" baseline="0" dirty="0">
                <a:latin typeface="Times New Roman" panose="02020603050405020304" pitchFamily="18" charset="0"/>
              </a:rPr>
              <a:t>CONCLUSION</a:t>
            </a:r>
            <a:endParaRPr lang="en-US" sz="7200" b="1" kern="0" dirty="0"/>
          </a:p>
        </p:txBody>
      </p:sp>
      <p:sp>
        <p:nvSpPr>
          <p:cNvPr id="5" name="Rectangle 3"/>
          <p:cNvSpPr txBox="1">
            <a:spLocks noChangeArrowheads="1"/>
          </p:cNvSpPr>
          <p:nvPr/>
        </p:nvSpPr>
        <p:spPr bwMode="auto">
          <a:xfrm>
            <a:off x="539552" y="1484784"/>
            <a:ext cx="7947223"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100" b="0" i="0" u="none" strike="noStrike" baseline="0" dirty="0">
                <a:latin typeface="Times New Roman" panose="02020603050405020304" pitchFamily="18" charset="0"/>
              </a:rPr>
              <a:t>A computer is a device used in computing data into information. It can be used as a stand alone system or as a communication system comprising of five components, namely: hardware, programs, information, people, and procedures. </a:t>
            </a:r>
          </a:p>
          <a:p>
            <a:pPr marL="0" indent="0" algn="just">
              <a:lnSpc>
                <a:spcPct val="200000"/>
              </a:lnSpc>
              <a:buNone/>
            </a:pPr>
            <a:r>
              <a:rPr lang="en-US" sz="2100" b="0" i="0" u="none" strike="noStrike" baseline="0" dirty="0">
                <a:latin typeface="Times New Roman" panose="02020603050405020304" pitchFamily="18" charset="0"/>
              </a:rPr>
              <a:t>The components interact with each other to achieve a business set goal.</a:t>
            </a:r>
          </a:p>
        </p:txBody>
      </p:sp>
    </p:spTree>
    <p:extLst>
      <p:ext uri="{BB962C8B-B14F-4D97-AF65-F5344CB8AC3E}">
        <p14:creationId xmlns:p14="http://schemas.microsoft.com/office/powerpoint/2010/main" val="37651713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i="0" u="none" strike="noStrike" baseline="0" dirty="0">
                <a:latin typeface="Times New Roman" panose="02020603050405020304" pitchFamily="18" charset="0"/>
              </a:rPr>
              <a:t>SUMMARY</a:t>
            </a:r>
            <a:endParaRPr lang="en-US" sz="7200" b="1" kern="0" dirty="0"/>
          </a:p>
        </p:txBody>
      </p:sp>
      <p:sp>
        <p:nvSpPr>
          <p:cNvPr id="5" name="Rectangle 3"/>
          <p:cNvSpPr txBox="1">
            <a:spLocks noChangeArrowheads="1"/>
          </p:cNvSpPr>
          <p:nvPr/>
        </p:nvSpPr>
        <p:spPr bwMode="auto">
          <a:xfrm>
            <a:off x="539552" y="1484784"/>
            <a:ext cx="7947223"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100" b="0" i="0" u="none" strike="noStrike" baseline="0" dirty="0">
                <a:latin typeface="Times New Roman" panose="02020603050405020304" pitchFamily="18" charset="0"/>
              </a:rPr>
              <a:t>In this unit, you learnt that while hardware and software are the essential components of computing, the real reason for using them is to produce the information that people need. </a:t>
            </a:r>
          </a:p>
          <a:p>
            <a:pPr marL="0" indent="0" algn="just">
              <a:lnSpc>
                <a:spcPct val="200000"/>
              </a:lnSpc>
              <a:buNone/>
            </a:pPr>
            <a:r>
              <a:rPr lang="en-US" sz="2100" b="0" i="0" u="none" strike="noStrike" baseline="0" dirty="0">
                <a:latin typeface="Times New Roman" panose="02020603050405020304" pitchFamily="18" charset="0"/>
              </a:rPr>
              <a:t>The information processing and information handling functions of IT are the means by which these components deliver useful results to their users.</a:t>
            </a:r>
          </a:p>
        </p:txBody>
      </p:sp>
    </p:spTree>
    <p:extLst>
      <p:ext uri="{BB962C8B-B14F-4D97-AF65-F5344CB8AC3E}">
        <p14:creationId xmlns:p14="http://schemas.microsoft.com/office/powerpoint/2010/main" val="3573826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300" b="0" i="0" u="none" strike="noStrike" baseline="0" dirty="0">
                <a:latin typeface="Times New Roman" panose="02020603050405020304" pitchFamily="18" charset="0"/>
              </a:rPr>
              <a:t>a. List the four categories of hardware with examples.</a:t>
            </a:r>
          </a:p>
          <a:p>
            <a:pPr marL="0" indent="0" algn="just">
              <a:lnSpc>
                <a:spcPct val="200000"/>
              </a:lnSpc>
              <a:buNone/>
            </a:pPr>
            <a:r>
              <a:rPr lang="en-US" sz="2300" b="0" i="0" u="none" strike="noStrike" baseline="0" dirty="0">
                <a:latin typeface="Times New Roman" panose="02020603050405020304" pitchFamily="18" charset="0"/>
              </a:rPr>
              <a:t>b. Define an operating system and an application program.</a:t>
            </a:r>
          </a:p>
          <a:p>
            <a:pPr marL="0" indent="0" algn="just">
              <a:lnSpc>
                <a:spcPct val="200000"/>
              </a:lnSpc>
              <a:buNone/>
            </a:pPr>
            <a:r>
              <a:rPr lang="en-US" sz="2300" b="0" i="0" u="none" strike="noStrike" baseline="0" dirty="0">
                <a:latin typeface="Times New Roman" panose="02020603050405020304" pitchFamily="18" charset="0"/>
              </a:rPr>
              <a:t>c. Define four OS you know</a:t>
            </a:r>
          </a:p>
          <a:p>
            <a:pPr marL="0" indent="0" algn="just">
              <a:lnSpc>
                <a:spcPct val="200000"/>
              </a:lnSpc>
              <a:buNone/>
            </a:pPr>
            <a:r>
              <a:rPr lang="en-US" sz="2300" b="0" i="0" u="none" strike="noStrike" baseline="0" dirty="0">
                <a:latin typeface="Times New Roman" panose="02020603050405020304" pitchFamily="18" charset="0"/>
              </a:rPr>
              <a:t>d. Define the four kinds of Systems program you know.</a:t>
            </a:r>
          </a:p>
        </p:txBody>
      </p:sp>
    </p:spTree>
    <p:extLst>
      <p:ext uri="{BB962C8B-B14F-4D97-AF65-F5344CB8AC3E}">
        <p14:creationId xmlns:p14="http://schemas.microsoft.com/office/powerpoint/2010/main" val="38754523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3</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527248" y="3212976"/>
            <a:ext cx="82296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r>
              <a:rPr lang="en-US" sz="4800" b="1" dirty="0">
                <a:latin typeface="Comic Sans MS" panose="030F0702030302020204" pitchFamily="66" charset="0"/>
              </a:rPr>
              <a:t>THE SYSTEM UNIT AND THE CENTRAL PROCESSING UNIT</a:t>
            </a:r>
          </a:p>
        </p:txBody>
      </p:sp>
    </p:spTree>
    <p:extLst>
      <p:ext uri="{BB962C8B-B14F-4D97-AF65-F5344CB8AC3E}">
        <p14:creationId xmlns:p14="http://schemas.microsoft.com/office/powerpoint/2010/main" val="1183770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457200" y="1546447"/>
            <a:ext cx="8075240"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buFont typeface="Wingdings" panose="05000000000000000000" pitchFamily="2" charset="2"/>
              <a:buChar char="Ø"/>
            </a:pPr>
            <a:r>
              <a:rPr lang="en-US" sz="2100" b="1" kern="0" dirty="0"/>
              <a:t>THE SYSTEM UNIT</a:t>
            </a:r>
          </a:p>
          <a:p>
            <a:pPr>
              <a:buFont typeface="Wingdings" panose="05000000000000000000" pitchFamily="2" charset="2"/>
              <a:buChar char="Ø"/>
            </a:pPr>
            <a:r>
              <a:rPr lang="en-US" sz="2100" b="1" kern="0" dirty="0"/>
              <a:t>THE PROCESSOR</a:t>
            </a:r>
          </a:p>
          <a:p>
            <a:pPr>
              <a:buFont typeface="Wingdings" panose="05000000000000000000" pitchFamily="2" charset="2"/>
              <a:buChar char="Ø"/>
            </a:pPr>
            <a:r>
              <a:rPr lang="en-US" sz="2100" b="1" kern="0" dirty="0"/>
              <a:t>FUNCTIONS OF THE CENTRAL PROCESSING UNIT (CPU)</a:t>
            </a:r>
          </a:p>
          <a:p>
            <a:pPr>
              <a:buFont typeface="Wingdings" panose="05000000000000000000" pitchFamily="2" charset="2"/>
              <a:buChar char="Ø"/>
            </a:pPr>
            <a:r>
              <a:rPr lang="en-US" sz="2100" b="1" kern="0" dirty="0"/>
              <a:t>PROCESSOR CHIPS</a:t>
            </a:r>
          </a:p>
          <a:p>
            <a:pPr>
              <a:buFont typeface="Wingdings" panose="05000000000000000000" pitchFamily="2" charset="2"/>
              <a:buChar char="Ø"/>
            </a:pPr>
            <a:r>
              <a:rPr lang="en-US" sz="2100" b="1" kern="0" dirty="0"/>
              <a:t>THE PROCESSING SEQUENCE</a:t>
            </a:r>
          </a:p>
          <a:p>
            <a:pPr>
              <a:buFont typeface="Wingdings" panose="05000000000000000000" pitchFamily="2" charset="2"/>
              <a:buChar char="Ø"/>
            </a:pPr>
            <a:r>
              <a:rPr lang="en-US" sz="2100" b="1" kern="0" dirty="0"/>
              <a:t>PROCESSOR SPEED</a:t>
            </a:r>
          </a:p>
          <a:p>
            <a:pPr>
              <a:buFont typeface="Wingdings" panose="05000000000000000000" pitchFamily="2" charset="2"/>
              <a:buChar char="Ø"/>
            </a:pPr>
            <a:r>
              <a:rPr lang="en-US" sz="2100" b="1" kern="0" dirty="0"/>
              <a:t>DETERMINING PROCESSOR SPEED</a:t>
            </a:r>
          </a:p>
          <a:p>
            <a:pPr>
              <a:buFont typeface="Wingdings" panose="05000000000000000000" pitchFamily="2" charset="2"/>
              <a:buChar char="Ø"/>
            </a:pPr>
            <a:r>
              <a:rPr lang="en-US" sz="2100" b="1" kern="0" dirty="0"/>
              <a:t>PORTS</a:t>
            </a:r>
          </a:p>
          <a:p>
            <a:pPr>
              <a:buFont typeface="Wingdings" panose="05000000000000000000" pitchFamily="2" charset="2"/>
              <a:buChar char="Ø"/>
            </a:pPr>
            <a:r>
              <a:rPr lang="en-US" sz="2100" b="1" kern="0" dirty="0"/>
              <a:t>UNIVERSAL SERIAL BUS (USB)</a:t>
            </a:r>
          </a:p>
          <a:p>
            <a:pPr>
              <a:buFont typeface="Wingdings" panose="05000000000000000000" pitchFamily="2" charset="2"/>
              <a:buChar char="Ø"/>
            </a:pPr>
            <a:r>
              <a:rPr lang="en-US" sz="2100" b="1" kern="0" dirty="0"/>
              <a:t>ADD-IN BOARDS</a:t>
            </a:r>
          </a:p>
          <a:p>
            <a:pPr>
              <a:buFont typeface="Wingdings" panose="05000000000000000000" pitchFamily="2" charset="2"/>
              <a:buChar char="Ø"/>
            </a:pPr>
            <a:r>
              <a:rPr lang="en-US" sz="2100" b="1" kern="0" dirty="0"/>
              <a:t>PLUG AND PLAY</a:t>
            </a:r>
          </a:p>
        </p:txBody>
      </p:sp>
    </p:spTree>
    <p:extLst>
      <p:ext uri="{BB962C8B-B14F-4D97-AF65-F5344CB8AC3E}">
        <p14:creationId xmlns:p14="http://schemas.microsoft.com/office/powerpoint/2010/main" val="26782749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3583</TotalTime>
  <Words>3041</Words>
  <Application>Microsoft Office PowerPoint</Application>
  <PresentationFormat>On-screen Show (4:3)</PresentationFormat>
  <Paragraphs>262</Paragraphs>
  <Slides>43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COMPUTER AND COMPUTER SYSTEM</vt:lpstr>
      <vt:lpstr>COMPUTER AND COMPUTER SYSTEM</vt:lpstr>
      <vt:lpstr>FIVE COMPONENTS OF  A COMPUTER SYSTEM</vt:lpstr>
      <vt:lpstr>HARDWARE  (COMPUTER HARDWARE OR DEVICES)</vt:lpstr>
      <vt:lpstr>FOUR CATEGORIES OF HARDWARE AND COMMONLY USED MEDIA</vt:lpstr>
      <vt:lpstr>FOUR CATEGORIES OF HARDWARE</vt:lpstr>
      <vt:lpstr>SOFTWARE </vt:lpstr>
      <vt:lpstr>SYSTEM SOFTWARE </vt:lpstr>
      <vt:lpstr>SYSTEM SOFTWARE </vt:lpstr>
      <vt:lpstr>OPERATING SYSTEMS</vt:lpstr>
      <vt:lpstr>OPERATING SYSTEMS</vt:lpstr>
      <vt:lpstr>APPLICATION SOFTWARE</vt:lpstr>
      <vt:lpstr>APPLICATION SOFTWARE</vt:lpstr>
      <vt:lpstr>APPLICATION SOFTWARE</vt:lpstr>
      <vt:lpstr>SOFTWARE PACKAGE</vt:lpstr>
      <vt:lpstr>SOFTWARE PACKAGE</vt:lpstr>
      <vt:lpstr>SOFTWARE PACKAGE</vt:lpstr>
      <vt:lpstr>SOFTWARE PACKAGE</vt:lpstr>
      <vt:lpstr>INFORMATION</vt:lpstr>
      <vt:lpstr>FOUR COMPONENTS  OF INFORMATION</vt:lpstr>
      <vt:lpstr>IT USERS AND PROFESSIONALS</vt:lpstr>
      <vt:lpstr>IT USERS AND PROFESSIONALS</vt:lpstr>
      <vt:lpstr>IT USERS AND PROFESSIONALS</vt:lpstr>
      <vt:lpstr>IT PROCEDURES</vt:lpstr>
      <vt:lpstr>IT PROCEDURES</vt:lpstr>
      <vt:lpstr>AN INTRODUCTION TO SYSTEMS</vt:lpstr>
      <vt:lpstr>CONCLUSION</vt:lpstr>
      <vt:lpstr>SUMMARY</vt:lpstr>
      <vt:lpstr>EXERCISE</vt:lpstr>
      <vt:lpstr>PowerPoint Presentation</vt:lpstr>
      <vt:lpstr>Presentation Outline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453</cp:revision>
  <dcterms:created xsi:type="dcterms:W3CDTF">2022-01-09T18:11:19Z</dcterms:created>
  <dcterms:modified xsi:type="dcterms:W3CDTF">2025-12-01T07:34:57Z</dcterms:modified>
</cp:coreProperties>
</file>